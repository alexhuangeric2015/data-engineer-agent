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封面用原生立体示意连接企业内容、HiAgent与业务任务，不作为部署图或新的执行平台。只使用自制可编辑矢量，不复制参考中的品牌、数据或业务承诺。</a:t>
            </a:r>
          </a:p>
          <a:p/>
          <a:p>
            <a:r>
              <a:t>架构口径：当前仅建设数据资产智能体；其他为目标规划。专业Agent内部规划并按需引用其他Agent。SKILL提供方法，由Agent实际调用资源。实际血缘经数据资产平台获取。图中逻辑模块不等于新增独立系统或已部署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总体方向不改变当前只建设资产Agent的范围。中心为智能服务不是新建数仓，左右分别是内容和平台能力输入、目标业务服务。角色布局保留三类九种。</a:t>
            </a:r>
          </a:p>
          <a:p/>
          <a:p>
            <a:r>
              <a:t>架构口径：当前仅建设数据资产智能体；其他为目标规划。专业Agent内部规划并按需引用其他Agent。SKILL提供方法，由Agent实际调用资源。实际血缘经数据资产平台获取。图中逻辑模块不等于新增独立系统或已部署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以业务任务和收益组织场景内容，保持当前与未来区分。建设依赖包括语义、指标、规则、平台接口、实际验证与责任，不只增加模型调用。</a:t>
            </a:r>
          </a:p>
          <a:p/>
          <a:p>
            <a:r>
              <a:t>架构口径：当前仅建设数据资产智能体；其他为目标规划。专业Agent内部规划并按需引用其他Agent。SKILL提供方法，由Agent实际调用资源。实际血缘经数据资产平台获取。图中逻辑模块不等于新增独立系统或已部署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沿用已核验的客户负责人演讲、客户专家署名文章和火山官方文档。只借鉴方法，不移植其运行机制和效果数字。</a:t>
            </a:r>
          </a:p>
          <a:p/>
          <a:p>
            <a:r>
              <a:t>公开依据：</a:t>
            </a:r>
          </a:p>
          <a:p>
            <a:r>
              <a:t>C1 麦当劳中国指标中台实践｜客户负责人演讲整理，Aloudata，2025-03-24 https://aloudata.com/blogs/mcdonalds-china-metrics-platform-case-study</a:t>
            </a:r>
          </a:p>
          <a:p>
            <a:r>
              <a:t>C2 菜鸟SuperETL｜客户技术专家署名、阿里云大数据AI账号发布 https://segmentfault.com/a/1190000047811149</a:t>
            </a:r>
          </a:p>
          <a:p>
            <a:r>
              <a:t>C3 DataLeap智能助手管理｜火山引擎官方文档 https://docs.volcengine.com/docs/big-data-research-and-development-governance-suite/intelligent-assist-ant-management?lang=zh</a:t>
            </a:r>
          </a:p>
          <a:p/>
          <a:p>
            <a:r>
              <a:t>架构口径：当前仅建设数据资产智能体；其他为目标规划。专业Agent内部规划并按需引用其他Agent。SKILL提供方法，由Agent实际调用资源。实际血缘经数据资产平台获取。图中逻辑模块不等于新增独立系统或已部署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逻辑链展示收益形成机制，并非有了基础库便自动带来准确率。口径维护、工具执行与实际消费必须同时落实。观察任务耗时、错误、采纳与复用，避免只统计对话次数。</a:t>
            </a:r>
          </a:p>
          <a:p/>
          <a:p>
            <a:r>
              <a:t>架构口径：当前仅建设数据资产智能体；其他为目标规划。专业Agent内部规划并按需引用其他Agent。SKILL提供方法，由Agent实际调用资源。实际血缘经数据资产平台获取。图中逻辑模块不等于新增独立系统或已部署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六层为逻辑能力全景。06系统与平台纳入开发、调度、资产、血缘和质量工具，不再只列业务来源。底层工具产生真实事实，Agent组织任务。当前数据资产节点绿色，不表示该节点已投产验收。</a:t>
            </a:r>
          </a:p>
          <a:p/>
          <a:p>
            <a:r>
              <a:t>架构口径：当前仅建设数据资产智能体；其他为目标规划。专业Agent内部规划并按需引用其他Agent。SKILL提供方法，由Agent实际调用资源。实际血缘经数据资产平台获取。图中逻辑模块不等于新增独立系统或已部署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功能全景回答建什么，不表达服务器部署。专业服务层中资产Agent为具体服务主体，表字段、字典码值为其内部能力；其余Agent与资产Agent同级，避免把当前单Agent功能等同所有平台功能。</a:t>
            </a:r>
          </a:p>
          <a:p/>
          <a:p>
            <a:r>
              <a:t>架构口径：当前仅建设数据资产智能体；其他为目标规划。专业Agent内部规划并按需引用其他Agent。SKILL提供方法，由Agent实际调用资源。实际血缘经数据资产平台获取。图中逻辑模块不等于新增独立系统或已部署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内容供给和服务适配是本项目逻辑工作范围，不强制新增两套平台。数据资产平台是否已有完善指标服务需盘点。查询数据库为当前资产事实外部接入。原开发平台保留代码发布、原调度保留生产运行管理。模型服务不在本页重复画部署细节。</a:t>
            </a:r>
          </a:p>
          <a:p/>
          <a:p>
            <a:r>
              <a:t>架构口径：当前仅建设数据资产智能体；其他为目标规划。专业Agent内部规划并按需引用其他Agent。SKILL提供方法，由Agent实际调用资源。实际血缘经数据资产平台获取。图中逻辑模块不等于新增独立系统或已部署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六项为职责分工，不表示六个独立产品。底排工具是各平台支撑，不能把图中排列视为调用路径。血缘工具对Agent的统一服务入口为数据资产平台，集成图另行表达。</a:t>
            </a:r>
          </a:p>
          <a:p/>
          <a:p>
            <a:r>
              <a:t>架构口径：当前仅建设数据资产智能体；其他为目标规划。专业Agent内部规划并按需引用其他Agent。SKILL提供方法，由Agent实际调用资源。实际血缘经数据资产平台获取。图中逻辑模块不等于新增独立系统或已部署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语义层包括定义、约束与实现映射，不等于虚拟宽表。业务语义不能只依赖向量相似度。逻辑关联须经确认，不能把当前字典映射字段当成物理外键或实际加工血缘。</a:t>
            </a:r>
          </a:p>
          <a:p/>
          <a:p>
            <a:r>
              <a:t>架构口径：当前仅建设数据资产智能体；其他为目标规划。专业Agent内部规划并按需引用其他Agent。SKILL提供方法，由Agent实际调用资源。实际血缘经数据资产平台获取。图中逻辑模块不等于新增独立系统或已部署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保持指标定义与实现分离，权威契约由责任方维护。示例不代表客户实际指标定义；真实日均口径还需确认日期、范围、币种与历史组织等。</a:t>
            </a:r>
          </a:p>
          <a:p/>
          <a:p>
            <a:r>
              <a:t>架构口径：当前仅建设数据资产智能体；其他为目标规划。专业Agent内部规划并按需引用其他Agent。SKILL提供方法，由Agent实际调用资源。实际血缘经数据资产平台获取。图中逻辑模块不等于新增独立系统或已部署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图中三块为指标服务的逻辑能力，不预设三个独立组件。定义和实现版本需关联，消费参数必须受支持维度与权限约束。现有平台如仅有管理功能则补接口、验证与消费适配，不把目录当计算引擎。</a:t>
            </a:r>
          </a:p>
          <a:p/>
          <a:p>
            <a:r>
              <a:t>公开依据：</a:t>
            </a:r>
          </a:p>
          <a:p>
            <a:r>
              <a:t>C1 麦当劳中国指标中台实践｜客户负责人演讲整理，Aloudata，2025-03-24 https://aloudata.com/blogs/mcdonalds-china-metrics-platform-case-study</a:t>
            </a:r>
          </a:p>
          <a:p/>
          <a:p>
            <a:r>
              <a:t>架构口径：当前仅建设数据资产智能体；其他为目标规划。专业Agent内部规划并按需引用其他Agent。SKILL提供方法，由Agent实际调用资源。实际血缘经数据资产平台获取。图中逻辑模块不等于新增独立系统或已部署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需治理不等于长尾不做安全管理。敏感资产、关键业务与大影响低频资产仍应优先处理。元数据增强由AI生成候选，权威修改须经责任确认，更新消费索引并回归验证。当前资料治理同步开展，治理Agent是后续辅助角色。</a:t>
            </a:r>
          </a:p>
          <a:p/>
          <a:p>
            <a:r>
              <a:t>架构口径：当前仅建设数据资产智能体；其他为目标规划。专业Agent内部规划并按需引用其他Agent。SKILL提供方法，由Agent实际调用资源。实际血缘经数据资产平台获取。图中逻辑模块不等于新增独立系统或已部署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SKILL提供方法和规则，不调用其他SKILL、知识库或数据库。机器可检查规则由工具实现，提示词不是硬门禁。文档规范也可由模型辅助阅读，但正式发布规则需有可重复执行和验证机制。</a:t>
            </a:r>
          </a:p>
          <a:p/>
          <a:p>
            <a:r>
              <a:t>公开依据：</a:t>
            </a:r>
          </a:p>
          <a:p>
            <a:r>
              <a:t>R1 Agent Skills｜Anthropic公开技能约定 https://github.com/anthropics/skills</a:t>
            </a:r>
          </a:p>
          <a:p>
            <a:r>
              <a:t>C2 菜鸟SuperETL｜客户技术专家署名、阿里云大数据AI账号发布 https://segmentfault.com/a/1190000047811149</a:t>
            </a:r>
          </a:p>
          <a:p/>
          <a:p>
            <a:r>
              <a:t>架构口径：当前仅建设数据资产智能体；其他为目标规划。专业Agent内部规划并按需引用其他Agent。SKILL提供方法，由Agent实际调用资源。实际血缘经数据资产平台获取。图中逻辑模块不等于新增独立系统或已部署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箭头是Agent读取方法资源，右箭头是按需调用其他Agent，下箭头是资源工具调用。各资源结果回到Agent上下文，图不把它们画成自主编排层。任务规划由提示词、SKILL与模型推理组织；固定步骤可结合平台实际能力实现。</a:t>
            </a:r>
          </a:p>
          <a:p/>
          <a:p>
            <a:r>
              <a:t>架构口径：当前仅建设数据资产智能体；其他为目标规划。专业Agent内部规划并按需引用其他Agent。SKILL提供方法，由Agent实际调用资源。实际血缘经数据资产平台获取。图中逻辑模块不等于新增独立系统或已部署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当前内容加工与配置写入为建设内容，不表明平台已验收，也不新增每日调度或全量数仓复制。知识库是表结构与字典两类内容。责任方确认治理结果后加工为知识与外部查询数据。</a:t>
            </a:r>
          </a:p>
          <a:p/>
          <a:p>
            <a:r>
              <a:t>架构口径：当前仅建设数据资产智能体；其他为目标规划。专业Agent内部规划并按需引用其他Agent。SKILL提供方法，由Agent实际调用资源。实际血缘经数据资产平台获取。图中逻辑模块不等于新增独立系统或已部署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有效上下文可复用，避免机械重复所有步骤。新目标先从索引取得候选，事实取自查询库或平台。无权或缺失时返回限制和补齐路径；不把模型猜测、知识过期片段当事实。流程不代表所有任务都能任意执行SQL。</a:t>
            </a:r>
          </a:p>
          <a:p/>
          <a:p>
            <a:r>
              <a:t>架构口径：当前仅建设数据资产智能体；其他为目标规划。专业Agent内部规划并按需引用其他Agent。SKILL提供方法，由Agent实际调用资源。实际血缘经数据资产平台获取。图中逻辑模块不等于新增独立系统或已部署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保留概念模型的实体与关系，不新增数据库表结构或固定技术字段。定义和实现可一对多，需约束适用范围；实际血缘仍为数据资产平台查询结果。</a:t>
            </a:r>
          </a:p>
          <a:p/>
          <a:p>
            <a:r>
              <a:t>架构口径：当前仅建设数据资产智能体；其他为目标规划。专业Agent内部规划并按需引用其他Agent。SKILL提供方法，由Agent实际调用资源。实际血缘经数据资产平台获取。图中逻辑模块不等于新增独立系统或已部署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集成图明确Agent调用平台服务、携带身份与对象，返回结果、证据、版本与覆盖信息。MCP是可选接入形式，不代替业务契约、权限或Agent间协作。血缘工具通过资产平台统一服务入口。</a:t>
            </a:r>
          </a:p>
          <a:p/>
          <a:p>
            <a:r>
              <a:t>架构口径：当前仅建设数据资产智能体；其他为目标规划。专业Agent内部规划并按需引用其他Agent。SKILL提供方法，由Agent实际调用资源。实际血缘经数据资产平台获取。图中逻辑模块不等于新增独立系统或已部署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01仅为示意输入，不虚构业务解释。当前采用知识索引定位、外部数据库核验，字段字典映射不作为物理外键或加工血缘。</a:t>
            </a:r>
          </a:p>
          <a:p/>
          <a:p>
            <a:r>
              <a:t>架构口径：当前仅建设数据资产智能体；其他为目标规划。专业Agent内部规划并按需引用其他Agent。SKILL提供方法，由Agent实际调用资源。实际血缘经数据资产平台获取。图中逻辑模块不等于新增独立系统或已部署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专业角色按任务需要协作，不是固定串行的全局编排拓扑。该链为目标规划；不声称当前全部部署。测试须独立取证，不能用同一模型自评替代真实验证。</a:t>
            </a:r>
          </a:p>
          <a:p/>
          <a:p>
            <a:r>
              <a:t>架构口径：当前仅建设数据资产智能体；其他为目标规划。专业Agent内部规划并按需引用其他Agent。SKILL提供方法，由Agent实际调用资源。实际血缘经数据资产平台获取。图中逻辑模块不等于新增独立系统或已部署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根因推断须与证据对应，假设不能表述为已证实事实。重跑、变更和发布仍由原平台按授权执行。治理反馈用于维护资产、规则与经验。</a:t>
            </a:r>
          </a:p>
          <a:p/>
          <a:p>
            <a:r>
              <a:t>架构口径：当前仅建设数据资产智能体；其他为目标规划。专业Agent内部规划并按需引用其他Agent。SKILL提供方法，由Agent实际调用资源。实际血缘经数据资产平台获取。图中逻辑模块不等于新增独立系统或已部署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以限定指标和方法逐步扩展，不承诺任意问数都正确。指标服务、资产语义、实际权限和执行工具为前置条件，结果需可追溯。</a:t>
            </a:r>
          </a:p>
          <a:p/>
          <a:p>
            <a:r>
              <a:t>架构口径：当前仅建设数据资产智能体；其他为目标规划。专业Agent内部规划并按需引用其他Agent。SKILL提供方法，由Agent实际调用资源。实际血缘经数据资产平台获取。图中逻辑模块不等于新增独立系统或已部署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户明确选择逻辑部署规划，不固定私有化、云上或混合部署。区域是逻辑归属，不代表实际网段。模型依赖画在配套区域仅为调用关系，其物理位置按采购与部署条件确认；知识库逻辑归HiAgent，资产查询库为外部接入。HiAgent可直连查询库，平台服务调用通过适配路径。平台接入服务为逻辑职责，可由既有接入能力承载。图中不展示数据库副本数、集群、GPU等规格，也不证明任何生产部署已完成。</a:t>
            </a:r>
          </a:p>
          <a:p/>
          <a:p>
            <a:r>
              <a:t>架构口径：当前仅建设数据资产智能体；其他为目标规划。专业Agent内部规划并按需引用其他Agent。SKILL提供方法，由Agent实际调用资源。实际血缘经数据资产平台获取。图中逻辑模块不等于新增独立系统或已部署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信任机制是目标要求，按HiAgent与既有平台实际支持能力落实。发布前确认不仅是UI按钮，还需权限和规则强制执行。失败状态要清楚，不把接口超时解释为操作未发生；操作重试需原平台支持幂等或人工核对。</a:t>
            </a:r>
          </a:p>
          <a:p/>
          <a:p>
            <a:r>
              <a:t>架构口径：当前仅建设数据资产智能体；其他为目标规划。专业Agent内部规划并按需引用其他Agent。SKILL提供方法，由Agent实际调用资源。实际血缘经数据资产平台获取。图中逻辑模块不等于新增独立系统或已部署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难度集中于内容治理、规范结构化、授权与状态、语义和血缘覆盖。模板成文较易标准化，但专业任务整体不能概括为简单。先验证限定域再扩大开放设计与跨域分析，不承诺未经基线评测的准确率和交付周期。</a:t>
            </a:r>
          </a:p>
          <a:p/>
          <a:p>
            <a:r>
              <a:t>架构口径：当前仅建设数据资产智能体；其他为目标规划。专业Agent内部规划并按需引用其他Agent。SKILL提供方法，由Agent实际调用资源。实际血缘经数据资产平台获取。图中逻辑模块不等于新增独立系统或已部署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当前为阶段一，其他为目标规划。最低语义、权限和质量前提满足后开放场景，随着真实需求与失败反馈迭代。阶段顺序不代表固定年限或预算批次。</a:t>
            </a:r>
          </a:p>
          <a:p/>
          <a:p>
            <a:r>
              <a:t>架构口径：当前仅建设数据资产智能体；其他为目标规划。专业Agent内部规划并按需引用其他Agent。SKILL提供方法，由Agent实际调用资源。实际血缘经数据资产平台获取。图中逻辑模块不等于新增独立系统或已部署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此页为收益验证而非财务测算。任务应保持可比，定义采纳、返工与正确性的判定方式。不能只看调用量、单次响应速度或案例公开数字。业务责任人和数据专家共同确认样本及证据。</a:t>
            </a:r>
          </a:p>
          <a:p/>
          <a:p>
            <a:r>
              <a:t>架构口径：当前仅建设数据资产智能体；其他为目标规划。专业Agent内部规划并按需引用其他Agent。SKILL提供方法，由Agent实际调用资源。实际血缘经数据资产平台获取。图中逻辑模块不等于新增独立系统或已部署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建设组织角色不等于新增业务Agent。规划结论回到定位、内容、平台协作和渐进演进。AI团队不能独自承担业务口径权威，原平台不会因被调用而转移执行责任。</a:t>
            </a:r>
          </a:p>
          <a:p/>
          <a:p>
            <a:r>
              <a:t>架构口径：当前仅建设数据资产智能体；其他为目标规划。专业Agent内部规划并按需引用其他Agent。SKILL提供方法，由Agent实际调用资源。实际血缘经数据资产平台获取。图中逻辑模块不等于新增独立系统或已部署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沿用前版已打开核对的原始公开材料。未采用无法完整核验的得物效果数字、行业预测与就绪比例。不引入新的未经核验案例或GitHub热度排行。Agent Skills与上下文工程用于方法设计，不意味着安装全部参考框架。</a:t>
            </a:r>
          </a:p>
          <a:p/>
          <a:p>
            <a:r>
              <a:t>公开依据：</a:t>
            </a:r>
          </a:p>
          <a:p>
            <a:r>
              <a:t>C1 麦当劳中国指标中台实践｜客户负责人演讲整理，Aloudata，2025-03-24 https://aloudata.com/blogs/mcdonalds-china-metrics-platform-case-study</a:t>
            </a:r>
          </a:p>
          <a:p>
            <a:r>
              <a:t>C2 菜鸟SuperETL｜客户技术专家署名、阿里云大数据AI账号发布 https://segmentfault.com/a/1190000047811149</a:t>
            </a:r>
          </a:p>
          <a:p>
            <a:r>
              <a:t>C3 DataLeap智能助手管理｜火山引擎官方文档 https://docs.volcengine.com/docs/big-data-research-and-development-governance-suite/intelligent-assist-ant-management?lang=zh</a:t>
            </a:r>
          </a:p>
          <a:p>
            <a:r>
              <a:t>C4 DataWorks Data Agent｜阿里云官方文档 https://help.aliyun.com/en/dataworks/user-guide/new-data-agent</a:t>
            </a:r>
          </a:p>
          <a:p>
            <a:r>
              <a:t>R1 Agent Skills｜Anthropic公开技能约定 https://github.com/anthropics/skills</a:t>
            </a:r>
          </a:p>
          <a:p>
            <a:r>
              <a:t>R2 上下文工程｜Anthropic工程说明 https://www.anthropic.com/engineering/effective-context-engineering-for-ai-agents</a:t>
            </a:r>
          </a:p>
          <a:p/>
          <a:p>
            <a:r>
              <a:t>架构口径：当前仅建设数据资产智能体；其他为目标规划。专业Agent内部规划并按需引用其他Agent。SKILL提供方法，由Agent实际调用资源。实际血缘经数据资产平台获取。图中逻辑模块不等于新增独立系统或已部署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oudata.com/blogs/mcdonalds-china-metrics-platform-case-study" TargetMode="External"/><Relationship Id="rId3" Type="http://schemas.openxmlformats.org/officeDocument/2006/relationships/hyperlink" Target="https://segmentfault.com/a/1190000047811149" TargetMode="External"/><Relationship Id="rId4" Type="http://schemas.openxmlformats.org/officeDocument/2006/relationships/hyperlink" Target="https://docs.volcengine.com/docs/big-data-research-and-development-governance-suite/intelligent-assist-ant-management?lang=zh" TargetMode="Externa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loudata.com/blogs/mcdonalds-china-metrics-platform-case-study" TargetMode="External"/><Relationship Id="rId3" Type="http://schemas.openxmlformats.org/officeDocument/2006/relationships/hyperlink" Target="https://segmentfault.com/a/1190000047811149" TargetMode="External"/><Relationship Id="rId4" Type="http://schemas.openxmlformats.org/officeDocument/2006/relationships/hyperlink" Target="https://docs.volcengine.com/docs/big-data-research-and-development-governance-suite/intelligent-assist-ant-management?lang=zh" TargetMode="External"/><Relationship Id="rId5" Type="http://schemas.openxmlformats.org/officeDocument/2006/relationships/hyperlink" Target="https://help.aliyun.com/en/dataworks/user-guide/new-data-agent" TargetMode="External"/><Relationship Id="rId6" Type="http://schemas.openxmlformats.org/officeDocument/2006/relationships/hyperlink" Target="https://github.com/anthropics/skills" TargetMode="External"/><Relationship Id="rId7" Type="http://schemas.openxmlformats.org/officeDocument/2006/relationships/hyperlink" Target="https://www.anthropic.com/engineering/effective-context-engineering-for-ai-agents" TargetMode="External"/><Relationship Id="rId8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5762719"/>
            <a:ext cx="12191695" cy="425330"/>
          </a:xfrm>
          <a:custGeom>
            <a:avLst/>
            <a:gdLst/>
            <a:ahLst/>
            <a:cxnLst/>
            <a:rect l="l" t="t" r="r" b="b"/>
            <a:pathLst>
              <a:path w="12191695" h="425330">
                <a:moveTo>
                  <a:pt x="0" y="226601"/>
                </a:moveTo>
                <a:lnTo>
                  <a:pt x="135463" y="272671"/>
                </a:lnTo>
                <a:lnTo>
                  <a:pt x="270926" y="316170"/>
                </a:lnTo>
                <a:lnTo>
                  <a:pt x="406389" y="354699"/>
                </a:lnTo>
                <a:lnTo>
                  <a:pt x="541853" y="386190"/>
                </a:lnTo>
                <a:lnTo>
                  <a:pt x="677316" y="409039"/>
                </a:lnTo>
                <a:lnTo>
                  <a:pt x="812779" y="422218"/>
                </a:lnTo>
                <a:lnTo>
                  <a:pt x="948242" y="425330"/>
                </a:lnTo>
                <a:lnTo>
                  <a:pt x="1083706" y="418634"/>
                </a:lnTo>
                <a:lnTo>
                  <a:pt x="1219169" y="403018"/>
                </a:lnTo>
                <a:lnTo>
                  <a:pt x="1354632" y="379932"/>
                </a:lnTo>
                <a:lnTo>
                  <a:pt x="1490096" y="351276"/>
                </a:lnTo>
                <a:lnTo>
                  <a:pt x="1625559" y="319266"/>
                </a:lnTo>
                <a:lnTo>
                  <a:pt x="1761022" y="286271"/>
                </a:lnTo>
                <a:lnTo>
                  <a:pt x="1896485" y="254647"/>
                </a:lnTo>
                <a:lnTo>
                  <a:pt x="2031949" y="226569"/>
                </a:lnTo>
                <a:lnTo>
                  <a:pt x="2167412" y="203876"/>
                </a:lnTo>
                <a:lnTo>
                  <a:pt x="2302875" y="187946"/>
                </a:lnTo>
                <a:lnTo>
                  <a:pt x="2438339" y="179603"/>
                </a:lnTo>
                <a:lnTo>
                  <a:pt x="2573802" y="179058"/>
                </a:lnTo>
                <a:lnTo>
                  <a:pt x="2709265" y="185905"/>
                </a:lnTo>
                <a:lnTo>
                  <a:pt x="2844728" y="199155"/>
                </a:lnTo>
                <a:lnTo>
                  <a:pt x="2980192" y="217312"/>
                </a:lnTo>
                <a:lnTo>
                  <a:pt x="3115655" y="238490"/>
                </a:lnTo>
                <a:lnTo>
                  <a:pt x="3251118" y="260551"/>
                </a:lnTo>
                <a:lnTo>
                  <a:pt x="3386582" y="281272"/>
                </a:lnTo>
                <a:lnTo>
                  <a:pt x="3522045" y="298506"/>
                </a:lnTo>
                <a:lnTo>
                  <a:pt x="3657508" y="310347"/>
                </a:lnTo>
                <a:lnTo>
                  <a:pt x="3792971" y="315277"/>
                </a:lnTo>
                <a:lnTo>
                  <a:pt x="3928435" y="312279"/>
                </a:lnTo>
                <a:lnTo>
                  <a:pt x="4063898" y="300924"/>
                </a:lnTo>
                <a:lnTo>
                  <a:pt x="4199361" y="281406"/>
                </a:lnTo>
                <a:lnTo>
                  <a:pt x="4334824" y="254541"/>
                </a:lnTo>
                <a:lnTo>
                  <a:pt x="4470288" y="221717"/>
                </a:lnTo>
                <a:lnTo>
                  <a:pt x="4605751" y="184803"/>
                </a:lnTo>
                <a:lnTo>
                  <a:pt x="4741214" y="146024"/>
                </a:lnTo>
                <a:lnTo>
                  <a:pt x="4876678" y="107811"/>
                </a:lnTo>
                <a:lnTo>
                  <a:pt x="5012141" y="72631"/>
                </a:lnTo>
                <a:lnTo>
                  <a:pt x="5147604" y="42816"/>
                </a:lnTo>
                <a:lnTo>
                  <a:pt x="5283067" y="20407"/>
                </a:lnTo>
                <a:lnTo>
                  <a:pt x="5418531" y="7001"/>
                </a:lnTo>
                <a:lnTo>
                  <a:pt x="5553994" y="3644"/>
                </a:lnTo>
                <a:lnTo>
                  <a:pt x="5689457" y="10757"/>
                </a:lnTo>
                <a:lnTo>
                  <a:pt x="5824921" y="28097"/>
                </a:lnTo>
                <a:lnTo>
                  <a:pt x="5960384" y="54776"/>
                </a:lnTo>
                <a:lnTo>
                  <a:pt x="6095847" y="89317"/>
                </a:lnTo>
                <a:lnTo>
                  <a:pt x="6231310" y="129751"/>
                </a:lnTo>
                <a:lnTo>
                  <a:pt x="6366774" y="173750"/>
                </a:lnTo>
                <a:lnTo>
                  <a:pt x="6502237" y="218785"/>
                </a:lnTo>
                <a:lnTo>
                  <a:pt x="6637700" y="262293"/>
                </a:lnTo>
                <a:lnTo>
                  <a:pt x="6773164" y="301850"/>
                </a:lnTo>
                <a:lnTo>
                  <a:pt x="6908627" y="335334"/>
                </a:lnTo>
                <a:lnTo>
                  <a:pt x="7044090" y="361064"/>
                </a:lnTo>
                <a:lnTo>
                  <a:pt x="7179553" y="377907"/>
                </a:lnTo>
                <a:lnTo>
                  <a:pt x="7315017" y="385350"/>
                </a:lnTo>
                <a:lnTo>
                  <a:pt x="7450480" y="383522"/>
                </a:lnTo>
                <a:lnTo>
                  <a:pt x="7585943" y="373183"/>
                </a:lnTo>
                <a:lnTo>
                  <a:pt x="7721406" y="355650"/>
                </a:lnTo>
                <a:lnTo>
                  <a:pt x="7856870" y="332706"/>
                </a:lnTo>
                <a:lnTo>
                  <a:pt x="7992333" y="306456"/>
                </a:lnTo>
                <a:lnTo>
                  <a:pt x="8127796" y="279178"/>
                </a:lnTo>
                <a:lnTo>
                  <a:pt x="8263260" y="253152"/>
                </a:lnTo>
                <a:lnTo>
                  <a:pt x="8398723" y="230495"/>
                </a:lnTo>
                <a:lnTo>
                  <a:pt x="8534186" y="213006"/>
                </a:lnTo>
                <a:lnTo>
                  <a:pt x="8669649" y="202037"/>
                </a:lnTo>
                <a:lnTo>
                  <a:pt x="8805113" y="198394"/>
                </a:lnTo>
                <a:lnTo>
                  <a:pt x="8940576" y="202283"/>
                </a:lnTo>
                <a:lnTo>
                  <a:pt x="9076039" y="213293"/>
                </a:lnTo>
                <a:lnTo>
                  <a:pt x="9211503" y="230426"/>
                </a:lnTo>
                <a:lnTo>
                  <a:pt x="9346966" y="252176"/>
                </a:lnTo>
                <a:lnTo>
                  <a:pt x="9482429" y="276635"/>
                </a:lnTo>
                <a:lnTo>
                  <a:pt x="9617892" y="301636"/>
                </a:lnTo>
                <a:lnTo>
                  <a:pt x="9753356" y="324912"/>
                </a:lnTo>
                <a:lnTo>
                  <a:pt x="9888819" y="344263"/>
                </a:lnTo>
                <a:lnTo>
                  <a:pt x="10024282" y="357723"/>
                </a:lnTo>
                <a:lnTo>
                  <a:pt x="10159746" y="363704"/>
                </a:lnTo>
                <a:lnTo>
                  <a:pt x="10295209" y="361118"/>
                </a:lnTo>
                <a:lnTo>
                  <a:pt x="10430672" y="349471"/>
                </a:lnTo>
                <a:lnTo>
                  <a:pt x="10566135" y="328896"/>
                </a:lnTo>
                <a:lnTo>
                  <a:pt x="10701599" y="300166"/>
                </a:lnTo>
                <a:lnTo>
                  <a:pt x="10837062" y="264643"/>
                </a:lnTo>
                <a:lnTo>
                  <a:pt x="10972525" y="224191"/>
                </a:lnTo>
                <a:lnTo>
                  <a:pt x="11107988" y="181059"/>
                </a:lnTo>
                <a:lnTo>
                  <a:pt x="11243452" y="137727"/>
                </a:lnTo>
                <a:lnTo>
                  <a:pt x="11378915" y="96742"/>
                </a:lnTo>
                <a:lnTo>
                  <a:pt x="11514378" y="60543"/>
                </a:lnTo>
                <a:lnTo>
                  <a:pt x="11649842" y="31299"/>
                </a:lnTo>
                <a:lnTo>
                  <a:pt x="11785305" y="10756"/>
                </a:lnTo>
                <a:lnTo>
                  <a:pt x="11920768" y="126"/>
                </a:lnTo>
                <a:lnTo>
                  <a:pt x="12056231" y="0"/>
                </a:lnTo>
                <a:lnTo>
                  <a:pt x="12191695" y="10308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820895"/>
            <a:ext cx="12191695" cy="439530"/>
          </a:xfrm>
          <a:custGeom>
            <a:avLst/>
            <a:gdLst/>
            <a:ahLst/>
            <a:cxnLst/>
            <a:rect l="l" t="t" r="r" b="b"/>
            <a:pathLst>
              <a:path w="12191695" h="439530">
                <a:moveTo>
                  <a:pt x="0" y="250791"/>
                </a:moveTo>
                <a:lnTo>
                  <a:pt x="135463" y="296364"/>
                </a:lnTo>
                <a:lnTo>
                  <a:pt x="270926" y="339026"/>
                </a:lnTo>
                <a:lnTo>
                  <a:pt x="406389" y="376393"/>
                </a:lnTo>
                <a:lnTo>
                  <a:pt x="541853" y="406412"/>
                </a:lnTo>
                <a:lnTo>
                  <a:pt x="677316" y="427504"/>
                </a:lnTo>
                <a:lnTo>
                  <a:pt x="812779" y="438665"/>
                </a:lnTo>
                <a:lnTo>
                  <a:pt x="948242" y="439530"/>
                </a:lnTo>
                <a:lnTo>
                  <a:pt x="1083706" y="430391"/>
                </a:lnTo>
                <a:lnTo>
                  <a:pt x="1219169" y="412175"/>
                </a:lnTo>
                <a:lnTo>
                  <a:pt x="1354632" y="386369"/>
                </a:lnTo>
                <a:lnTo>
                  <a:pt x="1490096" y="354915"/>
                </a:lnTo>
                <a:lnTo>
                  <a:pt x="1625559" y="320070"/>
                </a:lnTo>
                <a:lnTo>
                  <a:pt x="1761022" y="284248"/>
                </a:lnTo>
                <a:lnTo>
                  <a:pt x="1896485" y="249847"/>
                </a:lnTo>
                <a:lnTo>
                  <a:pt x="2031949" y="219083"/>
                </a:lnTo>
                <a:lnTo>
                  <a:pt x="2167412" y="193836"/>
                </a:lnTo>
                <a:lnTo>
                  <a:pt x="2302875" y="175523"/>
                </a:lnTo>
                <a:lnTo>
                  <a:pt x="2438339" y="165002"/>
                </a:lnTo>
                <a:lnTo>
                  <a:pt x="2573802" y="162520"/>
                </a:lnTo>
                <a:lnTo>
                  <a:pt x="2709265" y="167699"/>
                </a:lnTo>
                <a:lnTo>
                  <a:pt x="2844728" y="179574"/>
                </a:lnTo>
                <a:lnTo>
                  <a:pt x="2980192" y="196672"/>
                </a:lnTo>
                <a:lnTo>
                  <a:pt x="3115655" y="217120"/>
                </a:lnTo>
                <a:lnTo>
                  <a:pt x="3251118" y="238794"/>
                </a:lnTo>
                <a:lnTo>
                  <a:pt x="3386582" y="259474"/>
                </a:lnTo>
                <a:lnTo>
                  <a:pt x="3522045" y="277016"/>
                </a:lnTo>
                <a:lnTo>
                  <a:pt x="3657508" y="289510"/>
                </a:lnTo>
                <a:lnTo>
                  <a:pt x="3792971" y="295425"/>
                </a:lnTo>
                <a:lnTo>
                  <a:pt x="3928435" y="293732"/>
                </a:lnTo>
                <a:lnTo>
                  <a:pt x="4063898" y="283979"/>
                </a:lnTo>
                <a:lnTo>
                  <a:pt x="4199361" y="266339"/>
                </a:lnTo>
                <a:lnTo>
                  <a:pt x="4334824" y="241599"/>
                </a:lnTo>
                <a:lnTo>
                  <a:pt x="4470288" y="211114"/>
                </a:lnTo>
                <a:lnTo>
                  <a:pt x="4605751" y="176719"/>
                </a:lnTo>
                <a:lnTo>
                  <a:pt x="4741214" y="140600"/>
                </a:lnTo>
                <a:lnTo>
                  <a:pt x="4876678" y="105147"/>
                </a:lnTo>
                <a:lnTo>
                  <a:pt x="5012141" y="72786"/>
                </a:lnTo>
                <a:lnTo>
                  <a:pt x="5147604" y="45808"/>
                </a:lnTo>
                <a:lnTo>
                  <a:pt x="5283067" y="26209"/>
                </a:lnTo>
                <a:lnTo>
                  <a:pt x="5418531" y="15544"/>
                </a:lnTo>
                <a:lnTo>
                  <a:pt x="5553994" y="14819"/>
                </a:lnTo>
                <a:lnTo>
                  <a:pt x="5689457" y="24413"/>
                </a:lnTo>
                <a:lnTo>
                  <a:pt x="5824921" y="44048"/>
                </a:lnTo>
                <a:lnTo>
                  <a:pt x="5960384" y="72800"/>
                </a:lnTo>
                <a:lnTo>
                  <a:pt x="6095847" y="109161"/>
                </a:lnTo>
                <a:lnTo>
                  <a:pt x="6231310" y="151134"/>
                </a:lnTo>
                <a:lnTo>
                  <a:pt x="6366774" y="196369"/>
                </a:lnTo>
                <a:lnTo>
                  <a:pt x="6502237" y="242316"/>
                </a:lnTo>
                <a:lnTo>
                  <a:pt x="6637700" y="286400"/>
                </a:lnTo>
                <a:lnTo>
                  <a:pt x="6773164" y="326189"/>
                </a:lnTo>
                <a:lnTo>
                  <a:pt x="6908627" y="359556"/>
                </a:lnTo>
                <a:lnTo>
                  <a:pt x="7044090" y="384822"/>
                </a:lnTo>
                <a:lnTo>
                  <a:pt x="7179553" y="400862"/>
                </a:lnTo>
                <a:lnTo>
                  <a:pt x="7315017" y="407173"/>
                </a:lnTo>
                <a:lnTo>
                  <a:pt x="7450480" y="403904"/>
                </a:lnTo>
                <a:lnTo>
                  <a:pt x="7585943" y="391834"/>
                </a:lnTo>
                <a:lnTo>
                  <a:pt x="7721406" y="372309"/>
                </a:lnTo>
                <a:lnTo>
                  <a:pt x="7856870" y="347139"/>
                </a:lnTo>
                <a:lnTo>
                  <a:pt x="7992333" y="318464"/>
                </a:lnTo>
                <a:lnTo>
                  <a:pt x="8127796" y="288600"/>
                </a:lnTo>
                <a:lnTo>
                  <a:pt x="8263260" y="259864"/>
                </a:lnTo>
                <a:lnTo>
                  <a:pt x="8398723" y="234414"/>
                </a:lnTo>
                <a:lnTo>
                  <a:pt x="8534186" y="214093"/>
                </a:lnTo>
                <a:lnTo>
                  <a:pt x="8669649" y="200294"/>
                </a:lnTo>
                <a:lnTo>
                  <a:pt x="8805113" y="193867"/>
                </a:lnTo>
                <a:lnTo>
                  <a:pt x="8940576" y="195059"/>
                </a:lnTo>
                <a:lnTo>
                  <a:pt x="9076039" y="203499"/>
                </a:lnTo>
                <a:lnTo>
                  <a:pt x="9211503" y="218231"/>
                </a:lnTo>
                <a:lnTo>
                  <a:pt x="9346966" y="237782"/>
                </a:lnTo>
                <a:lnTo>
                  <a:pt x="9482429" y="260278"/>
                </a:lnTo>
                <a:lnTo>
                  <a:pt x="9617892" y="283583"/>
                </a:lnTo>
                <a:lnTo>
                  <a:pt x="9753356" y="305454"/>
                </a:lnTo>
                <a:lnTo>
                  <a:pt x="9888819" y="323714"/>
                </a:lnTo>
                <a:lnTo>
                  <a:pt x="10024282" y="336411"/>
                </a:lnTo>
                <a:lnTo>
                  <a:pt x="10159746" y="341969"/>
                </a:lnTo>
                <a:lnTo>
                  <a:pt x="10295209" y="339309"/>
                </a:lnTo>
                <a:lnTo>
                  <a:pt x="10430672" y="327935"/>
                </a:lnTo>
                <a:lnTo>
                  <a:pt x="10566135" y="307979"/>
                </a:lnTo>
                <a:lnTo>
                  <a:pt x="10701599" y="280202"/>
                </a:lnTo>
                <a:lnTo>
                  <a:pt x="10837062" y="245952"/>
                </a:lnTo>
                <a:lnTo>
                  <a:pt x="10972525" y="207074"/>
                </a:lnTo>
                <a:lnTo>
                  <a:pt x="11107988" y="165795"/>
                </a:lnTo>
                <a:lnTo>
                  <a:pt x="11243452" y="124565"/>
                </a:lnTo>
                <a:lnTo>
                  <a:pt x="11378915" y="85899"/>
                </a:lnTo>
                <a:lnTo>
                  <a:pt x="11514378" y="52202"/>
                </a:lnTo>
                <a:lnTo>
                  <a:pt x="11649842" y="25604"/>
                </a:lnTo>
                <a:lnTo>
                  <a:pt x="11785305" y="7814"/>
                </a:lnTo>
                <a:lnTo>
                  <a:pt x="11920768" y="0"/>
                </a:lnTo>
                <a:lnTo>
                  <a:pt x="12056231" y="2710"/>
                </a:lnTo>
                <a:lnTo>
                  <a:pt x="12191695" y="15832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5884234"/>
            <a:ext cx="12191695" cy="445585"/>
          </a:xfrm>
          <a:custGeom>
            <a:avLst/>
            <a:gdLst/>
            <a:ahLst/>
            <a:cxnLst/>
            <a:rect l="l" t="t" r="r" b="b"/>
            <a:pathLst>
              <a:path w="12191695" h="445585">
                <a:moveTo>
                  <a:pt x="0" y="268612"/>
                </a:moveTo>
                <a:lnTo>
                  <a:pt x="135463" y="313062"/>
                </a:lnTo>
                <a:lnTo>
                  <a:pt x="270926" y="354292"/>
                </a:lnTo>
                <a:lnTo>
                  <a:pt x="406389" y="389937"/>
                </a:lnTo>
                <a:lnTo>
                  <a:pt x="541853" y="417970"/>
                </a:lnTo>
                <a:lnTo>
                  <a:pt x="677316" y="436843"/>
                </a:lnTo>
                <a:lnTo>
                  <a:pt x="812779" y="445585"/>
                </a:lnTo>
                <a:lnTo>
                  <a:pt x="948242" y="443868"/>
                </a:lnTo>
                <a:lnTo>
                  <a:pt x="1083706" y="432023"/>
                </a:lnTo>
                <a:lnTo>
                  <a:pt x="1219169" y="411016"/>
                </a:lnTo>
                <a:lnTo>
                  <a:pt x="1354632" y="382378"/>
                </a:lnTo>
                <a:lnTo>
                  <a:pt x="1490096" y="348094"/>
                </a:lnTo>
                <a:lnTo>
                  <a:pt x="1625559" y="310463"/>
                </a:lnTo>
                <a:lnTo>
                  <a:pt x="1761022" y="271940"/>
                </a:lnTo>
                <a:lnTo>
                  <a:pt x="1896485" y="234966"/>
                </a:lnTo>
                <a:lnTo>
                  <a:pt x="2031949" y="201794"/>
                </a:lnTo>
                <a:lnTo>
                  <a:pt x="2167412" y="174341"/>
                </a:lnTo>
                <a:lnTo>
                  <a:pt x="2302875" y="154058"/>
                </a:lnTo>
                <a:lnTo>
                  <a:pt x="2438339" y="141833"/>
                </a:lnTo>
                <a:lnTo>
                  <a:pt x="2573802" y="137937"/>
                </a:lnTo>
                <a:lnTo>
                  <a:pt x="2709265" y="142014"/>
                </a:lnTo>
                <a:lnTo>
                  <a:pt x="2844728" y="153116"/>
                </a:lnTo>
                <a:lnTo>
                  <a:pt x="2980192" y="169782"/>
                </a:lnTo>
                <a:lnTo>
                  <a:pt x="3115655" y="190145"/>
                </a:lnTo>
                <a:lnTo>
                  <a:pt x="3251118" y="212082"/>
                </a:lnTo>
                <a:lnTo>
                  <a:pt x="3386582" y="233371"/>
                </a:lnTo>
                <a:lnTo>
                  <a:pt x="3522045" y="251855"/>
                </a:lnTo>
                <a:lnTo>
                  <a:pt x="3657508" y="265613"/>
                </a:lnTo>
                <a:lnTo>
                  <a:pt x="3792971" y="273094"/>
                </a:lnTo>
                <a:lnTo>
                  <a:pt x="3928435" y="273245"/>
                </a:lnTo>
                <a:lnTo>
                  <a:pt x="4063898" y="265587"/>
                </a:lnTo>
                <a:lnTo>
                  <a:pt x="4199361" y="250260"/>
                </a:lnTo>
                <a:lnTo>
                  <a:pt x="4334824" y="228017"/>
                </a:lnTo>
                <a:lnTo>
                  <a:pt x="4470288" y="200176"/>
                </a:lnTo>
                <a:lnTo>
                  <a:pt x="4605751" y="168530"/>
                </a:lnTo>
                <a:lnTo>
                  <a:pt x="4741214" y="135225"/>
                </a:lnTo>
                <a:lnTo>
                  <a:pt x="4876678" y="102609"/>
                </a:lnTo>
                <a:lnTo>
                  <a:pt x="5012141" y="73064"/>
                </a:lnTo>
                <a:lnTo>
                  <a:pt x="5147604" y="48839"/>
                </a:lnTo>
                <a:lnTo>
                  <a:pt x="5283067" y="31887"/>
                </a:lnTo>
                <a:lnTo>
                  <a:pt x="5418531" y="23726"/>
                </a:lnTo>
                <a:lnTo>
                  <a:pt x="5553994" y="25322"/>
                </a:lnTo>
                <a:lnTo>
                  <a:pt x="5689457" y="37020"/>
                </a:lnTo>
                <a:lnTo>
                  <a:pt x="5824921" y="58509"/>
                </a:lnTo>
                <a:lnTo>
                  <a:pt x="5960384" y="88838"/>
                </a:lnTo>
                <a:lnTo>
                  <a:pt x="6095847" y="126474"/>
                </a:lnTo>
                <a:lnTo>
                  <a:pt x="6231310" y="169402"/>
                </a:lnTo>
                <a:lnTo>
                  <a:pt x="6366774" y="215258"/>
                </a:lnTo>
                <a:lnTo>
                  <a:pt x="6502237" y="261481"/>
                </a:lnTo>
                <a:lnTo>
                  <a:pt x="6637700" y="305493"/>
                </a:lnTo>
                <a:lnTo>
                  <a:pt x="6773164" y="344863"/>
                </a:lnTo>
                <a:lnTo>
                  <a:pt x="6908627" y="377470"/>
                </a:lnTo>
                <a:lnTo>
                  <a:pt x="7044090" y="401647"/>
                </a:lnTo>
                <a:lnTo>
                  <a:pt x="7179553" y="416284"/>
                </a:lnTo>
                <a:lnTo>
                  <a:pt x="7315017" y="420900"/>
                </a:lnTo>
                <a:lnTo>
                  <a:pt x="7450480" y="415671"/>
                </a:lnTo>
                <a:lnTo>
                  <a:pt x="7585943" y="401404"/>
                </a:lnTo>
                <a:lnTo>
                  <a:pt x="7721406" y="379478"/>
                </a:lnTo>
                <a:lnTo>
                  <a:pt x="7856870" y="351740"/>
                </a:lnTo>
                <a:lnTo>
                  <a:pt x="7992333" y="320369"/>
                </a:lnTo>
                <a:lnTo>
                  <a:pt x="8127796" y="287721"/>
                </a:lnTo>
                <a:lnTo>
                  <a:pt x="8263260" y="256155"/>
                </a:lnTo>
                <a:lnTo>
                  <a:pt x="8398723" y="227873"/>
                </a:lnTo>
                <a:lnTo>
                  <a:pt x="8534186" y="204759"/>
                </a:lnTo>
                <a:lnTo>
                  <a:pt x="8669649" y="188249"/>
                </a:lnTo>
                <a:lnTo>
                  <a:pt x="8805113" y="179235"/>
                </a:lnTo>
                <a:lnTo>
                  <a:pt x="8940576" y="178001"/>
                </a:lnTo>
                <a:lnTo>
                  <a:pt x="9076039" y="184214"/>
                </a:lnTo>
                <a:lnTo>
                  <a:pt x="9211503" y="196951"/>
                </a:lnTo>
                <a:lnTo>
                  <a:pt x="9346966" y="214769"/>
                </a:lnTo>
                <a:lnTo>
                  <a:pt x="9482429" y="235822"/>
                </a:lnTo>
                <a:lnTo>
                  <a:pt x="9617892" y="257993"/>
                </a:lnTo>
                <a:lnTo>
                  <a:pt x="9753356" y="279058"/>
                </a:lnTo>
                <a:lnTo>
                  <a:pt x="9888819" y="296851"/>
                </a:lnTo>
                <a:lnTo>
                  <a:pt x="10024282" y="309428"/>
                </a:lnTo>
                <a:lnTo>
                  <a:pt x="10159746" y="315216"/>
                </a:lnTo>
                <a:lnTo>
                  <a:pt x="10295209" y="313130"/>
                </a:lnTo>
                <a:lnTo>
                  <a:pt x="10430672" y="302666"/>
                </a:lnTo>
                <a:lnTo>
                  <a:pt x="10566135" y="283942"/>
                </a:lnTo>
                <a:lnTo>
                  <a:pt x="10701599" y="257702"/>
                </a:lnTo>
                <a:lnTo>
                  <a:pt x="10837062" y="225269"/>
                </a:lnTo>
                <a:lnTo>
                  <a:pt x="10972525" y="188463"/>
                </a:lnTo>
                <a:lnTo>
                  <a:pt x="11107988" y="149477"/>
                </a:lnTo>
                <a:lnTo>
                  <a:pt x="11243452" y="110727"/>
                </a:lnTo>
                <a:lnTo>
                  <a:pt x="11378915" y="74692"/>
                </a:lnTo>
                <a:lnTo>
                  <a:pt x="11514378" y="43736"/>
                </a:lnTo>
                <a:lnTo>
                  <a:pt x="11649842" y="19948"/>
                </a:lnTo>
                <a:lnTo>
                  <a:pt x="11785305" y="4994"/>
                </a:lnTo>
                <a:lnTo>
                  <a:pt x="11920768" y="0"/>
                </a:lnTo>
                <a:lnTo>
                  <a:pt x="12056231" y="5471"/>
                </a:lnTo>
                <a:lnTo>
                  <a:pt x="12191695" y="21253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0" y="5952657"/>
            <a:ext cx="12191695" cy="442489"/>
          </a:xfrm>
          <a:custGeom>
            <a:avLst/>
            <a:gdLst/>
            <a:ahLst/>
            <a:cxnLst/>
            <a:rect l="l" t="t" r="r" b="b"/>
            <a:pathLst>
              <a:path w="12191695" h="442489">
                <a:moveTo>
                  <a:pt x="0" y="278996"/>
                </a:moveTo>
                <a:lnTo>
                  <a:pt x="135463" y="321761"/>
                </a:lnTo>
                <a:lnTo>
                  <a:pt x="270926" y="361038"/>
                </a:lnTo>
                <a:lnTo>
                  <a:pt x="406389" y="394492"/>
                </a:lnTo>
                <a:lnTo>
                  <a:pt x="541853" y="420130"/>
                </a:lnTo>
                <a:lnTo>
                  <a:pt x="677316" y="436440"/>
                </a:lnTo>
                <a:lnTo>
                  <a:pt x="812779" y="442489"/>
                </a:lnTo>
                <a:lnTo>
                  <a:pt x="948242" y="437990"/>
                </a:lnTo>
                <a:lnTo>
                  <a:pt x="1083706" y="423316"/>
                </a:lnTo>
                <a:lnTo>
                  <a:pt x="1219169" y="399476"/>
                </a:lnTo>
                <a:lnTo>
                  <a:pt x="1354632" y="368043"/>
                </a:lnTo>
                <a:lnTo>
                  <a:pt x="1490096" y="331045"/>
                </a:lnTo>
                <a:lnTo>
                  <a:pt x="1625559" y="290822"/>
                </a:lnTo>
                <a:lnTo>
                  <a:pt x="1761022" y="249869"/>
                </a:lnTo>
                <a:lnTo>
                  <a:pt x="1896485" y="210660"/>
                </a:lnTo>
                <a:lnTo>
                  <a:pt x="2031949" y="175486"/>
                </a:lnTo>
                <a:lnTo>
                  <a:pt x="2167412" y="146293"/>
                </a:lnTo>
                <a:lnTo>
                  <a:pt x="2302875" y="124557"/>
                </a:lnTo>
                <a:lnTo>
                  <a:pt x="2438339" y="111189"/>
                </a:lnTo>
                <a:lnTo>
                  <a:pt x="2573802" y="106476"/>
                </a:lnTo>
                <a:lnTo>
                  <a:pt x="2709265" y="110076"/>
                </a:lnTo>
                <a:lnTo>
                  <a:pt x="2844728" y="121049"/>
                </a:lnTo>
                <a:lnTo>
                  <a:pt x="2980192" y="137932"/>
                </a:lnTo>
                <a:lnTo>
                  <a:pt x="3115655" y="158859"/>
                </a:lnTo>
                <a:lnTo>
                  <a:pt x="3251118" y="181697"/>
                </a:lnTo>
                <a:lnTo>
                  <a:pt x="3386582" y="204209"/>
                </a:lnTo>
                <a:lnTo>
                  <a:pt x="3522045" y="224221"/>
                </a:lnTo>
                <a:lnTo>
                  <a:pt x="3657508" y="239788"/>
                </a:lnTo>
                <a:lnTo>
                  <a:pt x="3792971" y="249333"/>
                </a:lnTo>
                <a:lnTo>
                  <a:pt x="3928435" y="251771"/>
                </a:lnTo>
                <a:lnTo>
                  <a:pt x="4063898" y="246589"/>
                </a:lnTo>
                <a:lnTo>
                  <a:pt x="4199361" y="233889"/>
                </a:lnTo>
                <a:lnTo>
                  <a:pt x="4334824" y="214384"/>
                </a:lnTo>
                <a:lnTo>
                  <a:pt x="4470288" y="189351"/>
                </a:lnTo>
                <a:lnTo>
                  <a:pt x="4605751" y="160541"/>
                </a:lnTo>
                <a:lnTo>
                  <a:pt x="4741214" y="130057"/>
                </a:lnTo>
                <a:lnTo>
                  <a:pt x="4876678" y="100204"/>
                </a:lnTo>
                <a:lnTo>
                  <a:pt x="5012141" y="73323"/>
                </a:lnTo>
                <a:lnTo>
                  <a:pt x="5147604" y="51622"/>
                </a:lnTo>
                <a:lnTo>
                  <a:pt x="5283067" y="37017"/>
                </a:lnTo>
                <a:lnTo>
                  <a:pt x="5418531" y="30990"/>
                </a:lnTo>
                <a:lnTo>
                  <a:pt x="5553994" y="34474"/>
                </a:lnTo>
                <a:lnTo>
                  <a:pt x="5689457" y="47786"/>
                </a:lnTo>
                <a:lnTo>
                  <a:pt x="5824921" y="70590"/>
                </a:lnTo>
                <a:lnTo>
                  <a:pt x="5960384" y="101917"/>
                </a:lnTo>
                <a:lnTo>
                  <a:pt x="6095847" y="140218"/>
                </a:lnTo>
                <a:lnTo>
                  <a:pt x="6231310" y="183467"/>
                </a:lnTo>
                <a:lnTo>
                  <a:pt x="6366774" y="229296"/>
                </a:lnTo>
                <a:lnTo>
                  <a:pt x="6502237" y="275145"/>
                </a:lnTo>
                <a:lnTo>
                  <a:pt x="6637700" y="318441"/>
                </a:lnTo>
                <a:lnTo>
                  <a:pt x="6773164" y="356762"/>
                </a:lnTo>
                <a:lnTo>
                  <a:pt x="6908627" y="388007"/>
                </a:lnTo>
                <a:lnTo>
                  <a:pt x="7044090" y="410525"/>
                </a:lnTo>
                <a:lnTo>
                  <a:pt x="7179553" y="423234"/>
                </a:lnTo>
                <a:lnTo>
                  <a:pt x="7315017" y="425683"/>
                </a:lnTo>
                <a:lnTo>
                  <a:pt x="7450480" y="418077"/>
                </a:lnTo>
                <a:lnTo>
                  <a:pt x="7585943" y="401262"/>
                </a:lnTo>
                <a:lnTo>
                  <a:pt x="7721406" y="376654"/>
                </a:lnTo>
                <a:lnTo>
                  <a:pt x="7856870" y="346141"/>
                </a:lnTo>
                <a:lnTo>
                  <a:pt x="7992333" y="311944"/>
                </a:lnTo>
                <a:lnTo>
                  <a:pt x="8127796" y="276461"/>
                </a:lnTo>
                <a:lnTo>
                  <a:pt x="8263260" y="242095"/>
                </a:lnTo>
                <a:lnTo>
                  <a:pt x="8398723" y="211090"/>
                </a:lnTo>
                <a:lnTo>
                  <a:pt x="8534186" y="185370"/>
                </a:lnTo>
                <a:lnTo>
                  <a:pt x="8669649" y="166411"/>
                </a:lnTo>
                <a:lnTo>
                  <a:pt x="8805113" y="155142"/>
                </a:lnTo>
                <a:lnTo>
                  <a:pt x="8940576" y="151881"/>
                </a:lnTo>
                <a:lnTo>
                  <a:pt x="9076039" y="156326"/>
                </a:lnTo>
                <a:lnTo>
                  <a:pt x="9211503" y="167580"/>
                </a:lnTo>
                <a:lnTo>
                  <a:pt x="9346966" y="184224"/>
                </a:lnTo>
                <a:lnTo>
                  <a:pt x="9482429" y="204428"/>
                </a:lnTo>
                <a:lnTo>
                  <a:pt x="9617892" y="226088"/>
                </a:lnTo>
                <a:lnTo>
                  <a:pt x="9753356" y="246988"/>
                </a:lnTo>
                <a:lnTo>
                  <a:pt x="9888819" y="264965"/>
                </a:lnTo>
                <a:lnTo>
                  <a:pt x="10024282" y="278071"/>
                </a:lnTo>
                <a:lnTo>
                  <a:pt x="10159746" y="284726"/>
                </a:lnTo>
                <a:lnTo>
                  <a:pt x="10295209" y="283832"/>
                </a:lnTo>
                <a:lnTo>
                  <a:pt x="10430672" y="274867"/>
                </a:lnTo>
                <a:lnTo>
                  <a:pt x="10566135" y="257926"/>
                </a:lnTo>
                <a:lnTo>
                  <a:pt x="10701599" y="233726"/>
                </a:lnTo>
                <a:lnTo>
                  <a:pt x="10837062" y="203559"/>
                </a:lnTo>
                <a:lnTo>
                  <a:pt x="10972525" y="169211"/>
                </a:lnTo>
                <a:lnTo>
                  <a:pt x="11107988" y="132838"/>
                </a:lnTo>
                <a:lnTo>
                  <a:pt x="11243452" y="96817"/>
                </a:lnTo>
                <a:lnTo>
                  <a:pt x="11378915" y="63586"/>
                </a:lnTo>
                <a:lnTo>
                  <a:pt x="11514378" y="35465"/>
                </a:lnTo>
                <a:lnTo>
                  <a:pt x="11649842" y="14501"/>
                </a:lnTo>
                <a:lnTo>
                  <a:pt x="11785305" y="2318"/>
                </a:lnTo>
                <a:lnTo>
                  <a:pt x="11920768" y="0"/>
                </a:lnTo>
                <a:lnTo>
                  <a:pt x="12056231" y="8011"/>
                </a:lnTo>
                <a:lnTo>
                  <a:pt x="12191695" y="26159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0" y="6025618"/>
            <a:ext cx="12191695" cy="429611"/>
          </a:xfrm>
          <a:custGeom>
            <a:avLst/>
            <a:gdLst/>
            <a:ahLst/>
            <a:cxnLst/>
            <a:rect l="l" t="t" r="r" b="b"/>
            <a:pathLst>
              <a:path w="12191695" h="429611">
                <a:moveTo>
                  <a:pt x="0" y="281470"/>
                </a:moveTo>
                <a:lnTo>
                  <a:pt x="135463" y="322074"/>
                </a:lnTo>
                <a:lnTo>
                  <a:pt x="270926" y="358980"/>
                </a:lnTo>
                <a:lnTo>
                  <a:pt x="406389" y="389890"/>
                </a:lnTo>
                <a:lnTo>
                  <a:pt x="541853" y="412850"/>
                </a:lnTo>
                <a:lnTo>
                  <a:pt x="677316" y="426387"/>
                </a:lnTo>
                <a:lnTo>
                  <a:pt x="812779" y="429611"/>
                </a:lnTo>
                <a:lnTo>
                  <a:pt x="948242" y="422277"/>
                </a:lnTo>
                <a:lnTo>
                  <a:pt x="1083706" y="404801"/>
                </a:lnTo>
                <a:lnTo>
                  <a:pt x="1219169" y="378235"/>
                </a:lnTo>
                <a:lnTo>
                  <a:pt x="1354632" y="344192"/>
                </a:lnTo>
                <a:lnTo>
                  <a:pt x="1490096" y="304739"/>
                </a:lnTo>
                <a:lnTo>
                  <a:pt x="1625559" y="262255"/>
                </a:lnTo>
                <a:lnTo>
                  <a:pt x="1761022" y="219268"/>
                </a:lnTo>
                <a:lnTo>
                  <a:pt x="1896485" y="178283"/>
                </a:lnTo>
                <a:lnTo>
                  <a:pt x="2031949" y="141617"/>
                </a:lnTo>
                <a:lnTo>
                  <a:pt x="2167412" y="111240"/>
                </a:lnTo>
                <a:lnTo>
                  <a:pt x="2302875" y="88645"/>
                </a:lnTo>
                <a:lnTo>
                  <a:pt x="2438339" y="74755"/>
                </a:lnTo>
                <a:lnTo>
                  <a:pt x="2573802" y="69868"/>
                </a:lnTo>
                <a:lnTo>
                  <a:pt x="2709265" y="73641"/>
                </a:lnTo>
                <a:lnTo>
                  <a:pt x="2844728" y="85133"/>
                </a:lnTo>
                <a:lnTo>
                  <a:pt x="2980192" y="102874"/>
                </a:lnTo>
                <a:lnTo>
                  <a:pt x="3115655" y="124983"/>
                </a:lnTo>
                <a:lnTo>
                  <a:pt x="3251118" y="149311"/>
                </a:lnTo>
                <a:lnTo>
                  <a:pt x="3386582" y="173597"/>
                </a:lnTo>
                <a:lnTo>
                  <a:pt x="3522045" y="195642"/>
                </a:lnTo>
                <a:lnTo>
                  <a:pt x="3657508" y="213469"/>
                </a:lnTo>
                <a:lnTo>
                  <a:pt x="3792971" y="225467"/>
                </a:lnTo>
                <a:lnTo>
                  <a:pt x="3928435" y="230514"/>
                </a:lnTo>
                <a:lnTo>
                  <a:pt x="4063898" y="228058"/>
                </a:lnTo>
                <a:lnTo>
                  <a:pt x="4199361" y="218160"/>
                </a:lnTo>
                <a:lnTo>
                  <a:pt x="4334824" y="201490"/>
                </a:lnTo>
                <a:lnTo>
                  <a:pt x="4470288" y="179282"/>
                </a:lnTo>
                <a:lnTo>
                  <a:pt x="4605751" y="153245"/>
                </a:lnTo>
                <a:lnTo>
                  <a:pt x="4741214" y="125441"/>
                </a:lnTo>
                <a:lnTo>
                  <a:pt x="4876678" y="98132"/>
                </a:lnTo>
                <a:lnTo>
                  <a:pt x="5012141" y="73623"/>
                </a:lnTo>
                <a:lnTo>
                  <a:pt x="5147604" y="54085"/>
                </a:lnTo>
                <a:lnTo>
                  <a:pt x="5283067" y="41401"/>
                </a:lnTo>
                <a:lnTo>
                  <a:pt x="5418531" y="37025"/>
                </a:lnTo>
                <a:lnTo>
                  <a:pt x="5553994" y="41865"/>
                </a:lnTo>
                <a:lnTo>
                  <a:pt x="5689457" y="56216"/>
                </a:lnTo>
                <a:lnTo>
                  <a:pt x="5824921" y="79729"/>
                </a:lnTo>
                <a:lnTo>
                  <a:pt x="5960384" y="111422"/>
                </a:lnTo>
                <a:lnTo>
                  <a:pt x="6095847" y="149741"/>
                </a:lnTo>
                <a:lnTo>
                  <a:pt x="6231310" y="192661"/>
                </a:lnTo>
                <a:lnTo>
                  <a:pt x="6366774" y="237817"/>
                </a:lnTo>
                <a:lnTo>
                  <a:pt x="6502237" y="282661"/>
                </a:lnTo>
                <a:lnTo>
                  <a:pt x="6637700" y="324633"/>
                </a:lnTo>
                <a:lnTo>
                  <a:pt x="6773164" y="361333"/>
                </a:lnTo>
                <a:lnTo>
                  <a:pt x="6908627" y="390683"/>
                </a:lnTo>
                <a:lnTo>
                  <a:pt x="7044090" y="411063"/>
                </a:lnTo>
                <a:lnTo>
                  <a:pt x="7179553" y="421421"/>
                </a:lnTo>
                <a:lnTo>
                  <a:pt x="7315017" y="421341"/>
                </a:lnTo>
                <a:lnTo>
                  <a:pt x="7450480" y="411068"/>
                </a:lnTo>
                <a:lnTo>
                  <a:pt x="7585943" y="391488"/>
                </a:lnTo>
                <a:lnTo>
                  <a:pt x="7721406" y="364058"/>
                </a:lnTo>
                <a:lnTo>
                  <a:pt x="7856870" y="330709"/>
                </a:lnTo>
                <a:lnTo>
                  <a:pt x="7992333" y="293706"/>
                </a:lnTo>
                <a:lnTo>
                  <a:pt x="8127796" y="255487"/>
                </a:lnTo>
                <a:lnTo>
                  <a:pt x="8263260" y="218497"/>
                </a:lnTo>
                <a:lnTo>
                  <a:pt x="8398723" y="185020"/>
                </a:lnTo>
                <a:lnTo>
                  <a:pt x="8534186" y="157018"/>
                </a:lnTo>
                <a:lnTo>
                  <a:pt x="8669649" y="136002"/>
                </a:lnTo>
                <a:lnTo>
                  <a:pt x="8805113" y="122929"/>
                </a:lnTo>
                <a:lnTo>
                  <a:pt x="8940576" y="118148"/>
                </a:lnTo>
                <a:lnTo>
                  <a:pt x="9076039" y="121377"/>
                </a:lnTo>
                <a:lnTo>
                  <a:pt x="9211503" y="131739"/>
                </a:lnTo>
                <a:lnTo>
                  <a:pt x="9346966" y="147828"/>
                </a:lnTo>
                <a:lnTo>
                  <a:pt x="9482429" y="167821"/>
                </a:lnTo>
                <a:lnTo>
                  <a:pt x="9617892" y="189620"/>
                </a:lnTo>
                <a:lnTo>
                  <a:pt x="9753356" y="211005"/>
                </a:lnTo>
                <a:lnTo>
                  <a:pt x="9888819" y="229806"/>
                </a:lnTo>
                <a:lnTo>
                  <a:pt x="10024282" y="244064"/>
                </a:lnTo>
                <a:lnTo>
                  <a:pt x="10159746" y="252178"/>
                </a:lnTo>
                <a:lnTo>
                  <a:pt x="10295209" y="253032"/>
                </a:lnTo>
                <a:lnTo>
                  <a:pt x="10430672" y="246075"/>
                </a:lnTo>
                <a:lnTo>
                  <a:pt x="10566135" y="231373"/>
                </a:lnTo>
                <a:lnTo>
                  <a:pt x="10701599" y="209608"/>
                </a:lnTo>
                <a:lnTo>
                  <a:pt x="10837062" y="182037"/>
                </a:lnTo>
                <a:lnTo>
                  <a:pt x="10972525" y="150405"/>
                </a:lnTo>
                <a:lnTo>
                  <a:pt x="11107988" y="116828"/>
                </a:lnTo>
                <a:lnTo>
                  <a:pt x="11243452" y="83641"/>
                </a:lnTo>
                <a:lnTo>
                  <a:pt x="11378915" y="53237"/>
                </a:lnTo>
                <a:lnTo>
                  <a:pt x="11514378" y="27897"/>
                </a:lnTo>
                <a:lnTo>
                  <a:pt x="11649842" y="9624"/>
                </a:lnTo>
                <a:lnTo>
                  <a:pt x="11785305" y="0"/>
                </a:lnTo>
                <a:lnTo>
                  <a:pt x="11920768" y="72"/>
                </a:lnTo>
                <a:lnTo>
                  <a:pt x="12056231" y="10268"/>
                </a:lnTo>
                <a:lnTo>
                  <a:pt x="12191695" y="30364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0" y="6100567"/>
            <a:ext cx="12191695" cy="412776"/>
          </a:xfrm>
          <a:custGeom>
            <a:avLst/>
            <a:gdLst/>
            <a:ahLst/>
            <a:cxnLst/>
            <a:rect l="l" t="t" r="r" b="b"/>
            <a:pathLst>
              <a:path w="12191695" h="412776">
                <a:moveTo>
                  <a:pt x="0" y="277742"/>
                </a:moveTo>
                <a:lnTo>
                  <a:pt x="135463" y="315822"/>
                </a:lnTo>
                <a:lnTo>
                  <a:pt x="270926" y="350065"/>
                </a:lnTo>
                <a:lnTo>
                  <a:pt x="406389" y="378212"/>
                </a:lnTo>
                <a:lnTo>
                  <a:pt x="541853" y="398351"/>
                </a:lnTo>
                <a:lnTo>
                  <a:pt x="677316" y="409052"/>
                </a:lnTo>
                <a:lnTo>
                  <a:pt x="812779" y="409468"/>
                </a:lnTo>
                <a:lnTo>
                  <a:pt x="948242" y="399395"/>
                </a:lnTo>
                <a:lnTo>
                  <a:pt x="1083706" y="379291"/>
                </a:lnTo>
                <a:lnTo>
                  <a:pt x="1219169" y="350249"/>
                </a:lnTo>
                <a:lnTo>
                  <a:pt x="1354632" y="313918"/>
                </a:lnTo>
                <a:lnTo>
                  <a:pt x="1490096" y="272400"/>
                </a:lnTo>
                <a:lnTo>
                  <a:pt x="1625559" y="228105"/>
                </a:lnTo>
                <a:lnTo>
                  <a:pt x="1761022" y="183588"/>
                </a:lnTo>
                <a:lnTo>
                  <a:pt x="1896485" y="141378"/>
                </a:lnTo>
                <a:lnTo>
                  <a:pt x="2031949" y="103810"/>
                </a:lnTo>
                <a:lnTo>
                  <a:pt x="2167412" y="72867"/>
                </a:lnTo>
                <a:lnTo>
                  <a:pt x="2302875" y="50052"/>
                </a:lnTo>
                <a:lnTo>
                  <a:pt x="2438339" y="36290"/>
                </a:lnTo>
                <a:lnTo>
                  <a:pt x="2573802" y="31877"/>
                </a:lnTo>
                <a:lnTo>
                  <a:pt x="2709265" y="36465"/>
                </a:lnTo>
                <a:lnTo>
                  <a:pt x="2844728" y="49098"/>
                </a:lnTo>
                <a:lnTo>
                  <a:pt x="2980192" y="68290"/>
                </a:lnTo>
                <a:lnTo>
                  <a:pt x="3115655" y="92139"/>
                </a:lnTo>
                <a:lnTo>
                  <a:pt x="3251118" y="118467"/>
                </a:lnTo>
                <a:lnTo>
                  <a:pt x="3386582" y="144985"/>
                </a:lnTo>
                <a:lnTo>
                  <a:pt x="3522045" y="169461"/>
                </a:lnTo>
                <a:lnTo>
                  <a:pt x="3657508" y="189879"/>
                </a:lnTo>
                <a:lnTo>
                  <a:pt x="3792971" y="204590"/>
                </a:lnTo>
                <a:lnTo>
                  <a:pt x="3928435" y="212432"/>
                </a:lnTo>
                <a:lnTo>
                  <a:pt x="4063898" y="212808"/>
                </a:lnTo>
                <a:lnTo>
                  <a:pt x="4199361" y="205739"/>
                </a:lnTo>
                <a:lnTo>
                  <a:pt x="4334824" y="191851"/>
                </a:lnTo>
                <a:lnTo>
                  <a:pt x="4470288" y="172337"/>
                </a:lnTo>
                <a:lnTo>
                  <a:pt x="4605751" y="148865"/>
                </a:lnTo>
                <a:lnTo>
                  <a:pt x="4741214" y="123456"/>
                </a:lnTo>
                <a:lnTo>
                  <a:pt x="4876678" y="98340"/>
                </a:lnTo>
                <a:lnTo>
                  <a:pt x="5012141" y="75785"/>
                </a:lnTo>
                <a:lnTo>
                  <a:pt x="5147604" y="57934"/>
                </a:lnTo>
                <a:lnTo>
                  <a:pt x="5283067" y="46646"/>
                </a:lnTo>
                <a:lnTo>
                  <a:pt x="5418531" y="43351"/>
                </a:lnTo>
                <a:lnTo>
                  <a:pt x="5553994" y="48943"/>
                </a:lnTo>
                <a:lnTo>
                  <a:pt x="5689457" y="63705"/>
                </a:lnTo>
                <a:lnTo>
                  <a:pt x="5824921" y="87282"/>
                </a:lnTo>
                <a:lnTo>
                  <a:pt x="5960384" y="118690"/>
                </a:lnTo>
                <a:lnTo>
                  <a:pt x="6095847" y="156380"/>
                </a:lnTo>
                <a:lnTo>
                  <a:pt x="6231310" y="198337"/>
                </a:lnTo>
                <a:lnTo>
                  <a:pt x="6366774" y="242210"/>
                </a:lnTo>
                <a:lnTo>
                  <a:pt x="6502237" y="285469"/>
                </a:lnTo>
                <a:lnTo>
                  <a:pt x="6637700" y="325581"/>
                </a:lnTo>
                <a:lnTo>
                  <a:pt x="6773164" y="360173"/>
                </a:lnTo>
                <a:lnTo>
                  <a:pt x="6908627" y="387197"/>
                </a:lnTo>
                <a:lnTo>
                  <a:pt x="7044090" y="405069"/>
                </a:lnTo>
                <a:lnTo>
                  <a:pt x="7179553" y="412776"/>
                </a:lnTo>
                <a:lnTo>
                  <a:pt x="7315017" y="409941"/>
                </a:lnTo>
                <a:lnTo>
                  <a:pt x="7450480" y="396852"/>
                </a:lnTo>
                <a:lnTo>
                  <a:pt x="7585943" y="374435"/>
                </a:lnTo>
                <a:lnTo>
                  <a:pt x="7721406" y="344192"/>
                </a:lnTo>
                <a:lnTo>
                  <a:pt x="7856870" y="308095"/>
                </a:lnTo>
                <a:lnTo>
                  <a:pt x="7992333" y="268451"/>
                </a:lnTo>
                <a:lnTo>
                  <a:pt x="8127796" y="227739"/>
                </a:lnTo>
                <a:lnTo>
                  <a:pt x="8263260" y="188442"/>
                </a:lnTo>
                <a:lnTo>
                  <a:pt x="8398723" y="152876"/>
                </a:lnTo>
                <a:lnTo>
                  <a:pt x="8534186" y="123036"/>
                </a:lnTo>
                <a:lnTo>
                  <a:pt x="8669649" y="100460"/>
                </a:lnTo>
                <a:lnTo>
                  <a:pt x="8805113" y="86132"/>
                </a:lnTo>
                <a:lnTo>
                  <a:pt x="8940576" y="80415"/>
                </a:lnTo>
                <a:lnTo>
                  <a:pt x="9076039" y="83045"/>
                </a:lnTo>
                <a:lnTo>
                  <a:pt x="9211503" y="93152"/>
                </a:lnTo>
                <a:lnTo>
                  <a:pt x="9346966" y="109334"/>
                </a:lnTo>
                <a:lnTo>
                  <a:pt x="9482429" y="129768"/>
                </a:lnTo>
                <a:lnTo>
                  <a:pt x="9617892" y="152348"/>
                </a:lnTo>
                <a:lnTo>
                  <a:pt x="9753356" y="174842"/>
                </a:lnTo>
                <a:lnTo>
                  <a:pt x="9888819" y="195065"/>
                </a:lnTo>
                <a:lnTo>
                  <a:pt x="10024282" y="211034"/>
                </a:lnTo>
                <a:lnTo>
                  <a:pt x="10159746" y="221125"/>
                </a:lnTo>
                <a:lnTo>
                  <a:pt x="10295209" y="224189"/>
                </a:lnTo>
                <a:lnTo>
                  <a:pt x="10430672" y="219644"/>
                </a:lnTo>
                <a:lnTo>
                  <a:pt x="10566135" y="207519"/>
                </a:lnTo>
                <a:lnTo>
                  <a:pt x="10701599" y="188457"/>
                </a:lnTo>
                <a:lnTo>
                  <a:pt x="10837062" y="163674"/>
                </a:lnTo>
                <a:lnTo>
                  <a:pt x="10972525" y="134873"/>
                </a:lnTo>
                <a:lnTo>
                  <a:pt x="11107988" y="104127"/>
                </a:lnTo>
                <a:lnTo>
                  <a:pt x="11243452" y="73729"/>
                </a:lnTo>
                <a:lnTo>
                  <a:pt x="11378915" y="46030"/>
                </a:lnTo>
                <a:lnTo>
                  <a:pt x="11514378" y="23268"/>
                </a:lnTo>
                <a:lnTo>
                  <a:pt x="11649842" y="7409"/>
                </a:lnTo>
                <a:lnTo>
                  <a:pt x="11785305" y="0"/>
                </a:lnTo>
                <a:lnTo>
                  <a:pt x="11920768" y="2051"/>
                </a:lnTo>
                <a:lnTo>
                  <a:pt x="12056231" y="13963"/>
                </a:lnTo>
                <a:lnTo>
                  <a:pt x="12191695" y="35483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0" y="6171193"/>
            <a:ext cx="12191695" cy="403249"/>
          </a:xfrm>
          <a:custGeom>
            <a:avLst/>
            <a:gdLst/>
            <a:ahLst/>
            <a:cxnLst/>
            <a:rect l="l" t="t" r="r" b="b"/>
            <a:pathLst>
              <a:path w="12191695" h="403249">
                <a:moveTo>
                  <a:pt x="0" y="273501"/>
                </a:moveTo>
                <a:lnTo>
                  <a:pt x="135463" y="308829"/>
                </a:lnTo>
                <a:lnTo>
                  <a:pt x="270926" y="340256"/>
                </a:lnTo>
                <a:lnTo>
                  <a:pt x="406389" y="365567"/>
                </a:lnTo>
                <a:lnTo>
                  <a:pt x="541853" y="382892"/>
                </a:lnTo>
                <a:lnTo>
                  <a:pt x="677316" y="390842"/>
                </a:lnTo>
                <a:lnTo>
                  <a:pt x="812779" y="388614"/>
                </a:lnTo>
                <a:lnTo>
                  <a:pt x="948242" y="376043"/>
                </a:lnTo>
                <a:lnTo>
                  <a:pt x="1083706" y="353625"/>
                </a:lnTo>
                <a:lnTo>
                  <a:pt x="1219169" y="322486"/>
                </a:lnTo>
                <a:lnTo>
                  <a:pt x="1354632" y="284310"/>
                </a:lnTo>
                <a:lnTo>
                  <a:pt x="1490096" y="241224"/>
                </a:lnTo>
                <a:lnTo>
                  <a:pt x="1625559" y="195663"/>
                </a:lnTo>
                <a:lnTo>
                  <a:pt x="1761022" y="150201"/>
                </a:lnTo>
                <a:lnTo>
                  <a:pt x="1896485" y="107382"/>
                </a:lnTo>
                <a:lnTo>
                  <a:pt x="2031949" y="69549"/>
                </a:lnTo>
                <a:lnTo>
                  <a:pt x="2167412" y="38689"/>
                </a:lnTo>
                <a:lnTo>
                  <a:pt x="2302875" y="16304"/>
                </a:lnTo>
                <a:lnTo>
                  <a:pt x="2438339" y="3313"/>
                </a:lnTo>
                <a:lnTo>
                  <a:pt x="2573802" y="0"/>
                </a:lnTo>
                <a:lnTo>
                  <a:pt x="2709265" y="6000"/>
                </a:lnTo>
                <a:lnTo>
                  <a:pt x="2844728" y="20336"/>
                </a:lnTo>
                <a:lnTo>
                  <a:pt x="2980192" y="41497"/>
                </a:lnTo>
                <a:lnTo>
                  <a:pt x="3115655" y="67549"/>
                </a:lnTo>
                <a:lnTo>
                  <a:pt x="3251118" y="96284"/>
                </a:lnTo>
                <a:lnTo>
                  <a:pt x="3386582" y="125375"/>
                </a:lnTo>
                <a:lnTo>
                  <a:pt x="3522045" y="152551"/>
                </a:lnTo>
                <a:lnTo>
                  <a:pt x="3657508" y="175754"/>
                </a:lnTo>
                <a:lnTo>
                  <a:pt x="3792971" y="193296"/>
                </a:lnTo>
                <a:lnTo>
                  <a:pt x="3928435" y="203969"/>
                </a:lnTo>
                <a:lnTo>
                  <a:pt x="4063898" y="207137"/>
                </a:lnTo>
                <a:lnTo>
                  <a:pt x="4199361" y="202775"/>
                </a:lnTo>
                <a:lnTo>
                  <a:pt x="4334824" y="191470"/>
                </a:lnTo>
                <a:lnTo>
                  <a:pt x="4470288" y="174376"/>
                </a:lnTo>
                <a:lnTo>
                  <a:pt x="4605751" y="153124"/>
                </a:lnTo>
                <a:lnTo>
                  <a:pt x="4741214" y="129702"/>
                </a:lnTo>
                <a:lnTo>
                  <a:pt x="4876678" y="106310"/>
                </a:lnTo>
                <a:lnTo>
                  <a:pt x="5012141" y="85189"/>
                </a:lnTo>
                <a:lnTo>
                  <a:pt x="5147604" y="68462"/>
                </a:lnTo>
                <a:lnTo>
                  <a:pt x="5283067" y="57969"/>
                </a:lnTo>
                <a:lnTo>
                  <a:pt x="5418531" y="55130"/>
                </a:lnTo>
                <a:lnTo>
                  <a:pt x="5553994" y="60830"/>
                </a:lnTo>
                <a:lnTo>
                  <a:pt x="5689457" y="75353"/>
                </a:lnTo>
                <a:lnTo>
                  <a:pt x="5824921" y="98345"/>
                </a:lnTo>
                <a:lnTo>
                  <a:pt x="5960384" y="128832"/>
                </a:lnTo>
                <a:lnTo>
                  <a:pt x="6095847" y="165280"/>
                </a:lnTo>
                <a:lnTo>
                  <a:pt x="6231310" y="205690"/>
                </a:lnTo>
                <a:lnTo>
                  <a:pt x="6366774" y="247736"/>
                </a:lnTo>
                <a:lnTo>
                  <a:pt x="6502237" y="288918"/>
                </a:lnTo>
                <a:lnTo>
                  <a:pt x="6637700" y="326730"/>
                </a:lnTo>
                <a:lnTo>
                  <a:pt x="6773164" y="358835"/>
                </a:lnTo>
                <a:lnTo>
                  <a:pt x="6908627" y="383225"/>
                </a:lnTo>
                <a:lnTo>
                  <a:pt x="7044090" y="398353"/>
                </a:lnTo>
                <a:lnTo>
                  <a:pt x="7179553" y="403249"/>
                </a:lnTo>
                <a:lnTo>
                  <a:pt x="7315017" y="397578"/>
                </a:lnTo>
                <a:lnTo>
                  <a:pt x="7450480" y="381670"/>
                </a:lnTo>
                <a:lnTo>
                  <a:pt x="7585943" y="356494"/>
                </a:lnTo>
                <a:lnTo>
                  <a:pt x="7721406" y="323595"/>
                </a:lnTo>
                <a:lnTo>
                  <a:pt x="7856870" y="284984"/>
                </a:lnTo>
                <a:lnTo>
                  <a:pt x="7992333" y="243006"/>
                </a:lnTo>
                <a:lnTo>
                  <a:pt x="8127796" y="200174"/>
                </a:lnTo>
                <a:lnTo>
                  <a:pt x="8263260" y="159005"/>
                </a:lnTo>
                <a:lnTo>
                  <a:pt x="8398723" y="121843"/>
                </a:lnTo>
                <a:lnTo>
                  <a:pt x="8534186" y="90706"/>
                </a:lnTo>
                <a:lnTo>
                  <a:pt x="8669649" y="67153"/>
                </a:lnTo>
                <a:lnTo>
                  <a:pt x="8805113" y="52181"/>
                </a:lnTo>
                <a:lnTo>
                  <a:pt x="8940576" y="46165"/>
                </a:lnTo>
                <a:lnTo>
                  <a:pt x="9076039" y="48843"/>
                </a:lnTo>
                <a:lnTo>
                  <a:pt x="9211503" y="59346"/>
                </a:lnTo>
                <a:lnTo>
                  <a:pt x="9346966" y="76265"/>
                </a:lnTo>
                <a:lnTo>
                  <a:pt x="9482429" y="97767"/>
                </a:lnTo>
                <a:lnTo>
                  <a:pt x="9617892" y="121729"/>
                </a:lnTo>
                <a:lnTo>
                  <a:pt x="9753356" y="145899"/>
                </a:lnTo>
                <a:lnTo>
                  <a:pt x="9888819" y="168064"/>
                </a:lnTo>
                <a:lnTo>
                  <a:pt x="10024282" y="186216"/>
                </a:lnTo>
                <a:lnTo>
                  <a:pt x="10159746" y="198695"/>
                </a:lnTo>
                <a:lnTo>
                  <a:pt x="10295209" y="204317"/>
                </a:lnTo>
                <a:lnTo>
                  <a:pt x="10430672" y="202460"/>
                </a:lnTo>
                <a:lnTo>
                  <a:pt x="10566135" y="193114"/>
                </a:lnTo>
                <a:lnTo>
                  <a:pt x="10701599" y="176881"/>
                </a:lnTo>
                <a:lnTo>
                  <a:pt x="10837062" y="154931"/>
                </a:lnTo>
                <a:lnTo>
                  <a:pt x="10972525" y="128927"/>
                </a:lnTo>
                <a:lnTo>
                  <a:pt x="11107988" y="100899"/>
                </a:lnTo>
                <a:lnTo>
                  <a:pt x="11243452" y="73098"/>
                </a:lnTo>
                <a:lnTo>
                  <a:pt x="11378915" y="47836"/>
                </a:lnTo>
                <a:lnTo>
                  <a:pt x="11514378" y="27317"/>
                </a:lnTo>
                <a:lnTo>
                  <a:pt x="11649842" y="13469"/>
                </a:lnTo>
                <a:lnTo>
                  <a:pt x="11785305" y="7811"/>
                </a:lnTo>
                <a:lnTo>
                  <a:pt x="11920768" y="11326"/>
                </a:lnTo>
                <a:lnTo>
                  <a:pt x="12056231" y="24393"/>
                </a:lnTo>
                <a:lnTo>
                  <a:pt x="12191695" y="46742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0" y="6212821"/>
            <a:ext cx="12191695" cy="417427"/>
          </a:xfrm>
          <a:custGeom>
            <a:avLst/>
            <a:gdLst/>
            <a:ahLst/>
            <a:cxnLst/>
            <a:rect l="l" t="t" r="r" b="b"/>
            <a:pathLst>
              <a:path w="12191695" h="417427">
                <a:moveTo>
                  <a:pt x="0" y="293057"/>
                </a:moveTo>
                <a:lnTo>
                  <a:pt x="135463" y="325548"/>
                </a:lnTo>
                <a:lnTo>
                  <a:pt x="270926" y="354156"/>
                </a:lnTo>
                <a:lnTo>
                  <a:pt x="406389" y="376706"/>
                </a:lnTo>
                <a:lnTo>
                  <a:pt x="541853" y="391371"/>
                </a:lnTo>
                <a:lnTo>
                  <a:pt x="677316" y="396802"/>
                </a:lnTo>
                <a:lnTo>
                  <a:pt x="812779" y="392233"/>
                </a:lnTo>
                <a:lnTo>
                  <a:pt x="948242" y="377536"/>
                </a:lnTo>
                <a:lnTo>
                  <a:pt x="1083706" y="353238"/>
                </a:lnTo>
                <a:lnTo>
                  <a:pt x="1219169" y="320495"/>
                </a:lnTo>
                <a:lnTo>
                  <a:pt x="1354632" y="281012"/>
                </a:lnTo>
                <a:lnTo>
                  <a:pt x="1490096" y="236940"/>
                </a:lnTo>
                <a:lnTo>
                  <a:pt x="1625559" y="190725"/>
                </a:lnTo>
                <a:lnTo>
                  <a:pt x="1761022" y="144953"/>
                </a:lnTo>
                <a:lnTo>
                  <a:pt x="1896485" y="102171"/>
                </a:lnTo>
                <a:lnTo>
                  <a:pt x="2031949" y="64723"/>
                </a:lnTo>
                <a:lnTo>
                  <a:pt x="2167412" y="34591"/>
                </a:lnTo>
                <a:lnTo>
                  <a:pt x="2302875" y="13264"/>
                </a:lnTo>
                <a:lnTo>
                  <a:pt x="2438339" y="1646"/>
                </a:lnTo>
                <a:lnTo>
                  <a:pt x="2573802" y="0"/>
                </a:lnTo>
                <a:lnTo>
                  <a:pt x="2709265" y="7935"/>
                </a:lnTo>
                <a:lnTo>
                  <a:pt x="2844728" y="24447"/>
                </a:lnTo>
                <a:lnTo>
                  <a:pt x="2980192" y="47990"/>
                </a:lnTo>
                <a:lnTo>
                  <a:pt x="3115655" y="76596"/>
                </a:lnTo>
                <a:lnTo>
                  <a:pt x="3251118" y="108016"/>
                </a:lnTo>
                <a:lnTo>
                  <a:pt x="3386582" y="139885"/>
                </a:lnTo>
                <a:lnTo>
                  <a:pt x="3522045" y="169887"/>
                </a:lnTo>
                <a:lnTo>
                  <a:pt x="3657508" y="195925"/>
                </a:lnTo>
                <a:lnTo>
                  <a:pt x="3792971" y="216265"/>
                </a:lnTo>
                <a:lnTo>
                  <a:pt x="3928435" y="229659"/>
                </a:lnTo>
                <a:lnTo>
                  <a:pt x="4063898" y="235428"/>
                </a:lnTo>
                <a:lnTo>
                  <a:pt x="4199361" y="233509"/>
                </a:lnTo>
                <a:lnTo>
                  <a:pt x="4334824" y="224453"/>
                </a:lnTo>
                <a:lnTo>
                  <a:pt x="4470288" y="209377"/>
                </a:lnTo>
                <a:lnTo>
                  <a:pt x="4605751" y="189885"/>
                </a:lnTo>
                <a:lnTo>
                  <a:pt x="4741214" y="167936"/>
                </a:lnTo>
                <a:lnTo>
                  <a:pt x="4876678" y="145708"/>
                </a:lnTo>
                <a:lnTo>
                  <a:pt x="5012141" y="125426"/>
                </a:lnTo>
                <a:lnTo>
                  <a:pt x="5147604" y="109199"/>
                </a:lnTo>
                <a:lnTo>
                  <a:pt x="5283067" y="98860"/>
                </a:lnTo>
                <a:lnTo>
                  <a:pt x="5418531" y="95826"/>
                </a:lnTo>
                <a:lnTo>
                  <a:pt x="5553994" y="100986"/>
                </a:lnTo>
                <a:lnTo>
                  <a:pt x="5689457" y="114631"/>
                </a:lnTo>
                <a:lnTo>
                  <a:pt x="5824921" y="136420"/>
                </a:lnTo>
                <a:lnTo>
                  <a:pt x="5960384" y="165399"/>
                </a:lnTo>
                <a:lnTo>
                  <a:pt x="6095847" y="200056"/>
                </a:lnTo>
                <a:lnTo>
                  <a:pt x="6231310" y="238419"/>
                </a:lnTo>
                <a:lnTo>
                  <a:pt x="6366774" y="278192"/>
                </a:lnTo>
                <a:lnTo>
                  <a:pt x="6502237" y="316910"/>
                </a:lnTo>
                <a:lnTo>
                  <a:pt x="6637700" y="352104"/>
                </a:lnTo>
                <a:lnTo>
                  <a:pt x="6773164" y="381478"/>
                </a:lnTo>
                <a:lnTo>
                  <a:pt x="6908627" y="403062"/>
                </a:lnTo>
                <a:lnTo>
                  <a:pt x="7044090" y="415355"/>
                </a:lnTo>
                <a:lnTo>
                  <a:pt x="7179553" y="417427"/>
                </a:lnTo>
                <a:lnTo>
                  <a:pt x="7315017" y="408988"/>
                </a:lnTo>
                <a:lnTo>
                  <a:pt x="7450480" y="390408"/>
                </a:lnTo>
                <a:lnTo>
                  <a:pt x="7585943" y="362697"/>
                </a:lnTo>
                <a:lnTo>
                  <a:pt x="7721406" y="327438"/>
                </a:lnTo>
                <a:lnTo>
                  <a:pt x="7856870" y="286679"/>
                </a:lnTo>
                <a:lnTo>
                  <a:pt x="7992333" y="242795"/>
                </a:lnTo>
                <a:lnTo>
                  <a:pt x="8127796" y="198330"/>
                </a:lnTo>
                <a:lnTo>
                  <a:pt x="8263260" y="155823"/>
                </a:lnTo>
                <a:lnTo>
                  <a:pt x="8398723" y="117641"/>
                </a:lnTo>
                <a:lnTo>
                  <a:pt x="8534186" y="85818"/>
                </a:lnTo>
                <a:lnTo>
                  <a:pt x="8669649" y="61920"/>
                </a:lnTo>
                <a:lnTo>
                  <a:pt x="8805113" y="46951"/>
                </a:lnTo>
                <a:lnTo>
                  <a:pt x="8940576" y="41286"/>
                </a:lnTo>
                <a:lnTo>
                  <a:pt x="9076039" y="44658"/>
                </a:lnTo>
                <a:lnTo>
                  <a:pt x="9211503" y="56186"/>
                </a:lnTo>
                <a:lnTo>
                  <a:pt x="9346966" y="74448"/>
                </a:lnTo>
                <a:lnTo>
                  <a:pt x="9482429" y="97588"/>
                </a:lnTo>
                <a:lnTo>
                  <a:pt x="9617892" y="123460"/>
                </a:lnTo>
                <a:lnTo>
                  <a:pt x="9753356" y="149783"/>
                </a:lnTo>
                <a:lnTo>
                  <a:pt x="9888819" y="174313"/>
                </a:lnTo>
                <a:lnTo>
                  <a:pt x="10024282" y="195002"/>
                </a:lnTo>
                <a:lnTo>
                  <a:pt x="10159746" y="210155"/>
                </a:lnTo>
                <a:lnTo>
                  <a:pt x="10295209" y="218547"/>
                </a:lnTo>
                <a:lnTo>
                  <a:pt x="10430672" y="219514"/>
                </a:lnTo>
                <a:lnTo>
                  <a:pt x="10566135" y="213004"/>
                </a:lnTo>
                <a:lnTo>
                  <a:pt x="10701599" y="199574"/>
                </a:lnTo>
                <a:lnTo>
                  <a:pt x="10837062" y="180355"/>
                </a:lnTo>
                <a:lnTo>
                  <a:pt x="10972525" y="156966"/>
                </a:lnTo>
                <a:lnTo>
                  <a:pt x="11107988" y="131398"/>
                </a:lnTo>
                <a:lnTo>
                  <a:pt x="11243452" y="105867"/>
                </a:lnTo>
                <a:lnTo>
                  <a:pt x="11378915" y="82648"/>
                </a:lnTo>
                <a:lnTo>
                  <a:pt x="11514378" y="63915"/>
                </a:lnTo>
                <a:lnTo>
                  <a:pt x="11649842" y="51570"/>
                </a:lnTo>
                <a:lnTo>
                  <a:pt x="11785305" y="47108"/>
                </a:lnTo>
                <a:lnTo>
                  <a:pt x="11920768" y="51495"/>
                </a:lnTo>
                <a:lnTo>
                  <a:pt x="12056231" y="65096"/>
                </a:lnTo>
                <a:lnTo>
                  <a:pt x="12191695" y="87633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0" y="6257766"/>
            <a:ext cx="12191695" cy="423802"/>
          </a:xfrm>
          <a:custGeom>
            <a:avLst/>
            <a:gdLst/>
            <a:ahLst/>
            <a:cxnLst/>
            <a:rect l="l" t="t" r="r" b="b"/>
            <a:pathLst>
              <a:path w="12191695" h="423802">
                <a:moveTo>
                  <a:pt x="0" y="304003"/>
                </a:moveTo>
                <a:lnTo>
                  <a:pt x="135463" y="333723"/>
                </a:lnTo>
                <a:lnTo>
                  <a:pt x="270926" y="359656"/>
                </a:lnTo>
                <a:lnTo>
                  <a:pt x="406389" y="379666"/>
                </a:lnTo>
                <a:lnTo>
                  <a:pt x="541853" y="391965"/>
                </a:lnTo>
                <a:lnTo>
                  <a:pt x="677316" y="395240"/>
                </a:lnTo>
                <a:lnTo>
                  <a:pt x="812779" y="388758"/>
                </a:lnTo>
                <a:lnTo>
                  <a:pt x="948242" y="372419"/>
                </a:lnTo>
                <a:lnTo>
                  <a:pt x="1083706" y="346776"/>
                </a:lnTo>
                <a:lnTo>
                  <a:pt x="1219169" y="313002"/>
                </a:lnTo>
                <a:lnTo>
                  <a:pt x="1354632" y="272822"/>
                </a:lnTo>
                <a:lnTo>
                  <a:pt x="1490096" y="228395"/>
                </a:lnTo>
                <a:lnTo>
                  <a:pt x="1625559" y="182173"/>
                </a:lnTo>
                <a:lnTo>
                  <a:pt x="1761022" y="136741"/>
                </a:lnTo>
                <a:lnTo>
                  <a:pt x="1896485" y="94643"/>
                </a:lnTo>
                <a:lnTo>
                  <a:pt x="2031949" y="58211"/>
                </a:lnTo>
                <a:lnTo>
                  <a:pt x="2167412" y="29412"/>
                </a:lnTo>
                <a:lnTo>
                  <a:pt x="2302875" y="9715"/>
                </a:lnTo>
                <a:lnTo>
                  <a:pt x="2438339" y="0"/>
                </a:lnTo>
                <a:lnTo>
                  <a:pt x="2573802" y="500"/>
                </a:lnTo>
                <a:lnTo>
                  <a:pt x="2709265" y="10793"/>
                </a:lnTo>
                <a:lnTo>
                  <a:pt x="2844728" y="29838"/>
                </a:lnTo>
                <a:lnTo>
                  <a:pt x="2980192" y="56052"/>
                </a:lnTo>
                <a:lnTo>
                  <a:pt x="3115655" y="87425"/>
                </a:lnTo>
                <a:lnTo>
                  <a:pt x="3251118" y="121668"/>
                </a:lnTo>
                <a:lnTo>
                  <a:pt x="3386582" y="156372"/>
                </a:lnTo>
                <a:lnTo>
                  <a:pt x="3522045" y="189180"/>
                </a:lnTo>
                <a:lnTo>
                  <a:pt x="3657508" y="217951"/>
                </a:lnTo>
                <a:lnTo>
                  <a:pt x="3792971" y="240911"/>
                </a:lnTo>
                <a:lnTo>
                  <a:pt x="3928435" y="256770"/>
                </a:lnTo>
                <a:lnTo>
                  <a:pt x="4063898" y="264815"/>
                </a:lnTo>
                <a:lnTo>
                  <a:pt x="4199361" y="264946"/>
                </a:lnTo>
                <a:lnTo>
                  <a:pt x="4334824" y="257684"/>
                </a:lnTo>
                <a:lnTo>
                  <a:pt x="4470288" y="244120"/>
                </a:lnTo>
                <a:lnTo>
                  <a:pt x="4605751" y="225833"/>
                </a:lnTo>
                <a:lnTo>
                  <a:pt x="4741214" y="204766"/>
                </a:lnTo>
                <a:lnTo>
                  <a:pt x="4876678" y="183083"/>
                </a:lnTo>
                <a:lnTo>
                  <a:pt x="5012141" y="162999"/>
                </a:lnTo>
                <a:lnTo>
                  <a:pt x="5147604" y="146623"/>
                </a:lnTo>
                <a:lnTo>
                  <a:pt x="5283067" y="135788"/>
                </a:lnTo>
                <a:lnTo>
                  <a:pt x="5418531" y="131918"/>
                </a:lnTo>
                <a:lnTo>
                  <a:pt x="5553994" y="135918"/>
                </a:lnTo>
                <a:lnTo>
                  <a:pt x="5689457" y="148093"/>
                </a:lnTo>
                <a:lnTo>
                  <a:pt x="5824921" y="168126"/>
                </a:lnTo>
                <a:lnTo>
                  <a:pt x="5960384" y="195089"/>
                </a:lnTo>
                <a:lnTo>
                  <a:pt x="6095847" y="227500"/>
                </a:lnTo>
                <a:lnTo>
                  <a:pt x="6231310" y="263422"/>
                </a:lnTo>
                <a:lnTo>
                  <a:pt x="6366774" y="300595"/>
                </a:lnTo>
                <a:lnTo>
                  <a:pt x="6502237" y="336593"/>
                </a:lnTo>
                <a:lnTo>
                  <a:pt x="6637700" y="368990"/>
                </a:lnTo>
                <a:lnTo>
                  <a:pt x="6773164" y="395530"/>
                </a:lnTo>
                <a:lnTo>
                  <a:pt x="6908627" y="414287"/>
                </a:lnTo>
                <a:lnTo>
                  <a:pt x="7044090" y="423802"/>
                </a:lnTo>
                <a:lnTo>
                  <a:pt x="7179553" y="423187"/>
                </a:lnTo>
                <a:lnTo>
                  <a:pt x="7315017" y="412193"/>
                </a:lnTo>
                <a:lnTo>
                  <a:pt x="7450480" y="391228"/>
                </a:lnTo>
                <a:lnTo>
                  <a:pt x="7585943" y="361340"/>
                </a:lnTo>
                <a:lnTo>
                  <a:pt x="7721406" y="324142"/>
                </a:lnTo>
                <a:lnTo>
                  <a:pt x="7856870" y="281712"/>
                </a:lnTo>
                <a:lnTo>
                  <a:pt x="7992333" y="236452"/>
                </a:lnTo>
                <a:lnTo>
                  <a:pt x="8127796" y="190925"/>
                </a:lnTo>
                <a:lnTo>
                  <a:pt x="8263260" y="147688"/>
                </a:lnTo>
                <a:lnTo>
                  <a:pt x="8398723" y="109116"/>
                </a:lnTo>
                <a:lnTo>
                  <a:pt x="8534186" y="77250"/>
                </a:lnTo>
                <a:lnTo>
                  <a:pt x="8669649" y="53659"/>
                </a:lnTo>
                <a:lnTo>
                  <a:pt x="8805113" y="39339"/>
                </a:lnTo>
                <a:lnTo>
                  <a:pt x="8940576" y="34658"/>
                </a:lnTo>
                <a:lnTo>
                  <a:pt x="9076039" y="39333"/>
                </a:lnTo>
                <a:lnTo>
                  <a:pt x="9211503" y="52463"/>
                </a:lnTo>
                <a:lnTo>
                  <a:pt x="9346966" y="72601"/>
                </a:lnTo>
                <a:lnTo>
                  <a:pt x="9482429" y="97865"/>
                </a:lnTo>
                <a:lnTo>
                  <a:pt x="9617892" y="126075"/>
                </a:lnTo>
                <a:lnTo>
                  <a:pt x="9753356" y="154916"/>
                </a:lnTo>
                <a:lnTo>
                  <a:pt x="9888819" y="182103"/>
                </a:lnTo>
                <a:lnTo>
                  <a:pt x="10024282" y="205552"/>
                </a:lnTo>
                <a:lnTo>
                  <a:pt x="10159746" y="223525"/>
                </a:lnTo>
                <a:lnTo>
                  <a:pt x="10295209" y="234753"/>
                </a:lnTo>
                <a:lnTo>
                  <a:pt x="10430672" y="238531"/>
                </a:lnTo>
                <a:lnTo>
                  <a:pt x="10566135" y="234763"/>
                </a:lnTo>
                <a:lnTo>
                  <a:pt x="10701599" y="223965"/>
                </a:lnTo>
                <a:lnTo>
                  <a:pt x="10837062" y="207229"/>
                </a:lnTo>
                <a:lnTo>
                  <a:pt x="10972525" y="186136"/>
                </a:lnTo>
                <a:lnTo>
                  <a:pt x="11107988" y="162642"/>
                </a:lnTo>
                <a:lnTo>
                  <a:pt x="11243452" y="138932"/>
                </a:lnTo>
                <a:lnTo>
                  <a:pt x="11378915" y="117254"/>
                </a:lnTo>
                <a:lnTo>
                  <a:pt x="11514378" y="99758"/>
                </a:lnTo>
                <a:lnTo>
                  <a:pt x="11649842" y="88328"/>
                </a:lnTo>
                <a:lnTo>
                  <a:pt x="11785305" y="84443"/>
                </a:lnTo>
                <a:lnTo>
                  <a:pt x="11920768" y="89064"/>
                </a:lnTo>
                <a:lnTo>
                  <a:pt x="12056231" y="102550"/>
                </a:lnTo>
                <a:lnTo>
                  <a:pt x="12191695" y="124626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0" y="6305252"/>
            <a:ext cx="12191695" cy="424788"/>
          </a:xfrm>
          <a:custGeom>
            <a:avLst/>
            <a:gdLst/>
            <a:ahLst/>
            <a:cxnLst/>
            <a:rect l="l" t="t" r="r" b="b"/>
            <a:pathLst>
              <a:path w="12191695" h="424788">
                <a:moveTo>
                  <a:pt x="0" y="307301"/>
                </a:moveTo>
                <a:lnTo>
                  <a:pt x="135463" y="334462"/>
                </a:lnTo>
                <a:lnTo>
                  <a:pt x="270926" y="358004"/>
                </a:lnTo>
                <a:lnTo>
                  <a:pt x="406389" y="375829"/>
                </a:lnTo>
                <a:lnTo>
                  <a:pt x="541853" y="386182"/>
                </a:lnTo>
                <a:lnTo>
                  <a:pt x="677316" y="387779"/>
                </a:lnTo>
                <a:lnTo>
                  <a:pt x="812779" y="379911"/>
                </a:lnTo>
                <a:lnTo>
                  <a:pt x="948242" y="362500"/>
                </a:lnTo>
                <a:lnTo>
                  <a:pt x="1083706" y="336116"/>
                </a:lnTo>
                <a:lnTo>
                  <a:pt x="1219169" y="301943"/>
                </a:lnTo>
                <a:lnTo>
                  <a:pt x="1354632" y="261710"/>
                </a:lnTo>
                <a:lnTo>
                  <a:pt x="1490096" y="217579"/>
                </a:lnTo>
                <a:lnTo>
                  <a:pt x="1625559" y="171996"/>
                </a:lnTo>
                <a:lnTo>
                  <a:pt x="1761022" y="127538"/>
                </a:lnTo>
                <a:lnTo>
                  <a:pt x="1896485" y="86734"/>
                </a:lnTo>
                <a:lnTo>
                  <a:pt x="2031949" y="51895"/>
                </a:lnTo>
                <a:lnTo>
                  <a:pt x="2167412" y="24964"/>
                </a:lnTo>
                <a:lnTo>
                  <a:pt x="2302875" y="7383"/>
                </a:lnTo>
                <a:lnTo>
                  <a:pt x="2438339" y="0"/>
                </a:lnTo>
                <a:lnTo>
                  <a:pt x="2573802" y="3013"/>
                </a:lnTo>
                <a:lnTo>
                  <a:pt x="2709265" y="15961"/>
                </a:lnTo>
                <a:lnTo>
                  <a:pt x="2844728" y="37764"/>
                </a:lnTo>
                <a:lnTo>
                  <a:pt x="2980192" y="66796"/>
                </a:lnTo>
                <a:lnTo>
                  <a:pt x="3115655" y="101005"/>
                </a:lnTo>
                <a:lnTo>
                  <a:pt x="3251118" y="138060"/>
                </a:lnTo>
                <a:lnTo>
                  <a:pt x="3386582" y="175509"/>
                </a:lnTo>
                <a:lnTo>
                  <a:pt x="3522045" y="210953"/>
                </a:lnTo>
                <a:lnTo>
                  <a:pt x="3657508" y="242212"/>
                </a:lnTo>
                <a:lnTo>
                  <a:pt x="3792971" y="267474"/>
                </a:lnTo>
                <a:lnTo>
                  <a:pt x="3928435" y="285414"/>
                </a:lnTo>
                <a:lnTo>
                  <a:pt x="4063898" y="295288"/>
                </a:lnTo>
                <a:lnTo>
                  <a:pt x="4199361" y="296969"/>
                </a:lnTo>
                <a:lnTo>
                  <a:pt x="4334824" y="290954"/>
                </a:lnTo>
                <a:lnTo>
                  <a:pt x="4470288" y="278314"/>
                </a:lnTo>
                <a:lnTo>
                  <a:pt x="4605751" y="260616"/>
                </a:lnTo>
                <a:lnTo>
                  <a:pt x="4741214" y="239793"/>
                </a:lnTo>
                <a:lnTo>
                  <a:pt x="4876678" y="218004"/>
                </a:lnTo>
                <a:lnTo>
                  <a:pt x="5012141" y="197470"/>
                </a:lnTo>
                <a:lnTo>
                  <a:pt x="5147604" y="180301"/>
                </a:lnTo>
                <a:lnTo>
                  <a:pt x="5283067" y="168347"/>
                </a:lnTo>
                <a:lnTo>
                  <a:pt x="5418531" y="163047"/>
                </a:lnTo>
                <a:lnTo>
                  <a:pt x="5553994" y="165325"/>
                </a:lnTo>
                <a:lnTo>
                  <a:pt x="5689457" y="175516"/>
                </a:lnTo>
                <a:lnTo>
                  <a:pt x="5824921" y="193332"/>
                </a:lnTo>
                <a:lnTo>
                  <a:pt x="5960384" y="217878"/>
                </a:lnTo>
                <a:lnTo>
                  <a:pt x="6095847" y="247707"/>
                </a:lnTo>
                <a:lnTo>
                  <a:pt x="6231310" y="280922"/>
                </a:lnTo>
                <a:lnTo>
                  <a:pt x="6366774" y="315306"/>
                </a:lnTo>
                <a:lnTo>
                  <a:pt x="6502237" y="348472"/>
                </a:lnTo>
                <a:lnTo>
                  <a:pt x="6637700" y="378038"/>
                </a:lnTo>
                <a:lnTo>
                  <a:pt x="6773164" y="401791"/>
                </a:lnTo>
                <a:lnTo>
                  <a:pt x="6908627" y="417847"/>
                </a:lnTo>
                <a:lnTo>
                  <a:pt x="7044090" y="424788"/>
                </a:lnTo>
                <a:lnTo>
                  <a:pt x="7179553" y="421765"/>
                </a:lnTo>
                <a:lnTo>
                  <a:pt x="7315017" y="408563"/>
                </a:lnTo>
                <a:lnTo>
                  <a:pt x="7450480" y="385627"/>
                </a:lnTo>
                <a:lnTo>
                  <a:pt x="7585943" y="354032"/>
                </a:lnTo>
                <a:lnTo>
                  <a:pt x="7721406" y="315419"/>
                </a:lnTo>
                <a:lnTo>
                  <a:pt x="7856870" y="271886"/>
                </a:lnTo>
                <a:lnTo>
                  <a:pt x="7992333" y="225851"/>
                </a:lnTo>
                <a:lnTo>
                  <a:pt x="8127796" y="179890"/>
                </a:lnTo>
                <a:lnTo>
                  <a:pt x="8263260" y="136565"/>
                </a:lnTo>
                <a:lnTo>
                  <a:pt x="8398723" y="98255"/>
                </a:lnTo>
                <a:lnTo>
                  <a:pt x="8534186" y="66995"/>
                </a:lnTo>
                <a:lnTo>
                  <a:pt x="8669649" y="44345"/>
                </a:lnTo>
                <a:lnTo>
                  <a:pt x="8805113" y="31287"/>
                </a:lnTo>
                <a:lnTo>
                  <a:pt x="8940576" y="28170"/>
                </a:lnTo>
                <a:lnTo>
                  <a:pt x="9076039" y="34687"/>
                </a:lnTo>
                <a:lnTo>
                  <a:pt x="9211503" y="49910"/>
                </a:lnTo>
                <a:lnTo>
                  <a:pt x="9346966" y="72361"/>
                </a:lnTo>
                <a:lnTo>
                  <a:pt x="9482429" y="100121"/>
                </a:lnTo>
                <a:lnTo>
                  <a:pt x="9617892" y="130974"/>
                </a:lnTo>
                <a:lnTo>
                  <a:pt x="9753356" y="162564"/>
                </a:lnTo>
                <a:lnTo>
                  <a:pt x="9888819" y="192565"/>
                </a:lnTo>
                <a:lnTo>
                  <a:pt x="10024282" y="218851"/>
                </a:lnTo>
                <a:lnTo>
                  <a:pt x="10159746" y="239640"/>
                </a:lnTo>
                <a:lnTo>
                  <a:pt x="10295209" y="253621"/>
                </a:lnTo>
                <a:lnTo>
                  <a:pt x="10430672" y="260048"/>
                </a:lnTo>
                <a:lnTo>
                  <a:pt x="10566135" y="258784"/>
                </a:lnTo>
                <a:lnTo>
                  <a:pt x="10701599" y="250308"/>
                </a:lnTo>
                <a:lnTo>
                  <a:pt x="10837062" y="235677"/>
                </a:lnTo>
                <a:lnTo>
                  <a:pt x="10972525" y="216440"/>
                </a:lnTo>
                <a:lnTo>
                  <a:pt x="11107988" y="194524"/>
                </a:lnTo>
                <a:lnTo>
                  <a:pt x="11243452" y="172091"/>
                </a:lnTo>
                <a:lnTo>
                  <a:pt x="11378915" y="151371"/>
                </a:lnTo>
                <a:lnTo>
                  <a:pt x="11514378" y="134497"/>
                </a:lnTo>
                <a:lnTo>
                  <a:pt x="11649842" y="123345"/>
                </a:lnTo>
                <a:lnTo>
                  <a:pt x="11785305" y="119391"/>
                </a:lnTo>
                <a:lnTo>
                  <a:pt x="11920768" y="123595"/>
                </a:lnTo>
                <a:lnTo>
                  <a:pt x="12056231" y="136322"/>
                </a:lnTo>
                <a:lnTo>
                  <a:pt x="12191695" y="157310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0" y="6357556"/>
            <a:ext cx="12191695" cy="416614"/>
          </a:xfrm>
          <a:custGeom>
            <a:avLst/>
            <a:gdLst/>
            <a:ahLst/>
            <a:cxnLst/>
            <a:rect l="l" t="t" r="r" b="b"/>
            <a:pathLst>
              <a:path w="12191695" h="416614">
                <a:moveTo>
                  <a:pt x="0" y="301130"/>
                </a:moveTo>
                <a:lnTo>
                  <a:pt x="135463" y="326077"/>
                </a:lnTo>
                <a:lnTo>
                  <a:pt x="270926" y="347640"/>
                </a:lnTo>
                <a:lnTo>
                  <a:pt x="406389" y="363751"/>
                </a:lnTo>
                <a:lnTo>
                  <a:pt x="541853" y="372679"/>
                </a:lnTo>
                <a:lnTo>
                  <a:pt x="677316" y="373163"/>
                </a:lnTo>
                <a:lnTo>
                  <a:pt x="812779" y="364510"/>
                </a:lnTo>
                <a:lnTo>
                  <a:pt x="948242" y="346655"/>
                </a:lnTo>
                <a:lnTo>
                  <a:pt x="1083706" y="320173"/>
                </a:lnTo>
                <a:lnTo>
                  <a:pt x="1219169" y="286251"/>
                </a:lnTo>
                <a:lnTo>
                  <a:pt x="1354632" y="246614"/>
                </a:lnTo>
                <a:lnTo>
                  <a:pt x="1490096" y="203413"/>
                </a:lnTo>
                <a:lnTo>
                  <a:pt x="1625559" y="159084"/>
                </a:lnTo>
                <a:lnTo>
                  <a:pt x="1761022" y="116181"/>
                </a:lnTo>
                <a:lnTo>
                  <a:pt x="1896485" y="77211"/>
                </a:lnTo>
                <a:lnTo>
                  <a:pt x="2031949" y="44458"/>
                </a:lnTo>
                <a:lnTo>
                  <a:pt x="2167412" y="19834"/>
                </a:lnTo>
                <a:lnTo>
                  <a:pt x="2302875" y="4745"/>
                </a:lnTo>
                <a:lnTo>
                  <a:pt x="2438339" y="0"/>
                </a:lnTo>
                <a:lnTo>
                  <a:pt x="2573802" y="5760"/>
                </a:lnTo>
                <a:lnTo>
                  <a:pt x="2709265" y="21521"/>
                </a:lnTo>
                <a:lnTo>
                  <a:pt x="2844728" y="46159"/>
                </a:lnTo>
                <a:lnTo>
                  <a:pt x="2980192" y="78009"/>
                </a:lnTo>
                <a:lnTo>
                  <a:pt x="3115655" y="114974"/>
                </a:lnTo>
                <a:lnTo>
                  <a:pt x="3251118" y="154682"/>
                </a:lnTo>
                <a:lnTo>
                  <a:pt x="3386582" y="194640"/>
                </a:lnTo>
                <a:lnTo>
                  <a:pt x="3522045" y="232412"/>
                </a:lnTo>
                <a:lnTo>
                  <a:pt x="3657508" y="265783"/>
                </a:lnTo>
                <a:lnTo>
                  <a:pt x="3792971" y="292907"/>
                </a:lnTo>
                <a:lnTo>
                  <a:pt x="3928435" y="312435"/>
                </a:lnTo>
                <a:lnTo>
                  <a:pt x="4063898" y="323596"/>
                </a:lnTo>
                <a:lnTo>
                  <a:pt x="4199361" y="326244"/>
                </a:lnTo>
                <a:lnTo>
                  <a:pt x="4334824" y="320861"/>
                </a:lnTo>
                <a:lnTo>
                  <a:pt x="4470288" y="308511"/>
                </a:lnTo>
                <a:lnTo>
                  <a:pt x="4605751" y="290753"/>
                </a:lnTo>
                <a:lnTo>
                  <a:pt x="4741214" y="269523"/>
                </a:lnTo>
                <a:lnTo>
                  <a:pt x="4876678" y="246986"/>
                </a:lnTo>
                <a:lnTo>
                  <a:pt x="5012141" y="225374"/>
                </a:lnTo>
                <a:lnTo>
                  <a:pt x="5147604" y="206814"/>
                </a:lnTo>
                <a:lnTo>
                  <a:pt x="5283067" y="193175"/>
                </a:lnTo>
                <a:lnTo>
                  <a:pt x="5418531" y="185923"/>
                </a:lnTo>
                <a:lnTo>
                  <a:pt x="5553994" y="186012"/>
                </a:lnTo>
                <a:lnTo>
                  <a:pt x="5689457" y="193810"/>
                </a:lnTo>
                <a:lnTo>
                  <a:pt x="5824921" y="209063"/>
                </a:lnTo>
                <a:lnTo>
                  <a:pt x="5960384" y="230916"/>
                </a:lnTo>
                <a:lnTo>
                  <a:pt x="6095847" y="257963"/>
                </a:lnTo>
                <a:lnTo>
                  <a:pt x="6231310" y="288350"/>
                </a:lnTo>
                <a:lnTo>
                  <a:pt x="6366774" y="319901"/>
                </a:lnTo>
                <a:lnTo>
                  <a:pt x="6502237" y="350272"/>
                </a:lnTo>
                <a:lnTo>
                  <a:pt x="6637700" y="377124"/>
                </a:lnTo>
                <a:lnTo>
                  <a:pt x="6773164" y="398284"/>
                </a:lnTo>
                <a:lnTo>
                  <a:pt x="6908627" y="411908"/>
                </a:lnTo>
                <a:lnTo>
                  <a:pt x="7044090" y="416614"/>
                </a:lnTo>
                <a:lnTo>
                  <a:pt x="7179553" y="411587"/>
                </a:lnTo>
                <a:lnTo>
                  <a:pt x="7315017" y="396643"/>
                </a:lnTo>
                <a:lnTo>
                  <a:pt x="7450480" y="372253"/>
                </a:lnTo>
                <a:lnTo>
                  <a:pt x="7585943" y="339512"/>
                </a:lnTo>
                <a:lnTo>
                  <a:pt x="7721406" y="300081"/>
                </a:lnTo>
                <a:lnTo>
                  <a:pt x="7856870" y="256069"/>
                </a:lnTo>
                <a:lnTo>
                  <a:pt x="7992333" y="209902"/>
                </a:lnTo>
                <a:lnTo>
                  <a:pt x="8127796" y="164157"/>
                </a:lnTo>
                <a:lnTo>
                  <a:pt x="8263260" y="121394"/>
                </a:lnTo>
                <a:lnTo>
                  <a:pt x="8398723" y="83983"/>
                </a:lnTo>
                <a:lnTo>
                  <a:pt x="8534186" y="53944"/>
                </a:lnTo>
                <a:lnTo>
                  <a:pt x="8669649" y="32820"/>
                </a:lnTo>
                <a:lnTo>
                  <a:pt x="8805113" y="21571"/>
                </a:lnTo>
                <a:lnTo>
                  <a:pt x="8940576" y="20516"/>
                </a:lnTo>
                <a:lnTo>
                  <a:pt x="9076039" y="29319"/>
                </a:lnTo>
                <a:lnTo>
                  <a:pt x="9211503" y="47016"/>
                </a:lnTo>
                <a:lnTo>
                  <a:pt x="9346966" y="72093"/>
                </a:lnTo>
                <a:lnTo>
                  <a:pt x="9482429" y="102591"/>
                </a:lnTo>
                <a:lnTo>
                  <a:pt x="9617892" y="136252"/>
                </a:lnTo>
                <a:lnTo>
                  <a:pt x="9753356" y="170677"/>
                </a:lnTo>
                <a:lnTo>
                  <a:pt x="9888819" y="203500"/>
                </a:lnTo>
                <a:lnTo>
                  <a:pt x="10024282" y="232550"/>
                </a:lnTo>
                <a:lnTo>
                  <a:pt x="10159746" y="256003"/>
                </a:lnTo>
                <a:lnTo>
                  <a:pt x="10295209" y="272510"/>
                </a:lnTo>
                <a:lnTo>
                  <a:pt x="10430672" y="281284"/>
                </a:lnTo>
                <a:lnTo>
                  <a:pt x="10566135" y="282155"/>
                </a:lnTo>
                <a:lnTo>
                  <a:pt x="10701599" y="275569"/>
                </a:lnTo>
                <a:lnTo>
                  <a:pt x="10837062" y="262553"/>
                </a:lnTo>
                <a:lnTo>
                  <a:pt x="10972525" y="244634"/>
                </a:lnTo>
                <a:lnTo>
                  <a:pt x="11107988" y="223718"/>
                </a:lnTo>
                <a:lnTo>
                  <a:pt x="11243452" y="201951"/>
                </a:lnTo>
                <a:lnTo>
                  <a:pt x="11378915" y="181554"/>
                </a:lnTo>
                <a:lnTo>
                  <a:pt x="11514378" y="164655"/>
                </a:lnTo>
                <a:lnTo>
                  <a:pt x="11649842" y="153131"/>
                </a:lnTo>
                <a:lnTo>
                  <a:pt x="11785305" y="148463"/>
                </a:lnTo>
                <a:lnTo>
                  <a:pt x="11920768" y="151620"/>
                </a:lnTo>
                <a:lnTo>
                  <a:pt x="12056231" y="162986"/>
                </a:lnTo>
                <a:lnTo>
                  <a:pt x="12191695" y="182318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22408" y="6245352"/>
            <a:ext cx="137160" cy="320040"/>
          </a:xfrm>
          <a:prstGeom prst="rect">
            <a:avLst/>
          </a:prstGeom>
          <a:solidFill>
            <a:srgbClr val="E5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78440" y="5925312"/>
            <a:ext cx="137160" cy="640080"/>
          </a:xfrm>
          <a:prstGeom prst="rect">
            <a:avLst/>
          </a:prstGeom>
          <a:solidFill>
            <a:srgbClr val="E5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34472" y="6126479"/>
            <a:ext cx="137160" cy="438912"/>
          </a:xfrm>
          <a:prstGeom prst="rect">
            <a:avLst/>
          </a:prstGeom>
          <a:solidFill>
            <a:srgbClr val="E5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890504" y="5715000"/>
            <a:ext cx="137160" cy="850392"/>
          </a:xfrm>
          <a:prstGeom prst="rect">
            <a:avLst/>
          </a:prstGeom>
          <a:solidFill>
            <a:srgbClr val="E5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146536" y="5998464"/>
            <a:ext cx="137160" cy="566928"/>
          </a:xfrm>
          <a:prstGeom prst="rect">
            <a:avLst/>
          </a:prstGeom>
          <a:solidFill>
            <a:srgbClr val="E5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02568" y="5504688"/>
            <a:ext cx="137160" cy="1060704"/>
          </a:xfrm>
          <a:prstGeom prst="rect">
            <a:avLst/>
          </a:prstGeom>
          <a:solidFill>
            <a:srgbClr val="E5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7" y="1152144"/>
            <a:ext cx="5559552" cy="154533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39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企业数据智能体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39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建设规划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" y="2953512"/>
            <a:ext cx="658368" cy="50292"/>
          </a:xfrm>
          <a:prstGeom prst="rect">
            <a:avLst/>
          </a:prstGeom>
          <a:solidFill>
            <a:srgbClr val="EE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" y="3401568"/>
            <a:ext cx="5148072" cy="53035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夯实企业上下文，释放专业协作价值</a:t>
            </a:r>
          </a:p>
        </p:txBody>
      </p:sp>
      <p:sp>
        <p:nvSpPr>
          <p:cNvPr id="22" name="Oval 21"/>
          <p:cNvSpPr/>
          <p:nvPr/>
        </p:nvSpPr>
        <p:spPr>
          <a:xfrm>
            <a:off x="584667" y="4607295"/>
            <a:ext cx="345643" cy="61447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8434" y="4373026"/>
            <a:ext cx="234269" cy="222747"/>
          </a:xfrm>
          <a:prstGeom prst="rect">
            <a:avLst/>
          </a:prstGeom>
          <a:solidFill>
            <a:srgbClr val="168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8434" y="4565050"/>
            <a:ext cx="234269" cy="76809"/>
          </a:xfrm>
          <a:prstGeom prst="ellipse">
            <a:avLst/>
          </a:prstGeom>
          <a:solidFill>
            <a:srgbClr val="096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8434" y="4334621"/>
            <a:ext cx="234269" cy="76809"/>
          </a:xfrm>
          <a:prstGeom prst="ellipse">
            <a:avLst/>
          </a:prstGeom>
          <a:solidFill>
            <a:srgbClr val="76D8FF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8434" y="4422952"/>
            <a:ext cx="234269" cy="76809"/>
          </a:xfrm>
          <a:prstGeom prst="ellipse">
            <a:avLst/>
          </a:prstGeom>
          <a:solidFill>
            <a:srgbClr val="3AB2F8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8434" y="4511283"/>
            <a:ext cx="234269" cy="76809"/>
          </a:xfrm>
          <a:prstGeom prst="ellipse">
            <a:avLst/>
          </a:prstGeom>
          <a:solidFill>
            <a:srgbClr val="3AB2F8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1476" y="4380707"/>
            <a:ext cx="15361" cy="203545"/>
          </a:xfrm>
          <a:prstGeom prst="rect">
            <a:avLst/>
          </a:prstGeom>
          <a:solidFill>
            <a:srgbClr val="76D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0704" y="4297680"/>
            <a:ext cx="1188720" cy="25603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数据可理解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" y="4672584"/>
            <a:ext cx="1188720" cy="2286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5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资产与指标语义</a:t>
            </a:r>
          </a:p>
        </p:txBody>
      </p:sp>
      <p:sp>
        <p:nvSpPr>
          <p:cNvPr id="31" name="Oval 30"/>
          <p:cNvSpPr/>
          <p:nvPr/>
        </p:nvSpPr>
        <p:spPr>
          <a:xfrm>
            <a:off x="2294595" y="4607295"/>
            <a:ext cx="345643" cy="61447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2279233" y="4503602"/>
            <a:ext cx="353324" cy="148397"/>
          </a:xfrm>
          <a:custGeom>
            <a:avLst/>
            <a:gdLst/>
            <a:ahLst/>
            <a:cxnLst/>
            <a:rect l="l" t="t" r="r" b="b"/>
            <a:pathLst>
              <a:path w="353324" h="148397">
                <a:moveTo>
                  <a:pt x="0" y="74198"/>
                </a:moveTo>
                <a:lnTo>
                  <a:pt x="176662" y="0"/>
                </a:lnTo>
                <a:lnTo>
                  <a:pt x="353324" y="74198"/>
                </a:lnTo>
                <a:lnTo>
                  <a:pt x="176662" y="148397"/>
                </a:lnTo>
                <a:close/>
              </a:path>
            </a:pathLst>
          </a:custGeom>
          <a:solidFill>
            <a:srgbClr val="B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2279233" y="4577800"/>
            <a:ext cx="176662" cy="106843"/>
          </a:xfrm>
          <a:custGeom>
            <a:avLst/>
            <a:gdLst/>
            <a:ahLst/>
            <a:cxnLst/>
            <a:rect l="l" t="t" r="r" b="b"/>
            <a:pathLst>
              <a:path w="176662" h="106843">
                <a:moveTo>
                  <a:pt x="0" y="0"/>
                </a:moveTo>
                <a:lnTo>
                  <a:pt x="176662" y="74199"/>
                </a:lnTo>
                <a:lnTo>
                  <a:pt x="176662" y="106843"/>
                </a:lnTo>
                <a:lnTo>
                  <a:pt x="0" y="32645"/>
                </a:lnTo>
                <a:close/>
              </a:path>
            </a:pathLst>
          </a:custGeom>
          <a:solidFill>
            <a:srgbClr val="6D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2455895" y="4577800"/>
            <a:ext cx="176662" cy="106843"/>
          </a:xfrm>
          <a:custGeom>
            <a:avLst/>
            <a:gdLst/>
            <a:ahLst/>
            <a:cxnLst/>
            <a:rect l="l" t="t" r="r" b="b"/>
            <a:pathLst>
              <a:path w="176662" h="106843">
                <a:moveTo>
                  <a:pt x="0" y="74199"/>
                </a:moveTo>
                <a:lnTo>
                  <a:pt x="176662" y="0"/>
                </a:lnTo>
                <a:lnTo>
                  <a:pt x="176662" y="32645"/>
                </a:lnTo>
                <a:lnTo>
                  <a:pt x="0" y="106843"/>
                </a:lnTo>
                <a:close/>
              </a:path>
            </a:pathLst>
          </a:custGeom>
          <a:solidFill>
            <a:srgbClr val="30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2309957" y="4430633"/>
            <a:ext cx="291876" cy="122588"/>
          </a:xfrm>
          <a:custGeom>
            <a:avLst/>
            <a:gdLst/>
            <a:ahLst/>
            <a:cxnLst/>
            <a:rect l="l" t="t" r="r" b="b"/>
            <a:pathLst>
              <a:path w="291876" h="122588">
                <a:moveTo>
                  <a:pt x="0" y="61294"/>
                </a:moveTo>
                <a:lnTo>
                  <a:pt x="145938" y="0"/>
                </a:lnTo>
                <a:lnTo>
                  <a:pt x="291876" y="61294"/>
                </a:lnTo>
                <a:lnTo>
                  <a:pt x="145938" y="122588"/>
                </a:lnTo>
                <a:close/>
              </a:path>
            </a:pathLst>
          </a:custGeom>
          <a:solidFill>
            <a:srgbClr val="94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2309957" y="4491927"/>
            <a:ext cx="145938" cy="93938"/>
          </a:xfrm>
          <a:custGeom>
            <a:avLst/>
            <a:gdLst/>
            <a:ahLst/>
            <a:cxnLst/>
            <a:rect l="l" t="t" r="r" b="b"/>
            <a:pathLst>
              <a:path w="145938" h="93938">
                <a:moveTo>
                  <a:pt x="0" y="0"/>
                </a:moveTo>
                <a:lnTo>
                  <a:pt x="145938" y="61294"/>
                </a:lnTo>
                <a:lnTo>
                  <a:pt x="145938" y="93938"/>
                </a:lnTo>
                <a:lnTo>
                  <a:pt x="0" y="32644"/>
                </a:lnTo>
                <a:close/>
              </a:path>
            </a:pathLst>
          </a:custGeom>
          <a:solidFill>
            <a:srgbClr val="3F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2455895" y="4491927"/>
            <a:ext cx="145938" cy="93938"/>
          </a:xfrm>
          <a:custGeom>
            <a:avLst/>
            <a:gdLst/>
            <a:ahLst/>
            <a:cxnLst/>
            <a:rect l="l" t="t" r="r" b="b"/>
            <a:pathLst>
              <a:path w="145938" h="93938">
                <a:moveTo>
                  <a:pt x="0" y="61294"/>
                </a:moveTo>
                <a:lnTo>
                  <a:pt x="145938" y="0"/>
                </a:lnTo>
                <a:lnTo>
                  <a:pt x="145938" y="32644"/>
                </a:lnTo>
                <a:lnTo>
                  <a:pt x="0" y="93938"/>
                </a:lnTo>
                <a:close/>
              </a:path>
            </a:pathLst>
          </a:custGeom>
          <a:solidFill>
            <a:srgbClr val="197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2344521" y="4357664"/>
            <a:ext cx="222748" cy="93554"/>
          </a:xfrm>
          <a:custGeom>
            <a:avLst/>
            <a:gdLst/>
            <a:ahLst/>
            <a:cxnLst/>
            <a:rect l="l" t="t" r="r" b="b"/>
            <a:pathLst>
              <a:path w="222748" h="93554">
                <a:moveTo>
                  <a:pt x="0" y="46777"/>
                </a:moveTo>
                <a:lnTo>
                  <a:pt x="111374" y="0"/>
                </a:lnTo>
                <a:lnTo>
                  <a:pt x="222748" y="46777"/>
                </a:lnTo>
                <a:lnTo>
                  <a:pt x="111374" y="93554"/>
                </a:lnTo>
                <a:close/>
              </a:path>
            </a:pathLst>
          </a:custGeom>
          <a:solidFill>
            <a:srgbClr val="57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344521" y="4404441"/>
            <a:ext cx="111374" cy="79421"/>
          </a:xfrm>
          <a:custGeom>
            <a:avLst/>
            <a:gdLst/>
            <a:ahLst/>
            <a:cxnLst/>
            <a:rect l="l" t="t" r="r" b="b"/>
            <a:pathLst>
              <a:path w="111374" h="79421">
                <a:moveTo>
                  <a:pt x="0" y="0"/>
                </a:moveTo>
                <a:lnTo>
                  <a:pt x="111374" y="46777"/>
                </a:lnTo>
                <a:lnTo>
                  <a:pt x="111374" y="79421"/>
                </a:lnTo>
                <a:lnTo>
                  <a:pt x="0" y="32644"/>
                </a:lnTo>
                <a:close/>
              </a:path>
            </a:pathLst>
          </a:custGeom>
          <a:solidFill>
            <a:srgbClr val="148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455895" y="4404441"/>
            <a:ext cx="111374" cy="79421"/>
          </a:xfrm>
          <a:custGeom>
            <a:avLst/>
            <a:gdLst/>
            <a:ahLst/>
            <a:cxnLst/>
            <a:rect l="l" t="t" r="r" b="b"/>
            <a:pathLst>
              <a:path w="111374" h="79421">
                <a:moveTo>
                  <a:pt x="0" y="46777"/>
                </a:moveTo>
                <a:lnTo>
                  <a:pt x="111374" y="0"/>
                </a:lnTo>
                <a:lnTo>
                  <a:pt x="111374" y="32644"/>
                </a:lnTo>
                <a:lnTo>
                  <a:pt x="0" y="79421"/>
                </a:lnTo>
                <a:close/>
              </a:path>
            </a:pathLst>
          </a:custGeom>
          <a:solidFill>
            <a:srgbClr val="0A5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398288" y="4342302"/>
            <a:ext cx="72969" cy="33566"/>
          </a:xfrm>
          <a:custGeom>
            <a:avLst/>
            <a:gdLst/>
            <a:ahLst/>
            <a:cxnLst/>
            <a:rect l="l" t="t" r="r" b="b"/>
            <a:pathLst>
              <a:path w="72969" h="33566">
                <a:moveTo>
                  <a:pt x="0" y="16783"/>
                </a:moveTo>
                <a:lnTo>
                  <a:pt x="36484" y="0"/>
                </a:lnTo>
                <a:lnTo>
                  <a:pt x="72969" y="16783"/>
                </a:lnTo>
                <a:lnTo>
                  <a:pt x="36484" y="33566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398288" y="4359085"/>
            <a:ext cx="36484" cy="70550"/>
          </a:xfrm>
          <a:custGeom>
            <a:avLst/>
            <a:gdLst/>
            <a:ahLst/>
            <a:cxnLst/>
            <a:rect l="l" t="t" r="r" b="b"/>
            <a:pathLst>
              <a:path w="36484" h="70550">
                <a:moveTo>
                  <a:pt x="0" y="0"/>
                </a:moveTo>
                <a:lnTo>
                  <a:pt x="36484" y="16783"/>
                </a:lnTo>
                <a:lnTo>
                  <a:pt x="36484" y="70550"/>
                </a:lnTo>
                <a:lnTo>
                  <a:pt x="0" y="53767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2434772" y="4359085"/>
            <a:ext cx="36485" cy="70550"/>
          </a:xfrm>
          <a:custGeom>
            <a:avLst/>
            <a:gdLst/>
            <a:ahLst/>
            <a:cxnLst/>
            <a:rect l="l" t="t" r="r" b="b"/>
            <a:pathLst>
              <a:path w="36485" h="70550">
                <a:moveTo>
                  <a:pt x="0" y="16783"/>
                </a:moveTo>
                <a:lnTo>
                  <a:pt x="36485" y="0"/>
                </a:lnTo>
                <a:lnTo>
                  <a:pt x="36485" y="53767"/>
                </a:lnTo>
                <a:lnTo>
                  <a:pt x="0" y="70550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2494300" y="4376867"/>
            <a:ext cx="72969" cy="33565"/>
          </a:xfrm>
          <a:custGeom>
            <a:avLst/>
            <a:gdLst/>
            <a:ahLst/>
            <a:cxnLst/>
            <a:rect l="l" t="t" r="r" b="b"/>
            <a:pathLst>
              <a:path w="72969" h="33565">
                <a:moveTo>
                  <a:pt x="0" y="16782"/>
                </a:moveTo>
                <a:lnTo>
                  <a:pt x="36484" y="0"/>
                </a:lnTo>
                <a:lnTo>
                  <a:pt x="72969" y="16782"/>
                </a:lnTo>
                <a:lnTo>
                  <a:pt x="36484" y="33565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2494300" y="4393649"/>
            <a:ext cx="36484" cy="70550"/>
          </a:xfrm>
          <a:custGeom>
            <a:avLst/>
            <a:gdLst/>
            <a:ahLst/>
            <a:cxnLst/>
            <a:rect l="l" t="t" r="r" b="b"/>
            <a:pathLst>
              <a:path w="36484" h="70550">
                <a:moveTo>
                  <a:pt x="0" y="0"/>
                </a:moveTo>
                <a:lnTo>
                  <a:pt x="36484" y="16783"/>
                </a:lnTo>
                <a:lnTo>
                  <a:pt x="36484" y="70550"/>
                </a:lnTo>
                <a:lnTo>
                  <a:pt x="0" y="53767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2530784" y="4393649"/>
            <a:ext cx="36485" cy="70550"/>
          </a:xfrm>
          <a:custGeom>
            <a:avLst/>
            <a:gdLst/>
            <a:ahLst/>
            <a:cxnLst/>
            <a:rect l="l" t="t" r="r" b="b"/>
            <a:pathLst>
              <a:path w="36485" h="70550">
                <a:moveTo>
                  <a:pt x="0" y="16783"/>
                </a:moveTo>
                <a:lnTo>
                  <a:pt x="36485" y="0"/>
                </a:lnTo>
                <a:lnTo>
                  <a:pt x="36485" y="53767"/>
                </a:lnTo>
                <a:lnTo>
                  <a:pt x="0" y="70550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2432852" y="4422952"/>
            <a:ext cx="72969" cy="33566"/>
          </a:xfrm>
          <a:custGeom>
            <a:avLst/>
            <a:gdLst/>
            <a:ahLst/>
            <a:cxnLst/>
            <a:rect l="l" t="t" r="r" b="b"/>
            <a:pathLst>
              <a:path w="72969" h="33566">
                <a:moveTo>
                  <a:pt x="0" y="16783"/>
                </a:moveTo>
                <a:lnTo>
                  <a:pt x="36485" y="0"/>
                </a:lnTo>
                <a:lnTo>
                  <a:pt x="72969" y="16783"/>
                </a:lnTo>
                <a:lnTo>
                  <a:pt x="36485" y="33566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2432852" y="4439735"/>
            <a:ext cx="36485" cy="70550"/>
          </a:xfrm>
          <a:custGeom>
            <a:avLst/>
            <a:gdLst/>
            <a:ahLst/>
            <a:cxnLst/>
            <a:rect l="l" t="t" r="r" b="b"/>
            <a:pathLst>
              <a:path w="36485" h="70550">
                <a:moveTo>
                  <a:pt x="0" y="0"/>
                </a:moveTo>
                <a:lnTo>
                  <a:pt x="36485" y="16783"/>
                </a:lnTo>
                <a:lnTo>
                  <a:pt x="36485" y="70550"/>
                </a:lnTo>
                <a:lnTo>
                  <a:pt x="0" y="53767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2469337" y="4439735"/>
            <a:ext cx="36484" cy="70550"/>
          </a:xfrm>
          <a:custGeom>
            <a:avLst/>
            <a:gdLst/>
            <a:ahLst/>
            <a:cxnLst/>
            <a:rect l="l" t="t" r="r" b="b"/>
            <a:pathLst>
              <a:path w="36484" h="70550">
                <a:moveTo>
                  <a:pt x="0" y="16783"/>
                </a:moveTo>
                <a:lnTo>
                  <a:pt x="36484" y="0"/>
                </a:lnTo>
                <a:lnTo>
                  <a:pt x="36484" y="53767"/>
                </a:lnTo>
                <a:lnTo>
                  <a:pt x="0" y="70550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70632" y="4297680"/>
            <a:ext cx="1188720" cy="25603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任务可协作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70632" y="4672584"/>
            <a:ext cx="1188720" cy="2286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5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专业Agent与平台</a:t>
            </a:r>
          </a:p>
        </p:txBody>
      </p:sp>
      <p:sp>
        <p:nvSpPr>
          <p:cNvPr id="52" name="Oval 51"/>
          <p:cNvSpPr/>
          <p:nvPr/>
        </p:nvSpPr>
        <p:spPr>
          <a:xfrm>
            <a:off x="4004523" y="4607295"/>
            <a:ext cx="345643" cy="61447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4008363" y="4553529"/>
            <a:ext cx="334122" cy="153696"/>
          </a:xfrm>
          <a:custGeom>
            <a:avLst/>
            <a:gdLst/>
            <a:ahLst/>
            <a:cxnLst/>
            <a:rect l="l" t="t" r="r" b="b"/>
            <a:pathLst>
              <a:path w="334122" h="153696">
                <a:moveTo>
                  <a:pt x="0" y="76848"/>
                </a:moveTo>
                <a:lnTo>
                  <a:pt x="167061" y="0"/>
                </a:lnTo>
                <a:lnTo>
                  <a:pt x="334122" y="76848"/>
                </a:lnTo>
                <a:lnTo>
                  <a:pt x="167061" y="153696"/>
                </a:lnTo>
                <a:close/>
              </a:path>
            </a:pathLst>
          </a:custGeom>
          <a:solidFill>
            <a:srgbClr val="B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4008363" y="4630377"/>
            <a:ext cx="167061" cy="92210"/>
          </a:xfrm>
          <a:custGeom>
            <a:avLst/>
            <a:gdLst/>
            <a:ahLst/>
            <a:cxnLst/>
            <a:rect l="l" t="t" r="r" b="b"/>
            <a:pathLst>
              <a:path w="167061" h="92210">
                <a:moveTo>
                  <a:pt x="0" y="0"/>
                </a:moveTo>
                <a:lnTo>
                  <a:pt x="167061" y="76848"/>
                </a:lnTo>
                <a:lnTo>
                  <a:pt x="167061" y="92210"/>
                </a:lnTo>
                <a:lnTo>
                  <a:pt x="0" y="15362"/>
                </a:lnTo>
                <a:close/>
              </a:path>
            </a:pathLst>
          </a:custGeom>
          <a:solidFill>
            <a:srgbClr val="7FC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4175424" y="4630377"/>
            <a:ext cx="167061" cy="92210"/>
          </a:xfrm>
          <a:custGeom>
            <a:avLst/>
            <a:gdLst/>
            <a:ahLst/>
            <a:cxnLst/>
            <a:rect l="l" t="t" r="r" b="b"/>
            <a:pathLst>
              <a:path w="167061" h="92210">
                <a:moveTo>
                  <a:pt x="0" y="76848"/>
                </a:moveTo>
                <a:lnTo>
                  <a:pt x="167061" y="0"/>
                </a:lnTo>
                <a:lnTo>
                  <a:pt x="167061" y="15362"/>
                </a:lnTo>
                <a:lnTo>
                  <a:pt x="0" y="92210"/>
                </a:lnTo>
                <a:close/>
              </a:path>
            </a:pathLst>
          </a:custGeom>
          <a:solidFill>
            <a:srgbClr val="5AA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4035247" y="4503602"/>
            <a:ext cx="72969" cy="30724"/>
          </a:xfrm>
          <a:custGeom>
            <a:avLst/>
            <a:gdLst/>
            <a:ahLst/>
            <a:cxnLst/>
            <a:rect l="l" t="t" r="r" b="b"/>
            <a:pathLst>
              <a:path w="72969" h="30724">
                <a:moveTo>
                  <a:pt x="0" y="15362"/>
                </a:moveTo>
                <a:lnTo>
                  <a:pt x="36484" y="0"/>
                </a:lnTo>
                <a:lnTo>
                  <a:pt x="72969" y="15362"/>
                </a:lnTo>
                <a:lnTo>
                  <a:pt x="36484" y="30724"/>
                </a:lnTo>
                <a:close/>
              </a:path>
            </a:pathLst>
          </a:custGeom>
          <a:solidFill>
            <a:srgbClr val="9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4035247" y="4518964"/>
            <a:ext cx="36484" cy="84491"/>
          </a:xfrm>
          <a:custGeom>
            <a:avLst/>
            <a:gdLst/>
            <a:ahLst/>
            <a:cxnLst/>
            <a:rect l="l" t="t" r="r" b="b"/>
            <a:pathLst>
              <a:path w="36484" h="84491">
                <a:moveTo>
                  <a:pt x="0" y="0"/>
                </a:moveTo>
                <a:lnTo>
                  <a:pt x="36484" y="15362"/>
                </a:lnTo>
                <a:lnTo>
                  <a:pt x="36484" y="84491"/>
                </a:lnTo>
                <a:lnTo>
                  <a:pt x="0" y="69129"/>
                </a:lnTo>
                <a:close/>
              </a:path>
            </a:pathLst>
          </a:custGeom>
          <a:solidFill>
            <a:srgbClr val="2AB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4071731" y="4518964"/>
            <a:ext cx="36485" cy="84491"/>
          </a:xfrm>
          <a:custGeom>
            <a:avLst/>
            <a:gdLst/>
            <a:ahLst/>
            <a:cxnLst/>
            <a:rect l="l" t="t" r="r" b="b"/>
            <a:pathLst>
              <a:path w="36485" h="84491">
                <a:moveTo>
                  <a:pt x="0" y="15362"/>
                </a:moveTo>
                <a:lnTo>
                  <a:pt x="36485" y="0"/>
                </a:lnTo>
                <a:lnTo>
                  <a:pt x="36485" y="69129"/>
                </a:lnTo>
                <a:lnTo>
                  <a:pt x="0" y="84491"/>
                </a:lnTo>
                <a:close/>
              </a:path>
            </a:pathLst>
          </a:custGeom>
          <a:solidFill>
            <a:srgbClr val="11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4127418" y="4430633"/>
            <a:ext cx="72969" cy="30724"/>
          </a:xfrm>
          <a:custGeom>
            <a:avLst/>
            <a:gdLst/>
            <a:ahLst/>
            <a:cxnLst/>
            <a:rect l="l" t="t" r="r" b="b"/>
            <a:pathLst>
              <a:path w="72969" h="30724">
                <a:moveTo>
                  <a:pt x="0" y="15362"/>
                </a:moveTo>
                <a:lnTo>
                  <a:pt x="36485" y="0"/>
                </a:lnTo>
                <a:lnTo>
                  <a:pt x="72969" y="15362"/>
                </a:lnTo>
                <a:lnTo>
                  <a:pt x="36485" y="30724"/>
                </a:lnTo>
                <a:close/>
              </a:path>
            </a:pathLst>
          </a:custGeom>
          <a:solidFill>
            <a:srgbClr val="9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4127418" y="4445995"/>
            <a:ext cx="36485" cy="157460"/>
          </a:xfrm>
          <a:custGeom>
            <a:avLst/>
            <a:gdLst/>
            <a:ahLst/>
            <a:cxnLst/>
            <a:rect l="l" t="t" r="r" b="b"/>
            <a:pathLst>
              <a:path w="36485" h="157460">
                <a:moveTo>
                  <a:pt x="0" y="0"/>
                </a:moveTo>
                <a:lnTo>
                  <a:pt x="36485" y="15362"/>
                </a:lnTo>
                <a:lnTo>
                  <a:pt x="36485" y="157460"/>
                </a:lnTo>
                <a:lnTo>
                  <a:pt x="0" y="142098"/>
                </a:lnTo>
                <a:close/>
              </a:path>
            </a:pathLst>
          </a:custGeom>
          <a:solidFill>
            <a:srgbClr val="2AB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4163903" y="4445995"/>
            <a:ext cx="36484" cy="157460"/>
          </a:xfrm>
          <a:custGeom>
            <a:avLst/>
            <a:gdLst/>
            <a:ahLst/>
            <a:cxnLst/>
            <a:rect l="l" t="t" r="r" b="b"/>
            <a:pathLst>
              <a:path w="36484" h="157460">
                <a:moveTo>
                  <a:pt x="0" y="15362"/>
                </a:moveTo>
                <a:lnTo>
                  <a:pt x="36484" y="0"/>
                </a:lnTo>
                <a:lnTo>
                  <a:pt x="36484" y="142098"/>
                </a:lnTo>
                <a:lnTo>
                  <a:pt x="0" y="157460"/>
                </a:lnTo>
                <a:close/>
              </a:path>
            </a:pathLst>
          </a:custGeom>
          <a:solidFill>
            <a:srgbClr val="11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4219590" y="4334621"/>
            <a:ext cx="72969" cy="30724"/>
          </a:xfrm>
          <a:custGeom>
            <a:avLst/>
            <a:gdLst/>
            <a:ahLst/>
            <a:cxnLst/>
            <a:rect l="l" t="t" r="r" b="b"/>
            <a:pathLst>
              <a:path w="72969" h="30724">
                <a:moveTo>
                  <a:pt x="0" y="15362"/>
                </a:moveTo>
                <a:lnTo>
                  <a:pt x="36484" y="0"/>
                </a:lnTo>
                <a:lnTo>
                  <a:pt x="72969" y="15362"/>
                </a:lnTo>
                <a:lnTo>
                  <a:pt x="36484" y="30724"/>
                </a:lnTo>
                <a:close/>
              </a:path>
            </a:pathLst>
          </a:custGeom>
          <a:solidFill>
            <a:srgbClr val="9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4219590" y="4349983"/>
            <a:ext cx="36484" cy="253472"/>
          </a:xfrm>
          <a:custGeom>
            <a:avLst/>
            <a:gdLst/>
            <a:ahLst/>
            <a:cxnLst/>
            <a:rect l="l" t="t" r="r" b="b"/>
            <a:pathLst>
              <a:path w="36484" h="253472">
                <a:moveTo>
                  <a:pt x="0" y="0"/>
                </a:moveTo>
                <a:lnTo>
                  <a:pt x="36484" y="15362"/>
                </a:lnTo>
                <a:lnTo>
                  <a:pt x="36484" y="253472"/>
                </a:lnTo>
                <a:lnTo>
                  <a:pt x="0" y="238110"/>
                </a:lnTo>
                <a:close/>
              </a:path>
            </a:pathLst>
          </a:custGeom>
          <a:solidFill>
            <a:srgbClr val="2AB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4256074" y="4349983"/>
            <a:ext cx="36485" cy="253472"/>
          </a:xfrm>
          <a:custGeom>
            <a:avLst/>
            <a:gdLst/>
            <a:ahLst/>
            <a:cxnLst/>
            <a:rect l="l" t="t" r="r" b="b"/>
            <a:pathLst>
              <a:path w="36485" h="253472">
                <a:moveTo>
                  <a:pt x="0" y="15362"/>
                </a:moveTo>
                <a:lnTo>
                  <a:pt x="36485" y="0"/>
                </a:lnTo>
                <a:lnTo>
                  <a:pt x="36485" y="238110"/>
                </a:lnTo>
                <a:lnTo>
                  <a:pt x="0" y="253472"/>
                </a:lnTo>
                <a:close/>
              </a:path>
            </a:pathLst>
          </a:custGeom>
          <a:solidFill>
            <a:srgbClr val="11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480560" y="4297680"/>
            <a:ext cx="1188720" cy="25603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成果可验证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480560" y="4672584"/>
            <a:ext cx="1188720" cy="2286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5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事实、证据与价值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44768" y="585216"/>
            <a:ext cx="1828800" cy="27432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企业数据与知识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11896" y="585216"/>
            <a:ext cx="1947672" cy="27432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HiAgent智能服务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60736" y="585216"/>
            <a:ext cx="1325880" cy="27432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业务任务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149340" y="1257300"/>
            <a:ext cx="1636776" cy="1088136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126480" y="1225296"/>
            <a:ext cx="1636776" cy="108813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324813" y="1788657"/>
            <a:ext cx="551383" cy="9802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10584" y="1414942"/>
            <a:ext cx="373715" cy="355335"/>
          </a:xfrm>
          <a:prstGeom prst="rect">
            <a:avLst/>
          </a:prstGeom>
          <a:solidFill>
            <a:srgbClr val="168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6410584" y="1721266"/>
            <a:ext cx="373715" cy="122529"/>
          </a:xfrm>
          <a:prstGeom prst="ellipse">
            <a:avLst/>
          </a:prstGeom>
          <a:solidFill>
            <a:srgbClr val="096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6410584" y="1353677"/>
            <a:ext cx="373715" cy="122529"/>
          </a:xfrm>
          <a:prstGeom prst="ellipse">
            <a:avLst/>
          </a:prstGeom>
          <a:solidFill>
            <a:srgbClr val="76D8FF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6410584" y="1494586"/>
            <a:ext cx="373715" cy="122529"/>
          </a:xfrm>
          <a:prstGeom prst="ellipse">
            <a:avLst/>
          </a:prstGeom>
          <a:solidFill>
            <a:srgbClr val="3AB2F8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410584" y="1635495"/>
            <a:ext cx="373715" cy="122529"/>
          </a:xfrm>
          <a:prstGeom prst="ellipse">
            <a:avLst/>
          </a:prstGeom>
          <a:solidFill>
            <a:srgbClr val="3AB2F8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447342" y="1427195"/>
            <a:ext cx="24505" cy="324703"/>
          </a:xfrm>
          <a:prstGeom prst="rect">
            <a:avLst/>
          </a:prstGeom>
          <a:solidFill>
            <a:srgbClr val="76D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986016" y="1581912"/>
            <a:ext cx="713232" cy="4389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资产与指标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149340" y="2702052"/>
            <a:ext cx="1636776" cy="1088136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6126480" y="2670048"/>
            <a:ext cx="1636776" cy="108813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324813" y="3233409"/>
            <a:ext cx="551383" cy="9802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6404457" y="2761670"/>
            <a:ext cx="392095" cy="104151"/>
          </a:xfrm>
          <a:custGeom>
            <a:avLst/>
            <a:gdLst/>
            <a:ahLst/>
            <a:cxnLst/>
            <a:rect l="l" t="t" r="r" b="b"/>
            <a:pathLst>
              <a:path w="392095" h="104151">
                <a:moveTo>
                  <a:pt x="0" y="42886"/>
                </a:moveTo>
                <a:lnTo>
                  <a:pt x="318577" y="0"/>
                </a:lnTo>
                <a:lnTo>
                  <a:pt x="392095" y="55139"/>
                </a:lnTo>
                <a:lnTo>
                  <a:pt x="73518" y="104151"/>
                </a:lnTo>
                <a:close/>
              </a:path>
            </a:pathLst>
          </a:custGeom>
          <a:solidFill>
            <a:srgbClr val="B1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6723034" y="2761670"/>
            <a:ext cx="73518" cy="434980"/>
          </a:xfrm>
          <a:custGeom>
            <a:avLst/>
            <a:gdLst/>
            <a:ahLst/>
            <a:cxnLst/>
            <a:rect l="l" t="t" r="r" b="b"/>
            <a:pathLst>
              <a:path w="73518" h="434980">
                <a:moveTo>
                  <a:pt x="0" y="0"/>
                </a:moveTo>
                <a:lnTo>
                  <a:pt x="73518" y="55139"/>
                </a:lnTo>
                <a:lnTo>
                  <a:pt x="73518" y="434980"/>
                </a:lnTo>
                <a:lnTo>
                  <a:pt x="0" y="392095"/>
                </a:lnTo>
                <a:close/>
              </a:path>
            </a:pathLst>
          </a:custGeom>
          <a:solidFill>
            <a:srgbClr val="147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6404457" y="2761670"/>
            <a:ext cx="318577" cy="441107"/>
          </a:xfrm>
          <a:custGeom>
            <a:avLst/>
            <a:gdLst/>
            <a:ahLst/>
            <a:cxnLst/>
            <a:rect l="l" t="t" r="r" b="b"/>
            <a:pathLst>
              <a:path w="318577" h="441107">
                <a:moveTo>
                  <a:pt x="0" y="42886"/>
                </a:moveTo>
                <a:lnTo>
                  <a:pt x="318577" y="0"/>
                </a:lnTo>
                <a:lnTo>
                  <a:pt x="318577" y="392095"/>
                </a:lnTo>
                <a:lnTo>
                  <a:pt x="0" y="441107"/>
                </a:lnTo>
                <a:close/>
              </a:path>
            </a:pathLst>
          </a:custGeom>
          <a:solidFill>
            <a:srgbClr val="52B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V="1">
            <a:off x="6459595" y="2884200"/>
            <a:ext cx="202174" cy="30632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6459595" y="2969971"/>
            <a:ext cx="202174" cy="30632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6459595" y="3055741"/>
            <a:ext cx="202174" cy="30633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6986016" y="3026664"/>
            <a:ext cx="713232" cy="4389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规范与方法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149340" y="4146804"/>
            <a:ext cx="1636776" cy="1088136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6126480" y="4114800"/>
            <a:ext cx="1636776" cy="108813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324813" y="4678161"/>
            <a:ext cx="551383" cy="9802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6300307" y="4512746"/>
            <a:ext cx="563636" cy="236728"/>
          </a:xfrm>
          <a:custGeom>
            <a:avLst/>
            <a:gdLst/>
            <a:ahLst/>
            <a:cxnLst/>
            <a:rect l="l" t="t" r="r" b="b"/>
            <a:pathLst>
              <a:path w="563636" h="236728">
                <a:moveTo>
                  <a:pt x="0" y="118364"/>
                </a:moveTo>
                <a:lnTo>
                  <a:pt x="281818" y="0"/>
                </a:lnTo>
                <a:lnTo>
                  <a:pt x="563636" y="118364"/>
                </a:lnTo>
                <a:lnTo>
                  <a:pt x="281818" y="236728"/>
                </a:lnTo>
                <a:close/>
              </a:path>
            </a:pathLst>
          </a:custGeom>
          <a:solidFill>
            <a:srgbClr val="B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6300307" y="4631110"/>
            <a:ext cx="281818" cy="170439"/>
          </a:xfrm>
          <a:custGeom>
            <a:avLst/>
            <a:gdLst/>
            <a:ahLst/>
            <a:cxnLst/>
            <a:rect l="l" t="t" r="r" b="b"/>
            <a:pathLst>
              <a:path w="281818" h="170439">
                <a:moveTo>
                  <a:pt x="0" y="0"/>
                </a:moveTo>
                <a:lnTo>
                  <a:pt x="281818" y="118364"/>
                </a:lnTo>
                <a:lnTo>
                  <a:pt x="281818" y="170439"/>
                </a:lnTo>
                <a:lnTo>
                  <a:pt x="0" y="52075"/>
                </a:lnTo>
                <a:close/>
              </a:path>
            </a:pathLst>
          </a:custGeom>
          <a:solidFill>
            <a:srgbClr val="6D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6582125" y="4631110"/>
            <a:ext cx="281818" cy="170439"/>
          </a:xfrm>
          <a:custGeom>
            <a:avLst/>
            <a:gdLst/>
            <a:ahLst/>
            <a:cxnLst/>
            <a:rect l="l" t="t" r="r" b="b"/>
            <a:pathLst>
              <a:path w="281818" h="170439">
                <a:moveTo>
                  <a:pt x="0" y="118364"/>
                </a:moveTo>
                <a:lnTo>
                  <a:pt x="281818" y="0"/>
                </a:lnTo>
                <a:lnTo>
                  <a:pt x="281818" y="52075"/>
                </a:lnTo>
                <a:lnTo>
                  <a:pt x="0" y="170439"/>
                </a:lnTo>
                <a:close/>
              </a:path>
            </a:pathLst>
          </a:custGeom>
          <a:solidFill>
            <a:srgbClr val="30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6349319" y="4396343"/>
            <a:ext cx="465612" cy="195558"/>
          </a:xfrm>
          <a:custGeom>
            <a:avLst/>
            <a:gdLst/>
            <a:ahLst/>
            <a:cxnLst/>
            <a:rect l="l" t="t" r="r" b="b"/>
            <a:pathLst>
              <a:path w="465612" h="195558">
                <a:moveTo>
                  <a:pt x="0" y="97779"/>
                </a:moveTo>
                <a:lnTo>
                  <a:pt x="232806" y="0"/>
                </a:lnTo>
                <a:lnTo>
                  <a:pt x="465612" y="97779"/>
                </a:lnTo>
                <a:lnTo>
                  <a:pt x="232806" y="195558"/>
                </a:lnTo>
                <a:close/>
              </a:path>
            </a:pathLst>
          </a:custGeom>
          <a:solidFill>
            <a:srgbClr val="94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6349319" y="4494122"/>
            <a:ext cx="232806" cy="149854"/>
          </a:xfrm>
          <a:custGeom>
            <a:avLst/>
            <a:gdLst/>
            <a:ahLst/>
            <a:cxnLst/>
            <a:rect l="l" t="t" r="r" b="b"/>
            <a:pathLst>
              <a:path w="232806" h="149854">
                <a:moveTo>
                  <a:pt x="0" y="0"/>
                </a:moveTo>
                <a:lnTo>
                  <a:pt x="232806" y="97779"/>
                </a:lnTo>
                <a:lnTo>
                  <a:pt x="232806" y="149854"/>
                </a:lnTo>
                <a:lnTo>
                  <a:pt x="0" y="52075"/>
                </a:lnTo>
                <a:close/>
              </a:path>
            </a:pathLst>
          </a:custGeom>
          <a:solidFill>
            <a:srgbClr val="3F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6582125" y="4494122"/>
            <a:ext cx="232806" cy="149854"/>
          </a:xfrm>
          <a:custGeom>
            <a:avLst/>
            <a:gdLst/>
            <a:ahLst/>
            <a:cxnLst/>
            <a:rect l="l" t="t" r="r" b="b"/>
            <a:pathLst>
              <a:path w="232806" h="149854">
                <a:moveTo>
                  <a:pt x="0" y="97779"/>
                </a:moveTo>
                <a:lnTo>
                  <a:pt x="232806" y="0"/>
                </a:lnTo>
                <a:lnTo>
                  <a:pt x="232806" y="52075"/>
                </a:lnTo>
                <a:lnTo>
                  <a:pt x="0" y="149854"/>
                </a:lnTo>
                <a:close/>
              </a:path>
            </a:pathLst>
          </a:custGeom>
          <a:solidFill>
            <a:srgbClr val="197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6404457" y="4279940"/>
            <a:ext cx="355336" cy="149241"/>
          </a:xfrm>
          <a:custGeom>
            <a:avLst/>
            <a:gdLst/>
            <a:ahLst/>
            <a:cxnLst/>
            <a:rect l="l" t="t" r="r" b="b"/>
            <a:pathLst>
              <a:path w="355336" h="149241">
                <a:moveTo>
                  <a:pt x="0" y="74621"/>
                </a:moveTo>
                <a:lnTo>
                  <a:pt x="177668" y="0"/>
                </a:lnTo>
                <a:lnTo>
                  <a:pt x="355336" y="74621"/>
                </a:lnTo>
                <a:lnTo>
                  <a:pt x="177668" y="149241"/>
                </a:lnTo>
                <a:close/>
              </a:path>
            </a:pathLst>
          </a:custGeom>
          <a:solidFill>
            <a:srgbClr val="57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6404457" y="4354561"/>
            <a:ext cx="177668" cy="126695"/>
          </a:xfrm>
          <a:custGeom>
            <a:avLst/>
            <a:gdLst/>
            <a:ahLst/>
            <a:cxnLst/>
            <a:rect l="l" t="t" r="r" b="b"/>
            <a:pathLst>
              <a:path w="177668" h="126695">
                <a:moveTo>
                  <a:pt x="0" y="0"/>
                </a:moveTo>
                <a:lnTo>
                  <a:pt x="177668" y="74620"/>
                </a:lnTo>
                <a:lnTo>
                  <a:pt x="177668" y="126695"/>
                </a:lnTo>
                <a:lnTo>
                  <a:pt x="0" y="52075"/>
                </a:lnTo>
                <a:close/>
              </a:path>
            </a:pathLst>
          </a:custGeom>
          <a:solidFill>
            <a:srgbClr val="148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6582125" y="4354561"/>
            <a:ext cx="177668" cy="126695"/>
          </a:xfrm>
          <a:custGeom>
            <a:avLst/>
            <a:gdLst/>
            <a:ahLst/>
            <a:cxnLst/>
            <a:rect l="l" t="t" r="r" b="b"/>
            <a:pathLst>
              <a:path w="177668" h="126695">
                <a:moveTo>
                  <a:pt x="0" y="74620"/>
                </a:moveTo>
                <a:lnTo>
                  <a:pt x="177668" y="0"/>
                </a:lnTo>
                <a:lnTo>
                  <a:pt x="177668" y="52075"/>
                </a:lnTo>
                <a:lnTo>
                  <a:pt x="0" y="126695"/>
                </a:lnTo>
                <a:close/>
              </a:path>
            </a:pathLst>
          </a:custGeom>
          <a:solidFill>
            <a:srgbClr val="0A5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6490228" y="4255434"/>
            <a:ext cx="116403" cy="53546"/>
          </a:xfrm>
          <a:custGeom>
            <a:avLst/>
            <a:gdLst/>
            <a:ahLst/>
            <a:cxnLst/>
            <a:rect l="l" t="t" r="r" b="b"/>
            <a:pathLst>
              <a:path w="116403" h="53546">
                <a:moveTo>
                  <a:pt x="0" y="26773"/>
                </a:moveTo>
                <a:lnTo>
                  <a:pt x="58201" y="0"/>
                </a:lnTo>
                <a:lnTo>
                  <a:pt x="116403" y="26773"/>
                </a:lnTo>
                <a:lnTo>
                  <a:pt x="58201" y="53546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6490228" y="4282207"/>
            <a:ext cx="58201" cy="112543"/>
          </a:xfrm>
          <a:custGeom>
            <a:avLst/>
            <a:gdLst/>
            <a:ahLst/>
            <a:cxnLst/>
            <a:rect l="l" t="t" r="r" b="b"/>
            <a:pathLst>
              <a:path w="58201" h="112543">
                <a:moveTo>
                  <a:pt x="0" y="0"/>
                </a:moveTo>
                <a:lnTo>
                  <a:pt x="58201" y="26773"/>
                </a:lnTo>
                <a:lnTo>
                  <a:pt x="58201" y="112543"/>
                </a:lnTo>
                <a:lnTo>
                  <a:pt x="0" y="85771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6548429" y="4282207"/>
            <a:ext cx="58202" cy="112543"/>
          </a:xfrm>
          <a:custGeom>
            <a:avLst/>
            <a:gdLst/>
            <a:ahLst/>
            <a:cxnLst/>
            <a:rect l="l" t="t" r="r" b="b"/>
            <a:pathLst>
              <a:path w="58202" h="112543">
                <a:moveTo>
                  <a:pt x="0" y="26773"/>
                </a:moveTo>
                <a:lnTo>
                  <a:pt x="58202" y="0"/>
                </a:lnTo>
                <a:lnTo>
                  <a:pt x="58202" y="85771"/>
                </a:lnTo>
                <a:lnTo>
                  <a:pt x="0" y="112543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6643390" y="4310573"/>
            <a:ext cx="116403" cy="53545"/>
          </a:xfrm>
          <a:custGeom>
            <a:avLst/>
            <a:gdLst/>
            <a:ahLst/>
            <a:cxnLst/>
            <a:rect l="l" t="t" r="r" b="b"/>
            <a:pathLst>
              <a:path w="116403" h="53545">
                <a:moveTo>
                  <a:pt x="0" y="26772"/>
                </a:moveTo>
                <a:lnTo>
                  <a:pt x="58201" y="0"/>
                </a:lnTo>
                <a:lnTo>
                  <a:pt x="116403" y="26772"/>
                </a:lnTo>
                <a:lnTo>
                  <a:pt x="58201" y="53545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6643390" y="4337345"/>
            <a:ext cx="58201" cy="112544"/>
          </a:xfrm>
          <a:custGeom>
            <a:avLst/>
            <a:gdLst/>
            <a:ahLst/>
            <a:cxnLst/>
            <a:rect l="l" t="t" r="r" b="b"/>
            <a:pathLst>
              <a:path w="58201" h="112544">
                <a:moveTo>
                  <a:pt x="0" y="0"/>
                </a:moveTo>
                <a:lnTo>
                  <a:pt x="58201" y="26773"/>
                </a:lnTo>
                <a:lnTo>
                  <a:pt x="58201" y="112544"/>
                </a:lnTo>
                <a:lnTo>
                  <a:pt x="0" y="85771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6701591" y="4337345"/>
            <a:ext cx="58202" cy="112544"/>
          </a:xfrm>
          <a:custGeom>
            <a:avLst/>
            <a:gdLst/>
            <a:ahLst/>
            <a:cxnLst/>
            <a:rect l="l" t="t" r="r" b="b"/>
            <a:pathLst>
              <a:path w="58202" h="112544">
                <a:moveTo>
                  <a:pt x="0" y="26773"/>
                </a:moveTo>
                <a:lnTo>
                  <a:pt x="58202" y="0"/>
                </a:lnTo>
                <a:lnTo>
                  <a:pt x="58202" y="85771"/>
                </a:lnTo>
                <a:lnTo>
                  <a:pt x="0" y="112544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6545366" y="4384090"/>
            <a:ext cx="116403" cy="53546"/>
          </a:xfrm>
          <a:custGeom>
            <a:avLst/>
            <a:gdLst/>
            <a:ahLst/>
            <a:cxnLst/>
            <a:rect l="l" t="t" r="r" b="b"/>
            <a:pathLst>
              <a:path w="116403" h="53546">
                <a:moveTo>
                  <a:pt x="0" y="26773"/>
                </a:moveTo>
                <a:lnTo>
                  <a:pt x="58202" y="0"/>
                </a:lnTo>
                <a:lnTo>
                  <a:pt x="116403" y="26773"/>
                </a:lnTo>
                <a:lnTo>
                  <a:pt x="58202" y="53546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6545366" y="4410863"/>
            <a:ext cx="58202" cy="112543"/>
          </a:xfrm>
          <a:custGeom>
            <a:avLst/>
            <a:gdLst/>
            <a:ahLst/>
            <a:cxnLst/>
            <a:rect l="l" t="t" r="r" b="b"/>
            <a:pathLst>
              <a:path w="58202" h="112543">
                <a:moveTo>
                  <a:pt x="0" y="0"/>
                </a:moveTo>
                <a:lnTo>
                  <a:pt x="58202" y="26773"/>
                </a:lnTo>
                <a:lnTo>
                  <a:pt x="58202" y="112543"/>
                </a:lnTo>
                <a:lnTo>
                  <a:pt x="0" y="85771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6603568" y="4410863"/>
            <a:ext cx="58201" cy="112543"/>
          </a:xfrm>
          <a:custGeom>
            <a:avLst/>
            <a:gdLst/>
            <a:ahLst/>
            <a:cxnLst/>
            <a:rect l="l" t="t" r="r" b="b"/>
            <a:pathLst>
              <a:path w="58201" h="112543">
                <a:moveTo>
                  <a:pt x="0" y="26773"/>
                </a:moveTo>
                <a:lnTo>
                  <a:pt x="58201" y="0"/>
                </a:lnTo>
                <a:lnTo>
                  <a:pt x="58201" y="85771"/>
                </a:lnTo>
                <a:lnTo>
                  <a:pt x="0" y="112543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986016" y="4471416"/>
            <a:ext cx="713232" cy="4389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平台事实</a:t>
            </a:r>
          </a:p>
        </p:txBody>
      </p:sp>
      <p:sp>
        <p:nvSpPr>
          <p:cNvPr id="112" name="Oval 111"/>
          <p:cNvSpPr/>
          <p:nvPr/>
        </p:nvSpPr>
        <p:spPr>
          <a:xfrm>
            <a:off x="8086862" y="3903665"/>
            <a:ext cx="2279599" cy="405262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7985546" y="3219785"/>
            <a:ext cx="2330257" cy="978708"/>
          </a:xfrm>
          <a:custGeom>
            <a:avLst/>
            <a:gdLst/>
            <a:ahLst/>
            <a:cxnLst/>
            <a:rect l="l" t="t" r="r" b="b"/>
            <a:pathLst>
              <a:path w="2330257" h="978708">
                <a:moveTo>
                  <a:pt x="0" y="489354"/>
                </a:moveTo>
                <a:lnTo>
                  <a:pt x="1165129" y="0"/>
                </a:lnTo>
                <a:lnTo>
                  <a:pt x="2330257" y="489354"/>
                </a:lnTo>
                <a:lnTo>
                  <a:pt x="1165129" y="978708"/>
                </a:lnTo>
                <a:close/>
              </a:path>
            </a:pathLst>
          </a:custGeom>
          <a:solidFill>
            <a:srgbClr val="B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7985546" y="3709139"/>
            <a:ext cx="1165129" cy="704649"/>
          </a:xfrm>
          <a:custGeom>
            <a:avLst/>
            <a:gdLst/>
            <a:ahLst/>
            <a:cxnLst/>
            <a:rect l="l" t="t" r="r" b="b"/>
            <a:pathLst>
              <a:path w="1165129" h="704649">
                <a:moveTo>
                  <a:pt x="0" y="0"/>
                </a:moveTo>
                <a:lnTo>
                  <a:pt x="1165129" y="489354"/>
                </a:lnTo>
                <a:lnTo>
                  <a:pt x="1165129" y="704649"/>
                </a:lnTo>
                <a:lnTo>
                  <a:pt x="0" y="215295"/>
                </a:lnTo>
                <a:close/>
              </a:path>
            </a:pathLst>
          </a:custGeom>
          <a:solidFill>
            <a:srgbClr val="6D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9150675" y="3709139"/>
            <a:ext cx="1165128" cy="704649"/>
          </a:xfrm>
          <a:custGeom>
            <a:avLst/>
            <a:gdLst/>
            <a:ahLst/>
            <a:cxnLst/>
            <a:rect l="l" t="t" r="r" b="b"/>
            <a:pathLst>
              <a:path w="1165128" h="704649">
                <a:moveTo>
                  <a:pt x="0" y="489354"/>
                </a:moveTo>
                <a:lnTo>
                  <a:pt x="1165128" y="0"/>
                </a:lnTo>
                <a:lnTo>
                  <a:pt x="1165128" y="215295"/>
                </a:lnTo>
                <a:lnTo>
                  <a:pt x="0" y="704649"/>
                </a:lnTo>
                <a:close/>
              </a:path>
            </a:pathLst>
          </a:custGeom>
          <a:solidFill>
            <a:srgbClr val="30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8188177" y="2738536"/>
            <a:ext cx="1924995" cy="808498"/>
          </a:xfrm>
          <a:custGeom>
            <a:avLst/>
            <a:gdLst/>
            <a:ahLst/>
            <a:cxnLst/>
            <a:rect l="l" t="t" r="r" b="b"/>
            <a:pathLst>
              <a:path w="1924995" h="808498">
                <a:moveTo>
                  <a:pt x="0" y="404249"/>
                </a:moveTo>
                <a:lnTo>
                  <a:pt x="962498" y="0"/>
                </a:lnTo>
                <a:lnTo>
                  <a:pt x="1924995" y="404249"/>
                </a:lnTo>
                <a:lnTo>
                  <a:pt x="962498" y="808498"/>
                </a:lnTo>
                <a:close/>
              </a:path>
            </a:pathLst>
          </a:custGeom>
          <a:solidFill>
            <a:srgbClr val="94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8188177" y="3142785"/>
            <a:ext cx="962498" cy="619544"/>
          </a:xfrm>
          <a:custGeom>
            <a:avLst/>
            <a:gdLst/>
            <a:ahLst/>
            <a:cxnLst/>
            <a:rect l="l" t="t" r="r" b="b"/>
            <a:pathLst>
              <a:path w="962498" h="619544">
                <a:moveTo>
                  <a:pt x="0" y="0"/>
                </a:moveTo>
                <a:lnTo>
                  <a:pt x="962498" y="404249"/>
                </a:lnTo>
                <a:lnTo>
                  <a:pt x="962498" y="619544"/>
                </a:lnTo>
                <a:lnTo>
                  <a:pt x="0" y="215295"/>
                </a:lnTo>
                <a:close/>
              </a:path>
            </a:pathLst>
          </a:custGeom>
          <a:solidFill>
            <a:srgbClr val="3F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9150675" y="3142785"/>
            <a:ext cx="962497" cy="619544"/>
          </a:xfrm>
          <a:custGeom>
            <a:avLst/>
            <a:gdLst/>
            <a:ahLst/>
            <a:cxnLst/>
            <a:rect l="l" t="t" r="r" b="b"/>
            <a:pathLst>
              <a:path w="962497" h="619544">
                <a:moveTo>
                  <a:pt x="0" y="404249"/>
                </a:moveTo>
                <a:lnTo>
                  <a:pt x="962497" y="0"/>
                </a:lnTo>
                <a:lnTo>
                  <a:pt x="962497" y="215295"/>
                </a:lnTo>
                <a:lnTo>
                  <a:pt x="0" y="619544"/>
                </a:lnTo>
                <a:close/>
              </a:path>
            </a:pathLst>
          </a:custGeom>
          <a:solidFill>
            <a:srgbClr val="197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8416137" y="2257287"/>
            <a:ext cx="1469075" cy="617012"/>
          </a:xfrm>
          <a:custGeom>
            <a:avLst/>
            <a:gdLst/>
            <a:ahLst/>
            <a:cxnLst/>
            <a:rect l="l" t="t" r="r" b="b"/>
            <a:pathLst>
              <a:path w="1469075" h="617012">
                <a:moveTo>
                  <a:pt x="0" y="308506"/>
                </a:moveTo>
                <a:lnTo>
                  <a:pt x="734538" y="0"/>
                </a:lnTo>
                <a:lnTo>
                  <a:pt x="1469075" y="308506"/>
                </a:lnTo>
                <a:lnTo>
                  <a:pt x="734538" y="617012"/>
                </a:lnTo>
                <a:close/>
              </a:path>
            </a:pathLst>
          </a:custGeom>
          <a:solidFill>
            <a:srgbClr val="57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8416137" y="2565793"/>
            <a:ext cx="734538" cy="523801"/>
          </a:xfrm>
          <a:custGeom>
            <a:avLst/>
            <a:gdLst/>
            <a:ahLst/>
            <a:cxnLst/>
            <a:rect l="l" t="t" r="r" b="b"/>
            <a:pathLst>
              <a:path w="734538" h="523801">
                <a:moveTo>
                  <a:pt x="0" y="0"/>
                </a:moveTo>
                <a:lnTo>
                  <a:pt x="734538" y="308506"/>
                </a:lnTo>
                <a:lnTo>
                  <a:pt x="734538" y="523801"/>
                </a:lnTo>
                <a:lnTo>
                  <a:pt x="0" y="215296"/>
                </a:lnTo>
                <a:close/>
              </a:path>
            </a:pathLst>
          </a:custGeom>
          <a:solidFill>
            <a:srgbClr val="148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9150675" y="2565793"/>
            <a:ext cx="734537" cy="523801"/>
          </a:xfrm>
          <a:custGeom>
            <a:avLst/>
            <a:gdLst/>
            <a:ahLst/>
            <a:cxnLst/>
            <a:rect l="l" t="t" r="r" b="b"/>
            <a:pathLst>
              <a:path w="734537" h="523801">
                <a:moveTo>
                  <a:pt x="0" y="308506"/>
                </a:moveTo>
                <a:lnTo>
                  <a:pt x="734537" y="0"/>
                </a:lnTo>
                <a:lnTo>
                  <a:pt x="734537" y="215296"/>
                </a:lnTo>
                <a:lnTo>
                  <a:pt x="0" y="523801"/>
                </a:lnTo>
                <a:close/>
              </a:path>
            </a:pathLst>
          </a:custGeom>
          <a:solidFill>
            <a:srgbClr val="0A5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8770741" y="2155972"/>
            <a:ext cx="481249" cy="221374"/>
          </a:xfrm>
          <a:custGeom>
            <a:avLst/>
            <a:gdLst/>
            <a:ahLst/>
            <a:cxnLst/>
            <a:rect l="l" t="t" r="r" b="b"/>
            <a:pathLst>
              <a:path w="481249" h="221374">
                <a:moveTo>
                  <a:pt x="0" y="110687"/>
                </a:moveTo>
                <a:lnTo>
                  <a:pt x="240625" y="0"/>
                </a:lnTo>
                <a:lnTo>
                  <a:pt x="481249" y="110687"/>
                </a:lnTo>
                <a:lnTo>
                  <a:pt x="240625" y="22137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8770741" y="2266659"/>
            <a:ext cx="240625" cy="465292"/>
          </a:xfrm>
          <a:custGeom>
            <a:avLst/>
            <a:gdLst/>
            <a:ahLst/>
            <a:cxnLst/>
            <a:rect l="l" t="t" r="r" b="b"/>
            <a:pathLst>
              <a:path w="240625" h="465292">
                <a:moveTo>
                  <a:pt x="0" y="0"/>
                </a:moveTo>
                <a:lnTo>
                  <a:pt x="240625" y="110687"/>
                </a:lnTo>
                <a:lnTo>
                  <a:pt x="240625" y="465292"/>
                </a:lnTo>
                <a:lnTo>
                  <a:pt x="0" y="354604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9011366" y="2266659"/>
            <a:ext cx="240624" cy="465292"/>
          </a:xfrm>
          <a:custGeom>
            <a:avLst/>
            <a:gdLst/>
            <a:ahLst/>
            <a:cxnLst/>
            <a:rect l="l" t="t" r="r" b="b"/>
            <a:pathLst>
              <a:path w="240624" h="465292">
                <a:moveTo>
                  <a:pt x="0" y="110687"/>
                </a:moveTo>
                <a:lnTo>
                  <a:pt x="240624" y="0"/>
                </a:lnTo>
                <a:lnTo>
                  <a:pt x="240624" y="354604"/>
                </a:lnTo>
                <a:lnTo>
                  <a:pt x="0" y="465292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9403963" y="2383932"/>
            <a:ext cx="481249" cy="221374"/>
          </a:xfrm>
          <a:custGeom>
            <a:avLst/>
            <a:gdLst/>
            <a:ahLst/>
            <a:cxnLst/>
            <a:rect l="l" t="t" r="r" b="b"/>
            <a:pathLst>
              <a:path w="481249" h="221374">
                <a:moveTo>
                  <a:pt x="0" y="110687"/>
                </a:moveTo>
                <a:lnTo>
                  <a:pt x="240625" y="0"/>
                </a:lnTo>
                <a:lnTo>
                  <a:pt x="481249" y="110687"/>
                </a:lnTo>
                <a:lnTo>
                  <a:pt x="240625" y="22137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9403963" y="2494619"/>
            <a:ext cx="240625" cy="465291"/>
          </a:xfrm>
          <a:custGeom>
            <a:avLst/>
            <a:gdLst/>
            <a:ahLst/>
            <a:cxnLst/>
            <a:rect l="l" t="t" r="r" b="b"/>
            <a:pathLst>
              <a:path w="240625" h="465291">
                <a:moveTo>
                  <a:pt x="0" y="0"/>
                </a:moveTo>
                <a:lnTo>
                  <a:pt x="240625" y="110687"/>
                </a:lnTo>
                <a:lnTo>
                  <a:pt x="240625" y="465291"/>
                </a:lnTo>
                <a:lnTo>
                  <a:pt x="0" y="354604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9644588" y="2494619"/>
            <a:ext cx="240624" cy="465291"/>
          </a:xfrm>
          <a:custGeom>
            <a:avLst/>
            <a:gdLst/>
            <a:ahLst/>
            <a:cxnLst/>
            <a:rect l="l" t="t" r="r" b="b"/>
            <a:pathLst>
              <a:path w="240624" h="465291">
                <a:moveTo>
                  <a:pt x="0" y="110687"/>
                </a:moveTo>
                <a:lnTo>
                  <a:pt x="240624" y="0"/>
                </a:lnTo>
                <a:lnTo>
                  <a:pt x="240624" y="354604"/>
                </a:lnTo>
                <a:lnTo>
                  <a:pt x="0" y="465291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8998701" y="2687878"/>
            <a:ext cx="481249" cy="221375"/>
          </a:xfrm>
          <a:custGeom>
            <a:avLst/>
            <a:gdLst/>
            <a:ahLst/>
            <a:cxnLst/>
            <a:rect l="l" t="t" r="r" b="b"/>
            <a:pathLst>
              <a:path w="481249" h="221375">
                <a:moveTo>
                  <a:pt x="0" y="110688"/>
                </a:moveTo>
                <a:lnTo>
                  <a:pt x="240625" y="0"/>
                </a:lnTo>
                <a:lnTo>
                  <a:pt x="481249" y="110688"/>
                </a:lnTo>
                <a:lnTo>
                  <a:pt x="240625" y="221375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8998701" y="2798566"/>
            <a:ext cx="240625" cy="465291"/>
          </a:xfrm>
          <a:custGeom>
            <a:avLst/>
            <a:gdLst/>
            <a:ahLst/>
            <a:cxnLst/>
            <a:rect l="l" t="t" r="r" b="b"/>
            <a:pathLst>
              <a:path w="240625" h="465291">
                <a:moveTo>
                  <a:pt x="0" y="0"/>
                </a:moveTo>
                <a:lnTo>
                  <a:pt x="240625" y="110687"/>
                </a:lnTo>
                <a:lnTo>
                  <a:pt x="240625" y="465291"/>
                </a:lnTo>
                <a:lnTo>
                  <a:pt x="0" y="354604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9239326" y="2798566"/>
            <a:ext cx="240624" cy="465291"/>
          </a:xfrm>
          <a:custGeom>
            <a:avLst/>
            <a:gdLst/>
            <a:ahLst/>
            <a:cxnLst/>
            <a:rect l="l" t="t" r="r" b="b"/>
            <a:pathLst>
              <a:path w="240624" h="465291">
                <a:moveTo>
                  <a:pt x="0" y="110687"/>
                </a:moveTo>
                <a:lnTo>
                  <a:pt x="240624" y="0"/>
                </a:lnTo>
                <a:lnTo>
                  <a:pt x="240624" y="354604"/>
                </a:lnTo>
                <a:lnTo>
                  <a:pt x="0" y="465291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083296" y="4425696"/>
            <a:ext cx="2194560" cy="40233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专业Agent协作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074152" y="4928616"/>
            <a:ext cx="2231136" cy="42976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5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理解目标 · 规划任务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5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按需调用 · 核验成果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10565892" y="1257300"/>
            <a:ext cx="1316736" cy="1088136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10543032" y="1225296"/>
            <a:ext cx="1316736" cy="108813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0928268" y="1746229"/>
            <a:ext cx="485546" cy="86319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10998403" y="1330817"/>
            <a:ext cx="345277" cy="91715"/>
          </a:xfrm>
          <a:custGeom>
            <a:avLst/>
            <a:gdLst/>
            <a:ahLst/>
            <a:cxnLst/>
            <a:rect l="l" t="t" r="r" b="b"/>
            <a:pathLst>
              <a:path w="345277" h="91715">
                <a:moveTo>
                  <a:pt x="0" y="37765"/>
                </a:moveTo>
                <a:lnTo>
                  <a:pt x="280538" y="0"/>
                </a:lnTo>
                <a:lnTo>
                  <a:pt x="345277" y="48555"/>
                </a:lnTo>
                <a:lnTo>
                  <a:pt x="64739" y="91715"/>
                </a:lnTo>
                <a:close/>
              </a:path>
            </a:pathLst>
          </a:custGeom>
          <a:solidFill>
            <a:srgbClr val="B1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11278941" y="1330817"/>
            <a:ext cx="64739" cy="383042"/>
          </a:xfrm>
          <a:custGeom>
            <a:avLst/>
            <a:gdLst/>
            <a:ahLst/>
            <a:cxnLst/>
            <a:rect l="l" t="t" r="r" b="b"/>
            <a:pathLst>
              <a:path w="64739" h="383042">
                <a:moveTo>
                  <a:pt x="0" y="0"/>
                </a:moveTo>
                <a:lnTo>
                  <a:pt x="64739" y="48555"/>
                </a:lnTo>
                <a:lnTo>
                  <a:pt x="64739" y="383042"/>
                </a:lnTo>
                <a:lnTo>
                  <a:pt x="0" y="345278"/>
                </a:lnTo>
                <a:close/>
              </a:path>
            </a:pathLst>
          </a:custGeom>
          <a:solidFill>
            <a:srgbClr val="147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10998403" y="1330817"/>
            <a:ext cx="280538" cy="388437"/>
          </a:xfrm>
          <a:custGeom>
            <a:avLst/>
            <a:gdLst/>
            <a:ahLst/>
            <a:cxnLst/>
            <a:rect l="l" t="t" r="r" b="b"/>
            <a:pathLst>
              <a:path w="280538" h="388437">
                <a:moveTo>
                  <a:pt x="0" y="37765"/>
                </a:moveTo>
                <a:lnTo>
                  <a:pt x="280538" y="0"/>
                </a:lnTo>
                <a:lnTo>
                  <a:pt x="280538" y="345278"/>
                </a:lnTo>
                <a:lnTo>
                  <a:pt x="0" y="388437"/>
                </a:lnTo>
                <a:close/>
              </a:path>
            </a:pathLst>
          </a:custGeom>
          <a:solidFill>
            <a:srgbClr val="52B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9" name="Connector 138"/>
          <p:cNvCxnSpPr/>
          <p:nvPr/>
        </p:nvCxnSpPr>
        <p:spPr>
          <a:xfrm flipV="1">
            <a:off x="11046957" y="1438716"/>
            <a:ext cx="178034" cy="26975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11046957" y="1514246"/>
            <a:ext cx="178034" cy="26975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11046957" y="1589775"/>
            <a:ext cx="178034" cy="26975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11025378" y="1514246"/>
            <a:ext cx="231983" cy="11329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44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&lt;/&gt;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671048" y="1956816"/>
            <a:ext cx="1060704" cy="21945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研发交付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10565892" y="2702052"/>
            <a:ext cx="1316736" cy="1088136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10543032" y="2670048"/>
            <a:ext cx="1316736" cy="108813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0928268" y="3190981"/>
            <a:ext cx="485546" cy="86319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1003798" y="2861889"/>
            <a:ext cx="329092" cy="312907"/>
          </a:xfrm>
          <a:prstGeom prst="rect">
            <a:avLst/>
          </a:prstGeom>
          <a:solidFill>
            <a:srgbClr val="168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11003798" y="3131637"/>
            <a:ext cx="329092" cy="107899"/>
          </a:xfrm>
          <a:prstGeom prst="ellipse">
            <a:avLst/>
          </a:prstGeom>
          <a:solidFill>
            <a:srgbClr val="096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1003798" y="2807939"/>
            <a:ext cx="329092" cy="107899"/>
          </a:xfrm>
          <a:prstGeom prst="ellipse">
            <a:avLst/>
          </a:prstGeom>
          <a:solidFill>
            <a:srgbClr val="76D8FF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11003798" y="2932023"/>
            <a:ext cx="329092" cy="107899"/>
          </a:xfrm>
          <a:prstGeom prst="ellipse">
            <a:avLst/>
          </a:prstGeom>
          <a:solidFill>
            <a:srgbClr val="3AB2F8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11003798" y="3056107"/>
            <a:ext cx="329092" cy="107899"/>
          </a:xfrm>
          <a:prstGeom prst="ellipse">
            <a:avLst/>
          </a:prstGeom>
          <a:solidFill>
            <a:srgbClr val="3AB2F8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1036167" y="2872679"/>
            <a:ext cx="21579" cy="285932"/>
          </a:xfrm>
          <a:prstGeom prst="rect">
            <a:avLst/>
          </a:prstGeom>
          <a:solidFill>
            <a:srgbClr val="76D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0671048" y="3401568"/>
            <a:ext cx="1060704" cy="21945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资产运营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10565892" y="4146804"/>
            <a:ext cx="1316736" cy="1088136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ounded Rectangle 154"/>
          <p:cNvSpPr/>
          <p:nvPr/>
        </p:nvSpPr>
        <p:spPr>
          <a:xfrm>
            <a:off x="10543032" y="4114800"/>
            <a:ext cx="1316736" cy="108813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0928268" y="4635733"/>
            <a:ext cx="485546" cy="86319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10933663" y="4560204"/>
            <a:ext cx="469362" cy="215906"/>
          </a:xfrm>
          <a:custGeom>
            <a:avLst/>
            <a:gdLst/>
            <a:ahLst/>
            <a:cxnLst/>
            <a:rect l="l" t="t" r="r" b="b"/>
            <a:pathLst>
              <a:path w="469362" h="215906">
                <a:moveTo>
                  <a:pt x="0" y="107953"/>
                </a:moveTo>
                <a:lnTo>
                  <a:pt x="234681" y="0"/>
                </a:lnTo>
                <a:lnTo>
                  <a:pt x="469362" y="107953"/>
                </a:lnTo>
                <a:lnTo>
                  <a:pt x="234681" y="215906"/>
                </a:lnTo>
                <a:close/>
              </a:path>
            </a:pathLst>
          </a:custGeom>
          <a:solidFill>
            <a:srgbClr val="B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10933663" y="4668157"/>
            <a:ext cx="234681" cy="129533"/>
          </a:xfrm>
          <a:custGeom>
            <a:avLst/>
            <a:gdLst/>
            <a:ahLst/>
            <a:cxnLst/>
            <a:rect l="l" t="t" r="r" b="b"/>
            <a:pathLst>
              <a:path w="234681" h="129533">
                <a:moveTo>
                  <a:pt x="0" y="0"/>
                </a:moveTo>
                <a:lnTo>
                  <a:pt x="234681" y="107953"/>
                </a:lnTo>
                <a:lnTo>
                  <a:pt x="234681" y="129533"/>
                </a:lnTo>
                <a:lnTo>
                  <a:pt x="0" y="21580"/>
                </a:lnTo>
                <a:close/>
              </a:path>
            </a:pathLst>
          </a:custGeom>
          <a:solidFill>
            <a:srgbClr val="7FC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11168344" y="4668157"/>
            <a:ext cx="234681" cy="129533"/>
          </a:xfrm>
          <a:custGeom>
            <a:avLst/>
            <a:gdLst/>
            <a:ahLst/>
            <a:cxnLst/>
            <a:rect l="l" t="t" r="r" b="b"/>
            <a:pathLst>
              <a:path w="234681" h="129533">
                <a:moveTo>
                  <a:pt x="0" y="107953"/>
                </a:moveTo>
                <a:lnTo>
                  <a:pt x="234681" y="0"/>
                </a:lnTo>
                <a:lnTo>
                  <a:pt x="234681" y="21580"/>
                </a:lnTo>
                <a:lnTo>
                  <a:pt x="0" y="129533"/>
                </a:lnTo>
                <a:close/>
              </a:path>
            </a:pathLst>
          </a:custGeom>
          <a:solidFill>
            <a:srgbClr val="5AA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10971428" y="4490069"/>
            <a:ext cx="102504" cy="43160"/>
          </a:xfrm>
          <a:custGeom>
            <a:avLst/>
            <a:gdLst/>
            <a:ahLst/>
            <a:cxnLst/>
            <a:rect l="l" t="t" r="r" b="b"/>
            <a:pathLst>
              <a:path w="102504" h="43160">
                <a:moveTo>
                  <a:pt x="0" y="21580"/>
                </a:moveTo>
                <a:lnTo>
                  <a:pt x="51252" y="0"/>
                </a:lnTo>
                <a:lnTo>
                  <a:pt x="102504" y="21580"/>
                </a:lnTo>
                <a:lnTo>
                  <a:pt x="51252" y="43160"/>
                </a:lnTo>
                <a:close/>
              </a:path>
            </a:pathLst>
          </a:custGeom>
          <a:solidFill>
            <a:srgbClr val="9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10971428" y="4511649"/>
            <a:ext cx="51252" cy="118689"/>
          </a:xfrm>
          <a:custGeom>
            <a:avLst/>
            <a:gdLst/>
            <a:ahLst/>
            <a:cxnLst/>
            <a:rect l="l" t="t" r="r" b="b"/>
            <a:pathLst>
              <a:path w="51252" h="118689">
                <a:moveTo>
                  <a:pt x="0" y="0"/>
                </a:moveTo>
                <a:lnTo>
                  <a:pt x="51252" y="21580"/>
                </a:lnTo>
                <a:lnTo>
                  <a:pt x="51252" y="118689"/>
                </a:lnTo>
                <a:lnTo>
                  <a:pt x="0" y="97109"/>
                </a:lnTo>
                <a:close/>
              </a:path>
            </a:pathLst>
          </a:custGeom>
          <a:solidFill>
            <a:srgbClr val="2AB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11022680" y="4511649"/>
            <a:ext cx="51252" cy="118689"/>
          </a:xfrm>
          <a:custGeom>
            <a:avLst/>
            <a:gdLst/>
            <a:ahLst/>
            <a:cxnLst/>
            <a:rect l="l" t="t" r="r" b="b"/>
            <a:pathLst>
              <a:path w="51252" h="118689">
                <a:moveTo>
                  <a:pt x="0" y="21580"/>
                </a:moveTo>
                <a:lnTo>
                  <a:pt x="51252" y="0"/>
                </a:lnTo>
                <a:lnTo>
                  <a:pt x="51252" y="97109"/>
                </a:lnTo>
                <a:lnTo>
                  <a:pt x="0" y="118689"/>
                </a:lnTo>
                <a:close/>
              </a:path>
            </a:pathLst>
          </a:custGeom>
          <a:solidFill>
            <a:srgbClr val="11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11100907" y="4387565"/>
            <a:ext cx="102504" cy="43160"/>
          </a:xfrm>
          <a:custGeom>
            <a:avLst/>
            <a:gdLst/>
            <a:ahLst/>
            <a:cxnLst/>
            <a:rect l="l" t="t" r="r" b="b"/>
            <a:pathLst>
              <a:path w="102504" h="43160">
                <a:moveTo>
                  <a:pt x="0" y="21580"/>
                </a:moveTo>
                <a:lnTo>
                  <a:pt x="51252" y="0"/>
                </a:lnTo>
                <a:lnTo>
                  <a:pt x="102504" y="21580"/>
                </a:lnTo>
                <a:lnTo>
                  <a:pt x="51252" y="43160"/>
                </a:lnTo>
                <a:close/>
              </a:path>
            </a:pathLst>
          </a:custGeom>
          <a:solidFill>
            <a:srgbClr val="9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11100907" y="4409145"/>
            <a:ext cx="51252" cy="221193"/>
          </a:xfrm>
          <a:custGeom>
            <a:avLst/>
            <a:gdLst/>
            <a:ahLst/>
            <a:cxnLst/>
            <a:rect l="l" t="t" r="r" b="b"/>
            <a:pathLst>
              <a:path w="51252" h="221193">
                <a:moveTo>
                  <a:pt x="0" y="0"/>
                </a:moveTo>
                <a:lnTo>
                  <a:pt x="51252" y="21580"/>
                </a:lnTo>
                <a:lnTo>
                  <a:pt x="51252" y="221193"/>
                </a:lnTo>
                <a:lnTo>
                  <a:pt x="0" y="199613"/>
                </a:lnTo>
                <a:close/>
              </a:path>
            </a:pathLst>
          </a:custGeom>
          <a:solidFill>
            <a:srgbClr val="2AB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11152159" y="4409145"/>
            <a:ext cx="51252" cy="221193"/>
          </a:xfrm>
          <a:custGeom>
            <a:avLst/>
            <a:gdLst/>
            <a:ahLst/>
            <a:cxnLst/>
            <a:rect l="l" t="t" r="r" b="b"/>
            <a:pathLst>
              <a:path w="51252" h="221193">
                <a:moveTo>
                  <a:pt x="0" y="21580"/>
                </a:moveTo>
                <a:lnTo>
                  <a:pt x="51252" y="0"/>
                </a:lnTo>
                <a:lnTo>
                  <a:pt x="51252" y="199613"/>
                </a:lnTo>
                <a:lnTo>
                  <a:pt x="0" y="221193"/>
                </a:lnTo>
                <a:close/>
              </a:path>
            </a:pathLst>
          </a:custGeom>
          <a:solidFill>
            <a:srgbClr val="11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11230386" y="4252691"/>
            <a:ext cx="102504" cy="43160"/>
          </a:xfrm>
          <a:custGeom>
            <a:avLst/>
            <a:gdLst/>
            <a:ahLst/>
            <a:cxnLst/>
            <a:rect l="l" t="t" r="r" b="b"/>
            <a:pathLst>
              <a:path w="102504" h="43160">
                <a:moveTo>
                  <a:pt x="0" y="21580"/>
                </a:moveTo>
                <a:lnTo>
                  <a:pt x="51252" y="0"/>
                </a:lnTo>
                <a:lnTo>
                  <a:pt x="102504" y="21580"/>
                </a:lnTo>
                <a:lnTo>
                  <a:pt x="51252" y="43160"/>
                </a:lnTo>
                <a:close/>
              </a:path>
            </a:pathLst>
          </a:custGeom>
          <a:solidFill>
            <a:srgbClr val="9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11230386" y="4274271"/>
            <a:ext cx="51252" cy="356067"/>
          </a:xfrm>
          <a:custGeom>
            <a:avLst/>
            <a:gdLst/>
            <a:ahLst/>
            <a:cxnLst/>
            <a:rect l="l" t="t" r="r" b="b"/>
            <a:pathLst>
              <a:path w="51252" h="356067">
                <a:moveTo>
                  <a:pt x="0" y="0"/>
                </a:moveTo>
                <a:lnTo>
                  <a:pt x="51252" y="21580"/>
                </a:lnTo>
                <a:lnTo>
                  <a:pt x="51252" y="356067"/>
                </a:lnTo>
                <a:lnTo>
                  <a:pt x="0" y="334487"/>
                </a:lnTo>
                <a:close/>
              </a:path>
            </a:pathLst>
          </a:custGeom>
          <a:solidFill>
            <a:srgbClr val="2AB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11281638" y="4274271"/>
            <a:ext cx="51252" cy="356067"/>
          </a:xfrm>
          <a:custGeom>
            <a:avLst/>
            <a:gdLst/>
            <a:ahLst/>
            <a:cxnLst/>
            <a:rect l="l" t="t" r="r" b="b"/>
            <a:pathLst>
              <a:path w="51252" h="356067">
                <a:moveTo>
                  <a:pt x="0" y="21580"/>
                </a:moveTo>
                <a:lnTo>
                  <a:pt x="51252" y="0"/>
                </a:lnTo>
                <a:lnTo>
                  <a:pt x="51252" y="334487"/>
                </a:lnTo>
                <a:lnTo>
                  <a:pt x="0" y="356067"/>
                </a:lnTo>
                <a:close/>
              </a:path>
            </a:pathLst>
          </a:custGeom>
          <a:solidFill>
            <a:srgbClr val="11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0671048" y="4846320"/>
            <a:ext cx="1060704" cy="21945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分析决策</a:t>
            </a:r>
          </a:p>
        </p:txBody>
      </p:sp>
      <p:cxnSp>
        <p:nvCxnSpPr>
          <p:cNvPr id="170" name="Connector 169"/>
          <p:cNvCxnSpPr/>
          <p:nvPr/>
        </p:nvCxnSpPr>
        <p:spPr>
          <a:xfrm>
            <a:off x="7808975" y="1764792"/>
            <a:ext cx="164593" cy="0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7973568" y="1764792"/>
            <a:ext cx="0" cy="1527048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7973568" y="3291840"/>
            <a:ext cx="192024" cy="0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H="1">
            <a:off x="8107125" y="3291840"/>
            <a:ext cx="58467" cy="35845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H="1" flipV="1">
            <a:off x="8107125" y="3255994"/>
            <a:ext cx="58467" cy="35846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213848" y="3291840"/>
            <a:ext cx="164592" cy="0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10378440" y="1764792"/>
            <a:ext cx="0" cy="1527048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378440" y="1764792"/>
            <a:ext cx="118872" cy="0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H="1">
            <a:off x="10438845" y="1764792"/>
            <a:ext cx="58467" cy="35845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H="1" flipV="1">
            <a:off x="10438845" y="1728946"/>
            <a:ext cx="58467" cy="35846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7808975" y="3209544"/>
            <a:ext cx="164593" cy="0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7973568" y="3209544"/>
            <a:ext cx="0" cy="82296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7973568" y="3291840"/>
            <a:ext cx="192024" cy="0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H="1">
            <a:off x="8107125" y="3291840"/>
            <a:ext cx="58467" cy="35845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H="1" flipV="1">
            <a:off x="8107125" y="3255994"/>
            <a:ext cx="58467" cy="35846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10213848" y="3291840"/>
            <a:ext cx="164592" cy="0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10378440" y="3209544"/>
            <a:ext cx="0" cy="82296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10378440" y="3209544"/>
            <a:ext cx="118872" cy="0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H="1">
            <a:off x="10438845" y="3209544"/>
            <a:ext cx="58467" cy="35845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H="1" flipV="1">
            <a:off x="10438845" y="3173698"/>
            <a:ext cx="58467" cy="35846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7808975" y="4654296"/>
            <a:ext cx="164593" cy="0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7973568" y="3291840"/>
            <a:ext cx="0" cy="1362456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973568" y="3291840"/>
            <a:ext cx="192024" cy="0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H="1">
            <a:off x="8107125" y="3291840"/>
            <a:ext cx="58467" cy="35845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H="1" flipV="1">
            <a:off x="8107125" y="3255994"/>
            <a:ext cx="58467" cy="35846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10213848" y="3291840"/>
            <a:ext cx="164592" cy="0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10378440" y="3291840"/>
            <a:ext cx="0" cy="1362456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10378440" y="4654296"/>
            <a:ext cx="118872" cy="0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H="1">
            <a:off x="10438845" y="4654296"/>
            <a:ext cx="58467" cy="35845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H="1" flipV="1">
            <a:off x="10438845" y="4618450"/>
            <a:ext cx="58467" cy="35846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Rounded Rectangle 199"/>
          <p:cNvSpPr/>
          <p:nvPr/>
        </p:nvSpPr>
        <p:spPr>
          <a:xfrm>
            <a:off x="6611112" y="5614416"/>
            <a:ext cx="4974336" cy="420624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6702552" y="5646420"/>
            <a:ext cx="4791456" cy="3566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HiAgent × 企业上下文 × 既有平台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557784" y="5907024"/>
            <a:ext cx="5303520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规划汇报材料  /  架构视觉版 V7  /  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6346471"/>
            <a:ext cx="12191695" cy="235953"/>
          </a:xfrm>
          <a:custGeom>
            <a:avLst/>
            <a:gdLst/>
            <a:ahLst/>
            <a:cxnLst/>
            <a:rect l="l" t="t" r="r" b="b"/>
            <a:pathLst>
              <a:path w="12191695" h="235953">
                <a:moveTo>
                  <a:pt x="0" y="127481"/>
                </a:moveTo>
                <a:lnTo>
                  <a:pt x="135463" y="147046"/>
                </a:lnTo>
                <a:lnTo>
                  <a:pt x="270926" y="165914"/>
                </a:lnTo>
                <a:lnTo>
                  <a:pt x="406389" y="183426"/>
                </a:lnTo>
                <a:lnTo>
                  <a:pt x="541853" y="199000"/>
                </a:lnTo>
                <a:lnTo>
                  <a:pt x="677316" y="212159"/>
                </a:lnTo>
                <a:lnTo>
                  <a:pt x="812779" y="222557"/>
                </a:lnTo>
                <a:lnTo>
                  <a:pt x="948242" y="229995"/>
                </a:lnTo>
                <a:lnTo>
                  <a:pt x="1083706" y="234426"/>
                </a:lnTo>
                <a:lnTo>
                  <a:pt x="1219169" y="235953"/>
                </a:lnTo>
                <a:lnTo>
                  <a:pt x="1354632" y="234812"/>
                </a:lnTo>
                <a:lnTo>
                  <a:pt x="1490096" y="231352"/>
                </a:lnTo>
                <a:lnTo>
                  <a:pt x="1625559" y="226009"/>
                </a:lnTo>
                <a:lnTo>
                  <a:pt x="1761022" y="219267"/>
                </a:lnTo>
                <a:lnTo>
                  <a:pt x="1896485" y="211626"/>
                </a:lnTo>
                <a:lnTo>
                  <a:pt x="2031949" y="203564"/>
                </a:lnTo>
                <a:lnTo>
                  <a:pt x="2167412" y="195508"/>
                </a:lnTo>
                <a:lnTo>
                  <a:pt x="2302875" y="187800"/>
                </a:lnTo>
                <a:lnTo>
                  <a:pt x="2438339" y="180682"/>
                </a:lnTo>
                <a:lnTo>
                  <a:pt x="2573802" y="174280"/>
                </a:lnTo>
                <a:lnTo>
                  <a:pt x="2709265" y="168601"/>
                </a:lnTo>
                <a:lnTo>
                  <a:pt x="2844728" y="163541"/>
                </a:lnTo>
                <a:lnTo>
                  <a:pt x="2980192" y="158900"/>
                </a:lnTo>
                <a:lnTo>
                  <a:pt x="3115655" y="154402"/>
                </a:lnTo>
                <a:lnTo>
                  <a:pt x="3251118" y="149724"/>
                </a:lnTo>
                <a:lnTo>
                  <a:pt x="3386582" y="144534"/>
                </a:lnTo>
                <a:lnTo>
                  <a:pt x="3522045" y="138515"/>
                </a:lnTo>
                <a:lnTo>
                  <a:pt x="3657508" y="131408"/>
                </a:lnTo>
                <a:lnTo>
                  <a:pt x="3792971" y="123031"/>
                </a:lnTo>
                <a:lnTo>
                  <a:pt x="3928435" y="113309"/>
                </a:lnTo>
                <a:lnTo>
                  <a:pt x="4063898" y="102287"/>
                </a:lnTo>
                <a:lnTo>
                  <a:pt x="4199361" y="90138"/>
                </a:lnTo>
                <a:lnTo>
                  <a:pt x="4334824" y="77155"/>
                </a:lnTo>
                <a:lnTo>
                  <a:pt x="4470288" y="63745"/>
                </a:lnTo>
                <a:lnTo>
                  <a:pt x="4605751" y="50406"/>
                </a:lnTo>
                <a:lnTo>
                  <a:pt x="4741214" y="37696"/>
                </a:lnTo>
                <a:lnTo>
                  <a:pt x="4876678" y="26202"/>
                </a:lnTo>
                <a:lnTo>
                  <a:pt x="5012141" y="16503"/>
                </a:lnTo>
                <a:lnTo>
                  <a:pt x="5147604" y="9131"/>
                </a:lnTo>
                <a:lnTo>
                  <a:pt x="5283067" y="4538"/>
                </a:lnTo>
                <a:lnTo>
                  <a:pt x="5418531" y="3064"/>
                </a:lnTo>
                <a:lnTo>
                  <a:pt x="5553994" y="4912"/>
                </a:lnTo>
                <a:lnTo>
                  <a:pt x="5689457" y="10132"/>
                </a:lnTo>
                <a:lnTo>
                  <a:pt x="5824921" y="18617"/>
                </a:lnTo>
                <a:lnTo>
                  <a:pt x="5960384" y="30106"/>
                </a:lnTo>
                <a:lnTo>
                  <a:pt x="6095847" y="44193"/>
                </a:lnTo>
                <a:lnTo>
                  <a:pt x="6231310" y="60357"/>
                </a:lnTo>
                <a:lnTo>
                  <a:pt x="6366774" y="77984"/>
                </a:lnTo>
                <a:lnTo>
                  <a:pt x="6502237" y="96410"/>
                </a:lnTo>
                <a:lnTo>
                  <a:pt x="6637700" y="114953"/>
                </a:lnTo>
                <a:lnTo>
                  <a:pt x="6773164" y="132954"/>
                </a:lnTo>
                <a:lnTo>
                  <a:pt x="6908627" y="149814"/>
                </a:lnTo>
                <a:lnTo>
                  <a:pt x="7044090" y="165027"/>
                </a:lnTo>
                <a:lnTo>
                  <a:pt x="7179553" y="178204"/>
                </a:lnTo>
                <a:lnTo>
                  <a:pt x="7315017" y="189090"/>
                </a:lnTo>
                <a:lnTo>
                  <a:pt x="7450480" y="197574"/>
                </a:lnTo>
                <a:lnTo>
                  <a:pt x="7585943" y="203682"/>
                </a:lnTo>
                <a:lnTo>
                  <a:pt x="7721406" y="207573"/>
                </a:lnTo>
                <a:lnTo>
                  <a:pt x="7856870" y="209512"/>
                </a:lnTo>
                <a:lnTo>
                  <a:pt x="7992333" y="209848"/>
                </a:lnTo>
                <a:lnTo>
                  <a:pt x="8127796" y="208978"/>
                </a:lnTo>
                <a:lnTo>
                  <a:pt x="8263260" y="207316"/>
                </a:lnTo>
                <a:lnTo>
                  <a:pt x="8398723" y="205256"/>
                </a:lnTo>
                <a:lnTo>
                  <a:pt x="8534186" y="203141"/>
                </a:lnTo>
                <a:lnTo>
                  <a:pt x="8669649" y="201238"/>
                </a:lnTo>
                <a:lnTo>
                  <a:pt x="8805113" y="199711"/>
                </a:lnTo>
                <a:lnTo>
                  <a:pt x="8940576" y="198616"/>
                </a:lnTo>
                <a:lnTo>
                  <a:pt x="9076039" y="197894"/>
                </a:lnTo>
                <a:lnTo>
                  <a:pt x="9211503" y="197378"/>
                </a:lnTo>
                <a:lnTo>
                  <a:pt x="9346966" y="196808"/>
                </a:lnTo>
                <a:lnTo>
                  <a:pt x="9482429" y="195855"/>
                </a:lnTo>
                <a:lnTo>
                  <a:pt x="9617892" y="194147"/>
                </a:lnTo>
                <a:lnTo>
                  <a:pt x="9753356" y="191305"/>
                </a:lnTo>
                <a:lnTo>
                  <a:pt x="9888819" y="186977"/>
                </a:lnTo>
                <a:lnTo>
                  <a:pt x="10024282" y="180869"/>
                </a:lnTo>
                <a:lnTo>
                  <a:pt x="10159746" y="172776"/>
                </a:lnTo>
                <a:lnTo>
                  <a:pt x="10295209" y="162608"/>
                </a:lnTo>
                <a:lnTo>
                  <a:pt x="10430672" y="150402"/>
                </a:lnTo>
                <a:lnTo>
                  <a:pt x="10566135" y="136335"/>
                </a:lnTo>
                <a:lnTo>
                  <a:pt x="10701599" y="120717"/>
                </a:lnTo>
                <a:lnTo>
                  <a:pt x="10837062" y="103984"/>
                </a:lnTo>
                <a:lnTo>
                  <a:pt x="10972525" y="86673"/>
                </a:lnTo>
                <a:lnTo>
                  <a:pt x="11107988" y="69396"/>
                </a:lnTo>
                <a:lnTo>
                  <a:pt x="11243452" y="52806"/>
                </a:lnTo>
                <a:lnTo>
                  <a:pt x="11378915" y="37558"/>
                </a:lnTo>
                <a:lnTo>
                  <a:pt x="11514378" y="24274"/>
                </a:lnTo>
                <a:lnTo>
                  <a:pt x="11649842" y="13501"/>
                </a:lnTo>
                <a:lnTo>
                  <a:pt x="11785305" y="5683"/>
                </a:lnTo>
                <a:lnTo>
                  <a:pt x="11920768" y="1129"/>
                </a:lnTo>
                <a:lnTo>
                  <a:pt x="12056231" y="0"/>
                </a:lnTo>
                <a:lnTo>
                  <a:pt x="12191695" y="2300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6405649"/>
            <a:ext cx="12191695" cy="245182"/>
          </a:xfrm>
          <a:custGeom>
            <a:avLst/>
            <a:gdLst/>
            <a:ahLst/>
            <a:cxnLst/>
            <a:rect l="l" t="t" r="r" b="b"/>
            <a:pathLst>
              <a:path w="12191695" h="245182">
                <a:moveTo>
                  <a:pt x="0" y="150669"/>
                </a:moveTo>
                <a:lnTo>
                  <a:pt x="135463" y="169737"/>
                </a:lnTo>
                <a:lnTo>
                  <a:pt x="270926" y="187768"/>
                </a:lnTo>
                <a:lnTo>
                  <a:pt x="406389" y="204118"/>
                </a:lnTo>
                <a:lnTo>
                  <a:pt x="541853" y="218220"/>
                </a:lnTo>
                <a:lnTo>
                  <a:pt x="677316" y="229621"/>
                </a:lnTo>
                <a:lnTo>
                  <a:pt x="812779" y="238002"/>
                </a:lnTo>
                <a:lnTo>
                  <a:pt x="948242" y="243193"/>
                </a:lnTo>
                <a:lnTo>
                  <a:pt x="1083706" y="245182"/>
                </a:lnTo>
                <a:lnTo>
                  <a:pt x="1219169" y="244108"/>
                </a:lnTo>
                <a:lnTo>
                  <a:pt x="1354632" y="240247"/>
                </a:lnTo>
                <a:lnTo>
                  <a:pt x="1490096" y="233989"/>
                </a:lnTo>
                <a:lnTo>
                  <a:pt x="1625559" y="225812"/>
                </a:lnTo>
                <a:lnTo>
                  <a:pt x="1761022" y="216243"/>
                </a:lnTo>
                <a:lnTo>
                  <a:pt x="1896485" y="205824"/>
                </a:lnTo>
                <a:lnTo>
                  <a:pt x="2031949" y="195076"/>
                </a:lnTo>
                <a:lnTo>
                  <a:pt x="2167412" y="184466"/>
                </a:lnTo>
                <a:lnTo>
                  <a:pt x="2302875" y="174375"/>
                </a:lnTo>
                <a:lnTo>
                  <a:pt x="2438339" y="165080"/>
                </a:lnTo>
                <a:lnTo>
                  <a:pt x="2573802" y="156740"/>
                </a:lnTo>
                <a:lnTo>
                  <a:pt x="2709265" y="149392"/>
                </a:lnTo>
                <a:lnTo>
                  <a:pt x="2844728" y="142958"/>
                </a:lnTo>
                <a:lnTo>
                  <a:pt x="2980192" y="137257"/>
                </a:lnTo>
                <a:lnTo>
                  <a:pt x="3115655" y="132030"/>
                </a:lnTo>
                <a:lnTo>
                  <a:pt x="3251118" y="126965"/>
                </a:lnTo>
                <a:lnTo>
                  <a:pt x="3386582" y="121734"/>
                </a:lnTo>
                <a:lnTo>
                  <a:pt x="3522045" y="116024"/>
                </a:lnTo>
                <a:lnTo>
                  <a:pt x="3657508" y="109568"/>
                </a:lnTo>
                <a:lnTo>
                  <a:pt x="3792971" y="102177"/>
                </a:lnTo>
                <a:lnTo>
                  <a:pt x="3928435" y="93759"/>
                </a:lnTo>
                <a:lnTo>
                  <a:pt x="4063898" y="84341"/>
                </a:lnTo>
                <a:lnTo>
                  <a:pt x="4199361" y="74069"/>
                </a:lnTo>
                <a:lnTo>
                  <a:pt x="4334824" y="63211"/>
                </a:lnTo>
                <a:lnTo>
                  <a:pt x="4470288" y="52141"/>
                </a:lnTo>
                <a:lnTo>
                  <a:pt x="4605751" y="41320"/>
                </a:lnTo>
                <a:lnTo>
                  <a:pt x="4741214" y="31269"/>
                </a:lnTo>
                <a:lnTo>
                  <a:pt x="4876678" y="22536"/>
                </a:lnTo>
                <a:lnTo>
                  <a:pt x="5012141" y="15656"/>
                </a:lnTo>
                <a:lnTo>
                  <a:pt x="5147604" y="11120"/>
                </a:lnTo>
                <a:lnTo>
                  <a:pt x="5283067" y="9338"/>
                </a:lnTo>
                <a:lnTo>
                  <a:pt x="5418531" y="10605"/>
                </a:lnTo>
                <a:lnTo>
                  <a:pt x="5553994" y="15085"/>
                </a:lnTo>
                <a:lnTo>
                  <a:pt x="5689457" y="22787"/>
                </a:lnTo>
                <a:lnTo>
                  <a:pt x="5824921" y="33567"/>
                </a:lnTo>
                <a:lnTo>
                  <a:pt x="5960384" y="47128"/>
                </a:lnTo>
                <a:lnTo>
                  <a:pt x="6095847" y="63035"/>
                </a:lnTo>
                <a:lnTo>
                  <a:pt x="6231310" y="80738"/>
                </a:lnTo>
                <a:lnTo>
                  <a:pt x="6366774" y="99601"/>
                </a:lnTo>
                <a:lnTo>
                  <a:pt x="6502237" y="118939"/>
                </a:lnTo>
                <a:lnTo>
                  <a:pt x="6637700" y="138058"/>
                </a:lnTo>
                <a:lnTo>
                  <a:pt x="6773164" y="156290"/>
                </a:lnTo>
                <a:lnTo>
                  <a:pt x="6908627" y="173034"/>
                </a:lnTo>
                <a:lnTo>
                  <a:pt x="7044090" y="187783"/>
                </a:lnTo>
                <a:lnTo>
                  <a:pt x="7179553" y="200156"/>
                </a:lnTo>
                <a:lnTo>
                  <a:pt x="7315017" y="209912"/>
                </a:lnTo>
                <a:lnTo>
                  <a:pt x="7450480" y="216953"/>
                </a:lnTo>
                <a:lnTo>
                  <a:pt x="7585943" y="221331"/>
                </a:lnTo>
                <a:lnTo>
                  <a:pt x="7721406" y="223229"/>
                </a:lnTo>
                <a:lnTo>
                  <a:pt x="7856870" y="222943"/>
                </a:lnTo>
                <a:lnTo>
                  <a:pt x="7992333" y="220854"/>
                </a:lnTo>
                <a:lnTo>
                  <a:pt x="8127796" y="217398"/>
                </a:lnTo>
                <a:lnTo>
                  <a:pt x="8263260" y="213025"/>
                </a:lnTo>
                <a:lnTo>
                  <a:pt x="8398723" y="208173"/>
                </a:lnTo>
                <a:lnTo>
                  <a:pt x="8534186" y="203226"/>
                </a:lnTo>
                <a:lnTo>
                  <a:pt x="8669649" y="198493"/>
                </a:lnTo>
                <a:lnTo>
                  <a:pt x="8805113" y="194182"/>
                </a:lnTo>
                <a:lnTo>
                  <a:pt x="8940576" y="190390"/>
                </a:lnTo>
                <a:lnTo>
                  <a:pt x="9076039" y="187099"/>
                </a:lnTo>
                <a:lnTo>
                  <a:pt x="9211503" y="184181"/>
                </a:lnTo>
                <a:lnTo>
                  <a:pt x="9346966" y="181412"/>
                </a:lnTo>
                <a:lnTo>
                  <a:pt x="9482429" y="178496"/>
                </a:lnTo>
                <a:lnTo>
                  <a:pt x="9617892" y="175092"/>
                </a:lnTo>
                <a:lnTo>
                  <a:pt x="9753356" y="170845"/>
                </a:lnTo>
                <a:lnTo>
                  <a:pt x="9888819" y="165425"/>
                </a:lnTo>
                <a:lnTo>
                  <a:pt x="10024282" y="158555"/>
                </a:lnTo>
                <a:lnTo>
                  <a:pt x="10159746" y="150040"/>
                </a:lnTo>
                <a:lnTo>
                  <a:pt x="10295209" y="139797"/>
                </a:lnTo>
                <a:lnTo>
                  <a:pt x="10430672" y="127865"/>
                </a:lnTo>
                <a:lnTo>
                  <a:pt x="10566135" y="114415"/>
                </a:lnTo>
                <a:lnTo>
                  <a:pt x="10701599" y="99751"/>
                </a:lnTo>
                <a:lnTo>
                  <a:pt x="10837062" y="84291"/>
                </a:lnTo>
                <a:lnTo>
                  <a:pt x="10972525" y="68554"/>
                </a:lnTo>
                <a:lnTo>
                  <a:pt x="11107988" y="53129"/>
                </a:lnTo>
                <a:lnTo>
                  <a:pt x="11243452" y="38641"/>
                </a:lnTo>
                <a:lnTo>
                  <a:pt x="11378915" y="25713"/>
                </a:lnTo>
                <a:lnTo>
                  <a:pt x="11514378" y="14931"/>
                </a:lnTo>
                <a:lnTo>
                  <a:pt x="11649842" y="6805"/>
                </a:lnTo>
                <a:lnTo>
                  <a:pt x="11785305" y="1738"/>
                </a:lnTo>
                <a:lnTo>
                  <a:pt x="11920768" y="0"/>
                </a:lnTo>
                <a:lnTo>
                  <a:pt x="12056231" y="1708"/>
                </a:lnTo>
                <a:lnTo>
                  <a:pt x="12191695" y="6822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6467906"/>
            <a:ext cx="12191695" cy="248613"/>
          </a:xfrm>
          <a:custGeom>
            <a:avLst/>
            <a:gdLst/>
            <a:ahLst/>
            <a:cxnLst/>
            <a:rect l="l" t="t" r="r" b="b"/>
            <a:pathLst>
              <a:path w="12191695" h="248613">
                <a:moveTo>
                  <a:pt x="0" y="169572"/>
                </a:moveTo>
                <a:lnTo>
                  <a:pt x="135463" y="187517"/>
                </a:lnTo>
                <a:lnTo>
                  <a:pt x="270926" y="204116"/>
                </a:lnTo>
                <a:lnTo>
                  <a:pt x="406389" y="218744"/>
                </a:lnTo>
                <a:lnTo>
                  <a:pt x="541853" y="230861"/>
                </a:lnTo>
                <a:lnTo>
                  <a:pt x="677316" y="240043"/>
                </a:lnTo>
                <a:lnTo>
                  <a:pt x="812779" y="246004"/>
                </a:lnTo>
                <a:lnTo>
                  <a:pt x="948242" y="248613"/>
                </a:lnTo>
                <a:lnTo>
                  <a:pt x="1083706" y="247896"/>
                </a:lnTo>
                <a:lnTo>
                  <a:pt x="1219169" y="244031"/>
                </a:lnTo>
                <a:lnTo>
                  <a:pt x="1354632" y="237338"/>
                </a:lnTo>
                <a:lnTo>
                  <a:pt x="1490096" y="228250"/>
                </a:lnTo>
                <a:lnTo>
                  <a:pt x="1625559" y="217286"/>
                </a:lnTo>
                <a:lnTo>
                  <a:pt x="1761022" y="205017"/>
                </a:lnTo>
                <a:lnTo>
                  <a:pt x="1896485" y="192024"/>
                </a:lnTo>
                <a:lnTo>
                  <a:pt x="2031949" y="178869"/>
                </a:lnTo>
                <a:lnTo>
                  <a:pt x="2167412" y="166053"/>
                </a:lnTo>
                <a:lnTo>
                  <a:pt x="2302875" y="153992"/>
                </a:lnTo>
                <a:lnTo>
                  <a:pt x="2438339" y="142992"/>
                </a:lnTo>
                <a:lnTo>
                  <a:pt x="2573802" y="133239"/>
                </a:lnTo>
                <a:lnTo>
                  <a:pt x="2709265" y="124790"/>
                </a:lnTo>
                <a:lnTo>
                  <a:pt x="2844728" y="117583"/>
                </a:lnTo>
                <a:lnTo>
                  <a:pt x="2980192" y="111449"/>
                </a:lnTo>
                <a:lnTo>
                  <a:pt x="3115655" y="106137"/>
                </a:lnTo>
                <a:lnTo>
                  <a:pt x="3251118" y="101335"/>
                </a:lnTo>
                <a:lnTo>
                  <a:pt x="3386582" y="96713"/>
                </a:lnTo>
                <a:lnTo>
                  <a:pt x="3522045" y="91945"/>
                </a:lnTo>
                <a:lnTo>
                  <a:pt x="3657508" y="86753"/>
                </a:lnTo>
                <a:lnTo>
                  <a:pt x="3792971" y="80928"/>
                </a:lnTo>
                <a:lnTo>
                  <a:pt x="3928435" y="74354"/>
                </a:lnTo>
                <a:lnTo>
                  <a:pt x="4063898" y="67031"/>
                </a:lnTo>
                <a:lnTo>
                  <a:pt x="4199361" y="59072"/>
                </a:lnTo>
                <a:lnTo>
                  <a:pt x="4334824" y="50711"/>
                </a:lnTo>
                <a:lnTo>
                  <a:pt x="4470288" y="42285"/>
                </a:lnTo>
                <a:lnTo>
                  <a:pt x="4605751" y="34213"/>
                </a:lnTo>
                <a:lnTo>
                  <a:pt x="4741214" y="26977"/>
                </a:lnTo>
                <a:lnTo>
                  <a:pt x="4876678" y="21080"/>
                </a:lnTo>
                <a:lnTo>
                  <a:pt x="5012141" y="17016"/>
                </a:lnTo>
                <a:lnTo>
                  <a:pt x="5147604" y="15233"/>
                </a:lnTo>
                <a:lnTo>
                  <a:pt x="5283067" y="16099"/>
                </a:lnTo>
                <a:lnTo>
                  <a:pt x="5418531" y="19870"/>
                </a:lnTo>
                <a:lnTo>
                  <a:pt x="5553994" y="26670"/>
                </a:lnTo>
                <a:lnTo>
                  <a:pt x="5689457" y="36475"/>
                </a:lnTo>
                <a:lnTo>
                  <a:pt x="5824921" y="49109"/>
                </a:lnTo>
                <a:lnTo>
                  <a:pt x="5960384" y="64247"/>
                </a:lnTo>
                <a:lnTo>
                  <a:pt x="6095847" y="81430"/>
                </a:lnTo>
                <a:lnTo>
                  <a:pt x="6231310" y="100088"/>
                </a:lnTo>
                <a:lnTo>
                  <a:pt x="6366774" y="119571"/>
                </a:lnTo>
                <a:lnTo>
                  <a:pt x="6502237" y="139187"/>
                </a:lnTo>
                <a:lnTo>
                  <a:pt x="6637700" y="158234"/>
                </a:lnTo>
                <a:lnTo>
                  <a:pt x="6773164" y="176047"/>
                </a:lnTo>
                <a:lnTo>
                  <a:pt x="6908627" y="192030"/>
                </a:lnTo>
                <a:lnTo>
                  <a:pt x="7044090" y="205690"/>
                </a:lnTo>
                <a:lnTo>
                  <a:pt x="7179553" y="216660"/>
                </a:lnTo>
                <a:lnTo>
                  <a:pt x="7315017" y="224721"/>
                </a:lnTo>
                <a:lnTo>
                  <a:pt x="7450480" y="229802"/>
                </a:lnTo>
                <a:lnTo>
                  <a:pt x="7585943" y="231983"/>
                </a:lnTo>
                <a:lnTo>
                  <a:pt x="7721406" y="231480"/>
                </a:lnTo>
                <a:lnTo>
                  <a:pt x="7856870" y="228626"/>
                </a:lnTo>
                <a:lnTo>
                  <a:pt x="7992333" y="223841"/>
                </a:lnTo>
                <a:lnTo>
                  <a:pt x="8127796" y="217601"/>
                </a:lnTo>
                <a:lnTo>
                  <a:pt x="8263260" y="210399"/>
                </a:lnTo>
                <a:lnTo>
                  <a:pt x="8398723" y="202714"/>
                </a:lnTo>
                <a:lnTo>
                  <a:pt x="8534186" y="194975"/>
                </a:lnTo>
                <a:lnTo>
                  <a:pt x="8669649" y="187531"/>
                </a:lnTo>
                <a:lnTo>
                  <a:pt x="8805113" y="180631"/>
                </a:lnTo>
                <a:lnTo>
                  <a:pt x="8940576" y="174414"/>
                </a:lnTo>
                <a:lnTo>
                  <a:pt x="9076039" y="168896"/>
                </a:lnTo>
                <a:lnTo>
                  <a:pt x="9211503" y="163983"/>
                </a:lnTo>
                <a:lnTo>
                  <a:pt x="9346966" y="159481"/>
                </a:lnTo>
                <a:lnTo>
                  <a:pt x="9482429" y="155122"/>
                </a:lnTo>
                <a:lnTo>
                  <a:pt x="9617892" y="150584"/>
                </a:lnTo>
                <a:lnTo>
                  <a:pt x="9753356" y="145531"/>
                </a:lnTo>
                <a:lnTo>
                  <a:pt x="9888819" y="139645"/>
                </a:lnTo>
                <a:lnTo>
                  <a:pt x="10024282" y="132654"/>
                </a:lnTo>
                <a:lnTo>
                  <a:pt x="10159746" y="124369"/>
                </a:lnTo>
                <a:lnTo>
                  <a:pt x="10295209" y="114699"/>
                </a:lnTo>
                <a:lnTo>
                  <a:pt x="10430672" y="103677"/>
                </a:lnTo>
                <a:lnTo>
                  <a:pt x="10566135" y="91461"/>
                </a:lnTo>
                <a:lnTo>
                  <a:pt x="10701599" y="78333"/>
                </a:lnTo>
                <a:lnTo>
                  <a:pt x="10837062" y="64691"/>
                </a:lnTo>
                <a:lnTo>
                  <a:pt x="10972525" y="51025"/>
                </a:lnTo>
                <a:lnTo>
                  <a:pt x="11107988" y="37893"/>
                </a:lnTo>
                <a:lnTo>
                  <a:pt x="11243452" y="25885"/>
                </a:lnTo>
                <a:lnTo>
                  <a:pt x="11378915" y="15588"/>
                </a:lnTo>
                <a:lnTo>
                  <a:pt x="11514378" y="7547"/>
                </a:lnTo>
                <a:lnTo>
                  <a:pt x="11649842" y="2231"/>
                </a:lnTo>
                <a:lnTo>
                  <a:pt x="11785305" y="0"/>
                </a:lnTo>
                <a:lnTo>
                  <a:pt x="11920768" y="1082"/>
                </a:lnTo>
                <a:lnTo>
                  <a:pt x="12056231" y="5551"/>
                </a:lnTo>
                <a:lnTo>
                  <a:pt x="12191695" y="13326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0" y="6533113"/>
            <a:ext cx="12191695" cy="246124"/>
          </a:xfrm>
          <a:custGeom>
            <a:avLst/>
            <a:gdLst/>
            <a:ahLst/>
            <a:cxnLst/>
            <a:rect l="l" t="t" r="r" b="b"/>
            <a:pathLst>
              <a:path w="12191695" h="246124">
                <a:moveTo>
                  <a:pt x="0" y="183172"/>
                </a:moveTo>
                <a:lnTo>
                  <a:pt x="135463" y="199432"/>
                </a:lnTo>
                <a:lnTo>
                  <a:pt x="270926" y="214077"/>
                </a:lnTo>
                <a:lnTo>
                  <a:pt x="406389" y="226514"/>
                </a:lnTo>
                <a:lnTo>
                  <a:pt x="541853" y="236236"/>
                </a:lnTo>
                <a:lnTo>
                  <a:pt x="677316" y="242855"/>
                </a:lnTo>
                <a:lnTo>
                  <a:pt x="812779" y="246124"/>
                </a:lnTo>
                <a:lnTo>
                  <a:pt x="948242" y="245951"/>
                </a:lnTo>
                <a:lnTo>
                  <a:pt x="1083706" y="242404"/>
                </a:lnTo>
                <a:lnTo>
                  <a:pt x="1219169" y="235707"/>
                </a:lnTo>
                <a:lnTo>
                  <a:pt x="1354632" y="226219"/>
                </a:lnTo>
                <a:lnTo>
                  <a:pt x="1490096" y="214417"/>
                </a:lnTo>
                <a:lnTo>
                  <a:pt x="1625559" y="200862"/>
                </a:lnTo>
                <a:lnTo>
                  <a:pt x="1761022" y="186161"/>
                </a:lnTo>
                <a:lnTo>
                  <a:pt x="1896485" y="170935"/>
                </a:lnTo>
                <a:lnTo>
                  <a:pt x="2031949" y="155777"/>
                </a:lnTo>
                <a:lnTo>
                  <a:pt x="2167412" y="141221"/>
                </a:lnTo>
                <a:lnTo>
                  <a:pt x="2302875" y="127707"/>
                </a:lnTo>
                <a:lnTo>
                  <a:pt x="2438339" y="115564"/>
                </a:lnTo>
                <a:lnTo>
                  <a:pt x="2573802" y="104994"/>
                </a:lnTo>
                <a:lnTo>
                  <a:pt x="2709265" y="96068"/>
                </a:lnTo>
                <a:lnTo>
                  <a:pt x="2844728" y="88731"/>
                </a:lnTo>
                <a:lnTo>
                  <a:pt x="2980192" y="82816"/>
                </a:lnTo>
                <a:lnTo>
                  <a:pt x="3115655" y="78067"/>
                </a:lnTo>
                <a:lnTo>
                  <a:pt x="3251118" y="74166"/>
                </a:lnTo>
                <a:lnTo>
                  <a:pt x="3386582" y="70766"/>
                </a:lnTo>
                <a:lnTo>
                  <a:pt x="3522045" y="67527"/>
                </a:lnTo>
                <a:lnTo>
                  <a:pt x="3657508" y="64145"/>
                </a:lnTo>
                <a:lnTo>
                  <a:pt x="3792971" y="60383"/>
                </a:lnTo>
                <a:lnTo>
                  <a:pt x="3928435" y="56096"/>
                </a:lnTo>
                <a:lnTo>
                  <a:pt x="4063898" y="51248"/>
                </a:lnTo>
                <a:lnTo>
                  <a:pt x="4199361" y="45917"/>
                </a:lnTo>
                <a:lnTo>
                  <a:pt x="4334824" y="40294"/>
                </a:lnTo>
                <a:lnTo>
                  <a:pt x="4470288" y="34675"/>
                </a:lnTo>
                <a:lnTo>
                  <a:pt x="4605751" y="29440"/>
                </a:lnTo>
                <a:lnTo>
                  <a:pt x="4741214" y="25025"/>
                </a:lnTo>
                <a:lnTo>
                  <a:pt x="4876678" y="21891"/>
                </a:lnTo>
                <a:lnTo>
                  <a:pt x="5012141" y="20491"/>
                </a:lnTo>
                <a:lnTo>
                  <a:pt x="5147604" y="21233"/>
                </a:lnTo>
                <a:lnTo>
                  <a:pt x="5283067" y="24445"/>
                </a:lnTo>
                <a:lnTo>
                  <a:pt x="5418531" y="30349"/>
                </a:lnTo>
                <a:lnTo>
                  <a:pt x="5553994" y="39037"/>
                </a:lnTo>
                <a:lnTo>
                  <a:pt x="5689457" y="50457"/>
                </a:lnTo>
                <a:lnTo>
                  <a:pt x="5824921" y="64407"/>
                </a:lnTo>
                <a:lnTo>
                  <a:pt x="5960384" y="80543"/>
                </a:lnTo>
                <a:lnTo>
                  <a:pt x="6095847" y="98390"/>
                </a:lnTo>
                <a:lnTo>
                  <a:pt x="6231310" y="117369"/>
                </a:lnTo>
                <a:lnTo>
                  <a:pt x="6366774" y="136826"/>
                </a:lnTo>
                <a:lnTo>
                  <a:pt x="6502237" y="156066"/>
                </a:lnTo>
                <a:lnTo>
                  <a:pt x="6637700" y="174397"/>
                </a:lnTo>
                <a:lnTo>
                  <a:pt x="6773164" y="191162"/>
                </a:lnTo>
                <a:lnTo>
                  <a:pt x="6908627" y="205782"/>
                </a:lnTo>
                <a:lnTo>
                  <a:pt x="7044090" y="217784"/>
                </a:lnTo>
                <a:lnTo>
                  <a:pt x="7179553" y="226827"/>
                </a:lnTo>
                <a:lnTo>
                  <a:pt x="7315017" y="232720"/>
                </a:lnTo>
                <a:lnTo>
                  <a:pt x="7450480" y="235424"/>
                </a:lnTo>
                <a:lnTo>
                  <a:pt x="7585943" y="235057"/>
                </a:lnTo>
                <a:lnTo>
                  <a:pt x="7721406" y="231872"/>
                </a:lnTo>
                <a:lnTo>
                  <a:pt x="7856870" y="226244"/>
                </a:lnTo>
                <a:lnTo>
                  <a:pt x="7992333" y="218632"/>
                </a:lnTo>
                <a:lnTo>
                  <a:pt x="8127796" y="209557"/>
                </a:lnTo>
                <a:lnTo>
                  <a:pt x="8263260" y="199555"/>
                </a:lnTo>
                <a:lnTo>
                  <a:pt x="8398723" y="189147"/>
                </a:lnTo>
                <a:lnTo>
                  <a:pt x="8534186" y="178801"/>
                </a:lnTo>
                <a:lnTo>
                  <a:pt x="8669649" y="168908"/>
                </a:lnTo>
                <a:lnTo>
                  <a:pt x="8805113" y="159754"/>
                </a:lnTo>
                <a:lnTo>
                  <a:pt x="8940576" y="151510"/>
                </a:lnTo>
                <a:lnTo>
                  <a:pt x="9076039" y="144224"/>
                </a:lnTo>
                <a:lnTo>
                  <a:pt x="9211503" y="137828"/>
                </a:lnTo>
                <a:lnTo>
                  <a:pt x="9346966" y="132152"/>
                </a:lnTo>
                <a:lnTo>
                  <a:pt x="9482429" y="126943"/>
                </a:lnTo>
                <a:lnTo>
                  <a:pt x="9617892" y="121894"/>
                </a:lnTo>
                <a:lnTo>
                  <a:pt x="9753356" y="116677"/>
                </a:lnTo>
                <a:lnTo>
                  <a:pt x="9888819" y="110975"/>
                </a:lnTo>
                <a:lnTo>
                  <a:pt x="10024282" y="104513"/>
                </a:lnTo>
                <a:lnTo>
                  <a:pt x="10159746" y="97095"/>
                </a:lnTo>
                <a:lnTo>
                  <a:pt x="10295209" y="88617"/>
                </a:lnTo>
                <a:lnTo>
                  <a:pt x="10430672" y="79094"/>
                </a:lnTo>
                <a:lnTo>
                  <a:pt x="10566135" y="68661"/>
                </a:lnTo>
                <a:lnTo>
                  <a:pt x="10701599" y="57573"/>
                </a:lnTo>
                <a:lnTo>
                  <a:pt x="10837062" y="46197"/>
                </a:lnTo>
                <a:lnTo>
                  <a:pt x="10972525" y="34990"/>
                </a:lnTo>
                <a:lnTo>
                  <a:pt x="11107988" y="24471"/>
                </a:lnTo>
                <a:lnTo>
                  <a:pt x="11243452" y="15192"/>
                </a:lnTo>
                <a:lnTo>
                  <a:pt x="11378915" y="7698"/>
                </a:lnTo>
                <a:lnTo>
                  <a:pt x="11514378" y="2492"/>
                </a:lnTo>
                <a:lnTo>
                  <a:pt x="11649842" y="0"/>
                </a:lnTo>
                <a:lnTo>
                  <a:pt x="11785305" y="541"/>
                </a:lnTo>
                <a:lnTo>
                  <a:pt x="11920768" y="4298"/>
                </a:lnTo>
                <a:lnTo>
                  <a:pt x="12056231" y="11307"/>
                </a:lnTo>
                <a:lnTo>
                  <a:pt x="12191695" y="21447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0" y="6600998"/>
            <a:ext cx="12191695" cy="238322"/>
          </a:xfrm>
          <a:custGeom>
            <a:avLst/>
            <a:gdLst/>
            <a:ahLst/>
            <a:cxnLst/>
            <a:rect l="l" t="t" r="r" b="b"/>
            <a:pathLst>
              <a:path w="12191695" h="238322">
                <a:moveTo>
                  <a:pt x="0" y="190722"/>
                </a:moveTo>
                <a:lnTo>
                  <a:pt x="135463" y="204821"/>
                </a:lnTo>
                <a:lnTo>
                  <a:pt x="270926" y="217096"/>
                </a:lnTo>
                <a:lnTo>
                  <a:pt x="406389" y="226989"/>
                </a:lnTo>
                <a:lnTo>
                  <a:pt x="541853" y="234032"/>
                </a:lnTo>
                <a:lnTo>
                  <a:pt x="677316" y="237878"/>
                </a:lnTo>
                <a:lnTo>
                  <a:pt x="812779" y="238322"/>
                </a:lnTo>
                <a:lnTo>
                  <a:pt x="948242" y="235314"/>
                </a:lnTo>
                <a:lnTo>
                  <a:pt x="1083706" y="228966"/>
                </a:lnTo>
                <a:lnTo>
                  <a:pt x="1219169" y="219541"/>
                </a:lnTo>
                <a:lnTo>
                  <a:pt x="1354632" y="207444"/>
                </a:lnTo>
                <a:lnTo>
                  <a:pt x="1490096" y="193188"/>
                </a:lnTo>
                <a:lnTo>
                  <a:pt x="1625559" y="177371"/>
                </a:lnTo>
                <a:lnTo>
                  <a:pt x="1761022" y="160636"/>
                </a:lnTo>
                <a:lnTo>
                  <a:pt x="1896485" y="143634"/>
                </a:lnTo>
                <a:lnTo>
                  <a:pt x="2031949" y="126985"/>
                </a:lnTo>
                <a:lnTo>
                  <a:pt x="2167412" y="111244"/>
                </a:lnTo>
                <a:lnTo>
                  <a:pt x="2302875" y="96871"/>
                </a:lnTo>
                <a:lnTo>
                  <a:pt x="2438339" y="84207"/>
                </a:lnTo>
                <a:lnTo>
                  <a:pt x="2573802" y="73462"/>
                </a:lnTo>
                <a:lnTo>
                  <a:pt x="2709265" y="64709"/>
                </a:lnTo>
                <a:lnTo>
                  <a:pt x="2844728" y="57891"/>
                </a:lnTo>
                <a:lnTo>
                  <a:pt x="2980192" y="52834"/>
                </a:lnTo>
                <a:lnTo>
                  <a:pt x="3115655" y="49267"/>
                </a:lnTo>
                <a:lnTo>
                  <a:pt x="3251118" y="46856"/>
                </a:lnTo>
                <a:lnTo>
                  <a:pt x="3386582" y="45231"/>
                </a:lnTo>
                <a:lnTo>
                  <a:pt x="3522045" y="44024"/>
                </a:lnTo>
                <a:lnTo>
                  <a:pt x="3657508" y="42902"/>
                </a:lnTo>
                <a:lnTo>
                  <a:pt x="3792971" y="41593"/>
                </a:lnTo>
                <a:lnTo>
                  <a:pt x="3928435" y="39916"/>
                </a:lnTo>
                <a:lnTo>
                  <a:pt x="4063898" y="37794"/>
                </a:lnTo>
                <a:lnTo>
                  <a:pt x="4199361" y="35264"/>
                </a:lnTo>
                <a:lnTo>
                  <a:pt x="4334824" y="32476"/>
                </a:lnTo>
                <a:lnTo>
                  <a:pt x="4470288" y="29683"/>
                </a:lnTo>
                <a:lnTo>
                  <a:pt x="4605751" y="27220"/>
                </a:lnTo>
                <a:lnTo>
                  <a:pt x="4741214" y="25484"/>
                </a:lnTo>
                <a:lnTo>
                  <a:pt x="4876678" y="24895"/>
                </a:lnTo>
                <a:lnTo>
                  <a:pt x="5012141" y="25867"/>
                </a:lnTo>
                <a:lnTo>
                  <a:pt x="5147604" y="28771"/>
                </a:lnTo>
                <a:lnTo>
                  <a:pt x="5283067" y="33905"/>
                </a:lnTo>
                <a:lnTo>
                  <a:pt x="5418531" y="41460"/>
                </a:lnTo>
                <a:lnTo>
                  <a:pt x="5553994" y="51504"/>
                </a:lnTo>
                <a:lnTo>
                  <a:pt x="5689457" y="63964"/>
                </a:lnTo>
                <a:lnTo>
                  <a:pt x="5824921" y="78622"/>
                </a:lnTo>
                <a:lnTo>
                  <a:pt x="5960384" y="95124"/>
                </a:lnTo>
                <a:lnTo>
                  <a:pt x="6095847" y="112989"/>
                </a:lnTo>
                <a:lnTo>
                  <a:pt x="6231310" y="131639"/>
                </a:lnTo>
                <a:lnTo>
                  <a:pt x="6366774" y="150423"/>
                </a:lnTo>
                <a:lnTo>
                  <a:pt x="6502237" y="168658"/>
                </a:lnTo>
                <a:lnTo>
                  <a:pt x="6637700" y="185665"/>
                </a:lnTo>
                <a:lnTo>
                  <a:pt x="6773164" y="200809"/>
                </a:lnTo>
                <a:lnTo>
                  <a:pt x="6908627" y="213535"/>
                </a:lnTo>
                <a:lnTo>
                  <a:pt x="7044090" y="223398"/>
                </a:lnTo>
                <a:lnTo>
                  <a:pt x="7179553" y="230090"/>
                </a:lnTo>
                <a:lnTo>
                  <a:pt x="7315017" y="233454"/>
                </a:lnTo>
                <a:lnTo>
                  <a:pt x="7450480" y="233492"/>
                </a:lnTo>
                <a:lnTo>
                  <a:pt x="7585943" y="230359"/>
                </a:lnTo>
                <a:lnTo>
                  <a:pt x="7721406" y="224353"/>
                </a:lnTo>
                <a:lnTo>
                  <a:pt x="7856870" y="215888"/>
                </a:lnTo>
                <a:lnTo>
                  <a:pt x="7992333" y="205470"/>
                </a:lnTo>
                <a:lnTo>
                  <a:pt x="8127796" y="193658"/>
                </a:lnTo>
                <a:lnTo>
                  <a:pt x="8263260" y="181033"/>
                </a:lnTo>
                <a:lnTo>
                  <a:pt x="8398723" y="168153"/>
                </a:lnTo>
                <a:lnTo>
                  <a:pt x="8534186" y="155526"/>
                </a:lnTo>
                <a:lnTo>
                  <a:pt x="8669649" y="143575"/>
                </a:lnTo>
                <a:lnTo>
                  <a:pt x="8805113" y="132618"/>
                </a:lnTo>
                <a:lnTo>
                  <a:pt x="8940576" y="122852"/>
                </a:lnTo>
                <a:lnTo>
                  <a:pt x="9076039" y="114351"/>
                </a:lnTo>
                <a:lnTo>
                  <a:pt x="9211503" y="107063"/>
                </a:lnTo>
                <a:lnTo>
                  <a:pt x="9346966" y="100832"/>
                </a:lnTo>
                <a:lnTo>
                  <a:pt x="9482429" y="95413"/>
                </a:lnTo>
                <a:lnTo>
                  <a:pt x="9617892" y="90502"/>
                </a:lnTo>
                <a:lnTo>
                  <a:pt x="9753356" y="85770"/>
                </a:lnTo>
                <a:lnTo>
                  <a:pt x="9888819" y="80892"/>
                </a:lnTo>
                <a:lnTo>
                  <a:pt x="10024282" y="75582"/>
                </a:lnTo>
                <a:lnTo>
                  <a:pt x="10159746" y="69623"/>
                </a:lnTo>
                <a:lnTo>
                  <a:pt x="10295209" y="62893"/>
                </a:lnTo>
                <a:lnTo>
                  <a:pt x="10430672" y="55378"/>
                </a:lnTo>
                <a:lnTo>
                  <a:pt x="10566135" y="47183"/>
                </a:lnTo>
                <a:lnTo>
                  <a:pt x="10701599" y="38531"/>
                </a:lnTo>
                <a:lnTo>
                  <a:pt x="10837062" y="29751"/>
                </a:lnTo>
                <a:lnTo>
                  <a:pt x="10972525" y="21260"/>
                </a:lnTo>
                <a:lnTo>
                  <a:pt x="11107988" y="13537"/>
                </a:lnTo>
                <a:lnTo>
                  <a:pt x="11243452" y="7091"/>
                </a:lnTo>
                <a:lnTo>
                  <a:pt x="11378915" y="2425"/>
                </a:lnTo>
                <a:lnTo>
                  <a:pt x="11514378" y="0"/>
                </a:lnTo>
                <a:lnTo>
                  <a:pt x="11649842" y="198"/>
                </a:lnTo>
                <a:lnTo>
                  <a:pt x="11785305" y="3299"/>
                </a:lnTo>
                <a:lnTo>
                  <a:pt x="11920768" y="9446"/>
                </a:lnTo>
                <a:lnTo>
                  <a:pt x="12056231" y="18641"/>
                </a:lnTo>
                <a:lnTo>
                  <a:pt x="12191695" y="30728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46304"/>
            <a:ext cx="11283696" cy="44805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建设定位与总体方向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722376"/>
            <a:ext cx="585216" cy="41148"/>
          </a:xfrm>
          <a:prstGeom prst="rect">
            <a:avLst/>
          </a:prstGeom>
          <a:solidFill>
            <a:srgbClr val="EE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649224"/>
            <a:ext cx="10469880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2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从资产查询走向专业任务协作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292608"/>
            <a:ext cx="896112" cy="20116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HiAgent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6647688"/>
            <a:ext cx="10241280" cy="1280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7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企业数据智能体建设规划  /  规划视图  /  2026.10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629400"/>
            <a:ext cx="585216" cy="17373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" y="1513332"/>
            <a:ext cx="2852928" cy="1124712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1481328"/>
            <a:ext cx="2852928" cy="11247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2109" y="2108697"/>
            <a:ext cx="551383" cy="9802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880" y="1734982"/>
            <a:ext cx="373715" cy="355335"/>
          </a:xfrm>
          <a:prstGeom prst="rect">
            <a:avLst/>
          </a:prstGeom>
          <a:solidFill>
            <a:srgbClr val="168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880" y="2041306"/>
            <a:ext cx="373715" cy="122529"/>
          </a:xfrm>
          <a:prstGeom prst="ellipse">
            <a:avLst/>
          </a:prstGeom>
          <a:solidFill>
            <a:srgbClr val="096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7880" y="1673717"/>
            <a:ext cx="373715" cy="122529"/>
          </a:xfrm>
          <a:prstGeom prst="ellipse">
            <a:avLst/>
          </a:prstGeom>
          <a:solidFill>
            <a:srgbClr val="76D8FF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880" y="1814626"/>
            <a:ext cx="373715" cy="122529"/>
          </a:xfrm>
          <a:prstGeom prst="ellipse">
            <a:avLst/>
          </a:prstGeom>
          <a:solidFill>
            <a:srgbClr val="3AB2F8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880" y="1955535"/>
            <a:ext cx="373715" cy="122529"/>
          </a:xfrm>
          <a:prstGeom prst="ellipse">
            <a:avLst/>
          </a:prstGeom>
          <a:solidFill>
            <a:srgbClr val="3AB2F8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4638" y="1747235"/>
            <a:ext cx="24505" cy="324703"/>
          </a:xfrm>
          <a:prstGeom prst="rect">
            <a:avLst/>
          </a:prstGeom>
          <a:solidFill>
            <a:srgbClr val="76D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1645920"/>
            <a:ext cx="1737360" cy="32004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数据资产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2130552"/>
            <a:ext cx="1737360" cy="30175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表字段 / 字典码值 / 指标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5780" y="2894076"/>
            <a:ext cx="2852928" cy="1124712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20" y="2862072"/>
            <a:ext cx="2852928" cy="11247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92109" y="3489441"/>
            <a:ext cx="551383" cy="9802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771753" y="3017702"/>
            <a:ext cx="392095" cy="104151"/>
          </a:xfrm>
          <a:custGeom>
            <a:avLst/>
            <a:gdLst/>
            <a:ahLst/>
            <a:cxnLst/>
            <a:rect l="l" t="t" r="r" b="b"/>
            <a:pathLst>
              <a:path w="392095" h="104151">
                <a:moveTo>
                  <a:pt x="0" y="42886"/>
                </a:moveTo>
                <a:lnTo>
                  <a:pt x="318577" y="0"/>
                </a:lnTo>
                <a:lnTo>
                  <a:pt x="392095" y="55139"/>
                </a:lnTo>
                <a:lnTo>
                  <a:pt x="73518" y="104151"/>
                </a:lnTo>
                <a:close/>
              </a:path>
            </a:pathLst>
          </a:custGeom>
          <a:solidFill>
            <a:srgbClr val="B1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1090330" y="3017702"/>
            <a:ext cx="73518" cy="434980"/>
          </a:xfrm>
          <a:custGeom>
            <a:avLst/>
            <a:gdLst/>
            <a:ahLst/>
            <a:cxnLst/>
            <a:rect l="l" t="t" r="r" b="b"/>
            <a:pathLst>
              <a:path w="73518" h="434980">
                <a:moveTo>
                  <a:pt x="0" y="0"/>
                </a:moveTo>
                <a:lnTo>
                  <a:pt x="73518" y="55139"/>
                </a:lnTo>
                <a:lnTo>
                  <a:pt x="73518" y="434980"/>
                </a:lnTo>
                <a:lnTo>
                  <a:pt x="0" y="392095"/>
                </a:lnTo>
                <a:close/>
              </a:path>
            </a:pathLst>
          </a:custGeom>
          <a:solidFill>
            <a:srgbClr val="147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771753" y="3017702"/>
            <a:ext cx="318577" cy="441107"/>
          </a:xfrm>
          <a:custGeom>
            <a:avLst/>
            <a:gdLst/>
            <a:ahLst/>
            <a:cxnLst/>
            <a:rect l="l" t="t" r="r" b="b"/>
            <a:pathLst>
              <a:path w="318577" h="441107">
                <a:moveTo>
                  <a:pt x="0" y="42886"/>
                </a:moveTo>
                <a:lnTo>
                  <a:pt x="318577" y="0"/>
                </a:lnTo>
                <a:lnTo>
                  <a:pt x="318577" y="392095"/>
                </a:lnTo>
                <a:lnTo>
                  <a:pt x="0" y="441107"/>
                </a:lnTo>
                <a:close/>
              </a:path>
            </a:pathLst>
          </a:custGeom>
          <a:solidFill>
            <a:srgbClr val="52B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V="1">
            <a:off x="826891" y="3140232"/>
            <a:ext cx="202174" cy="30632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26891" y="3226003"/>
            <a:ext cx="202174" cy="30632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26891" y="3311773"/>
            <a:ext cx="202174" cy="30633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417320" y="3026664"/>
            <a:ext cx="1737360" cy="32004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企业知识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3511296"/>
            <a:ext cx="1737360" cy="30175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规范 / 模板 / SKILL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5780" y="4274820"/>
            <a:ext cx="2852928" cy="1124712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02920" y="4242816"/>
            <a:ext cx="2852928" cy="11247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92109" y="4870185"/>
            <a:ext cx="551383" cy="9802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67603" y="4704770"/>
            <a:ext cx="563636" cy="236728"/>
          </a:xfrm>
          <a:custGeom>
            <a:avLst/>
            <a:gdLst/>
            <a:ahLst/>
            <a:cxnLst/>
            <a:rect l="l" t="t" r="r" b="b"/>
            <a:pathLst>
              <a:path w="563636" h="236728">
                <a:moveTo>
                  <a:pt x="0" y="118364"/>
                </a:moveTo>
                <a:lnTo>
                  <a:pt x="281818" y="0"/>
                </a:lnTo>
                <a:lnTo>
                  <a:pt x="563636" y="118364"/>
                </a:lnTo>
                <a:lnTo>
                  <a:pt x="281818" y="236728"/>
                </a:lnTo>
                <a:close/>
              </a:path>
            </a:pathLst>
          </a:custGeom>
          <a:solidFill>
            <a:srgbClr val="B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67603" y="4823134"/>
            <a:ext cx="281818" cy="170439"/>
          </a:xfrm>
          <a:custGeom>
            <a:avLst/>
            <a:gdLst/>
            <a:ahLst/>
            <a:cxnLst/>
            <a:rect l="l" t="t" r="r" b="b"/>
            <a:pathLst>
              <a:path w="281818" h="170439">
                <a:moveTo>
                  <a:pt x="0" y="0"/>
                </a:moveTo>
                <a:lnTo>
                  <a:pt x="281818" y="118364"/>
                </a:lnTo>
                <a:lnTo>
                  <a:pt x="281818" y="170439"/>
                </a:lnTo>
                <a:lnTo>
                  <a:pt x="0" y="52075"/>
                </a:lnTo>
                <a:close/>
              </a:path>
            </a:pathLst>
          </a:custGeom>
          <a:solidFill>
            <a:srgbClr val="6D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949421" y="4823134"/>
            <a:ext cx="281818" cy="170439"/>
          </a:xfrm>
          <a:custGeom>
            <a:avLst/>
            <a:gdLst/>
            <a:ahLst/>
            <a:cxnLst/>
            <a:rect l="l" t="t" r="r" b="b"/>
            <a:pathLst>
              <a:path w="281818" h="170439">
                <a:moveTo>
                  <a:pt x="0" y="118364"/>
                </a:moveTo>
                <a:lnTo>
                  <a:pt x="281818" y="0"/>
                </a:lnTo>
                <a:lnTo>
                  <a:pt x="281818" y="52075"/>
                </a:lnTo>
                <a:lnTo>
                  <a:pt x="0" y="170439"/>
                </a:lnTo>
                <a:close/>
              </a:path>
            </a:pathLst>
          </a:custGeom>
          <a:solidFill>
            <a:srgbClr val="30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16615" y="4588367"/>
            <a:ext cx="465612" cy="195558"/>
          </a:xfrm>
          <a:custGeom>
            <a:avLst/>
            <a:gdLst/>
            <a:ahLst/>
            <a:cxnLst/>
            <a:rect l="l" t="t" r="r" b="b"/>
            <a:pathLst>
              <a:path w="465612" h="195558">
                <a:moveTo>
                  <a:pt x="0" y="97779"/>
                </a:moveTo>
                <a:lnTo>
                  <a:pt x="232806" y="0"/>
                </a:lnTo>
                <a:lnTo>
                  <a:pt x="465612" y="97779"/>
                </a:lnTo>
                <a:lnTo>
                  <a:pt x="232806" y="195558"/>
                </a:lnTo>
                <a:close/>
              </a:path>
            </a:pathLst>
          </a:custGeom>
          <a:solidFill>
            <a:srgbClr val="94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16615" y="4686146"/>
            <a:ext cx="232806" cy="149854"/>
          </a:xfrm>
          <a:custGeom>
            <a:avLst/>
            <a:gdLst/>
            <a:ahLst/>
            <a:cxnLst/>
            <a:rect l="l" t="t" r="r" b="b"/>
            <a:pathLst>
              <a:path w="232806" h="149854">
                <a:moveTo>
                  <a:pt x="0" y="0"/>
                </a:moveTo>
                <a:lnTo>
                  <a:pt x="232806" y="97779"/>
                </a:lnTo>
                <a:lnTo>
                  <a:pt x="232806" y="149854"/>
                </a:lnTo>
                <a:lnTo>
                  <a:pt x="0" y="52075"/>
                </a:lnTo>
                <a:close/>
              </a:path>
            </a:pathLst>
          </a:custGeom>
          <a:solidFill>
            <a:srgbClr val="3F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949421" y="4686146"/>
            <a:ext cx="232806" cy="149854"/>
          </a:xfrm>
          <a:custGeom>
            <a:avLst/>
            <a:gdLst/>
            <a:ahLst/>
            <a:cxnLst/>
            <a:rect l="l" t="t" r="r" b="b"/>
            <a:pathLst>
              <a:path w="232806" h="149854">
                <a:moveTo>
                  <a:pt x="0" y="97779"/>
                </a:moveTo>
                <a:lnTo>
                  <a:pt x="232806" y="0"/>
                </a:lnTo>
                <a:lnTo>
                  <a:pt x="232806" y="52075"/>
                </a:lnTo>
                <a:lnTo>
                  <a:pt x="0" y="149854"/>
                </a:lnTo>
                <a:close/>
              </a:path>
            </a:pathLst>
          </a:custGeom>
          <a:solidFill>
            <a:srgbClr val="197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71753" y="4471964"/>
            <a:ext cx="355336" cy="149241"/>
          </a:xfrm>
          <a:custGeom>
            <a:avLst/>
            <a:gdLst/>
            <a:ahLst/>
            <a:cxnLst/>
            <a:rect l="l" t="t" r="r" b="b"/>
            <a:pathLst>
              <a:path w="355336" h="149241">
                <a:moveTo>
                  <a:pt x="0" y="74621"/>
                </a:moveTo>
                <a:lnTo>
                  <a:pt x="177668" y="0"/>
                </a:lnTo>
                <a:lnTo>
                  <a:pt x="355336" y="74621"/>
                </a:lnTo>
                <a:lnTo>
                  <a:pt x="177668" y="149241"/>
                </a:lnTo>
                <a:close/>
              </a:path>
            </a:pathLst>
          </a:custGeom>
          <a:solidFill>
            <a:srgbClr val="57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771753" y="4546585"/>
            <a:ext cx="177668" cy="126695"/>
          </a:xfrm>
          <a:custGeom>
            <a:avLst/>
            <a:gdLst/>
            <a:ahLst/>
            <a:cxnLst/>
            <a:rect l="l" t="t" r="r" b="b"/>
            <a:pathLst>
              <a:path w="177668" h="126695">
                <a:moveTo>
                  <a:pt x="0" y="0"/>
                </a:moveTo>
                <a:lnTo>
                  <a:pt x="177668" y="74620"/>
                </a:lnTo>
                <a:lnTo>
                  <a:pt x="177668" y="126695"/>
                </a:lnTo>
                <a:lnTo>
                  <a:pt x="0" y="52075"/>
                </a:lnTo>
                <a:close/>
              </a:path>
            </a:pathLst>
          </a:custGeom>
          <a:solidFill>
            <a:srgbClr val="148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949421" y="4546585"/>
            <a:ext cx="177668" cy="126695"/>
          </a:xfrm>
          <a:custGeom>
            <a:avLst/>
            <a:gdLst/>
            <a:ahLst/>
            <a:cxnLst/>
            <a:rect l="l" t="t" r="r" b="b"/>
            <a:pathLst>
              <a:path w="177668" h="126695">
                <a:moveTo>
                  <a:pt x="0" y="74620"/>
                </a:moveTo>
                <a:lnTo>
                  <a:pt x="177668" y="0"/>
                </a:lnTo>
                <a:lnTo>
                  <a:pt x="177668" y="52075"/>
                </a:lnTo>
                <a:lnTo>
                  <a:pt x="0" y="126695"/>
                </a:lnTo>
                <a:close/>
              </a:path>
            </a:pathLst>
          </a:custGeom>
          <a:solidFill>
            <a:srgbClr val="0A5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57524" y="4447458"/>
            <a:ext cx="116403" cy="53546"/>
          </a:xfrm>
          <a:custGeom>
            <a:avLst/>
            <a:gdLst/>
            <a:ahLst/>
            <a:cxnLst/>
            <a:rect l="l" t="t" r="r" b="b"/>
            <a:pathLst>
              <a:path w="116403" h="53546">
                <a:moveTo>
                  <a:pt x="0" y="26773"/>
                </a:moveTo>
                <a:lnTo>
                  <a:pt x="58201" y="0"/>
                </a:lnTo>
                <a:lnTo>
                  <a:pt x="116403" y="26773"/>
                </a:lnTo>
                <a:lnTo>
                  <a:pt x="58201" y="53546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57524" y="4474231"/>
            <a:ext cx="58201" cy="112543"/>
          </a:xfrm>
          <a:custGeom>
            <a:avLst/>
            <a:gdLst/>
            <a:ahLst/>
            <a:cxnLst/>
            <a:rect l="l" t="t" r="r" b="b"/>
            <a:pathLst>
              <a:path w="58201" h="112543">
                <a:moveTo>
                  <a:pt x="0" y="0"/>
                </a:moveTo>
                <a:lnTo>
                  <a:pt x="58201" y="26773"/>
                </a:lnTo>
                <a:lnTo>
                  <a:pt x="58201" y="112543"/>
                </a:lnTo>
                <a:lnTo>
                  <a:pt x="0" y="85771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915725" y="4474231"/>
            <a:ext cx="58202" cy="112543"/>
          </a:xfrm>
          <a:custGeom>
            <a:avLst/>
            <a:gdLst/>
            <a:ahLst/>
            <a:cxnLst/>
            <a:rect l="l" t="t" r="r" b="b"/>
            <a:pathLst>
              <a:path w="58202" h="112543">
                <a:moveTo>
                  <a:pt x="0" y="26773"/>
                </a:moveTo>
                <a:lnTo>
                  <a:pt x="58202" y="0"/>
                </a:lnTo>
                <a:lnTo>
                  <a:pt x="58202" y="85771"/>
                </a:lnTo>
                <a:lnTo>
                  <a:pt x="0" y="112543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1010686" y="4502597"/>
            <a:ext cx="116403" cy="53545"/>
          </a:xfrm>
          <a:custGeom>
            <a:avLst/>
            <a:gdLst/>
            <a:ahLst/>
            <a:cxnLst/>
            <a:rect l="l" t="t" r="r" b="b"/>
            <a:pathLst>
              <a:path w="116403" h="53545">
                <a:moveTo>
                  <a:pt x="0" y="26772"/>
                </a:moveTo>
                <a:lnTo>
                  <a:pt x="58201" y="0"/>
                </a:lnTo>
                <a:lnTo>
                  <a:pt x="116403" y="26772"/>
                </a:lnTo>
                <a:lnTo>
                  <a:pt x="58201" y="53545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010686" y="4529369"/>
            <a:ext cx="58201" cy="112544"/>
          </a:xfrm>
          <a:custGeom>
            <a:avLst/>
            <a:gdLst/>
            <a:ahLst/>
            <a:cxnLst/>
            <a:rect l="l" t="t" r="r" b="b"/>
            <a:pathLst>
              <a:path w="58201" h="112544">
                <a:moveTo>
                  <a:pt x="0" y="0"/>
                </a:moveTo>
                <a:lnTo>
                  <a:pt x="58201" y="26773"/>
                </a:lnTo>
                <a:lnTo>
                  <a:pt x="58201" y="112544"/>
                </a:lnTo>
                <a:lnTo>
                  <a:pt x="0" y="85771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1068887" y="4529369"/>
            <a:ext cx="58202" cy="112544"/>
          </a:xfrm>
          <a:custGeom>
            <a:avLst/>
            <a:gdLst/>
            <a:ahLst/>
            <a:cxnLst/>
            <a:rect l="l" t="t" r="r" b="b"/>
            <a:pathLst>
              <a:path w="58202" h="112544">
                <a:moveTo>
                  <a:pt x="0" y="26773"/>
                </a:moveTo>
                <a:lnTo>
                  <a:pt x="58202" y="0"/>
                </a:lnTo>
                <a:lnTo>
                  <a:pt x="58202" y="85771"/>
                </a:lnTo>
                <a:lnTo>
                  <a:pt x="0" y="112544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12662" y="4576114"/>
            <a:ext cx="116403" cy="53546"/>
          </a:xfrm>
          <a:custGeom>
            <a:avLst/>
            <a:gdLst/>
            <a:ahLst/>
            <a:cxnLst/>
            <a:rect l="l" t="t" r="r" b="b"/>
            <a:pathLst>
              <a:path w="116403" h="53546">
                <a:moveTo>
                  <a:pt x="0" y="26773"/>
                </a:moveTo>
                <a:lnTo>
                  <a:pt x="58202" y="0"/>
                </a:lnTo>
                <a:lnTo>
                  <a:pt x="116403" y="26773"/>
                </a:lnTo>
                <a:lnTo>
                  <a:pt x="58202" y="53546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12662" y="4602887"/>
            <a:ext cx="58202" cy="112543"/>
          </a:xfrm>
          <a:custGeom>
            <a:avLst/>
            <a:gdLst/>
            <a:ahLst/>
            <a:cxnLst/>
            <a:rect l="l" t="t" r="r" b="b"/>
            <a:pathLst>
              <a:path w="58202" h="112543">
                <a:moveTo>
                  <a:pt x="0" y="0"/>
                </a:moveTo>
                <a:lnTo>
                  <a:pt x="58202" y="26773"/>
                </a:lnTo>
                <a:lnTo>
                  <a:pt x="58202" y="112543"/>
                </a:lnTo>
                <a:lnTo>
                  <a:pt x="0" y="85771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70864" y="4602887"/>
            <a:ext cx="58201" cy="112543"/>
          </a:xfrm>
          <a:custGeom>
            <a:avLst/>
            <a:gdLst/>
            <a:ahLst/>
            <a:cxnLst/>
            <a:rect l="l" t="t" r="r" b="b"/>
            <a:pathLst>
              <a:path w="58201" h="112543">
                <a:moveTo>
                  <a:pt x="0" y="26773"/>
                </a:moveTo>
                <a:lnTo>
                  <a:pt x="58201" y="0"/>
                </a:lnTo>
                <a:lnTo>
                  <a:pt x="58201" y="85771"/>
                </a:lnTo>
                <a:lnTo>
                  <a:pt x="0" y="112543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417320" y="4407407"/>
            <a:ext cx="1737360" cy="32004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平台能力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17320" y="4892040"/>
            <a:ext cx="1737360" cy="30175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开发 / 调度 / 血缘 / 质量</a:t>
            </a:r>
          </a:p>
        </p:txBody>
      </p:sp>
      <p:sp>
        <p:nvSpPr>
          <p:cNvPr id="58" name="Oval 57"/>
          <p:cNvSpPr/>
          <p:nvPr/>
        </p:nvSpPr>
        <p:spPr>
          <a:xfrm>
            <a:off x="4109587" y="4367814"/>
            <a:ext cx="2872130" cy="510600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3981937" y="3506175"/>
            <a:ext cx="2935956" cy="1233101"/>
          </a:xfrm>
          <a:custGeom>
            <a:avLst/>
            <a:gdLst/>
            <a:ahLst/>
            <a:cxnLst/>
            <a:rect l="l" t="t" r="r" b="b"/>
            <a:pathLst>
              <a:path w="2935956" h="1233101">
                <a:moveTo>
                  <a:pt x="0" y="616551"/>
                </a:moveTo>
                <a:lnTo>
                  <a:pt x="1467978" y="0"/>
                </a:lnTo>
                <a:lnTo>
                  <a:pt x="2935956" y="616551"/>
                </a:lnTo>
                <a:lnTo>
                  <a:pt x="1467978" y="1233101"/>
                </a:lnTo>
                <a:close/>
              </a:path>
            </a:pathLst>
          </a:custGeom>
          <a:solidFill>
            <a:srgbClr val="B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3981937" y="4122726"/>
            <a:ext cx="1467978" cy="887807"/>
          </a:xfrm>
          <a:custGeom>
            <a:avLst/>
            <a:gdLst/>
            <a:ahLst/>
            <a:cxnLst/>
            <a:rect l="l" t="t" r="r" b="b"/>
            <a:pathLst>
              <a:path w="1467978" h="887807">
                <a:moveTo>
                  <a:pt x="0" y="0"/>
                </a:moveTo>
                <a:lnTo>
                  <a:pt x="1467978" y="616550"/>
                </a:lnTo>
                <a:lnTo>
                  <a:pt x="1467978" y="887807"/>
                </a:lnTo>
                <a:lnTo>
                  <a:pt x="0" y="271256"/>
                </a:lnTo>
                <a:close/>
              </a:path>
            </a:pathLst>
          </a:custGeom>
          <a:solidFill>
            <a:srgbClr val="6D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5449915" y="4122726"/>
            <a:ext cx="1467978" cy="887807"/>
          </a:xfrm>
          <a:custGeom>
            <a:avLst/>
            <a:gdLst/>
            <a:ahLst/>
            <a:cxnLst/>
            <a:rect l="l" t="t" r="r" b="b"/>
            <a:pathLst>
              <a:path w="1467978" h="887807">
                <a:moveTo>
                  <a:pt x="0" y="616550"/>
                </a:moveTo>
                <a:lnTo>
                  <a:pt x="1467978" y="0"/>
                </a:lnTo>
                <a:lnTo>
                  <a:pt x="1467978" y="271256"/>
                </a:lnTo>
                <a:lnTo>
                  <a:pt x="0" y="887807"/>
                </a:lnTo>
                <a:close/>
              </a:path>
            </a:pathLst>
          </a:custGeom>
          <a:solidFill>
            <a:srgbClr val="30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4237238" y="2899836"/>
            <a:ext cx="2425354" cy="1018649"/>
          </a:xfrm>
          <a:custGeom>
            <a:avLst/>
            <a:gdLst/>
            <a:ahLst/>
            <a:cxnLst/>
            <a:rect l="l" t="t" r="r" b="b"/>
            <a:pathLst>
              <a:path w="2425354" h="1018649">
                <a:moveTo>
                  <a:pt x="0" y="509325"/>
                </a:moveTo>
                <a:lnTo>
                  <a:pt x="1212677" y="0"/>
                </a:lnTo>
                <a:lnTo>
                  <a:pt x="2425354" y="509325"/>
                </a:lnTo>
                <a:lnTo>
                  <a:pt x="1212677" y="1018649"/>
                </a:lnTo>
                <a:close/>
              </a:path>
            </a:pathLst>
          </a:custGeom>
          <a:solidFill>
            <a:srgbClr val="94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4237238" y="3409161"/>
            <a:ext cx="1212677" cy="780581"/>
          </a:xfrm>
          <a:custGeom>
            <a:avLst/>
            <a:gdLst/>
            <a:ahLst/>
            <a:cxnLst/>
            <a:rect l="l" t="t" r="r" b="b"/>
            <a:pathLst>
              <a:path w="1212677" h="780581">
                <a:moveTo>
                  <a:pt x="0" y="0"/>
                </a:moveTo>
                <a:lnTo>
                  <a:pt x="1212677" y="509324"/>
                </a:lnTo>
                <a:lnTo>
                  <a:pt x="1212677" y="780581"/>
                </a:lnTo>
                <a:lnTo>
                  <a:pt x="0" y="271256"/>
                </a:lnTo>
                <a:close/>
              </a:path>
            </a:pathLst>
          </a:custGeom>
          <a:solidFill>
            <a:srgbClr val="3F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5449915" y="3409161"/>
            <a:ext cx="1212677" cy="780581"/>
          </a:xfrm>
          <a:custGeom>
            <a:avLst/>
            <a:gdLst/>
            <a:ahLst/>
            <a:cxnLst/>
            <a:rect l="l" t="t" r="r" b="b"/>
            <a:pathLst>
              <a:path w="1212677" h="780581">
                <a:moveTo>
                  <a:pt x="0" y="509324"/>
                </a:moveTo>
                <a:lnTo>
                  <a:pt x="1212677" y="0"/>
                </a:lnTo>
                <a:lnTo>
                  <a:pt x="1212677" y="271256"/>
                </a:lnTo>
                <a:lnTo>
                  <a:pt x="0" y="780581"/>
                </a:lnTo>
                <a:close/>
              </a:path>
            </a:pathLst>
          </a:custGeom>
          <a:solidFill>
            <a:srgbClr val="197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4524451" y="2293498"/>
            <a:ext cx="1850928" cy="777390"/>
          </a:xfrm>
          <a:custGeom>
            <a:avLst/>
            <a:gdLst/>
            <a:ahLst/>
            <a:cxnLst/>
            <a:rect l="l" t="t" r="r" b="b"/>
            <a:pathLst>
              <a:path w="1850928" h="777390">
                <a:moveTo>
                  <a:pt x="0" y="388695"/>
                </a:moveTo>
                <a:lnTo>
                  <a:pt x="925464" y="0"/>
                </a:lnTo>
                <a:lnTo>
                  <a:pt x="1850928" y="388695"/>
                </a:lnTo>
                <a:lnTo>
                  <a:pt x="925464" y="777390"/>
                </a:lnTo>
                <a:close/>
              </a:path>
            </a:pathLst>
          </a:custGeom>
          <a:solidFill>
            <a:srgbClr val="57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4524451" y="2682193"/>
            <a:ext cx="925464" cy="659951"/>
          </a:xfrm>
          <a:custGeom>
            <a:avLst/>
            <a:gdLst/>
            <a:ahLst/>
            <a:cxnLst/>
            <a:rect l="l" t="t" r="r" b="b"/>
            <a:pathLst>
              <a:path w="925464" h="659951">
                <a:moveTo>
                  <a:pt x="0" y="0"/>
                </a:moveTo>
                <a:lnTo>
                  <a:pt x="925464" y="388695"/>
                </a:lnTo>
                <a:lnTo>
                  <a:pt x="925464" y="659951"/>
                </a:lnTo>
                <a:lnTo>
                  <a:pt x="0" y="271256"/>
                </a:lnTo>
                <a:close/>
              </a:path>
            </a:pathLst>
          </a:custGeom>
          <a:solidFill>
            <a:srgbClr val="148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5449915" y="2682193"/>
            <a:ext cx="925464" cy="659951"/>
          </a:xfrm>
          <a:custGeom>
            <a:avLst/>
            <a:gdLst/>
            <a:ahLst/>
            <a:cxnLst/>
            <a:rect l="l" t="t" r="r" b="b"/>
            <a:pathLst>
              <a:path w="925464" h="659951">
                <a:moveTo>
                  <a:pt x="0" y="388695"/>
                </a:moveTo>
                <a:lnTo>
                  <a:pt x="925464" y="0"/>
                </a:lnTo>
                <a:lnTo>
                  <a:pt x="925464" y="271256"/>
                </a:lnTo>
                <a:lnTo>
                  <a:pt x="0" y="659951"/>
                </a:lnTo>
                <a:close/>
              </a:path>
            </a:pathLst>
          </a:custGeom>
          <a:solidFill>
            <a:srgbClr val="0A5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4971227" y="2165847"/>
            <a:ext cx="606338" cy="278916"/>
          </a:xfrm>
          <a:custGeom>
            <a:avLst/>
            <a:gdLst/>
            <a:ahLst/>
            <a:cxnLst/>
            <a:rect l="l" t="t" r="r" b="b"/>
            <a:pathLst>
              <a:path w="606338" h="278916">
                <a:moveTo>
                  <a:pt x="0" y="139458"/>
                </a:moveTo>
                <a:lnTo>
                  <a:pt x="303169" y="0"/>
                </a:lnTo>
                <a:lnTo>
                  <a:pt x="606338" y="139458"/>
                </a:lnTo>
                <a:lnTo>
                  <a:pt x="303169" y="278916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4971227" y="2305305"/>
            <a:ext cx="303169" cy="586234"/>
          </a:xfrm>
          <a:custGeom>
            <a:avLst/>
            <a:gdLst/>
            <a:ahLst/>
            <a:cxnLst/>
            <a:rect l="l" t="t" r="r" b="b"/>
            <a:pathLst>
              <a:path w="303169" h="586234">
                <a:moveTo>
                  <a:pt x="0" y="0"/>
                </a:moveTo>
                <a:lnTo>
                  <a:pt x="303169" y="139458"/>
                </a:lnTo>
                <a:lnTo>
                  <a:pt x="303169" y="586234"/>
                </a:lnTo>
                <a:lnTo>
                  <a:pt x="0" y="446776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5274396" y="2305305"/>
            <a:ext cx="303169" cy="586234"/>
          </a:xfrm>
          <a:custGeom>
            <a:avLst/>
            <a:gdLst/>
            <a:ahLst/>
            <a:cxnLst/>
            <a:rect l="l" t="t" r="r" b="b"/>
            <a:pathLst>
              <a:path w="303169" h="586234">
                <a:moveTo>
                  <a:pt x="0" y="139458"/>
                </a:moveTo>
                <a:lnTo>
                  <a:pt x="303169" y="0"/>
                </a:lnTo>
                <a:lnTo>
                  <a:pt x="303169" y="446776"/>
                </a:lnTo>
                <a:lnTo>
                  <a:pt x="0" y="586234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5769041" y="2453060"/>
            <a:ext cx="606338" cy="278916"/>
          </a:xfrm>
          <a:custGeom>
            <a:avLst/>
            <a:gdLst/>
            <a:ahLst/>
            <a:cxnLst/>
            <a:rect l="l" t="t" r="r" b="b"/>
            <a:pathLst>
              <a:path w="606338" h="278916">
                <a:moveTo>
                  <a:pt x="0" y="139458"/>
                </a:moveTo>
                <a:lnTo>
                  <a:pt x="303169" y="0"/>
                </a:lnTo>
                <a:lnTo>
                  <a:pt x="606338" y="139458"/>
                </a:lnTo>
                <a:lnTo>
                  <a:pt x="303169" y="278916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5769041" y="2592518"/>
            <a:ext cx="303169" cy="586234"/>
          </a:xfrm>
          <a:custGeom>
            <a:avLst/>
            <a:gdLst/>
            <a:ahLst/>
            <a:cxnLst/>
            <a:rect l="l" t="t" r="r" b="b"/>
            <a:pathLst>
              <a:path w="303169" h="586234">
                <a:moveTo>
                  <a:pt x="0" y="0"/>
                </a:moveTo>
                <a:lnTo>
                  <a:pt x="303169" y="139458"/>
                </a:lnTo>
                <a:lnTo>
                  <a:pt x="303169" y="586234"/>
                </a:lnTo>
                <a:lnTo>
                  <a:pt x="0" y="446776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6072210" y="2592518"/>
            <a:ext cx="303169" cy="586234"/>
          </a:xfrm>
          <a:custGeom>
            <a:avLst/>
            <a:gdLst/>
            <a:ahLst/>
            <a:cxnLst/>
            <a:rect l="l" t="t" r="r" b="b"/>
            <a:pathLst>
              <a:path w="303169" h="586234">
                <a:moveTo>
                  <a:pt x="0" y="139458"/>
                </a:moveTo>
                <a:lnTo>
                  <a:pt x="303169" y="0"/>
                </a:lnTo>
                <a:lnTo>
                  <a:pt x="303169" y="446776"/>
                </a:lnTo>
                <a:lnTo>
                  <a:pt x="0" y="586234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5258440" y="2836011"/>
            <a:ext cx="606338" cy="278916"/>
          </a:xfrm>
          <a:custGeom>
            <a:avLst/>
            <a:gdLst/>
            <a:ahLst/>
            <a:cxnLst/>
            <a:rect l="l" t="t" r="r" b="b"/>
            <a:pathLst>
              <a:path w="606338" h="278916">
                <a:moveTo>
                  <a:pt x="0" y="139458"/>
                </a:moveTo>
                <a:lnTo>
                  <a:pt x="303169" y="0"/>
                </a:lnTo>
                <a:lnTo>
                  <a:pt x="606338" y="139458"/>
                </a:lnTo>
                <a:lnTo>
                  <a:pt x="303169" y="278916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5258440" y="2975469"/>
            <a:ext cx="303169" cy="586234"/>
          </a:xfrm>
          <a:custGeom>
            <a:avLst/>
            <a:gdLst/>
            <a:ahLst/>
            <a:cxnLst/>
            <a:rect l="l" t="t" r="r" b="b"/>
            <a:pathLst>
              <a:path w="303169" h="586234">
                <a:moveTo>
                  <a:pt x="0" y="0"/>
                </a:moveTo>
                <a:lnTo>
                  <a:pt x="303169" y="139458"/>
                </a:lnTo>
                <a:lnTo>
                  <a:pt x="303169" y="586234"/>
                </a:lnTo>
                <a:lnTo>
                  <a:pt x="0" y="446776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5561609" y="2975469"/>
            <a:ext cx="303169" cy="586234"/>
          </a:xfrm>
          <a:custGeom>
            <a:avLst/>
            <a:gdLst/>
            <a:ahLst/>
            <a:cxnLst/>
            <a:rect l="l" t="t" r="r" b="b"/>
            <a:pathLst>
              <a:path w="303169" h="586234">
                <a:moveTo>
                  <a:pt x="0" y="139458"/>
                </a:moveTo>
                <a:lnTo>
                  <a:pt x="303169" y="0"/>
                </a:lnTo>
                <a:lnTo>
                  <a:pt x="303169" y="446776"/>
                </a:lnTo>
                <a:lnTo>
                  <a:pt x="0" y="586234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986784" y="4837176"/>
            <a:ext cx="3008376" cy="41148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HiAgent专业智能服务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986784" y="5330952"/>
            <a:ext cx="3008376" cy="31089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Agent组织任务，企业上下文约束判断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389620" y="1513332"/>
            <a:ext cx="3310128" cy="1124712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8366760" y="1481328"/>
            <a:ext cx="3310128" cy="11247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555949" y="2108697"/>
            <a:ext cx="551383" cy="9802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8635593" y="1636958"/>
            <a:ext cx="392095" cy="104151"/>
          </a:xfrm>
          <a:custGeom>
            <a:avLst/>
            <a:gdLst/>
            <a:ahLst/>
            <a:cxnLst/>
            <a:rect l="l" t="t" r="r" b="b"/>
            <a:pathLst>
              <a:path w="392095" h="104151">
                <a:moveTo>
                  <a:pt x="0" y="42886"/>
                </a:moveTo>
                <a:lnTo>
                  <a:pt x="318577" y="0"/>
                </a:lnTo>
                <a:lnTo>
                  <a:pt x="392095" y="55139"/>
                </a:lnTo>
                <a:lnTo>
                  <a:pt x="73518" y="104151"/>
                </a:lnTo>
                <a:close/>
              </a:path>
            </a:pathLst>
          </a:custGeom>
          <a:solidFill>
            <a:srgbClr val="B1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8954170" y="1636958"/>
            <a:ext cx="73518" cy="434980"/>
          </a:xfrm>
          <a:custGeom>
            <a:avLst/>
            <a:gdLst/>
            <a:ahLst/>
            <a:cxnLst/>
            <a:rect l="l" t="t" r="r" b="b"/>
            <a:pathLst>
              <a:path w="73518" h="434980">
                <a:moveTo>
                  <a:pt x="0" y="0"/>
                </a:moveTo>
                <a:lnTo>
                  <a:pt x="73518" y="55139"/>
                </a:lnTo>
                <a:lnTo>
                  <a:pt x="73518" y="434980"/>
                </a:lnTo>
                <a:lnTo>
                  <a:pt x="0" y="392095"/>
                </a:lnTo>
                <a:close/>
              </a:path>
            </a:pathLst>
          </a:custGeom>
          <a:solidFill>
            <a:srgbClr val="147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8635593" y="1636958"/>
            <a:ext cx="318577" cy="441107"/>
          </a:xfrm>
          <a:custGeom>
            <a:avLst/>
            <a:gdLst/>
            <a:ahLst/>
            <a:cxnLst/>
            <a:rect l="l" t="t" r="r" b="b"/>
            <a:pathLst>
              <a:path w="318577" h="441107">
                <a:moveTo>
                  <a:pt x="0" y="42886"/>
                </a:moveTo>
                <a:lnTo>
                  <a:pt x="318577" y="0"/>
                </a:lnTo>
                <a:lnTo>
                  <a:pt x="318577" y="392095"/>
                </a:lnTo>
                <a:lnTo>
                  <a:pt x="0" y="441107"/>
                </a:lnTo>
                <a:close/>
              </a:path>
            </a:pathLst>
          </a:custGeom>
          <a:solidFill>
            <a:srgbClr val="52B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 flipV="1">
            <a:off x="8690731" y="1759488"/>
            <a:ext cx="202174" cy="30632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690731" y="1845259"/>
            <a:ext cx="202174" cy="30632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690731" y="1931029"/>
            <a:ext cx="202174" cy="30633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8666226" y="1845259"/>
            <a:ext cx="263438" cy="12865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72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&lt;/&gt;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299448" y="1645920"/>
            <a:ext cx="2157984" cy="32004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数据生产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299448" y="2130552"/>
            <a:ext cx="2157984" cy="30175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复用需求、辅助设计、开发与验证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389620" y="2894076"/>
            <a:ext cx="3310128" cy="1124712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8366760" y="2862072"/>
            <a:ext cx="3310128" cy="11247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8555949" y="3489441"/>
            <a:ext cx="551383" cy="9802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641720" y="3115726"/>
            <a:ext cx="373715" cy="355335"/>
          </a:xfrm>
          <a:prstGeom prst="rect">
            <a:avLst/>
          </a:prstGeom>
          <a:solidFill>
            <a:srgbClr val="168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8641720" y="3422050"/>
            <a:ext cx="373715" cy="122529"/>
          </a:xfrm>
          <a:prstGeom prst="ellipse">
            <a:avLst/>
          </a:prstGeom>
          <a:solidFill>
            <a:srgbClr val="096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8641720" y="3054461"/>
            <a:ext cx="373715" cy="122529"/>
          </a:xfrm>
          <a:prstGeom prst="ellipse">
            <a:avLst/>
          </a:prstGeom>
          <a:solidFill>
            <a:srgbClr val="76D8FF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8641720" y="3195370"/>
            <a:ext cx="373715" cy="122529"/>
          </a:xfrm>
          <a:prstGeom prst="ellipse">
            <a:avLst/>
          </a:prstGeom>
          <a:solidFill>
            <a:srgbClr val="3AB2F8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8641720" y="3336279"/>
            <a:ext cx="373715" cy="122529"/>
          </a:xfrm>
          <a:prstGeom prst="ellipse">
            <a:avLst/>
          </a:prstGeom>
          <a:solidFill>
            <a:srgbClr val="3AB2F8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78478" y="3127979"/>
            <a:ext cx="24505" cy="324703"/>
          </a:xfrm>
          <a:prstGeom prst="rect">
            <a:avLst/>
          </a:prstGeom>
          <a:solidFill>
            <a:srgbClr val="76D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299448" y="3026664"/>
            <a:ext cx="2157984" cy="32004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数据运营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299448" y="3511296"/>
            <a:ext cx="2157984" cy="30175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发现资产、理解口径、组织异常证据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8389620" y="4274820"/>
            <a:ext cx="3310128" cy="1124712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8366760" y="4242816"/>
            <a:ext cx="3310128" cy="11247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8555949" y="4870185"/>
            <a:ext cx="551383" cy="9802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8562075" y="4784415"/>
            <a:ext cx="533004" cy="245181"/>
          </a:xfrm>
          <a:custGeom>
            <a:avLst/>
            <a:gdLst/>
            <a:ahLst/>
            <a:cxnLst/>
            <a:rect l="l" t="t" r="r" b="b"/>
            <a:pathLst>
              <a:path w="533004" h="245181">
                <a:moveTo>
                  <a:pt x="0" y="122590"/>
                </a:moveTo>
                <a:lnTo>
                  <a:pt x="266502" y="0"/>
                </a:lnTo>
                <a:lnTo>
                  <a:pt x="533004" y="122590"/>
                </a:lnTo>
                <a:lnTo>
                  <a:pt x="266502" y="245181"/>
                </a:lnTo>
                <a:close/>
              </a:path>
            </a:pathLst>
          </a:custGeom>
          <a:solidFill>
            <a:srgbClr val="B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8562075" y="4907005"/>
            <a:ext cx="266502" cy="147097"/>
          </a:xfrm>
          <a:custGeom>
            <a:avLst/>
            <a:gdLst/>
            <a:ahLst/>
            <a:cxnLst/>
            <a:rect l="l" t="t" r="r" b="b"/>
            <a:pathLst>
              <a:path w="266502" h="147097">
                <a:moveTo>
                  <a:pt x="0" y="0"/>
                </a:moveTo>
                <a:lnTo>
                  <a:pt x="266502" y="122591"/>
                </a:lnTo>
                <a:lnTo>
                  <a:pt x="266502" y="147097"/>
                </a:lnTo>
                <a:lnTo>
                  <a:pt x="0" y="24506"/>
                </a:lnTo>
                <a:close/>
              </a:path>
            </a:pathLst>
          </a:custGeom>
          <a:solidFill>
            <a:srgbClr val="7FC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8828577" y="4907005"/>
            <a:ext cx="266502" cy="147097"/>
          </a:xfrm>
          <a:custGeom>
            <a:avLst/>
            <a:gdLst/>
            <a:ahLst/>
            <a:cxnLst/>
            <a:rect l="l" t="t" r="r" b="b"/>
            <a:pathLst>
              <a:path w="266502" h="147097">
                <a:moveTo>
                  <a:pt x="0" y="122591"/>
                </a:moveTo>
                <a:lnTo>
                  <a:pt x="266502" y="0"/>
                </a:lnTo>
                <a:lnTo>
                  <a:pt x="266502" y="24506"/>
                </a:lnTo>
                <a:lnTo>
                  <a:pt x="0" y="147097"/>
                </a:lnTo>
                <a:close/>
              </a:path>
            </a:pathLst>
          </a:custGeom>
          <a:solidFill>
            <a:srgbClr val="5AA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8604961" y="4704770"/>
            <a:ext cx="116403" cy="49012"/>
          </a:xfrm>
          <a:custGeom>
            <a:avLst/>
            <a:gdLst/>
            <a:ahLst/>
            <a:cxnLst/>
            <a:rect l="l" t="t" r="r" b="b"/>
            <a:pathLst>
              <a:path w="116403" h="49012">
                <a:moveTo>
                  <a:pt x="0" y="24506"/>
                </a:moveTo>
                <a:lnTo>
                  <a:pt x="58201" y="0"/>
                </a:lnTo>
                <a:lnTo>
                  <a:pt x="116403" y="24506"/>
                </a:lnTo>
                <a:lnTo>
                  <a:pt x="58201" y="49012"/>
                </a:lnTo>
                <a:close/>
              </a:path>
            </a:pathLst>
          </a:custGeom>
          <a:solidFill>
            <a:srgbClr val="9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8604961" y="4729276"/>
            <a:ext cx="58201" cy="134783"/>
          </a:xfrm>
          <a:custGeom>
            <a:avLst/>
            <a:gdLst/>
            <a:ahLst/>
            <a:cxnLst/>
            <a:rect l="l" t="t" r="r" b="b"/>
            <a:pathLst>
              <a:path w="58201" h="134783">
                <a:moveTo>
                  <a:pt x="0" y="0"/>
                </a:moveTo>
                <a:lnTo>
                  <a:pt x="58201" y="24506"/>
                </a:lnTo>
                <a:lnTo>
                  <a:pt x="58201" y="134783"/>
                </a:lnTo>
                <a:lnTo>
                  <a:pt x="0" y="110277"/>
                </a:lnTo>
                <a:close/>
              </a:path>
            </a:pathLst>
          </a:custGeom>
          <a:solidFill>
            <a:srgbClr val="2AB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8663162" y="4729276"/>
            <a:ext cx="58202" cy="134783"/>
          </a:xfrm>
          <a:custGeom>
            <a:avLst/>
            <a:gdLst/>
            <a:ahLst/>
            <a:cxnLst/>
            <a:rect l="l" t="t" r="r" b="b"/>
            <a:pathLst>
              <a:path w="58202" h="134783">
                <a:moveTo>
                  <a:pt x="0" y="24506"/>
                </a:moveTo>
                <a:lnTo>
                  <a:pt x="58202" y="0"/>
                </a:lnTo>
                <a:lnTo>
                  <a:pt x="58202" y="110277"/>
                </a:lnTo>
                <a:lnTo>
                  <a:pt x="0" y="134783"/>
                </a:lnTo>
                <a:close/>
              </a:path>
            </a:pathLst>
          </a:custGeom>
          <a:solidFill>
            <a:srgbClr val="11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8751996" y="4588367"/>
            <a:ext cx="116403" cy="49012"/>
          </a:xfrm>
          <a:custGeom>
            <a:avLst/>
            <a:gdLst/>
            <a:ahLst/>
            <a:cxnLst/>
            <a:rect l="l" t="t" r="r" b="b"/>
            <a:pathLst>
              <a:path w="116403" h="49012">
                <a:moveTo>
                  <a:pt x="0" y="24506"/>
                </a:moveTo>
                <a:lnTo>
                  <a:pt x="58202" y="0"/>
                </a:lnTo>
                <a:lnTo>
                  <a:pt x="116403" y="24506"/>
                </a:lnTo>
                <a:lnTo>
                  <a:pt x="58202" y="49012"/>
                </a:lnTo>
                <a:close/>
              </a:path>
            </a:pathLst>
          </a:custGeom>
          <a:solidFill>
            <a:srgbClr val="9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8751996" y="4612873"/>
            <a:ext cx="58202" cy="251186"/>
          </a:xfrm>
          <a:custGeom>
            <a:avLst/>
            <a:gdLst/>
            <a:ahLst/>
            <a:cxnLst/>
            <a:rect l="l" t="t" r="r" b="b"/>
            <a:pathLst>
              <a:path w="58202" h="251186">
                <a:moveTo>
                  <a:pt x="0" y="0"/>
                </a:moveTo>
                <a:lnTo>
                  <a:pt x="58202" y="24506"/>
                </a:lnTo>
                <a:lnTo>
                  <a:pt x="58202" y="251186"/>
                </a:lnTo>
                <a:lnTo>
                  <a:pt x="0" y="226680"/>
                </a:lnTo>
                <a:close/>
              </a:path>
            </a:pathLst>
          </a:custGeom>
          <a:solidFill>
            <a:srgbClr val="2AB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8810198" y="4612873"/>
            <a:ext cx="58201" cy="251186"/>
          </a:xfrm>
          <a:custGeom>
            <a:avLst/>
            <a:gdLst/>
            <a:ahLst/>
            <a:cxnLst/>
            <a:rect l="l" t="t" r="r" b="b"/>
            <a:pathLst>
              <a:path w="58201" h="251186">
                <a:moveTo>
                  <a:pt x="0" y="24506"/>
                </a:moveTo>
                <a:lnTo>
                  <a:pt x="58201" y="0"/>
                </a:lnTo>
                <a:lnTo>
                  <a:pt x="58201" y="226680"/>
                </a:lnTo>
                <a:lnTo>
                  <a:pt x="0" y="251186"/>
                </a:lnTo>
                <a:close/>
              </a:path>
            </a:pathLst>
          </a:custGeom>
          <a:solidFill>
            <a:srgbClr val="11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8899032" y="4435205"/>
            <a:ext cx="116403" cy="49012"/>
          </a:xfrm>
          <a:custGeom>
            <a:avLst/>
            <a:gdLst/>
            <a:ahLst/>
            <a:cxnLst/>
            <a:rect l="l" t="t" r="r" b="b"/>
            <a:pathLst>
              <a:path w="116403" h="49012">
                <a:moveTo>
                  <a:pt x="0" y="24506"/>
                </a:moveTo>
                <a:lnTo>
                  <a:pt x="58201" y="0"/>
                </a:lnTo>
                <a:lnTo>
                  <a:pt x="116403" y="24506"/>
                </a:lnTo>
                <a:lnTo>
                  <a:pt x="58201" y="49012"/>
                </a:lnTo>
                <a:close/>
              </a:path>
            </a:pathLst>
          </a:custGeom>
          <a:solidFill>
            <a:srgbClr val="9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8899032" y="4459711"/>
            <a:ext cx="58201" cy="404348"/>
          </a:xfrm>
          <a:custGeom>
            <a:avLst/>
            <a:gdLst/>
            <a:ahLst/>
            <a:cxnLst/>
            <a:rect l="l" t="t" r="r" b="b"/>
            <a:pathLst>
              <a:path w="58201" h="404348">
                <a:moveTo>
                  <a:pt x="0" y="0"/>
                </a:moveTo>
                <a:lnTo>
                  <a:pt x="58201" y="24506"/>
                </a:lnTo>
                <a:lnTo>
                  <a:pt x="58201" y="404348"/>
                </a:lnTo>
                <a:lnTo>
                  <a:pt x="0" y="379842"/>
                </a:lnTo>
                <a:close/>
              </a:path>
            </a:pathLst>
          </a:custGeom>
          <a:solidFill>
            <a:srgbClr val="2AB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8957233" y="4459711"/>
            <a:ext cx="58202" cy="404348"/>
          </a:xfrm>
          <a:custGeom>
            <a:avLst/>
            <a:gdLst/>
            <a:ahLst/>
            <a:cxnLst/>
            <a:rect l="l" t="t" r="r" b="b"/>
            <a:pathLst>
              <a:path w="58202" h="404348">
                <a:moveTo>
                  <a:pt x="0" y="24506"/>
                </a:moveTo>
                <a:lnTo>
                  <a:pt x="58202" y="0"/>
                </a:lnTo>
                <a:lnTo>
                  <a:pt x="58202" y="379842"/>
                </a:lnTo>
                <a:lnTo>
                  <a:pt x="0" y="404348"/>
                </a:lnTo>
                <a:close/>
              </a:path>
            </a:pathLst>
          </a:custGeom>
          <a:solidFill>
            <a:srgbClr val="11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299448" y="4407407"/>
            <a:ext cx="2157984" cy="32004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数据分析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299448" y="4892040"/>
            <a:ext cx="2157984" cy="30175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受控计算、多维分析与业务解释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3401568" y="2039112"/>
            <a:ext cx="219456" cy="0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3621024" y="2039112"/>
            <a:ext cx="0" cy="1417320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3621024" y="3456432"/>
            <a:ext cx="347472" cy="0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H="1">
            <a:off x="3910029" y="3456432"/>
            <a:ext cx="58467" cy="35845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H="1" flipV="1">
            <a:off x="3910029" y="3420586"/>
            <a:ext cx="58467" cy="35846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6976872" y="3456432"/>
            <a:ext cx="804672" cy="0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7781544" y="2039112"/>
            <a:ext cx="0" cy="1417320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7781544" y="2039112"/>
            <a:ext cx="539496" cy="0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H="1">
            <a:off x="8262573" y="2039112"/>
            <a:ext cx="58467" cy="35845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 flipV="1">
            <a:off x="8262573" y="2003266"/>
            <a:ext cx="58467" cy="35846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3401568" y="3419856"/>
            <a:ext cx="219456" cy="0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3621024" y="3419856"/>
            <a:ext cx="0" cy="36576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3621024" y="3456432"/>
            <a:ext cx="347472" cy="0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H="1">
            <a:off x="3910029" y="3456432"/>
            <a:ext cx="58467" cy="35845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H="1" flipV="1">
            <a:off x="3910029" y="3420586"/>
            <a:ext cx="58467" cy="35846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6976872" y="3456432"/>
            <a:ext cx="804672" cy="0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7781544" y="3419856"/>
            <a:ext cx="0" cy="36576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7781544" y="3419856"/>
            <a:ext cx="539496" cy="0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>
            <a:off x="8262573" y="3419856"/>
            <a:ext cx="58467" cy="35845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H="1" flipV="1">
            <a:off x="8262573" y="3384010"/>
            <a:ext cx="58467" cy="35846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3401568" y="4800600"/>
            <a:ext cx="219456" cy="0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3621024" y="3456432"/>
            <a:ext cx="0" cy="1344168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3621024" y="3456432"/>
            <a:ext cx="347472" cy="0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H="1">
            <a:off x="3910029" y="3456432"/>
            <a:ext cx="58467" cy="35845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H="1" flipV="1">
            <a:off x="3910029" y="3420586"/>
            <a:ext cx="58467" cy="35846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6976872" y="3456432"/>
            <a:ext cx="804672" cy="0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7781544" y="3456432"/>
            <a:ext cx="0" cy="1344168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7781544" y="4800600"/>
            <a:ext cx="539496" cy="0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H="1">
            <a:off x="8262573" y="4800600"/>
            <a:ext cx="58467" cy="35845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H="1" flipV="1">
            <a:off x="8262573" y="4764754"/>
            <a:ext cx="58467" cy="35846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Rounded Rectangle 148"/>
          <p:cNvSpPr/>
          <p:nvPr/>
        </p:nvSpPr>
        <p:spPr>
          <a:xfrm>
            <a:off x="461772" y="6112764"/>
            <a:ext cx="11247120" cy="33832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438912" y="6080760"/>
            <a:ext cx="11247120" cy="338328"/>
          </a:xfrm>
          <a:prstGeom prst="roundRect">
            <a:avLst>
              <a:gd name="adj" fmla="val 5500"/>
            </a:avLst>
          </a:prstGeom>
          <a:solidFill>
            <a:srgbClr val="EEF7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585216" y="6117336"/>
            <a:ext cx="10954512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当前以资产智能体切入；企业内容、平台连接与专业场景逐步扩展，原平台保留权威与执行职责。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6346471"/>
            <a:ext cx="12191695" cy="235953"/>
          </a:xfrm>
          <a:custGeom>
            <a:avLst/>
            <a:gdLst/>
            <a:ahLst/>
            <a:cxnLst/>
            <a:rect l="l" t="t" r="r" b="b"/>
            <a:pathLst>
              <a:path w="12191695" h="235953">
                <a:moveTo>
                  <a:pt x="0" y="127481"/>
                </a:moveTo>
                <a:lnTo>
                  <a:pt x="135463" y="147046"/>
                </a:lnTo>
                <a:lnTo>
                  <a:pt x="270926" y="165914"/>
                </a:lnTo>
                <a:lnTo>
                  <a:pt x="406389" y="183426"/>
                </a:lnTo>
                <a:lnTo>
                  <a:pt x="541853" y="199000"/>
                </a:lnTo>
                <a:lnTo>
                  <a:pt x="677316" y="212159"/>
                </a:lnTo>
                <a:lnTo>
                  <a:pt x="812779" y="222557"/>
                </a:lnTo>
                <a:lnTo>
                  <a:pt x="948242" y="229995"/>
                </a:lnTo>
                <a:lnTo>
                  <a:pt x="1083706" y="234426"/>
                </a:lnTo>
                <a:lnTo>
                  <a:pt x="1219169" y="235953"/>
                </a:lnTo>
                <a:lnTo>
                  <a:pt x="1354632" y="234812"/>
                </a:lnTo>
                <a:lnTo>
                  <a:pt x="1490096" y="231352"/>
                </a:lnTo>
                <a:lnTo>
                  <a:pt x="1625559" y="226009"/>
                </a:lnTo>
                <a:lnTo>
                  <a:pt x="1761022" y="219267"/>
                </a:lnTo>
                <a:lnTo>
                  <a:pt x="1896485" y="211626"/>
                </a:lnTo>
                <a:lnTo>
                  <a:pt x="2031949" y="203564"/>
                </a:lnTo>
                <a:lnTo>
                  <a:pt x="2167412" y="195508"/>
                </a:lnTo>
                <a:lnTo>
                  <a:pt x="2302875" y="187800"/>
                </a:lnTo>
                <a:lnTo>
                  <a:pt x="2438339" y="180682"/>
                </a:lnTo>
                <a:lnTo>
                  <a:pt x="2573802" y="174280"/>
                </a:lnTo>
                <a:lnTo>
                  <a:pt x="2709265" y="168601"/>
                </a:lnTo>
                <a:lnTo>
                  <a:pt x="2844728" y="163541"/>
                </a:lnTo>
                <a:lnTo>
                  <a:pt x="2980192" y="158900"/>
                </a:lnTo>
                <a:lnTo>
                  <a:pt x="3115655" y="154402"/>
                </a:lnTo>
                <a:lnTo>
                  <a:pt x="3251118" y="149724"/>
                </a:lnTo>
                <a:lnTo>
                  <a:pt x="3386582" y="144534"/>
                </a:lnTo>
                <a:lnTo>
                  <a:pt x="3522045" y="138515"/>
                </a:lnTo>
                <a:lnTo>
                  <a:pt x="3657508" y="131408"/>
                </a:lnTo>
                <a:lnTo>
                  <a:pt x="3792971" y="123031"/>
                </a:lnTo>
                <a:lnTo>
                  <a:pt x="3928435" y="113309"/>
                </a:lnTo>
                <a:lnTo>
                  <a:pt x="4063898" y="102287"/>
                </a:lnTo>
                <a:lnTo>
                  <a:pt x="4199361" y="90138"/>
                </a:lnTo>
                <a:lnTo>
                  <a:pt x="4334824" y="77155"/>
                </a:lnTo>
                <a:lnTo>
                  <a:pt x="4470288" y="63745"/>
                </a:lnTo>
                <a:lnTo>
                  <a:pt x="4605751" y="50406"/>
                </a:lnTo>
                <a:lnTo>
                  <a:pt x="4741214" y="37696"/>
                </a:lnTo>
                <a:lnTo>
                  <a:pt x="4876678" y="26202"/>
                </a:lnTo>
                <a:lnTo>
                  <a:pt x="5012141" y="16503"/>
                </a:lnTo>
                <a:lnTo>
                  <a:pt x="5147604" y="9131"/>
                </a:lnTo>
                <a:lnTo>
                  <a:pt x="5283067" y="4538"/>
                </a:lnTo>
                <a:lnTo>
                  <a:pt x="5418531" y="3064"/>
                </a:lnTo>
                <a:lnTo>
                  <a:pt x="5553994" y="4912"/>
                </a:lnTo>
                <a:lnTo>
                  <a:pt x="5689457" y="10132"/>
                </a:lnTo>
                <a:lnTo>
                  <a:pt x="5824921" y="18617"/>
                </a:lnTo>
                <a:lnTo>
                  <a:pt x="5960384" y="30106"/>
                </a:lnTo>
                <a:lnTo>
                  <a:pt x="6095847" y="44193"/>
                </a:lnTo>
                <a:lnTo>
                  <a:pt x="6231310" y="60357"/>
                </a:lnTo>
                <a:lnTo>
                  <a:pt x="6366774" y="77984"/>
                </a:lnTo>
                <a:lnTo>
                  <a:pt x="6502237" y="96410"/>
                </a:lnTo>
                <a:lnTo>
                  <a:pt x="6637700" y="114953"/>
                </a:lnTo>
                <a:lnTo>
                  <a:pt x="6773164" y="132954"/>
                </a:lnTo>
                <a:lnTo>
                  <a:pt x="6908627" y="149814"/>
                </a:lnTo>
                <a:lnTo>
                  <a:pt x="7044090" y="165027"/>
                </a:lnTo>
                <a:lnTo>
                  <a:pt x="7179553" y="178204"/>
                </a:lnTo>
                <a:lnTo>
                  <a:pt x="7315017" y="189090"/>
                </a:lnTo>
                <a:lnTo>
                  <a:pt x="7450480" y="197574"/>
                </a:lnTo>
                <a:lnTo>
                  <a:pt x="7585943" y="203682"/>
                </a:lnTo>
                <a:lnTo>
                  <a:pt x="7721406" y="207573"/>
                </a:lnTo>
                <a:lnTo>
                  <a:pt x="7856870" y="209512"/>
                </a:lnTo>
                <a:lnTo>
                  <a:pt x="7992333" y="209848"/>
                </a:lnTo>
                <a:lnTo>
                  <a:pt x="8127796" y="208978"/>
                </a:lnTo>
                <a:lnTo>
                  <a:pt x="8263260" y="207316"/>
                </a:lnTo>
                <a:lnTo>
                  <a:pt x="8398723" y="205256"/>
                </a:lnTo>
                <a:lnTo>
                  <a:pt x="8534186" y="203141"/>
                </a:lnTo>
                <a:lnTo>
                  <a:pt x="8669649" y="201238"/>
                </a:lnTo>
                <a:lnTo>
                  <a:pt x="8805113" y="199711"/>
                </a:lnTo>
                <a:lnTo>
                  <a:pt x="8940576" y="198616"/>
                </a:lnTo>
                <a:lnTo>
                  <a:pt x="9076039" y="197894"/>
                </a:lnTo>
                <a:lnTo>
                  <a:pt x="9211503" y="197378"/>
                </a:lnTo>
                <a:lnTo>
                  <a:pt x="9346966" y="196808"/>
                </a:lnTo>
                <a:lnTo>
                  <a:pt x="9482429" y="195855"/>
                </a:lnTo>
                <a:lnTo>
                  <a:pt x="9617892" y="194147"/>
                </a:lnTo>
                <a:lnTo>
                  <a:pt x="9753356" y="191305"/>
                </a:lnTo>
                <a:lnTo>
                  <a:pt x="9888819" y="186977"/>
                </a:lnTo>
                <a:lnTo>
                  <a:pt x="10024282" y="180869"/>
                </a:lnTo>
                <a:lnTo>
                  <a:pt x="10159746" y="172776"/>
                </a:lnTo>
                <a:lnTo>
                  <a:pt x="10295209" y="162608"/>
                </a:lnTo>
                <a:lnTo>
                  <a:pt x="10430672" y="150402"/>
                </a:lnTo>
                <a:lnTo>
                  <a:pt x="10566135" y="136335"/>
                </a:lnTo>
                <a:lnTo>
                  <a:pt x="10701599" y="120717"/>
                </a:lnTo>
                <a:lnTo>
                  <a:pt x="10837062" y="103984"/>
                </a:lnTo>
                <a:lnTo>
                  <a:pt x="10972525" y="86673"/>
                </a:lnTo>
                <a:lnTo>
                  <a:pt x="11107988" y="69396"/>
                </a:lnTo>
                <a:lnTo>
                  <a:pt x="11243452" y="52806"/>
                </a:lnTo>
                <a:lnTo>
                  <a:pt x="11378915" y="37558"/>
                </a:lnTo>
                <a:lnTo>
                  <a:pt x="11514378" y="24274"/>
                </a:lnTo>
                <a:lnTo>
                  <a:pt x="11649842" y="13501"/>
                </a:lnTo>
                <a:lnTo>
                  <a:pt x="11785305" y="5683"/>
                </a:lnTo>
                <a:lnTo>
                  <a:pt x="11920768" y="1129"/>
                </a:lnTo>
                <a:lnTo>
                  <a:pt x="12056231" y="0"/>
                </a:lnTo>
                <a:lnTo>
                  <a:pt x="12191695" y="2300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6405649"/>
            <a:ext cx="12191695" cy="245182"/>
          </a:xfrm>
          <a:custGeom>
            <a:avLst/>
            <a:gdLst/>
            <a:ahLst/>
            <a:cxnLst/>
            <a:rect l="l" t="t" r="r" b="b"/>
            <a:pathLst>
              <a:path w="12191695" h="245182">
                <a:moveTo>
                  <a:pt x="0" y="150669"/>
                </a:moveTo>
                <a:lnTo>
                  <a:pt x="135463" y="169737"/>
                </a:lnTo>
                <a:lnTo>
                  <a:pt x="270926" y="187768"/>
                </a:lnTo>
                <a:lnTo>
                  <a:pt x="406389" y="204118"/>
                </a:lnTo>
                <a:lnTo>
                  <a:pt x="541853" y="218220"/>
                </a:lnTo>
                <a:lnTo>
                  <a:pt x="677316" y="229621"/>
                </a:lnTo>
                <a:lnTo>
                  <a:pt x="812779" y="238002"/>
                </a:lnTo>
                <a:lnTo>
                  <a:pt x="948242" y="243193"/>
                </a:lnTo>
                <a:lnTo>
                  <a:pt x="1083706" y="245182"/>
                </a:lnTo>
                <a:lnTo>
                  <a:pt x="1219169" y="244108"/>
                </a:lnTo>
                <a:lnTo>
                  <a:pt x="1354632" y="240247"/>
                </a:lnTo>
                <a:lnTo>
                  <a:pt x="1490096" y="233989"/>
                </a:lnTo>
                <a:lnTo>
                  <a:pt x="1625559" y="225812"/>
                </a:lnTo>
                <a:lnTo>
                  <a:pt x="1761022" y="216243"/>
                </a:lnTo>
                <a:lnTo>
                  <a:pt x="1896485" y="205824"/>
                </a:lnTo>
                <a:lnTo>
                  <a:pt x="2031949" y="195076"/>
                </a:lnTo>
                <a:lnTo>
                  <a:pt x="2167412" y="184466"/>
                </a:lnTo>
                <a:lnTo>
                  <a:pt x="2302875" y="174375"/>
                </a:lnTo>
                <a:lnTo>
                  <a:pt x="2438339" y="165080"/>
                </a:lnTo>
                <a:lnTo>
                  <a:pt x="2573802" y="156740"/>
                </a:lnTo>
                <a:lnTo>
                  <a:pt x="2709265" y="149392"/>
                </a:lnTo>
                <a:lnTo>
                  <a:pt x="2844728" y="142958"/>
                </a:lnTo>
                <a:lnTo>
                  <a:pt x="2980192" y="137257"/>
                </a:lnTo>
                <a:lnTo>
                  <a:pt x="3115655" y="132030"/>
                </a:lnTo>
                <a:lnTo>
                  <a:pt x="3251118" y="126965"/>
                </a:lnTo>
                <a:lnTo>
                  <a:pt x="3386582" y="121734"/>
                </a:lnTo>
                <a:lnTo>
                  <a:pt x="3522045" y="116024"/>
                </a:lnTo>
                <a:lnTo>
                  <a:pt x="3657508" y="109568"/>
                </a:lnTo>
                <a:lnTo>
                  <a:pt x="3792971" y="102177"/>
                </a:lnTo>
                <a:lnTo>
                  <a:pt x="3928435" y="93759"/>
                </a:lnTo>
                <a:lnTo>
                  <a:pt x="4063898" y="84341"/>
                </a:lnTo>
                <a:lnTo>
                  <a:pt x="4199361" y="74069"/>
                </a:lnTo>
                <a:lnTo>
                  <a:pt x="4334824" y="63211"/>
                </a:lnTo>
                <a:lnTo>
                  <a:pt x="4470288" y="52141"/>
                </a:lnTo>
                <a:lnTo>
                  <a:pt x="4605751" y="41320"/>
                </a:lnTo>
                <a:lnTo>
                  <a:pt x="4741214" y="31269"/>
                </a:lnTo>
                <a:lnTo>
                  <a:pt x="4876678" y="22536"/>
                </a:lnTo>
                <a:lnTo>
                  <a:pt x="5012141" y="15656"/>
                </a:lnTo>
                <a:lnTo>
                  <a:pt x="5147604" y="11120"/>
                </a:lnTo>
                <a:lnTo>
                  <a:pt x="5283067" y="9338"/>
                </a:lnTo>
                <a:lnTo>
                  <a:pt x="5418531" y="10605"/>
                </a:lnTo>
                <a:lnTo>
                  <a:pt x="5553994" y="15085"/>
                </a:lnTo>
                <a:lnTo>
                  <a:pt x="5689457" y="22787"/>
                </a:lnTo>
                <a:lnTo>
                  <a:pt x="5824921" y="33567"/>
                </a:lnTo>
                <a:lnTo>
                  <a:pt x="5960384" y="47128"/>
                </a:lnTo>
                <a:lnTo>
                  <a:pt x="6095847" y="63035"/>
                </a:lnTo>
                <a:lnTo>
                  <a:pt x="6231310" y="80738"/>
                </a:lnTo>
                <a:lnTo>
                  <a:pt x="6366774" y="99601"/>
                </a:lnTo>
                <a:lnTo>
                  <a:pt x="6502237" y="118939"/>
                </a:lnTo>
                <a:lnTo>
                  <a:pt x="6637700" y="138058"/>
                </a:lnTo>
                <a:lnTo>
                  <a:pt x="6773164" y="156290"/>
                </a:lnTo>
                <a:lnTo>
                  <a:pt x="6908627" y="173034"/>
                </a:lnTo>
                <a:lnTo>
                  <a:pt x="7044090" y="187783"/>
                </a:lnTo>
                <a:lnTo>
                  <a:pt x="7179553" y="200156"/>
                </a:lnTo>
                <a:lnTo>
                  <a:pt x="7315017" y="209912"/>
                </a:lnTo>
                <a:lnTo>
                  <a:pt x="7450480" y="216953"/>
                </a:lnTo>
                <a:lnTo>
                  <a:pt x="7585943" y="221331"/>
                </a:lnTo>
                <a:lnTo>
                  <a:pt x="7721406" y="223229"/>
                </a:lnTo>
                <a:lnTo>
                  <a:pt x="7856870" y="222943"/>
                </a:lnTo>
                <a:lnTo>
                  <a:pt x="7992333" y="220854"/>
                </a:lnTo>
                <a:lnTo>
                  <a:pt x="8127796" y="217398"/>
                </a:lnTo>
                <a:lnTo>
                  <a:pt x="8263260" y="213025"/>
                </a:lnTo>
                <a:lnTo>
                  <a:pt x="8398723" y="208173"/>
                </a:lnTo>
                <a:lnTo>
                  <a:pt x="8534186" y="203226"/>
                </a:lnTo>
                <a:lnTo>
                  <a:pt x="8669649" y="198493"/>
                </a:lnTo>
                <a:lnTo>
                  <a:pt x="8805113" y="194182"/>
                </a:lnTo>
                <a:lnTo>
                  <a:pt x="8940576" y="190390"/>
                </a:lnTo>
                <a:lnTo>
                  <a:pt x="9076039" y="187099"/>
                </a:lnTo>
                <a:lnTo>
                  <a:pt x="9211503" y="184181"/>
                </a:lnTo>
                <a:lnTo>
                  <a:pt x="9346966" y="181412"/>
                </a:lnTo>
                <a:lnTo>
                  <a:pt x="9482429" y="178496"/>
                </a:lnTo>
                <a:lnTo>
                  <a:pt x="9617892" y="175092"/>
                </a:lnTo>
                <a:lnTo>
                  <a:pt x="9753356" y="170845"/>
                </a:lnTo>
                <a:lnTo>
                  <a:pt x="9888819" y="165425"/>
                </a:lnTo>
                <a:lnTo>
                  <a:pt x="10024282" y="158555"/>
                </a:lnTo>
                <a:lnTo>
                  <a:pt x="10159746" y="150040"/>
                </a:lnTo>
                <a:lnTo>
                  <a:pt x="10295209" y="139797"/>
                </a:lnTo>
                <a:lnTo>
                  <a:pt x="10430672" y="127865"/>
                </a:lnTo>
                <a:lnTo>
                  <a:pt x="10566135" y="114415"/>
                </a:lnTo>
                <a:lnTo>
                  <a:pt x="10701599" y="99751"/>
                </a:lnTo>
                <a:lnTo>
                  <a:pt x="10837062" y="84291"/>
                </a:lnTo>
                <a:lnTo>
                  <a:pt x="10972525" y="68554"/>
                </a:lnTo>
                <a:lnTo>
                  <a:pt x="11107988" y="53129"/>
                </a:lnTo>
                <a:lnTo>
                  <a:pt x="11243452" y="38641"/>
                </a:lnTo>
                <a:lnTo>
                  <a:pt x="11378915" y="25713"/>
                </a:lnTo>
                <a:lnTo>
                  <a:pt x="11514378" y="14931"/>
                </a:lnTo>
                <a:lnTo>
                  <a:pt x="11649842" y="6805"/>
                </a:lnTo>
                <a:lnTo>
                  <a:pt x="11785305" y="1738"/>
                </a:lnTo>
                <a:lnTo>
                  <a:pt x="11920768" y="0"/>
                </a:lnTo>
                <a:lnTo>
                  <a:pt x="12056231" y="1708"/>
                </a:lnTo>
                <a:lnTo>
                  <a:pt x="12191695" y="6822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6467906"/>
            <a:ext cx="12191695" cy="248613"/>
          </a:xfrm>
          <a:custGeom>
            <a:avLst/>
            <a:gdLst/>
            <a:ahLst/>
            <a:cxnLst/>
            <a:rect l="l" t="t" r="r" b="b"/>
            <a:pathLst>
              <a:path w="12191695" h="248613">
                <a:moveTo>
                  <a:pt x="0" y="169572"/>
                </a:moveTo>
                <a:lnTo>
                  <a:pt x="135463" y="187517"/>
                </a:lnTo>
                <a:lnTo>
                  <a:pt x="270926" y="204116"/>
                </a:lnTo>
                <a:lnTo>
                  <a:pt x="406389" y="218744"/>
                </a:lnTo>
                <a:lnTo>
                  <a:pt x="541853" y="230861"/>
                </a:lnTo>
                <a:lnTo>
                  <a:pt x="677316" y="240043"/>
                </a:lnTo>
                <a:lnTo>
                  <a:pt x="812779" y="246004"/>
                </a:lnTo>
                <a:lnTo>
                  <a:pt x="948242" y="248613"/>
                </a:lnTo>
                <a:lnTo>
                  <a:pt x="1083706" y="247896"/>
                </a:lnTo>
                <a:lnTo>
                  <a:pt x="1219169" y="244031"/>
                </a:lnTo>
                <a:lnTo>
                  <a:pt x="1354632" y="237338"/>
                </a:lnTo>
                <a:lnTo>
                  <a:pt x="1490096" y="228250"/>
                </a:lnTo>
                <a:lnTo>
                  <a:pt x="1625559" y="217286"/>
                </a:lnTo>
                <a:lnTo>
                  <a:pt x="1761022" y="205017"/>
                </a:lnTo>
                <a:lnTo>
                  <a:pt x="1896485" y="192024"/>
                </a:lnTo>
                <a:lnTo>
                  <a:pt x="2031949" y="178869"/>
                </a:lnTo>
                <a:lnTo>
                  <a:pt x="2167412" y="166053"/>
                </a:lnTo>
                <a:lnTo>
                  <a:pt x="2302875" y="153992"/>
                </a:lnTo>
                <a:lnTo>
                  <a:pt x="2438339" y="142992"/>
                </a:lnTo>
                <a:lnTo>
                  <a:pt x="2573802" y="133239"/>
                </a:lnTo>
                <a:lnTo>
                  <a:pt x="2709265" y="124790"/>
                </a:lnTo>
                <a:lnTo>
                  <a:pt x="2844728" y="117583"/>
                </a:lnTo>
                <a:lnTo>
                  <a:pt x="2980192" y="111449"/>
                </a:lnTo>
                <a:lnTo>
                  <a:pt x="3115655" y="106137"/>
                </a:lnTo>
                <a:lnTo>
                  <a:pt x="3251118" y="101335"/>
                </a:lnTo>
                <a:lnTo>
                  <a:pt x="3386582" y="96713"/>
                </a:lnTo>
                <a:lnTo>
                  <a:pt x="3522045" y="91945"/>
                </a:lnTo>
                <a:lnTo>
                  <a:pt x="3657508" y="86753"/>
                </a:lnTo>
                <a:lnTo>
                  <a:pt x="3792971" y="80928"/>
                </a:lnTo>
                <a:lnTo>
                  <a:pt x="3928435" y="74354"/>
                </a:lnTo>
                <a:lnTo>
                  <a:pt x="4063898" y="67031"/>
                </a:lnTo>
                <a:lnTo>
                  <a:pt x="4199361" y="59072"/>
                </a:lnTo>
                <a:lnTo>
                  <a:pt x="4334824" y="50711"/>
                </a:lnTo>
                <a:lnTo>
                  <a:pt x="4470288" y="42285"/>
                </a:lnTo>
                <a:lnTo>
                  <a:pt x="4605751" y="34213"/>
                </a:lnTo>
                <a:lnTo>
                  <a:pt x="4741214" y="26977"/>
                </a:lnTo>
                <a:lnTo>
                  <a:pt x="4876678" y="21080"/>
                </a:lnTo>
                <a:lnTo>
                  <a:pt x="5012141" y="17016"/>
                </a:lnTo>
                <a:lnTo>
                  <a:pt x="5147604" y="15233"/>
                </a:lnTo>
                <a:lnTo>
                  <a:pt x="5283067" y="16099"/>
                </a:lnTo>
                <a:lnTo>
                  <a:pt x="5418531" y="19870"/>
                </a:lnTo>
                <a:lnTo>
                  <a:pt x="5553994" y="26670"/>
                </a:lnTo>
                <a:lnTo>
                  <a:pt x="5689457" y="36475"/>
                </a:lnTo>
                <a:lnTo>
                  <a:pt x="5824921" y="49109"/>
                </a:lnTo>
                <a:lnTo>
                  <a:pt x="5960384" y="64247"/>
                </a:lnTo>
                <a:lnTo>
                  <a:pt x="6095847" y="81430"/>
                </a:lnTo>
                <a:lnTo>
                  <a:pt x="6231310" y="100088"/>
                </a:lnTo>
                <a:lnTo>
                  <a:pt x="6366774" y="119571"/>
                </a:lnTo>
                <a:lnTo>
                  <a:pt x="6502237" y="139187"/>
                </a:lnTo>
                <a:lnTo>
                  <a:pt x="6637700" y="158234"/>
                </a:lnTo>
                <a:lnTo>
                  <a:pt x="6773164" y="176047"/>
                </a:lnTo>
                <a:lnTo>
                  <a:pt x="6908627" y="192030"/>
                </a:lnTo>
                <a:lnTo>
                  <a:pt x="7044090" y="205690"/>
                </a:lnTo>
                <a:lnTo>
                  <a:pt x="7179553" y="216660"/>
                </a:lnTo>
                <a:lnTo>
                  <a:pt x="7315017" y="224721"/>
                </a:lnTo>
                <a:lnTo>
                  <a:pt x="7450480" y="229802"/>
                </a:lnTo>
                <a:lnTo>
                  <a:pt x="7585943" y="231983"/>
                </a:lnTo>
                <a:lnTo>
                  <a:pt x="7721406" y="231480"/>
                </a:lnTo>
                <a:lnTo>
                  <a:pt x="7856870" y="228626"/>
                </a:lnTo>
                <a:lnTo>
                  <a:pt x="7992333" y="223841"/>
                </a:lnTo>
                <a:lnTo>
                  <a:pt x="8127796" y="217601"/>
                </a:lnTo>
                <a:lnTo>
                  <a:pt x="8263260" y="210399"/>
                </a:lnTo>
                <a:lnTo>
                  <a:pt x="8398723" y="202714"/>
                </a:lnTo>
                <a:lnTo>
                  <a:pt x="8534186" y="194975"/>
                </a:lnTo>
                <a:lnTo>
                  <a:pt x="8669649" y="187531"/>
                </a:lnTo>
                <a:lnTo>
                  <a:pt x="8805113" y="180631"/>
                </a:lnTo>
                <a:lnTo>
                  <a:pt x="8940576" y="174414"/>
                </a:lnTo>
                <a:lnTo>
                  <a:pt x="9076039" y="168896"/>
                </a:lnTo>
                <a:lnTo>
                  <a:pt x="9211503" y="163983"/>
                </a:lnTo>
                <a:lnTo>
                  <a:pt x="9346966" y="159481"/>
                </a:lnTo>
                <a:lnTo>
                  <a:pt x="9482429" y="155122"/>
                </a:lnTo>
                <a:lnTo>
                  <a:pt x="9617892" y="150584"/>
                </a:lnTo>
                <a:lnTo>
                  <a:pt x="9753356" y="145531"/>
                </a:lnTo>
                <a:lnTo>
                  <a:pt x="9888819" y="139645"/>
                </a:lnTo>
                <a:lnTo>
                  <a:pt x="10024282" y="132654"/>
                </a:lnTo>
                <a:lnTo>
                  <a:pt x="10159746" y="124369"/>
                </a:lnTo>
                <a:lnTo>
                  <a:pt x="10295209" y="114699"/>
                </a:lnTo>
                <a:lnTo>
                  <a:pt x="10430672" y="103677"/>
                </a:lnTo>
                <a:lnTo>
                  <a:pt x="10566135" y="91461"/>
                </a:lnTo>
                <a:lnTo>
                  <a:pt x="10701599" y="78333"/>
                </a:lnTo>
                <a:lnTo>
                  <a:pt x="10837062" y="64691"/>
                </a:lnTo>
                <a:lnTo>
                  <a:pt x="10972525" y="51025"/>
                </a:lnTo>
                <a:lnTo>
                  <a:pt x="11107988" y="37893"/>
                </a:lnTo>
                <a:lnTo>
                  <a:pt x="11243452" y="25885"/>
                </a:lnTo>
                <a:lnTo>
                  <a:pt x="11378915" y="15588"/>
                </a:lnTo>
                <a:lnTo>
                  <a:pt x="11514378" y="7547"/>
                </a:lnTo>
                <a:lnTo>
                  <a:pt x="11649842" y="2231"/>
                </a:lnTo>
                <a:lnTo>
                  <a:pt x="11785305" y="0"/>
                </a:lnTo>
                <a:lnTo>
                  <a:pt x="11920768" y="1082"/>
                </a:lnTo>
                <a:lnTo>
                  <a:pt x="12056231" y="5551"/>
                </a:lnTo>
                <a:lnTo>
                  <a:pt x="12191695" y="13326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0" y="6533113"/>
            <a:ext cx="12191695" cy="246124"/>
          </a:xfrm>
          <a:custGeom>
            <a:avLst/>
            <a:gdLst/>
            <a:ahLst/>
            <a:cxnLst/>
            <a:rect l="l" t="t" r="r" b="b"/>
            <a:pathLst>
              <a:path w="12191695" h="246124">
                <a:moveTo>
                  <a:pt x="0" y="183172"/>
                </a:moveTo>
                <a:lnTo>
                  <a:pt x="135463" y="199432"/>
                </a:lnTo>
                <a:lnTo>
                  <a:pt x="270926" y="214077"/>
                </a:lnTo>
                <a:lnTo>
                  <a:pt x="406389" y="226514"/>
                </a:lnTo>
                <a:lnTo>
                  <a:pt x="541853" y="236236"/>
                </a:lnTo>
                <a:lnTo>
                  <a:pt x="677316" y="242855"/>
                </a:lnTo>
                <a:lnTo>
                  <a:pt x="812779" y="246124"/>
                </a:lnTo>
                <a:lnTo>
                  <a:pt x="948242" y="245951"/>
                </a:lnTo>
                <a:lnTo>
                  <a:pt x="1083706" y="242404"/>
                </a:lnTo>
                <a:lnTo>
                  <a:pt x="1219169" y="235707"/>
                </a:lnTo>
                <a:lnTo>
                  <a:pt x="1354632" y="226219"/>
                </a:lnTo>
                <a:lnTo>
                  <a:pt x="1490096" y="214417"/>
                </a:lnTo>
                <a:lnTo>
                  <a:pt x="1625559" y="200862"/>
                </a:lnTo>
                <a:lnTo>
                  <a:pt x="1761022" y="186161"/>
                </a:lnTo>
                <a:lnTo>
                  <a:pt x="1896485" y="170935"/>
                </a:lnTo>
                <a:lnTo>
                  <a:pt x="2031949" y="155777"/>
                </a:lnTo>
                <a:lnTo>
                  <a:pt x="2167412" y="141221"/>
                </a:lnTo>
                <a:lnTo>
                  <a:pt x="2302875" y="127707"/>
                </a:lnTo>
                <a:lnTo>
                  <a:pt x="2438339" y="115564"/>
                </a:lnTo>
                <a:lnTo>
                  <a:pt x="2573802" y="104994"/>
                </a:lnTo>
                <a:lnTo>
                  <a:pt x="2709265" y="96068"/>
                </a:lnTo>
                <a:lnTo>
                  <a:pt x="2844728" y="88731"/>
                </a:lnTo>
                <a:lnTo>
                  <a:pt x="2980192" y="82816"/>
                </a:lnTo>
                <a:lnTo>
                  <a:pt x="3115655" y="78067"/>
                </a:lnTo>
                <a:lnTo>
                  <a:pt x="3251118" y="74166"/>
                </a:lnTo>
                <a:lnTo>
                  <a:pt x="3386582" y="70766"/>
                </a:lnTo>
                <a:lnTo>
                  <a:pt x="3522045" y="67527"/>
                </a:lnTo>
                <a:lnTo>
                  <a:pt x="3657508" y="64145"/>
                </a:lnTo>
                <a:lnTo>
                  <a:pt x="3792971" y="60383"/>
                </a:lnTo>
                <a:lnTo>
                  <a:pt x="3928435" y="56096"/>
                </a:lnTo>
                <a:lnTo>
                  <a:pt x="4063898" y="51248"/>
                </a:lnTo>
                <a:lnTo>
                  <a:pt x="4199361" y="45917"/>
                </a:lnTo>
                <a:lnTo>
                  <a:pt x="4334824" y="40294"/>
                </a:lnTo>
                <a:lnTo>
                  <a:pt x="4470288" y="34675"/>
                </a:lnTo>
                <a:lnTo>
                  <a:pt x="4605751" y="29440"/>
                </a:lnTo>
                <a:lnTo>
                  <a:pt x="4741214" y="25025"/>
                </a:lnTo>
                <a:lnTo>
                  <a:pt x="4876678" y="21891"/>
                </a:lnTo>
                <a:lnTo>
                  <a:pt x="5012141" y="20491"/>
                </a:lnTo>
                <a:lnTo>
                  <a:pt x="5147604" y="21233"/>
                </a:lnTo>
                <a:lnTo>
                  <a:pt x="5283067" y="24445"/>
                </a:lnTo>
                <a:lnTo>
                  <a:pt x="5418531" y="30349"/>
                </a:lnTo>
                <a:lnTo>
                  <a:pt x="5553994" y="39037"/>
                </a:lnTo>
                <a:lnTo>
                  <a:pt x="5689457" y="50457"/>
                </a:lnTo>
                <a:lnTo>
                  <a:pt x="5824921" y="64407"/>
                </a:lnTo>
                <a:lnTo>
                  <a:pt x="5960384" y="80543"/>
                </a:lnTo>
                <a:lnTo>
                  <a:pt x="6095847" y="98390"/>
                </a:lnTo>
                <a:lnTo>
                  <a:pt x="6231310" y="117369"/>
                </a:lnTo>
                <a:lnTo>
                  <a:pt x="6366774" y="136826"/>
                </a:lnTo>
                <a:lnTo>
                  <a:pt x="6502237" y="156066"/>
                </a:lnTo>
                <a:lnTo>
                  <a:pt x="6637700" y="174397"/>
                </a:lnTo>
                <a:lnTo>
                  <a:pt x="6773164" y="191162"/>
                </a:lnTo>
                <a:lnTo>
                  <a:pt x="6908627" y="205782"/>
                </a:lnTo>
                <a:lnTo>
                  <a:pt x="7044090" y="217784"/>
                </a:lnTo>
                <a:lnTo>
                  <a:pt x="7179553" y="226827"/>
                </a:lnTo>
                <a:lnTo>
                  <a:pt x="7315017" y="232720"/>
                </a:lnTo>
                <a:lnTo>
                  <a:pt x="7450480" y="235424"/>
                </a:lnTo>
                <a:lnTo>
                  <a:pt x="7585943" y="235057"/>
                </a:lnTo>
                <a:lnTo>
                  <a:pt x="7721406" y="231872"/>
                </a:lnTo>
                <a:lnTo>
                  <a:pt x="7856870" y="226244"/>
                </a:lnTo>
                <a:lnTo>
                  <a:pt x="7992333" y="218632"/>
                </a:lnTo>
                <a:lnTo>
                  <a:pt x="8127796" y="209557"/>
                </a:lnTo>
                <a:lnTo>
                  <a:pt x="8263260" y="199555"/>
                </a:lnTo>
                <a:lnTo>
                  <a:pt x="8398723" y="189147"/>
                </a:lnTo>
                <a:lnTo>
                  <a:pt x="8534186" y="178801"/>
                </a:lnTo>
                <a:lnTo>
                  <a:pt x="8669649" y="168908"/>
                </a:lnTo>
                <a:lnTo>
                  <a:pt x="8805113" y="159754"/>
                </a:lnTo>
                <a:lnTo>
                  <a:pt x="8940576" y="151510"/>
                </a:lnTo>
                <a:lnTo>
                  <a:pt x="9076039" y="144224"/>
                </a:lnTo>
                <a:lnTo>
                  <a:pt x="9211503" y="137828"/>
                </a:lnTo>
                <a:lnTo>
                  <a:pt x="9346966" y="132152"/>
                </a:lnTo>
                <a:lnTo>
                  <a:pt x="9482429" y="126943"/>
                </a:lnTo>
                <a:lnTo>
                  <a:pt x="9617892" y="121894"/>
                </a:lnTo>
                <a:lnTo>
                  <a:pt x="9753356" y="116677"/>
                </a:lnTo>
                <a:lnTo>
                  <a:pt x="9888819" y="110975"/>
                </a:lnTo>
                <a:lnTo>
                  <a:pt x="10024282" y="104513"/>
                </a:lnTo>
                <a:lnTo>
                  <a:pt x="10159746" y="97095"/>
                </a:lnTo>
                <a:lnTo>
                  <a:pt x="10295209" y="88617"/>
                </a:lnTo>
                <a:lnTo>
                  <a:pt x="10430672" y="79094"/>
                </a:lnTo>
                <a:lnTo>
                  <a:pt x="10566135" y="68661"/>
                </a:lnTo>
                <a:lnTo>
                  <a:pt x="10701599" y="57573"/>
                </a:lnTo>
                <a:lnTo>
                  <a:pt x="10837062" y="46197"/>
                </a:lnTo>
                <a:lnTo>
                  <a:pt x="10972525" y="34990"/>
                </a:lnTo>
                <a:lnTo>
                  <a:pt x="11107988" y="24471"/>
                </a:lnTo>
                <a:lnTo>
                  <a:pt x="11243452" y="15192"/>
                </a:lnTo>
                <a:lnTo>
                  <a:pt x="11378915" y="7698"/>
                </a:lnTo>
                <a:lnTo>
                  <a:pt x="11514378" y="2492"/>
                </a:lnTo>
                <a:lnTo>
                  <a:pt x="11649842" y="0"/>
                </a:lnTo>
                <a:lnTo>
                  <a:pt x="11785305" y="541"/>
                </a:lnTo>
                <a:lnTo>
                  <a:pt x="11920768" y="4298"/>
                </a:lnTo>
                <a:lnTo>
                  <a:pt x="12056231" y="11307"/>
                </a:lnTo>
                <a:lnTo>
                  <a:pt x="12191695" y="21447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0" y="6600998"/>
            <a:ext cx="12191695" cy="238322"/>
          </a:xfrm>
          <a:custGeom>
            <a:avLst/>
            <a:gdLst/>
            <a:ahLst/>
            <a:cxnLst/>
            <a:rect l="l" t="t" r="r" b="b"/>
            <a:pathLst>
              <a:path w="12191695" h="238322">
                <a:moveTo>
                  <a:pt x="0" y="190722"/>
                </a:moveTo>
                <a:lnTo>
                  <a:pt x="135463" y="204821"/>
                </a:lnTo>
                <a:lnTo>
                  <a:pt x="270926" y="217096"/>
                </a:lnTo>
                <a:lnTo>
                  <a:pt x="406389" y="226989"/>
                </a:lnTo>
                <a:lnTo>
                  <a:pt x="541853" y="234032"/>
                </a:lnTo>
                <a:lnTo>
                  <a:pt x="677316" y="237878"/>
                </a:lnTo>
                <a:lnTo>
                  <a:pt x="812779" y="238322"/>
                </a:lnTo>
                <a:lnTo>
                  <a:pt x="948242" y="235314"/>
                </a:lnTo>
                <a:lnTo>
                  <a:pt x="1083706" y="228966"/>
                </a:lnTo>
                <a:lnTo>
                  <a:pt x="1219169" y="219541"/>
                </a:lnTo>
                <a:lnTo>
                  <a:pt x="1354632" y="207444"/>
                </a:lnTo>
                <a:lnTo>
                  <a:pt x="1490096" y="193188"/>
                </a:lnTo>
                <a:lnTo>
                  <a:pt x="1625559" y="177371"/>
                </a:lnTo>
                <a:lnTo>
                  <a:pt x="1761022" y="160636"/>
                </a:lnTo>
                <a:lnTo>
                  <a:pt x="1896485" y="143634"/>
                </a:lnTo>
                <a:lnTo>
                  <a:pt x="2031949" y="126985"/>
                </a:lnTo>
                <a:lnTo>
                  <a:pt x="2167412" y="111244"/>
                </a:lnTo>
                <a:lnTo>
                  <a:pt x="2302875" y="96871"/>
                </a:lnTo>
                <a:lnTo>
                  <a:pt x="2438339" y="84207"/>
                </a:lnTo>
                <a:lnTo>
                  <a:pt x="2573802" y="73462"/>
                </a:lnTo>
                <a:lnTo>
                  <a:pt x="2709265" y="64709"/>
                </a:lnTo>
                <a:lnTo>
                  <a:pt x="2844728" y="57891"/>
                </a:lnTo>
                <a:lnTo>
                  <a:pt x="2980192" y="52834"/>
                </a:lnTo>
                <a:lnTo>
                  <a:pt x="3115655" y="49267"/>
                </a:lnTo>
                <a:lnTo>
                  <a:pt x="3251118" y="46856"/>
                </a:lnTo>
                <a:lnTo>
                  <a:pt x="3386582" y="45231"/>
                </a:lnTo>
                <a:lnTo>
                  <a:pt x="3522045" y="44024"/>
                </a:lnTo>
                <a:lnTo>
                  <a:pt x="3657508" y="42902"/>
                </a:lnTo>
                <a:lnTo>
                  <a:pt x="3792971" y="41593"/>
                </a:lnTo>
                <a:lnTo>
                  <a:pt x="3928435" y="39916"/>
                </a:lnTo>
                <a:lnTo>
                  <a:pt x="4063898" y="37794"/>
                </a:lnTo>
                <a:lnTo>
                  <a:pt x="4199361" y="35264"/>
                </a:lnTo>
                <a:lnTo>
                  <a:pt x="4334824" y="32476"/>
                </a:lnTo>
                <a:lnTo>
                  <a:pt x="4470288" y="29683"/>
                </a:lnTo>
                <a:lnTo>
                  <a:pt x="4605751" y="27220"/>
                </a:lnTo>
                <a:lnTo>
                  <a:pt x="4741214" y="25484"/>
                </a:lnTo>
                <a:lnTo>
                  <a:pt x="4876678" y="24895"/>
                </a:lnTo>
                <a:lnTo>
                  <a:pt x="5012141" y="25867"/>
                </a:lnTo>
                <a:lnTo>
                  <a:pt x="5147604" y="28771"/>
                </a:lnTo>
                <a:lnTo>
                  <a:pt x="5283067" y="33905"/>
                </a:lnTo>
                <a:lnTo>
                  <a:pt x="5418531" y="41460"/>
                </a:lnTo>
                <a:lnTo>
                  <a:pt x="5553994" y="51504"/>
                </a:lnTo>
                <a:lnTo>
                  <a:pt x="5689457" y="63964"/>
                </a:lnTo>
                <a:lnTo>
                  <a:pt x="5824921" y="78622"/>
                </a:lnTo>
                <a:lnTo>
                  <a:pt x="5960384" y="95124"/>
                </a:lnTo>
                <a:lnTo>
                  <a:pt x="6095847" y="112989"/>
                </a:lnTo>
                <a:lnTo>
                  <a:pt x="6231310" y="131639"/>
                </a:lnTo>
                <a:lnTo>
                  <a:pt x="6366774" y="150423"/>
                </a:lnTo>
                <a:lnTo>
                  <a:pt x="6502237" y="168658"/>
                </a:lnTo>
                <a:lnTo>
                  <a:pt x="6637700" y="185665"/>
                </a:lnTo>
                <a:lnTo>
                  <a:pt x="6773164" y="200809"/>
                </a:lnTo>
                <a:lnTo>
                  <a:pt x="6908627" y="213535"/>
                </a:lnTo>
                <a:lnTo>
                  <a:pt x="7044090" y="223398"/>
                </a:lnTo>
                <a:lnTo>
                  <a:pt x="7179553" y="230090"/>
                </a:lnTo>
                <a:lnTo>
                  <a:pt x="7315017" y="233454"/>
                </a:lnTo>
                <a:lnTo>
                  <a:pt x="7450480" y="233492"/>
                </a:lnTo>
                <a:lnTo>
                  <a:pt x="7585943" y="230359"/>
                </a:lnTo>
                <a:lnTo>
                  <a:pt x="7721406" y="224353"/>
                </a:lnTo>
                <a:lnTo>
                  <a:pt x="7856870" y="215888"/>
                </a:lnTo>
                <a:lnTo>
                  <a:pt x="7992333" y="205470"/>
                </a:lnTo>
                <a:lnTo>
                  <a:pt x="8127796" y="193658"/>
                </a:lnTo>
                <a:lnTo>
                  <a:pt x="8263260" y="181033"/>
                </a:lnTo>
                <a:lnTo>
                  <a:pt x="8398723" y="168153"/>
                </a:lnTo>
                <a:lnTo>
                  <a:pt x="8534186" y="155526"/>
                </a:lnTo>
                <a:lnTo>
                  <a:pt x="8669649" y="143575"/>
                </a:lnTo>
                <a:lnTo>
                  <a:pt x="8805113" y="132618"/>
                </a:lnTo>
                <a:lnTo>
                  <a:pt x="8940576" y="122852"/>
                </a:lnTo>
                <a:lnTo>
                  <a:pt x="9076039" y="114351"/>
                </a:lnTo>
                <a:lnTo>
                  <a:pt x="9211503" y="107063"/>
                </a:lnTo>
                <a:lnTo>
                  <a:pt x="9346966" y="100832"/>
                </a:lnTo>
                <a:lnTo>
                  <a:pt x="9482429" y="95413"/>
                </a:lnTo>
                <a:lnTo>
                  <a:pt x="9617892" y="90502"/>
                </a:lnTo>
                <a:lnTo>
                  <a:pt x="9753356" y="85770"/>
                </a:lnTo>
                <a:lnTo>
                  <a:pt x="9888819" y="80892"/>
                </a:lnTo>
                <a:lnTo>
                  <a:pt x="10024282" y="75582"/>
                </a:lnTo>
                <a:lnTo>
                  <a:pt x="10159746" y="69623"/>
                </a:lnTo>
                <a:lnTo>
                  <a:pt x="10295209" y="62893"/>
                </a:lnTo>
                <a:lnTo>
                  <a:pt x="10430672" y="55378"/>
                </a:lnTo>
                <a:lnTo>
                  <a:pt x="10566135" y="47183"/>
                </a:lnTo>
                <a:lnTo>
                  <a:pt x="10701599" y="38531"/>
                </a:lnTo>
                <a:lnTo>
                  <a:pt x="10837062" y="29751"/>
                </a:lnTo>
                <a:lnTo>
                  <a:pt x="10972525" y="21260"/>
                </a:lnTo>
                <a:lnTo>
                  <a:pt x="11107988" y="13537"/>
                </a:lnTo>
                <a:lnTo>
                  <a:pt x="11243452" y="7091"/>
                </a:lnTo>
                <a:lnTo>
                  <a:pt x="11378915" y="2425"/>
                </a:lnTo>
                <a:lnTo>
                  <a:pt x="11514378" y="0"/>
                </a:lnTo>
                <a:lnTo>
                  <a:pt x="11649842" y="198"/>
                </a:lnTo>
                <a:lnTo>
                  <a:pt x="11785305" y="3299"/>
                </a:lnTo>
                <a:lnTo>
                  <a:pt x="11920768" y="9446"/>
                </a:lnTo>
                <a:lnTo>
                  <a:pt x="12056231" y="18641"/>
                </a:lnTo>
                <a:lnTo>
                  <a:pt x="12191695" y="30728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46304"/>
            <a:ext cx="11283696" cy="44805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赋能场景与业务收益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722376"/>
            <a:ext cx="585216" cy="41148"/>
          </a:xfrm>
          <a:prstGeom prst="rect">
            <a:avLst/>
          </a:prstGeom>
          <a:solidFill>
            <a:srgbClr val="EE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649224"/>
            <a:ext cx="10469880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2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以专业任务连接能力建设与价值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292608"/>
            <a:ext cx="896112" cy="20116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HiAgent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6647688"/>
            <a:ext cx="10241280" cy="1280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7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企业数据智能体建设规划  /  规划视图  /  2026.10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629400"/>
            <a:ext cx="585216" cy="17373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03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" y="1376172"/>
            <a:ext cx="3547872" cy="4370832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1344168"/>
            <a:ext cx="3547872" cy="43708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773570" y="2589946"/>
            <a:ext cx="1053388" cy="187269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925726" y="1688713"/>
            <a:ext cx="749076" cy="198974"/>
          </a:xfrm>
          <a:custGeom>
            <a:avLst/>
            <a:gdLst/>
            <a:ahLst/>
            <a:cxnLst/>
            <a:rect l="l" t="t" r="r" b="b"/>
            <a:pathLst>
              <a:path w="749076" h="198974">
                <a:moveTo>
                  <a:pt x="0" y="81931"/>
                </a:moveTo>
                <a:lnTo>
                  <a:pt x="608625" y="0"/>
                </a:lnTo>
                <a:lnTo>
                  <a:pt x="749076" y="105339"/>
                </a:lnTo>
                <a:lnTo>
                  <a:pt x="140452" y="198974"/>
                </a:lnTo>
                <a:close/>
              </a:path>
            </a:pathLst>
          </a:custGeom>
          <a:solidFill>
            <a:srgbClr val="B1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534351" y="1688713"/>
            <a:ext cx="140451" cy="831007"/>
          </a:xfrm>
          <a:custGeom>
            <a:avLst/>
            <a:gdLst/>
            <a:ahLst/>
            <a:cxnLst/>
            <a:rect l="l" t="t" r="r" b="b"/>
            <a:pathLst>
              <a:path w="140451" h="831007">
                <a:moveTo>
                  <a:pt x="0" y="0"/>
                </a:moveTo>
                <a:lnTo>
                  <a:pt x="140451" y="105339"/>
                </a:lnTo>
                <a:lnTo>
                  <a:pt x="140451" y="831007"/>
                </a:lnTo>
                <a:lnTo>
                  <a:pt x="0" y="749077"/>
                </a:lnTo>
                <a:close/>
              </a:path>
            </a:pathLst>
          </a:custGeom>
          <a:solidFill>
            <a:srgbClr val="147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925726" y="1688713"/>
            <a:ext cx="608625" cy="842711"/>
          </a:xfrm>
          <a:custGeom>
            <a:avLst/>
            <a:gdLst/>
            <a:ahLst/>
            <a:cxnLst/>
            <a:rect l="l" t="t" r="r" b="b"/>
            <a:pathLst>
              <a:path w="608625" h="842711">
                <a:moveTo>
                  <a:pt x="0" y="81931"/>
                </a:moveTo>
                <a:lnTo>
                  <a:pt x="608625" y="0"/>
                </a:lnTo>
                <a:lnTo>
                  <a:pt x="608625" y="749077"/>
                </a:lnTo>
                <a:lnTo>
                  <a:pt x="0" y="842711"/>
                </a:lnTo>
                <a:close/>
              </a:path>
            </a:pathLst>
          </a:custGeom>
          <a:solidFill>
            <a:srgbClr val="52B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V="1">
            <a:off x="2031065" y="1922800"/>
            <a:ext cx="386242" cy="58521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1065" y="2086660"/>
            <a:ext cx="386242" cy="58522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031065" y="2250521"/>
            <a:ext cx="386242" cy="58521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984248" y="2086660"/>
            <a:ext cx="503285" cy="24579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2048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&lt;/&gt;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2944368"/>
            <a:ext cx="3163824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数据生产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" y="3593592"/>
            <a:ext cx="3145536" cy="384048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3625596"/>
            <a:ext cx="2962656" cy="32004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需求复用与口径澄清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" y="4105656"/>
            <a:ext cx="3145536" cy="384048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" y="4137660"/>
            <a:ext cx="2962656" cy="32004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设计、开发与测试协作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4709160"/>
            <a:ext cx="3108960" cy="53949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减少重复调研、规范返工与交接遗漏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5404104"/>
            <a:ext cx="3108960" cy="19202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交付过程 / 返工 / 成果采纳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8828" y="1376172"/>
            <a:ext cx="3547872" cy="4370832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15968" y="1344168"/>
            <a:ext cx="3547872" cy="43708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586618" y="2589946"/>
            <a:ext cx="1053388" cy="187269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50478" y="1875983"/>
            <a:ext cx="713963" cy="678850"/>
          </a:xfrm>
          <a:prstGeom prst="rect">
            <a:avLst/>
          </a:prstGeom>
          <a:solidFill>
            <a:srgbClr val="168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750478" y="2461199"/>
            <a:ext cx="713963" cy="234086"/>
          </a:xfrm>
          <a:prstGeom prst="ellipse">
            <a:avLst/>
          </a:prstGeom>
          <a:solidFill>
            <a:srgbClr val="096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50478" y="1758939"/>
            <a:ext cx="713963" cy="234086"/>
          </a:xfrm>
          <a:prstGeom prst="ellipse">
            <a:avLst/>
          </a:prstGeom>
          <a:solidFill>
            <a:srgbClr val="76D8FF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750478" y="2028139"/>
            <a:ext cx="713963" cy="234086"/>
          </a:xfrm>
          <a:prstGeom prst="ellipse">
            <a:avLst/>
          </a:prstGeom>
          <a:solidFill>
            <a:srgbClr val="3AB2F8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750478" y="2297338"/>
            <a:ext cx="713963" cy="234086"/>
          </a:xfrm>
          <a:prstGeom prst="ellipse">
            <a:avLst/>
          </a:prstGeom>
          <a:solidFill>
            <a:srgbClr val="3AB2F8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20704" y="1899391"/>
            <a:ext cx="46817" cy="620328"/>
          </a:xfrm>
          <a:prstGeom prst="rect">
            <a:avLst/>
          </a:prstGeom>
          <a:solidFill>
            <a:srgbClr val="76D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07992" y="2944368"/>
            <a:ext cx="3163824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数据运营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17136" y="3593592"/>
            <a:ext cx="3145536" cy="384048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08575" y="3625596"/>
            <a:ext cx="2962656" cy="32004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资产发现与字典、口径查询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17136" y="4105656"/>
            <a:ext cx="3145536" cy="384048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08575" y="4137660"/>
            <a:ext cx="2962656" cy="32004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质量、影响与故障诊断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35424" y="4709160"/>
            <a:ext cx="3108960" cy="53949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减少找数与跨平台取证时间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35424" y="5404104"/>
            <a:ext cx="3108960" cy="19202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定位耗时 / 缺口识别 / 整改闭环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51876" y="1376172"/>
            <a:ext cx="3547872" cy="4370832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129016" y="1344168"/>
            <a:ext cx="3547872" cy="43708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399666" y="2589946"/>
            <a:ext cx="1053388" cy="187269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9411370" y="2426086"/>
            <a:ext cx="1018276" cy="468406"/>
          </a:xfrm>
          <a:custGeom>
            <a:avLst/>
            <a:gdLst/>
            <a:ahLst/>
            <a:cxnLst/>
            <a:rect l="l" t="t" r="r" b="b"/>
            <a:pathLst>
              <a:path w="1018276" h="468406">
                <a:moveTo>
                  <a:pt x="0" y="234203"/>
                </a:moveTo>
                <a:lnTo>
                  <a:pt x="509138" y="0"/>
                </a:lnTo>
                <a:lnTo>
                  <a:pt x="1018276" y="234203"/>
                </a:lnTo>
                <a:lnTo>
                  <a:pt x="509138" y="468406"/>
                </a:lnTo>
                <a:close/>
              </a:path>
            </a:pathLst>
          </a:custGeom>
          <a:solidFill>
            <a:srgbClr val="B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9411370" y="2660289"/>
            <a:ext cx="509138" cy="281021"/>
          </a:xfrm>
          <a:custGeom>
            <a:avLst/>
            <a:gdLst/>
            <a:ahLst/>
            <a:cxnLst/>
            <a:rect l="l" t="t" r="r" b="b"/>
            <a:pathLst>
              <a:path w="509138" h="281021">
                <a:moveTo>
                  <a:pt x="0" y="0"/>
                </a:moveTo>
                <a:lnTo>
                  <a:pt x="509138" y="234203"/>
                </a:lnTo>
                <a:lnTo>
                  <a:pt x="509138" y="281021"/>
                </a:lnTo>
                <a:lnTo>
                  <a:pt x="0" y="46817"/>
                </a:lnTo>
                <a:close/>
              </a:path>
            </a:pathLst>
          </a:custGeom>
          <a:solidFill>
            <a:srgbClr val="7FC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9920508" y="2660289"/>
            <a:ext cx="509138" cy="281021"/>
          </a:xfrm>
          <a:custGeom>
            <a:avLst/>
            <a:gdLst/>
            <a:ahLst/>
            <a:cxnLst/>
            <a:rect l="l" t="t" r="r" b="b"/>
            <a:pathLst>
              <a:path w="509138" h="281021">
                <a:moveTo>
                  <a:pt x="0" y="234203"/>
                </a:moveTo>
                <a:lnTo>
                  <a:pt x="509138" y="0"/>
                </a:lnTo>
                <a:lnTo>
                  <a:pt x="509138" y="46817"/>
                </a:lnTo>
                <a:lnTo>
                  <a:pt x="0" y="281021"/>
                </a:lnTo>
                <a:close/>
              </a:path>
            </a:pathLst>
          </a:custGeom>
          <a:solidFill>
            <a:srgbClr val="5AA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493300" y="2273929"/>
            <a:ext cx="222382" cy="93635"/>
          </a:xfrm>
          <a:custGeom>
            <a:avLst/>
            <a:gdLst/>
            <a:ahLst/>
            <a:cxnLst/>
            <a:rect l="l" t="t" r="r" b="b"/>
            <a:pathLst>
              <a:path w="222382" h="93635">
                <a:moveTo>
                  <a:pt x="0" y="46818"/>
                </a:moveTo>
                <a:lnTo>
                  <a:pt x="111191" y="0"/>
                </a:lnTo>
                <a:lnTo>
                  <a:pt x="222382" y="46818"/>
                </a:lnTo>
                <a:lnTo>
                  <a:pt x="111191" y="93635"/>
                </a:lnTo>
                <a:close/>
              </a:path>
            </a:pathLst>
          </a:custGeom>
          <a:solidFill>
            <a:srgbClr val="9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493300" y="2320747"/>
            <a:ext cx="111191" cy="257495"/>
          </a:xfrm>
          <a:custGeom>
            <a:avLst/>
            <a:gdLst/>
            <a:ahLst/>
            <a:cxnLst/>
            <a:rect l="l" t="t" r="r" b="b"/>
            <a:pathLst>
              <a:path w="111191" h="257495">
                <a:moveTo>
                  <a:pt x="0" y="0"/>
                </a:moveTo>
                <a:lnTo>
                  <a:pt x="111191" y="46817"/>
                </a:lnTo>
                <a:lnTo>
                  <a:pt x="111191" y="257495"/>
                </a:lnTo>
                <a:lnTo>
                  <a:pt x="0" y="210677"/>
                </a:lnTo>
                <a:close/>
              </a:path>
            </a:pathLst>
          </a:custGeom>
          <a:solidFill>
            <a:srgbClr val="2AB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604491" y="2320747"/>
            <a:ext cx="111191" cy="257495"/>
          </a:xfrm>
          <a:custGeom>
            <a:avLst/>
            <a:gdLst/>
            <a:ahLst/>
            <a:cxnLst/>
            <a:rect l="l" t="t" r="r" b="b"/>
            <a:pathLst>
              <a:path w="111191" h="257495">
                <a:moveTo>
                  <a:pt x="0" y="46817"/>
                </a:moveTo>
                <a:lnTo>
                  <a:pt x="111191" y="0"/>
                </a:lnTo>
                <a:lnTo>
                  <a:pt x="111191" y="210677"/>
                </a:lnTo>
                <a:lnTo>
                  <a:pt x="0" y="257495"/>
                </a:lnTo>
                <a:close/>
              </a:path>
            </a:pathLst>
          </a:custGeom>
          <a:solidFill>
            <a:srgbClr val="11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774204" y="2051547"/>
            <a:ext cx="222382" cy="93635"/>
          </a:xfrm>
          <a:custGeom>
            <a:avLst/>
            <a:gdLst/>
            <a:ahLst/>
            <a:cxnLst/>
            <a:rect l="l" t="t" r="r" b="b"/>
            <a:pathLst>
              <a:path w="222382" h="93635">
                <a:moveTo>
                  <a:pt x="0" y="46818"/>
                </a:moveTo>
                <a:lnTo>
                  <a:pt x="111191" y="0"/>
                </a:lnTo>
                <a:lnTo>
                  <a:pt x="222382" y="46818"/>
                </a:lnTo>
                <a:lnTo>
                  <a:pt x="111191" y="93635"/>
                </a:lnTo>
                <a:close/>
              </a:path>
            </a:pathLst>
          </a:custGeom>
          <a:solidFill>
            <a:srgbClr val="9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9774204" y="2098365"/>
            <a:ext cx="111191" cy="479877"/>
          </a:xfrm>
          <a:custGeom>
            <a:avLst/>
            <a:gdLst/>
            <a:ahLst/>
            <a:cxnLst/>
            <a:rect l="l" t="t" r="r" b="b"/>
            <a:pathLst>
              <a:path w="111191" h="479877">
                <a:moveTo>
                  <a:pt x="0" y="0"/>
                </a:moveTo>
                <a:lnTo>
                  <a:pt x="111191" y="46817"/>
                </a:lnTo>
                <a:lnTo>
                  <a:pt x="111191" y="479877"/>
                </a:lnTo>
                <a:lnTo>
                  <a:pt x="0" y="433059"/>
                </a:lnTo>
                <a:close/>
              </a:path>
            </a:pathLst>
          </a:custGeom>
          <a:solidFill>
            <a:srgbClr val="2AB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9885395" y="2098365"/>
            <a:ext cx="111191" cy="479877"/>
          </a:xfrm>
          <a:custGeom>
            <a:avLst/>
            <a:gdLst/>
            <a:ahLst/>
            <a:cxnLst/>
            <a:rect l="l" t="t" r="r" b="b"/>
            <a:pathLst>
              <a:path w="111191" h="479877">
                <a:moveTo>
                  <a:pt x="0" y="46817"/>
                </a:moveTo>
                <a:lnTo>
                  <a:pt x="111191" y="0"/>
                </a:lnTo>
                <a:lnTo>
                  <a:pt x="111191" y="433059"/>
                </a:lnTo>
                <a:lnTo>
                  <a:pt x="0" y="479877"/>
                </a:lnTo>
                <a:close/>
              </a:path>
            </a:pathLst>
          </a:custGeom>
          <a:solidFill>
            <a:srgbClr val="11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0055108" y="1758939"/>
            <a:ext cx="222382" cy="93635"/>
          </a:xfrm>
          <a:custGeom>
            <a:avLst/>
            <a:gdLst/>
            <a:ahLst/>
            <a:cxnLst/>
            <a:rect l="l" t="t" r="r" b="b"/>
            <a:pathLst>
              <a:path w="222382" h="93635">
                <a:moveTo>
                  <a:pt x="0" y="46818"/>
                </a:moveTo>
                <a:lnTo>
                  <a:pt x="111191" y="0"/>
                </a:lnTo>
                <a:lnTo>
                  <a:pt x="222382" y="46818"/>
                </a:lnTo>
                <a:lnTo>
                  <a:pt x="111191" y="93635"/>
                </a:lnTo>
                <a:close/>
              </a:path>
            </a:pathLst>
          </a:custGeom>
          <a:solidFill>
            <a:srgbClr val="9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10055108" y="1805757"/>
            <a:ext cx="111191" cy="772485"/>
          </a:xfrm>
          <a:custGeom>
            <a:avLst/>
            <a:gdLst/>
            <a:ahLst/>
            <a:cxnLst/>
            <a:rect l="l" t="t" r="r" b="b"/>
            <a:pathLst>
              <a:path w="111191" h="772485">
                <a:moveTo>
                  <a:pt x="0" y="0"/>
                </a:moveTo>
                <a:lnTo>
                  <a:pt x="111191" y="46817"/>
                </a:lnTo>
                <a:lnTo>
                  <a:pt x="111191" y="772485"/>
                </a:lnTo>
                <a:lnTo>
                  <a:pt x="0" y="725667"/>
                </a:lnTo>
                <a:close/>
              </a:path>
            </a:pathLst>
          </a:custGeom>
          <a:solidFill>
            <a:srgbClr val="2AB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0166299" y="1805757"/>
            <a:ext cx="111191" cy="772485"/>
          </a:xfrm>
          <a:custGeom>
            <a:avLst/>
            <a:gdLst/>
            <a:ahLst/>
            <a:cxnLst/>
            <a:rect l="l" t="t" r="r" b="b"/>
            <a:pathLst>
              <a:path w="111191" h="772485">
                <a:moveTo>
                  <a:pt x="0" y="46817"/>
                </a:moveTo>
                <a:lnTo>
                  <a:pt x="111191" y="0"/>
                </a:lnTo>
                <a:lnTo>
                  <a:pt x="111191" y="725667"/>
                </a:lnTo>
                <a:lnTo>
                  <a:pt x="0" y="772485"/>
                </a:lnTo>
                <a:close/>
              </a:path>
            </a:pathLst>
          </a:custGeom>
          <a:solidFill>
            <a:srgbClr val="11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21040" y="2944368"/>
            <a:ext cx="3163824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数据分析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330184" y="3593592"/>
            <a:ext cx="3145536" cy="384048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21624" y="3625596"/>
            <a:ext cx="2962656" cy="32004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指标问数与多维分析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330184" y="4105656"/>
            <a:ext cx="3145536" cy="384048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21624" y="4137660"/>
            <a:ext cx="2962656" cy="32004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报告组织与业务解释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48472" y="4709160"/>
            <a:ext cx="3108960" cy="53949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统一口径，增强结果可比性与复核效率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48472" y="5404104"/>
            <a:ext cx="3108960" cy="19202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口径一致 / 结果复核 / 用户采纳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61772" y="6112764"/>
            <a:ext cx="11247120" cy="33832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438912" y="6080760"/>
            <a:ext cx="11247120" cy="338328"/>
          </a:xfrm>
          <a:prstGeom prst="roundRect">
            <a:avLst>
              <a:gd name="adj" fmla="val 5500"/>
            </a:avLst>
          </a:prstGeom>
          <a:solidFill>
            <a:srgbClr val="EEF7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85216" y="6117336"/>
            <a:ext cx="10954512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收益通过真实任务前后对比验证；目标在试点基线上确认，不使用外部案例倍数直接推导。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6346471"/>
            <a:ext cx="12191695" cy="235953"/>
          </a:xfrm>
          <a:custGeom>
            <a:avLst/>
            <a:gdLst/>
            <a:ahLst/>
            <a:cxnLst/>
            <a:rect l="l" t="t" r="r" b="b"/>
            <a:pathLst>
              <a:path w="12191695" h="235953">
                <a:moveTo>
                  <a:pt x="0" y="127481"/>
                </a:moveTo>
                <a:lnTo>
                  <a:pt x="135463" y="147046"/>
                </a:lnTo>
                <a:lnTo>
                  <a:pt x="270926" y="165914"/>
                </a:lnTo>
                <a:lnTo>
                  <a:pt x="406389" y="183426"/>
                </a:lnTo>
                <a:lnTo>
                  <a:pt x="541853" y="199000"/>
                </a:lnTo>
                <a:lnTo>
                  <a:pt x="677316" y="212159"/>
                </a:lnTo>
                <a:lnTo>
                  <a:pt x="812779" y="222557"/>
                </a:lnTo>
                <a:lnTo>
                  <a:pt x="948242" y="229995"/>
                </a:lnTo>
                <a:lnTo>
                  <a:pt x="1083706" y="234426"/>
                </a:lnTo>
                <a:lnTo>
                  <a:pt x="1219169" y="235953"/>
                </a:lnTo>
                <a:lnTo>
                  <a:pt x="1354632" y="234812"/>
                </a:lnTo>
                <a:lnTo>
                  <a:pt x="1490096" y="231352"/>
                </a:lnTo>
                <a:lnTo>
                  <a:pt x="1625559" y="226009"/>
                </a:lnTo>
                <a:lnTo>
                  <a:pt x="1761022" y="219267"/>
                </a:lnTo>
                <a:lnTo>
                  <a:pt x="1896485" y="211626"/>
                </a:lnTo>
                <a:lnTo>
                  <a:pt x="2031949" y="203564"/>
                </a:lnTo>
                <a:lnTo>
                  <a:pt x="2167412" y="195508"/>
                </a:lnTo>
                <a:lnTo>
                  <a:pt x="2302875" y="187800"/>
                </a:lnTo>
                <a:lnTo>
                  <a:pt x="2438339" y="180682"/>
                </a:lnTo>
                <a:lnTo>
                  <a:pt x="2573802" y="174280"/>
                </a:lnTo>
                <a:lnTo>
                  <a:pt x="2709265" y="168601"/>
                </a:lnTo>
                <a:lnTo>
                  <a:pt x="2844728" y="163541"/>
                </a:lnTo>
                <a:lnTo>
                  <a:pt x="2980192" y="158900"/>
                </a:lnTo>
                <a:lnTo>
                  <a:pt x="3115655" y="154402"/>
                </a:lnTo>
                <a:lnTo>
                  <a:pt x="3251118" y="149724"/>
                </a:lnTo>
                <a:lnTo>
                  <a:pt x="3386582" y="144534"/>
                </a:lnTo>
                <a:lnTo>
                  <a:pt x="3522045" y="138515"/>
                </a:lnTo>
                <a:lnTo>
                  <a:pt x="3657508" y="131408"/>
                </a:lnTo>
                <a:lnTo>
                  <a:pt x="3792971" y="123031"/>
                </a:lnTo>
                <a:lnTo>
                  <a:pt x="3928435" y="113309"/>
                </a:lnTo>
                <a:lnTo>
                  <a:pt x="4063898" y="102287"/>
                </a:lnTo>
                <a:lnTo>
                  <a:pt x="4199361" y="90138"/>
                </a:lnTo>
                <a:lnTo>
                  <a:pt x="4334824" y="77155"/>
                </a:lnTo>
                <a:lnTo>
                  <a:pt x="4470288" y="63745"/>
                </a:lnTo>
                <a:lnTo>
                  <a:pt x="4605751" y="50406"/>
                </a:lnTo>
                <a:lnTo>
                  <a:pt x="4741214" y="37696"/>
                </a:lnTo>
                <a:lnTo>
                  <a:pt x="4876678" y="26202"/>
                </a:lnTo>
                <a:lnTo>
                  <a:pt x="5012141" y="16503"/>
                </a:lnTo>
                <a:lnTo>
                  <a:pt x="5147604" y="9131"/>
                </a:lnTo>
                <a:lnTo>
                  <a:pt x="5283067" y="4538"/>
                </a:lnTo>
                <a:lnTo>
                  <a:pt x="5418531" y="3064"/>
                </a:lnTo>
                <a:lnTo>
                  <a:pt x="5553994" y="4912"/>
                </a:lnTo>
                <a:lnTo>
                  <a:pt x="5689457" y="10132"/>
                </a:lnTo>
                <a:lnTo>
                  <a:pt x="5824921" y="18617"/>
                </a:lnTo>
                <a:lnTo>
                  <a:pt x="5960384" y="30106"/>
                </a:lnTo>
                <a:lnTo>
                  <a:pt x="6095847" y="44193"/>
                </a:lnTo>
                <a:lnTo>
                  <a:pt x="6231310" y="60357"/>
                </a:lnTo>
                <a:lnTo>
                  <a:pt x="6366774" y="77984"/>
                </a:lnTo>
                <a:lnTo>
                  <a:pt x="6502237" y="96410"/>
                </a:lnTo>
                <a:lnTo>
                  <a:pt x="6637700" y="114953"/>
                </a:lnTo>
                <a:lnTo>
                  <a:pt x="6773164" y="132954"/>
                </a:lnTo>
                <a:lnTo>
                  <a:pt x="6908627" y="149814"/>
                </a:lnTo>
                <a:lnTo>
                  <a:pt x="7044090" y="165027"/>
                </a:lnTo>
                <a:lnTo>
                  <a:pt x="7179553" y="178204"/>
                </a:lnTo>
                <a:lnTo>
                  <a:pt x="7315017" y="189090"/>
                </a:lnTo>
                <a:lnTo>
                  <a:pt x="7450480" y="197574"/>
                </a:lnTo>
                <a:lnTo>
                  <a:pt x="7585943" y="203682"/>
                </a:lnTo>
                <a:lnTo>
                  <a:pt x="7721406" y="207573"/>
                </a:lnTo>
                <a:lnTo>
                  <a:pt x="7856870" y="209512"/>
                </a:lnTo>
                <a:lnTo>
                  <a:pt x="7992333" y="209848"/>
                </a:lnTo>
                <a:lnTo>
                  <a:pt x="8127796" y="208978"/>
                </a:lnTo>
                <a:lnTo>
                  <a:pt x="8263260" y="207316"/>
                </a:lnTo>
                <a:lnTo>
                  <a:pt x="8398723" y="205256"/>
                </a:lnTo>
                <a:lnTo>
                  <a:pt x="8534186" y="203141"/>
                </a:lnTo>
                <a:lnTo>
                  <a:pt x="8669649" y="201238"/>
                </a:lnTo>
                <a:lnTo>
                  <a:pt x="8805113" y="199711"/>
                </a:lnTo>
                <a:lnTo>
                  <a:pt x="8940576" y="198616"/>
                </a:lnTo>
                <a:lnTo>
                  <a:pt x="9076039" y="197894"/>
                </a:lnTo>
                <a:lnTo>
                  <a:pt x="9211503" y="197378"/>
                </a:lnTo>
                <a:lnTo>
                  <a:pt x="9346966" y="196808"/>
                </a:lnTo>
                <a:lnTo>
                  <a:pt x="9482429" y="195855"/>
                </a:lnTo>
                <a:lnTo>
                  <a:pt x="9617892" y="194147"/>
                </a:lnTo>
                <a:lnTo>
                  <a:pt x="9753356" y="191305"/>
                </a:lnTo>
                <a:lnTo>
                  <a:pt x="9888819" y="186977"/>
                </a:lnTo>
                <a:lnTo>
                  <a:pt x="10024282" y="180869"/>
                </a:lnTo>
                <a:lnTo>
                  <a:pt x="10159746" y="172776"/>
                </a:lnTo>
                <a:lnTo>
                  <a:pt x="10295209" y="162608"/>
                </a:lnTo>
                <a:lnTo>
                  <a:pt x="10430672" y="150402"/>
                </a:lnTo>
                <a:lnTo>
                  <a:pt x="10566135" y="136335"/>
                </a:lnTo>
                <a:lnTo>
                  <a:pt x="10701599" y="120717"/>
                </a:lnTo>
                <a:lnTo>
                  <a:pt x="10837062" y="103984"/>
                </a:lnTo>
                <a:lnTo>
                  <a:pt x="10972525" y="86673"/>
                </a:lnTo>
                <a:lnTo>
                  <a:pt x="11107988" y="69396"/>
                </a:lnTo>
                <a:lnTo>
                  <a:pt x="11243452" y="52806"/>
                </a:lnTo>
                <a:lnTo>
                  <a:pt x="11378915" y="37558"/>
                </a:lnTo>
                <a:lnTo>
                  <a:pt x="11514378" y="24274"/>
                </a:lnTo>
                <a:lnTo>
                  <a:pt x="11649842" y="13501"/>
                </a:lnTo>
                <a:lnTo>
                  <a:pt x="11785305" y="5683"/>
                </a:lnTo>
                <a:lnTo>
                  <a:pt x="11920768" y="1129"/>
                </a:lnTo>
                <a:lnTo>
                  <a:pt x="12056231" y="0"/>
                </a:lnTo>
                <a:lnTo>
                  <a:pt x="12191695" y="2300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6405649"/>
            <a:ext cx="12191695" cy="245182"/>
          </a:xfrm>
          <a:custGeom>
            <a:avLst/>
            <a:gdLst/>
            <a:ahLst/>
            <a:cxnLst/>
            <a:rect l="l" t="t" r="r" b="b"/>
            <a:pathLst>
              <a:path w="12191695" h="245182">
                <a:moveTo>
                  <a:pt x="0" y="150669"/>
                </a:moveTo>
                <a:lnTo>
                  <a:pt x="135463" y="169737"/>
                </a:lnTo>
                <a:lnTo>
                  <a:pt x="270926" y="187768"/>
                </a:lnTo>
                <a:lnTo>
                  <a:pt x="406389" y="204118"/>
                </a:lnTo>
                <a:lnTo>
                  <a:pt x="541853" y="218220"/>
                </a:lnTo>
                <a:lnTo>
                  <a:pt x="677316" y="229621"/>
                </a:lnTo>
                <a:lnTo>
                  <a:pt x="812779" y="238002"/>
                </a:lnTo>
                <a:lnTo>
                  <a:pt x="948242" y="243193"/>
                </a:lnTo>
                <a:lnTo>
                  <a:pt x="1083706" y="245182"/>
                </a:lnTo>
                <a:lnTo>
                  <a:pt x="1219169" y="244108"/>
                </a:lnTo>
                <a:lnTo>
                  <a:pt x="1354632" y="240247"/>
                </a:lnTo>
                <a:lnTo>
                  <a:pt x="1490096" y="233989"/>
                </a:lnTo>
                <a:lnTo>
                  <a:pt x="1625559" y="225812"/>
                </a:lnTo>
                <a:lnTo>
                  <a:pt x="1761022" y="216243"/>
                </a:lnTo>
                <a:lnTo>
                  <a:pt x="1896485" y="205824"/>
                </a:lnTo>
                <a:lnTo>
                  <a:pt x="2031949" y="195076"/>
                </a:lnTo>
                <a:lnTo>
                  <a:pt x="2167412" y="184466"/>
                </a:lnTo>
                <a:lnTo>
                  <a:pt x="2302875" y="174375"/>
                </a:lnTo>
                <a:lnTo>
                  <a:pt x="2438339" y="165080"/>
                </a:lnTo>
                <a:lnTo>
                  <a:pt x="2573802" y="156740"/>
                </a:lnTo>
                <a:lnTo>
                  <a:pt x="2709265" y="149392"/>
                </a:lnTo>
                <a:lnTo>
                  <a:pt x="2844728" y="142958"/>
                </a:lnTo>
                <a:lnTo>
                  <a:pt x="2980192" y="137257"/>
                </a:lnTo>
                <a:lnTo>
                  <a:pt x="3115655" y="132030"/>
                </a:lnTo>
                <a:lnTo>
                  <a:pt x="3251118" y="126965"/>
                </a:lnTo>
                <a:lnTo>
                  <a:pt x="3386582" y="121734"/>
                </a:lnTo>
                <a:lnTo>
                  <a:pt x="3522045" y="116024"/>
                </a:lnTo>
                <a:lnTo>
                  <a:pt x="3657508" y="109568"/>
                </a:lnTo>
                <a:lnTo>
                  <a:pt x="3792971" y="102177"/>
                </a:lnTo>
                <a:lnTo>
                  <a:pt x="3928435" y="93759"/>
                </a:lnTo>
                <a:lnTo>
                  <a:pt x="4063898" y="84341"/>
                </a:lnTo>
                <a:lnTo>
                  <a:pt x="4199361" y="74069"/>
                </a:lnTo>
                <a:lnTo>
                  <a:pt x="4334824" y="63211"/>
                </a:lnTo>
                <a:lnTo>
                  <a:pt x="4470288" y="52141"/>
                </a:lnTo>
                <a:lnTo>
                  <a:pt x="4605751" y="41320"/>
                </a:lnTo>
                <a:lnTo>
                  <a:pt x="4741214" y="31269"/>
                </a:lnTo>
                <a:lnTo>
                  <a:pt x="4876678" y="22536"/>
                </a:lnTo>
                <a:lnTo>
                  <a:pt x="5012141" y="15656"/>
                </a:lnTo>
                <a:lnTo>
                  <a:pt x="5147604" y="11120"/>
                </a:lnTo>
                <a:lnTo>
                  <a:pt x="5283067" y="9338"/>
                </a:lnTo>
                <a:lnTo>
                  <a:pt x="5418531" y="10605"/>
                </a:lnTo>
                <a:lnTo>
                  <a:pt x="5553994" y="15085"/>
                </a:lnTo>
                <a:lnTo>
                  <a:pt x="5689457" y="22787"/>
                </a:lnTo>
                <a:lnTo>
                  <a:pt x="5824921" y="33567"/>
                </a:lnTo>
                <a:lnTo>
                  <a:pt x="5960384" y="47128"/>
                </a:lnTo>
                <a:lnTo>
                  <a:pt x="6095847" y="63035"/>
                </a:lnTo>
                <a:lnTo>
                  <a:pt x="6231310" y="80738"/>
                </a:lnTo>
                <a:lnTo>
                  <a:pt x="6366774" y="99601"/>
                </a:lnTo>
                <a:lnTo>
                  <a:pt x="6502237" y="118939"/>
                </a:lnTo>
                <a:lnTo>
                  <a:pt x="6637700" y="138058"/>
                </a:lnTo>
                <a:lnTo>
                  <a:pt x="6773164" y="156290"/>
                </a:lnTo>
                <a:lnTo>
                  <a:pt x="6908627" y="173034"/>
                </a:lnTo>
                <a:lnTo>
                  <a:pt x="7044090" y="187783"/>
                </a:lnTo>
                <a:lnTo>
                  <a:pt x="7179553" y="200156"/>
                </a:lnTo>
                <a:lnTo>
                  <a:pt x="7315017" y="209912"/>
                </a:lnTo>
                <a:lnTo>
                  <a:pt x="7450480" y="216953"/>
                </a:lnTo>
                <a:lnTo>
                  <a:pt x="7585943" y="221331"/>
                </a:lnTo>
                <a:lnTo>
                  <a:pt x="7721406" y="223229"/>
                </a:lnTo>
                <a:lnTo>
                  <a:pt x="7856870" y="222943"/>
                </a:lnTo>
                <a:lnTo>
                  <a:pt x="7992333" y="220854"/>
                </a:lnTo>
                <a:lnTo>
                  <a:pt x="8127796" y="217398"/>
                </a:lnTo>
                <a:lnTo>
                  <a:pt x="8263260" y="213025"/>
                </a:lnTo>
                <a:lnTo>
                  <a:pt x="8398723" y="208173"/>
                </a:lnTo>
                <a:lnTo>
                  <a:pt x="8534186" y="203226"/>
                </a:lnTo>
                <a:lnTo>
                  <a:pt x="8669649" y="198493"/>
                </a:lnTo>
                <a:lnTo>
                  <a:pt x="8805113" y="194182"/>
                </a:lnTo>
                <a:lnTo>
                  <a:pt x="8940576" y="190390"/>
                </a:lnTo>
                <a:lnTo>
                  <a:pt x="9076039" y="187099"/>
                </a:lnTo>
                <a:lnTo>
                  <a:pt x="9211503" y="184181"/>
                </a:lnTo>
                <a:lnTo>
                  <a:pt x="9346966" y="181412"/>
                </a:lnTo>
                <a:lnTo>
                  <a:pt x="9482429" y="178496"/>
                </a:lnTo>
                <a:lnTo>
                  <a:pt x="9617892" y="175092"/>
                </a:lnTo>
                <a:lnTo>
                  <a:pt x="9753356" y="170845"/>
                </a:lnTo>
                <a:lnTo>
                  <a:pt x="9888819" y="165425"/>
                </a:lnTo>
                <a:lnTo>
                  <a:pt x="10024282" y="158555"/>
                </a:lnTo>
                <a:lnTo>
                  <a:pt x="10159746" y="150040"/>
                </a:lnTo>
                <a:lnTo>
                  <a:pt x="10295209" y="139797"/>
                </a:lnTo>
                <a:lnTo>
                  <a:pt x="10430672" y="127865"/>
                </a:lnTo>
                <a:lnTo>
                  <a:pt x="10566135" y="114415"/>
                </a:lnTo>
                <a:lnTo>
                  <a:pt x="10701599" y="99751"/>
                </a:lnTo>
                <a:lnTo>
                  <a:pt x="10837062" y="84291"/>
                </a:lnTo>
                <a:lnTo>
                  <a:pt x="10972525" y="68554"/>
                </a:lnTo>
                <a:lnTo>
                  <a:pt x="11107988" y="53129"/>
                </a:lnTo>
                <a:lnTo>
                  <a:pt x="11243452" y="38641"/>
                </a:lnTo>
                <a:lnTo>
                  <a:pt x="11378915" y="25713"/>
                </a:lnTo>
                <a:lnTo>
                  <a:pt x="11514378" y="14931"/>
                </a:lnTo>
                <a:lnTo>
                  <a:pt x="11649842" y="6805"/>
                </a:lnTo>
                <a:lnTo>
                  <a:pt x="11785305" y="1738"/>
                </a:lnTo>
                <a:lnTo>
                  <a:pt x="11920768" y="0"/>
                </a:lnTo>
                <a:lnTo>
                  <a:pt x="12056231" y="1708"/>
                </a:lnTo>
                <a:lnTo>
                  <a:pt x="12191695" y="6822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6467906"/>
            <a:ext cx="12191695" cy="248613"/>
          </a:xfrm>
          <a:custGeom>
            <a:avLst/>
            <a:gdLst/>
            <a:ahLst/>
            <a:cxnLst/>
            <a:rect l="l" t="t" r="r" b="b"/>
            <a:pathLst>
              <a:path w="12191695" h="248613">
                <a:moveTo>
                  <a:pt x="0" y="169572"/>
                </a:moveTo>
                <a:lnTo>
                  <a:pt x="135463" y="187517"/>
                </a:lnTo>
                <a:lnTo>
                  <a:pt x="270926" y="204116"/>
                </a:lnTo>
                <a:lnTo>
                  <a:pt x="406389" y="218744"/>
                </a:lnTo>
                <a:lnTo>
                  <a:pt x="541853" y="230861"/>
                </a:lnTo>
                <a:lnTo>
                  <a:pt x="677316" y="240043"/>
                </a:lnTo>
                <a:lnTo>
                  <a:pt x="812779" y="246004"/>
                </a:lnTo>
                <a:lnTo>
                  <a:pt x="948242" y="248613"/>
                </a:lnTo>
                <a:lnTo>
                  <a:pt x="1083706" y="247896"/>
                </a:lnTo>
                <a:lnTo>
                  <a:pt x="1219169" y="244031"/>
                </a:lnTo>
                <a:lnTo>
                  <a:pt x="1354632" y="237338"/>
                </a:lnTo>
                <a:lnTo>
                  <a:pt x="1490096" y="228250"/>
                </a:lnTo>
                <a:lnTo>
                  <a:pt x="1625559" y="217286"/>
                </a:lnTo>
                <a:lnTo>
                  <a:pt x="1761022" y="205017"/>
                </a:lnTo>
                <a:lnTo>
                  <a:pt x="1896485" y="192024"/>
                </a:lnTo>
                <a:lnTo>
                  <a:pt x="2031949" y="178869"/>
                </a:lnTo>
                <a:lnTo>
                  <a:pt x="2167412" y="166053"/>
                </a:lnTo>
                <a:lnTo>
                  <a:pt x="2302875" y="153992"/>
                </a:lnTo>
                <a:lnTo>
                  <a:pt x="2438339" y="142992"/>
                </a:lnTo>
                <a:lnTo>
                  <a:pt x="2573802" y="133239"/>
                </a:lnTo>
                <a:lnTo>
                  <a:pt x="2709265" y="124790"/>
                </a:lnTo>
                <a:lnTo>
                  <a:pt x="2844728" y="117583"/>
                </a:lnTo>
                <a:lnTo>
                  <a:pt x="2980192" y="111449"/>
                </a:lnTo>
                <a:lnTo>
                  <a:pt x="3115655" y="106137"/>
                </a:lnTo>
                <a:lnTo>
                  <a:pt x="3251118" y="101335"/>
                </a:lnTo>
                <a:lnTo>
                  <a:pt x="3386582" y="96713"/>
                </a:lnTo>
                <a:lnTo>
                  <a:pt x="3522045" y="91945"/>
                </a:lnTo>
                <a:lnTo>
                  <a:pt x="3657508" y="86753"/>
                </a:lnTo>
                <a:lnTo>
                  <a:pt x="3792971" y="80928"/>
                </a:lnTo>
                <a:lnTo>
                  <a:pt x="3928435" y="74354"/>
                </a:lnTo>
                <a:lnTo>
                  <a:pt x="4063898" y="67031"/>
                </a:lnTo>
                <a:lnTo>
                  <a:pt x="4199361" y="59072"/>
                </a:lnTo>
                <a:lnTo>
                  <a:pt x="4334824" y="50711"/>
                </a:lnTo>
                <a:lnTo>
                  <a:pt x="4470288" y="42285"/>
                </a:lnTo>
                <a:lnTo>
                  <a:pt x="4605751" y="34213"/>
                </a:lnTo>
                <a:lnTo>
                  <a:pt x="4741214" y="26977"/>
                </a:lnTo>
                <a:lnTo>
                  <a:pt x="4876678" y="21080"/>
                </a:lnTo>
                <a:lnTo>
                  <a:pt x="5012141" y="17016"/>
                </a:lnTo>
                <a:lnTo>
                  <a:pt x="5147604" y="15233"/>
                </a:lnTo>
                <a:lnTo>
                  <a:pt x="5283067" y="16099"/>
                </a:lnTo>
                <a:lnTo>
                  <a:pt x="5418531" y="19870"/>
                </a:lnTo>
                <a:lnTo>
                  <a:pt x="5553994" y="26670"/>
                </a:lnTo>
                <a:lnTo>
                  <a:pt x="5689457" y="36475"/>
                </a:lnTo>
                <a:lnTo>
                  <a:pt x="5824921" y="49109"/>
                </a:lnTo>
                <a:lnTo>
                  <a:pt x="5960384" y="64247"/>
                </a:lnTo>
                <a:lnTo>
                  <a:pt x="6095847" y="81430"/>
                </a:lnTo>
                <a:lnTo>
                  <a:pt x="6231310" y="100088"/>
                </a:lnTo>
                <a:lnTo>
                  <a:pt x="6366774" y="119571"/>
                </a:lnTo>
                <a:lnTo>
                  <a:pt x="6502237" y="139187"/>
                </a:lnTo>
                <a:lnTo>
                  <a:pt x="6637700" y="158234"/>
                </a:lnTo>
                <a:lnTo>
                  <a:pt x="6773164" y="176047"/>
                </a:lnTo>
                <a:lnTo>
                  <a:pt x="6908627" y="192030"/>
                </a:lnTo>
                <a:lnTo>
                  <a:pt x="7044090" y="205690"/>
                </a:lnTo>
                <a:lnTo>
                  <a:pt x="7179553" y="216660"/>
                </a:lnTo>
                <a:lnTo>
                  <a:pt x="7315017" y="224721"/>
                </a:lnTo>
                <a:lnTo>
                  <a:pt x="7450480" y="229802"/>
                </a:lnTo>
                <a:lnTo>
                  <a:pt x="7585943" y="231983"/>
                </a:lnTo>
                <a:lnTo>
                  <a:pt x="7721406" y="231480"/>
                </a:lnTo>
                <a:lnTo>
                  <a:pt x="7856870" y="228626"/>
                </a:lnTo>
                <a:lnTo>
                  <a:pt x="7992333" y="223841"/>
                </a:lnTo>
                <a:lnTo>
                  <a:pt x="8127796" y="217601"/>
                </a:lnTo>
                <a:lnTo>
                  <a:pt x="8263260" y="210399"/>
                </a:lnTo>
                <a:lnTo>
                  <a:pt x="8398723" y="202714"/>
                </a:lnTo>
                <a:lnTo>
                  <a:pt x="8534186" y="194975"/>
                </a:lnTo>
                <a:lnTo>
                  <a:pt x="8669649" y="187531"/>
                </a:lnTo>
                <a:lnTo>
                  <a:pt x="8805113" y="180631"/>
                </a:lnTo>
                <a:lnTo>
                  <a:pt x="8940576" y="174414"/>
                </a:lnTo>
                <a:lnTo>
                  <a:pt x="9076039" y="168896"/>
                </a:lnTo>
                <a:lnTo>
                  <a:pt x="9211503" y="163983"/>
                </a:lnTo>
                <a:lnTo>
                  <a:pt x="9346966" y="159481"/>
                </a:lnTo>
                <a:lnTo>
                  <a:pt x="9482429" y="155122"/>
                </a:lnTo>
                <a:lnTo>
                  <a:pt x="9617892" y="150584"/>
                </a:lnTo>
                <a:lnTo>
                  <a:pt x="9753356" y="145531"/>
                </a:lnTo>
                <a:lnTo>
                  <a:pt x="9888819" y="139645"/>
                </a:lnTo>
                <a:lnTo>
                  <a:pt x="10024282" y="132654"/>
                </a:lnTo>
                <a:lnTo>
                  <a:pt x="10159746" y="124369"/>
                </a:lnTo>
                <a:lnTo>
                  <a:pt x="10295209" y="114699"/>
                </a:lnTo>
                <a:lnTo>
                  <a:pt x="10430672" y="103677"/>
                </a:lnTo>
                <a:lnTo>
                  <a:pt x="10566135" y="91461"/>
                </a:lnTo>
                <a:lnTo>
                  <a:pt x="10701599" y="78333"/>
                </a:lnTo>
                <a:lnTo>
                  <a:pt x="10837062" y="64691"/>
                </a:lnTo>
                <a:lnTo>
                  <a:pt x="10972525" y="51025"/>
                </a:lnTo>
                <a:lnTo>
                  <a:pt x="11107988" y="37893"/>
                </a:lnTo>
                <a:lnTo>
                  <a:pt x="11243452" y="25885"/>
                </a:lnTo>
                <a:lnTo>
                  <a:pt x="11378915" y="15588"/>
                </a:lnTo>
                <a:lnTo>
                  <a:pt x="11514378" y="7547"/>
                </a:lnTo>
                <a:lnTo>
                  <a:pt x="11649842" y="2231"/>
                </a:lnTo>
                <a:lnTo>
                  <a:pt x="11785305" y="0"/>
                </a:lnTo>
                <a:lnTo>
                  <a:pt x="11920768" y="1082"/>
                </a:lnTo>
                <a:lnTo>
                  <a:pt x="12056231" y="5551"/>
                </a:lnTo>
                <a:lnTo>
                  <a:pt x="12191695" y="13326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0" y="6533113"/>
            <a:ext cx="12191695" cy="246124"/>
          </a:xfrm>
          <a:custGeom>
            <a:avLst/>
            <a:gdLst/>
            <a:ahLst/>
            <a:cxnLst/>
            <a:rect l="l" t="t" r="r" b="b"/>
            <a:pathLst>
              <a:path w="12191695" h="246124">
                <a:moveTo>
                  <a:pt x="0" y="183172"/>
                </a:moveTo>
                <a:lnTo>
                  <a:pt x="135463" y="199432"/>
                </a:lnTo>
                <a:lnTo>
                  <a:pt x="270926" y="214077"/>
                </a:lnTo>
                <a:lnTo>
                  <a:pt x="406389" y="226514"/>
                </a:lnTo>
                <a:lnTo>
                  <a:pt x="541853" y="236236"/>
                </a:lnTo>
                <a:lnTo>
                  <a:pt x="677316" y="242855"/>
                </a:lnTo>
                <a:lnTo>
                  <a:pt x="812779" y="246124"/>
                </a:lnTo>
                <a:lnTo>
                  <a:pt x="948242" y="245951"/>
                </a:lnTo>
                <a:lnTo>
                  <a:pt x="1083706" y="242404"/>
                </a:lnTo>
                <a:lnTo>
                  <a:pt x="1219169" y="235707"/>
                </a:lnTo>
                <a:lnTo>
                  <a:pt x="1354632" y="226219"/>
                </a:lnTo>
                <a:lnTo>
                  <a:pt x="1490096" y="214417"/>
                </a:lnTo>
                <a:lnTo>
                  <a:pt x="1625559" y="200862"/>
                </a:lnTo>
                <a:lnTo>
                  <a:pt x="1761022" y="186161"/>
                </a:lnTo>
                <a:lnTo>
                  <a:pt x="1896485" y="170935"/>
                </a:lnTo>
                <a:lnTo>
                  <a:pt x="2031949" y="155777"/>
                </a:lnTo>
                <a:lnTo>
                  <a:pt x="2167412" y="141221"/>
                </a:lnTo>
                <a:lnTo>
                  <a:pt x="2302875" y="127707"/>
                </a:lnTo>
                <a:lnTo>
                  <a:pt x="2438339" y="115564"/>
                </a:lnTo>
                <a:lnTo>
                  <a:pt x="2573802" y="104994"/>
                </a:lnTo>
                <a:lnTo>
                  <a:pt x="2709265" y="96068"/>
                </a:lnTo>
                <a:lnTo>
                  <a:pt x="2844728" y="88731"/>
                </a:lnTo>
                <a:lnTo>
                  <a:pt x="2980192" y="82816"/>
                </a:lnTo>
                <a:lnTo>
                  <a:pt x="3115655" y="78067"/>
                </a:lnTo>
                <a:lnTo>
                  <a:pt x="3251118" y="74166"/>
                </a:lnTo>
                <a:lnTo>
                  <a:pt x="3386582" y="70766"/>
                </a:lnTo>
                <a:lnTo>
                  <a:pt x="3522045" y="67527"/>
                </a:lnTo>
                <a:lnTo>
                  <a:pt x="3657508" y="64145"/>
                </a:lnTo>
                <a:lnTo>
                  <a:pt x="3792971" y="60383"/>
                </a:lnTo>
                <a:lnTo>
                  <a:pt x="3928435" y="56096"/>
                </a:lnTo>
                <a:lnTo>
                  <a:pt x="4063898" y="51248"/>
                </a:lnTo>
                <a:lnTo>
                  <a:pt x="4199361" y="45917"/>
                </a:lnTo>
                <a:lnTo>
                  <a:pt x="4334824" y="40294"/>
                </a:lnTo>
                <a:lnTo>
                  <a:pt x="4470288" y="34675"/>
                </a:lnTo>
                <a:lnTo>
                  <a:pt x="4605751" y="29440"/>
                </a:lnTo>
                <a:lnTo>
                  <a:pt x="4741214" y="25025"/>
                </a:lnTo>
                <a:lnTo>
                  <a:pt x="4876678" y="21891"/>
                </a:lnTo>
                <a:lnTo>
                  <a:pt x="5012141" y="20491"/>
                </a:lnTo>
                <a:lnTo>
                  <a:pt x="5147604" y="21233"/>
                </a:lnTo>
                <a:lnTo>
                  <a:pt x="5283067" y="24445"/>
                </a:lnTo>
                <a:lnTo>
                  <a:pt x="5418531" y="30349"/>
                </a:lnTo>
                <a:lnTo>
                  <a:pt x="5553994" y="39037"/>
                </a:lnTo>
                <a:lnTo>
                  <a:pt x="5689457" y="50457"/>
                </a:lnTo>
                <a:lnTo>
                  <a:pt x="5824921" y="64407"/>
                </a:lnTo>
                <a:lnTo>
                  <a:pt x="5960384" y="80543"/>
                </a:lnTo>
                <a:lnTo>
                  <a:pt x="6095847" y="98390"/>
                </a:lnTo>
                <a:lnTo>
                  <a:pt x="6231310" y="117369"/>
                </a:lnTo>
                <a:lnTo>
                  <a:pt x="6366774" y="136826"/>
                </a:lnTo>
                <a:lnTo>
                  <a:pt x="6502237" y="156066"/>
                </a:lnTo>
                <a:lnTo>
                  <a:pt x="6637700" y="174397"/>
                </a:lnTo>
                <a:lnTo>
                  <a:pt x="6773164" y="191162"/>
                </a:lnTo>
                <a:lnTo>
                  <a:pt x="6908627" y="205782"/>
                </a:lnTo>
                <a:lnTo>
                  <a:pt x="7044090" y="217784"/>
                </a:lnTo>
                <a:lnTo>
                  <a:pt x="7179553" y="226827"/>
                </a:lnTo>
                <a:lnTo>
                  <a:pt x="7315017" y="232720"/>
                </a:lnTo>
                <a:lnTo>
                  <a:pt x="7450480" y="235424"/>
                </a:lnTo>
                <a:lnTo>
                  <a:pt x="7585943" y="235057"/>
                </a:lnTo>
                <a:lnTo>
                  <a:pt x="7721406" y="231872"/>
                </a:lnTo>
                <a:lnTo>
                  <a:pt x="7856870" y="226244"/>
                </a:lnTo>
                <a:lnTo>
                  <a:pt x="7992333" y="218632"/>
                </a:lnTo>
                <a:lnTo>
                  <a:pt x="8127796" y="209557"/>
                </a:lnTo>
                <a:lnTo>
                  <a:pt x="8263260" y="199555"/>
                </a:lnTo>
                <a:lnTo>
                  <a:pt x="8398723" y="189147"/>
                </a:lnTo>
                <a:lnTo>
                  <a:pt x="8534186" y="178801"/>
                </a:lnTo>
                <a:lnTo>
                  <a:pt x="8669649" y="168908"/>
                </a:lnTo>
                <a:lnTo>
                  <a:pt x="8805113" y="159754"/>
                </a:lnTo>
                <a:lnTo>
                  <a:pt x="8940576" y="151510"/>
                </a:lnTo>
                <a:lnTo>
                  <a:pt x="9076039" y="144224"/>
                </a:lnTo>
                <a:lnTo>
                  <a:pt x="9211503" y="137828"/>
                </a:lnTo>
                <a:lnTo>
                  <a:pt x="9346966" y="132152"/>
                </a:lnTo>
                <a:lnTo>
                  <a:pt x="9482429" y="126943"/>
                </a:lnTo>
                <a:lnTo>
                  <a:pt x="9617892" y="121894"/>
                </a:lnTo>
                <a:lnTo>
                  <a:pt x="9753356" y="116677"/>
                </a:lnTo>
                <a:lnTo>
                  <a:pt x="9888819" y="110975"/>
                </a:lnTo>
                <a:lnTo>
                  <a:pt x="10024282" y="104513"/>
                </a:lnTo>
                <a:lnTo>
                  <a:pt x="10159746" y="97095"/>
                </a:lnTo>
                <a:lnTo>
                  <a:pt x="10295209" y="88617"/>
                </a:lnTo>
                <a:lnTo>
                  <a:pt x="10430672" y="79094"/>
                </a:lnTo>
                <a:lnTo>
                  <a:pt x="10566135" y="68661"/>
                </a:lnTo>
                <a:lnTo>
                  <a:pt x="10701599" y="57573"/>
                </a:lnTo>
                <a:lnTo>
                  <a:pt x="10837062" y="46197"/>
                </a:lnTo>
                <a:lnTo>
                  <a:pt x="10972525" y="34990"/>
                </a:lnTo>
                <a:lnTo>
                  <a:pt x="11107988" y="24471"/>
                </a:lnTo>
                <a:lnTo>
                  <a:pt x="11243452" y="15192"/>
                </a:lnTo>
                <a:lnTo>
                  <a:pt x="11378915" y="7698"/>
                </a:lnTo>
                <a:lnTo>
                  <a:pt x="11514378" y="2492"/>
                </a:lnTo>
                <a:lnTo>
                  <a:pt x="11649842" y="0"/>
                </a:lnTo>
                <a:lnTo>
                  <a:pt x="11785305" y="541"/>
                </a:lnTo>
                <a:lnTo>
                  <a:pt x="11920768" y="4298"/>
                </a:lnTo>
                <a:lnTo>
                  <a:pt x="12056231" y="11307"/>
                </a:lnTo>
                <a:lnTo>
                  <a:pt x="12191695" y="21447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0" y="6600998"/>
            <a:ext cx="12191695" cy="238322"/>
          </a:xfrm>
          <a:custGeom>
            <a:avLst/>
            <a:gdLst/>
            <a:ahLst/>
            <a:cxnLst/>
            <a:rect l="l" t="t" r="r" b="b"/>
            <a:pathLst>
              <a:path w="12191695" h="238322">
                <a:moveTo>
                  <a:pt x="0" y="190722"/>
                </a:moveTo>
                <a:lnTo>
                  <a:pt x="135463" y="204821"/>
                </a:lnTo>
                <a:lnTo>
                  <a:pt x="270926" y="217096"/>
                </a:lnTo>
                <a:lnTo>
                  <a:pt x="406389" y="226989"/>
                </a:lnTo>
                <a:lnTo>
                  <a:pt x="541853" y="234032"/>
                </a:lnTo>
                <a:lnTo>
                  <a:pt x="677316" y="237878"/>
                </a:lnTo>
                <a:lnTo>
                  <a:pt x="812779" y="238322"/>
                </a:lnTo>
                <a:lnTo>
                  <a:pt x="948242" y="235314"/>
                </a:lnTo>
                <a:lnTo>
                  <a:pt x="1083706" y="228966"/>
                </a:lnTo>
                <a:lnTo>
                  <a:pt x="1219169" y="219541"/>
                </a:lnTo>
                <a:lnTo>
                  <a:pt x="1354632" y="207444"/>
                </a:lnTo>
                <a:lnTo>
                  <a:pt x="1490096" y="193188"/>
                </a:lnTo>
                <a:lnTo>
                  <a:pt x="1625559" y="177371"/>
                </a:lnTo>
                <a:lnTo>
                  <a:pt x="1761022" y="160636"/>
                </a:lnTo>
                <a:lnTo>
                  <a:pt x="1896485" y="143634"/>
                </a:lnTo>
                <a:lnTo>
                  <a:pt x="2031949" y="126985"/>
                </a:lnTo>
                <a:lnTo>
                  <a:pt x="2167412" y="111244"/>
                </a:lnTo>
                <a:lnTo>
                  <a:pt x="2302875" y="96871"/>
                </a:lnTo>
                <a:lnTo>
                  <a:pt x="2438339" y="84207"/>
                </a:lnTo>
                <a:lnTo>
                  <a:pt x="2573802" y="73462"/>
                </a:lnTo>
                <a:lnTo>
                  <a:pt x="2709265" y="64709"/>
                </a:lnTo>
                <a:lnTo>
                  <a:pt x="2844728" y="57891"/>
                </a:lnTo>
                <a:lnTo>
                  <a:pt x="2980192" y="52834"/>
                </a:lnTo>
                <a:lnTo>
                  <a:pt x="3115655" y="49267"/>
                </a:lnTo>
                <a:lnTo>
                  <a:pt x="3251118" y="46856"/>
                </a:lnTo>
                <a:lnTo>
                  <a:pt x="3386582" y="45231"/>
                </a:lnTo>
                <a:lnTo>
                  <a:pt x="3522045" y="44024"/>
                </a:lnTo>
                <a:lnTo>
                  <a:pt x="3657508" y="42902"/>
                </a:lnTo>
                <a:lnTo>
                  <a:pt x="3792971" y="41593"/>
                </a:lnTo>
                <a:lnTo>
                  <a:pt x="3928435" y="39916"/>
                </a:lnTo>
                <a:lnTo>
                  <a:pt x="4063898" y="37794"/>
                </a:lnTo>
                <a:lnTo>
                  <a:pt x="4199361" y="35264"/>
                </a:lnTo>
                <a:lnTo>
                  <a:pt x="4334824" y="32476"/>
                </a:lnTo>
                <a:lnTo>
                  <a:pt x="4470288" y="29683"/>
                </a:lnTo>
                <a:lnTo>
                  <a:pt x="4605751" y="27220"/>
                </a:lnTo>
                <a:lnTo>
                  <a:pt x="4741214" y="25484"/>
                </a:lnTo>
                <a:lnTo>
                  <a:pt x="4876678" y="24895"/>
                </a:lnTo>
                <a:lnTo>
                  <a:pt x="5012141" y="25867"/>
                </a:lnTo>
                <a:lnTo>
                  <a:pt x="5147604" y="28771"/>
                </a:lnTo>
                <a:lnTo>
                  <a:pt x="5283067" y="33905"/>
                </a:lnTo>
                <a:lnTo>
                  <a:pt x="5418531" y="41460"/>
                </a:lnTo>
                <a:lnTo>
                  <a:pt x="5553994" y="51504"/>
                </a:lnTo>
                <a:lnTo>
                  <a:pt x="5689457" y="63964"/>
                </a:lnTo>
                <a:lnTo>
                  <a:pt x="5824921" y="78622"/>
                </a:lnTo>
                <a:lnTo>
                  <a:pt x="5960384" y="95124"/>
                </a:lnTo>
                <a:lnTo>
                  <a:pt x="6095847" y="112989"/>
                </a:lnTo>
                <a:lnTo>
                  <a:pt x="6231310" y="131639"/>
                </a:lnTo>
                <a:lnTo>
                  <a:pt x="6366774" y="150423"/>
                </a:lnTo>
                <a:lnTo>
                  <a:pt x="6502237" y="168658"/>
                </a:lnTo>
                <a:lnTo>
                  <a:pt x="6637700" y="185665"/>
                </a:lnTo>
                <a:lnTo>
                  <a:pt x="6773164" y="200809"/>
                </a:lnTo>
                <a:lnTo>
                  <a:pt x="6908627" y="213535"/>
                </a:lnTo>
                <a:lnTo>
                  <a:pt x="7044090" y="223398"/>
                </a:lnTo>
                <a:lnTo>
                  <a:pt x="7179553" y="230090"/>
                </a:lnTo>
                <a:lnTo>
                  <a:pt x="7315017" y="233454"/>
                </a:lnTo>
                <a:lnTo>
                  <a:pt x="7450480" y="233492"/>
                </a:lnTo>
                <a:lnTo>
                  <a:pt x="7585943" y="230359"/>
                </a:lnTo>
                <a:lnTo>
                  <a:pt x="7721406" y="224353"/>
                </a:lnTo>
                <a:lnTo>
                  <a:pt x="7856870" y="215888"/>
                </a:lnTo>
                <a:lnTo>
                  <a:pt x="7992333" y="205470"/>
                </a:lnTo>
                <a:lnTo>
                  <a:pt x="8127796" y="193658"/>
                </a:lnTo>
                <a:lnTo>
                  <a:pt x="8263260" y="181033"/>
                </a:lnTo>
                <a:lnTo>
                  <a:pt x="8398723" y="168153"/>
                </a:lnTo>
                <a:lnTo>
                  <a:pt x="8534186" y="155526"/>
                </a:lnTo>
                <a:lnTo>
                  <a:pt x="8669649" y="143575"/>
                </a:lnTo>
                <a:lnTo>
                  <a:pt x="8805113" y="132618"/>
                </a:lnTo>
                <a:lnTo>
                  <a:pt x="8940576" y="122852"/>
                </a:lnTo>
                <a:lnTo>
                  <a:pt x="9076039" y="114351"/>
                </a:lnTo>
                <a:lnTo>
                  <a:pt x="9211503" y="107063"/>
                </a:lnTo>
                <a:lnTo>
                  <a:pt x="9346966" y="100832"/>
                </a:lnTo>
                <a:lnTo>
                  <a:pt x="9482429" y="95413"/>
                </a:lnTo>
                <a:lnTo>
                  <a:pt x="9617892" y="90502"/>
                </a:lnTo>
                <a:lnTo>
                  <a:pt x="9753356" y="85770"/>
                </a:lnTo>
                <a:lnTo>
                  <a:pt x="9888819" y="80892"/>
                </a:lnTo>
                <a:lnTo>
                  <a:pt x="10024282" y="75582"/>
                </a:lnTo>
                <a:lnTo>
                  <a:pt x="10159746" y="69623"/>
                </a:lnTo>
                <a:lnTo>
                  <a:pt x="10295209" y="62893"/>
                </a:lnTo>
                <a:lnTo>
                  <a:pt x="10430672" y="55378"/>
                </a:lnTo>
                <a:lnTo>
                  <a:pt x="10566135" y="47183"/>
                </a:lnTo>
                <a:lnTo>
                  <a:pt x="10701599" y="38531"/>
                </a:lnTo>
                <a:lnTo>
                  <a:pt x="10837062" y="29751"/>
                </a:lnTo>
                <a:lnTo>
                  <a:pt x="10972525" y="21260"/>
                </a:lnTo>
                <a:lnTo>
                  <a:pt x="11107988" y="13537"/>
                </a:lnTo>
                <a:lnTo>
                  <a:pt x="11243452" y="7091"/>
                </a:lnTo>
                <a:lnTo>
                  <a:pt x="11378915" y="2425"/>
                </a:lnTo>
                <a:lnTo>
                  <a:pt x="11514378" y="0"/>
                </a:lnTo>
                <a:lnTo>
                  <a:pt x="11649842" y="198"/>
                </a:lnTo>
                <a:lnTo>
                  <a:pt x="11785305" y="3299"/>
                </a:lnTo>
                <a:lnTo>
                  <a:pt x="11920768" y="9446"/>
                </a:lnTo>
                <a:lnTo>
                  <a:pt x="12056231" y="18641"/>
                </a:lnTo>
                <a:lnTo>
                  <a:pt x="12191695" y="30728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46304"/>
            <a:ext cx="11283696" cy="44805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公开案例与建设启示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722376"/>
            <a:ext cx="585216" cy="41148"/>
          </a:xfrm>
          <a:prstGeom prst="rect">
            <a:avLst/>
          </a:prstGeom>
          <a:solidFill>
            <a:srgbClr val="EE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649224"/>
            <a:ext cx="10469880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2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借鉴语义统一、方法资产与平台联动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292608"/>
            <a:ext cx="896112" cy="20116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HiAgent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6647688"/>
            <a:ext cx="10241280" cy="1280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7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企业数据智能体建设规划  /  规划视图  /  2026.10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629400"/>
            <a:ext cx="585216" cy="17373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04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" y="1376172"/>
            <a:ext cx="3547872" cy="4370832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1344168"/>
            <a:ext cx="3547872" cy="43708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7488" y="2477658"/>
            <a:ext cx="921715" cy="163860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767730" y="2334280"/>
            <a:ext cx="890991" cy="409856"/>
          </a:xfrm>
          <a:custGeom>
            <a:avLst/>
            <a:gdLst/>
            <a:ahLst/>
            <a:cxnLst/>
            <a:rect l="l" t="t" r="r" b="b"/>
            <a:pathLst>
              <a:path w="890991" h="409856">
                <a:moveTo>
                  <a:pt x="0" y="204928"/>
                </a:moveTo>
                <a:lnTo>
                  <a:pt x="445495" y="0"/>
                </a:lnTo>
                <a:lnTo>
                  <a:pt x="890991" y="204928"/>
                </a:lnTo>
                <a:lnTo>
                  <a:pt x="445495" y="409856"/>
                </a:lnTo>
                <a:close/>
              </a:path>
            </a:pathLst>
          </a:custGeom>
          <a:solidFill>
            <a:srgbClr val="B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767730" y="2539208"/>
            <a:ext cx="445495" cy="245893"/>
          </a:xfrm>
          <a:custGeom>
            <a:avLst/>
            <a:gdLst/>
            <a:ahLst/>
            <a:cxnLst/>
            <a:rect l="l" t="t" r="r" b="b"/>
            <a:pathLst>
              <a:path w="445495" h="245893">
                <a:moveTo>
                  <a:pt x="0" y="0"/>
                </a:moveTo>
                <a:lnTo>
                  <a:pt x="445495" y="204928"/>
                </a:lnTo>
                <a:lnTo>
                  <a:pt x="445495" y="245893"/>
                </a:lnTo>
                <a:lnTo>
                  <a:pt x="0" y="40965"/>
                </a:lnTo>
                <a:close/>
              </a:path>
            </a:pathLst>
          </a:custGeom>
          <a:solidFill>
            <a:srgbClr val="7FC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213225" y="2539208"/>
            <a:ext cx="445496" cy="245893"/>
          </a:xfrm>
          <a:custGeom>
            <a:avLst/>
            <a:gdLst/>
            <a:ahLst/>
            <a:cxnLst/>
            <a:rect l="l" t="t" r="r" b="b"/>
            <a:pathLst>
              <a:path w="445496" h="245893">
                <a:moveTo>
                  <a:pt x="0" y="204928"/>
                </a:moveTo>
                <a:lnTo>
                  <a:pt x="445496" y="0"/>
                </a:lnTo>
                <a:lnTo>
                  <a:pt x="445496" y="40965"/>
                </a:lnTo>
                <a:lnTo>
                  <a:pt x="0" y="245893"/>
                </a:lnTo>
                <a:close/>
              </a:path>
            </a:pathLst>
          </a:custGeom>
          <a:solidFill>
            <a:srgbClr val="5AA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839419" y="2201143"/>
            <a:ext cx="194584" cy="81930"/>
          </a:xfrm>
          <a:custGeom>
            <a:avLst/>
            <a:gdLst/>
            <a:ahLst/>
            <a:cxnLst/>
            <a:rect l="l" t="t" r="r" b="b"/>
            <a:pathLst>
              <a:path w="194584" h="81930">
                <a:moveTo>
                  <a:pt x="0" y="40965"/>
                </a:moveTo>
                <a:lnTo>
                  <a:pt x="97292" y="0"/>
                </a:lnTo>
                <a:lnTo>
                  <a:pt x="194584" y="40965"/>
                </a:lnTo>
                <a:lnTo>
                  <a:pt x="97292" y="81930"/>
                </a:lnTo>
                <a:close/>
              </a:path>
            </a:pathLst>
          </a:custGeom>
          <a:solidFill>
            <a:srgbClr val="9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839419" y="2242108"/>
            <a:ext cx="97292" cy="225308"/>
          </a:xfrm>
          <a:custGeom>
            <a:avLst/>
            <a:gdLst/>
            <a:ahLst/>
            <a:cxnLst/>
            <a:rect l="l" t="t" r="r" b="b"/>
            <a:pathLst>
              <a:path w="97292" h="225308">
                <a:moveTo>
                  <a:pt x="0" y="0"/>
                </a:moveTo>
                <a:lnTo>
                  <a:pt x="97292" y="40965"/>
                </a:lnTo>
                <a:lnTo>
                  <a:pt x="97292" y="225308"/>
                </a:lnTo>
                <a:lnTo>
                  <a:pt x="0" y="184343"/>
                </a:lnTo>
                <a:close/>
              </a:path>
            </a:pathLst>
          </a:custGeom>
          <a:solidFill>
            <a:srgbClr val="2AB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936711" y="2242108"/>
            <a:ext cx="97292" cy="225308"/>
          </a:xfrm>
          <a:custGeom>
            <a:avLst/>
            <a:gdLst/>
            <a:ahLst/>
            <a:cxnLst/>
            <a:rect l="l" t="t" r="r" b="b"/>
            <a:pathLst>
              <a:path w="97292" h="225308">
                <a:moveTo>
                  <a:pt x="0" y="40965"/>
                </a:moveTo>
                <a:lnTo>
                  <a:pt x="97292" y="0"/>
                </a:lnTo>
                <a:lnTo>
                  <a:pt x="97292" y="184343"/>
                </a:lnTo>
                <a:lnTo>
                  <a:pt x="0" y="225308"/>
                </a:lnTo>
                <a:close/>
              </a:path>
            </a:pathLst>
          </a:custGeom>
          <a:solidFill>
            <a:srgbClr val="11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1085209" y="2006559"/>
            <a:ext cx="194585" cy="81930"/>
          </a:xfrm>
          <a:custGeom>
            <a:avLst/>
            <a:gdLst/>
            <a:ahLst/>
            <a:cxnLst/>
            <a:rect l="l" t="t" r="r" b="b"/>
            <a:pathLst>
              <a:path w="194585" h="81930">
                <a:moveTo>
                  <a:pt x="0" y="40965"/>
                </a:moveTo>
                <a:lnTo>
                  <a:pt x="97293" y="0"/>
                </a:lnTo>
                <a:lnTo>
                  <a:pt x="194585" y="40965"/>
                </a:lnTo>
                <a:lnTo>
                  <a:pt x="97293" y="81930"/>
                </a:lnTo>
                <a:close/>
              </a:path>
            </a:pathLst>
          </a:custGeom>
          <a:solidFill>
            <a:srgbClr val="9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1085209" y="2047524"/>
            <a:ext cx="97293" cy="419892"/>
          </a:xfrm>
          <a:custGeom>
            <a:avLst/>
            <a:gdLst/>
            <a:ahLst/>
            <a:cxnLst/>
            <a:rect l="l" t="t" r="r" b="b"/>
            <a:pathLst>
              <a:path w="97293" h="419892">
                <a:moveTo>
                  <a:pt x="0" y="0"/>
                </a:moveTo>
                <a:lnTo>
                  <a:pt x="97293" y="40965"/>
                </a:lnTo>
                <a:lnTo>
                  <a:pt x="97293" y="419892"/>
                </a:lnTo>
                <a:lnTo>
                  <a:pt x="0" y="378927"/>
                </a:lnTo>
                <a:close/>
              </a:path>
            </a:pathLst>
          </a:custGeom>
          <a:solidFill>
            <a:srgbClr val="2AB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182502" y="2047524"/>
            <a:ext cx="97292" cy="419892"/>
          </a:xfrm>
          <a:custGeom>
            <a:avLst/>
            <a:gdLst/>
            <a:ahLst/>
            <a:cxnLst/>
            <a:rect l="l" t="t" r="r" b="b"/>
            <a:pathLst>
              <a:path w="97292" h="419892">
                <a:moveTo>
                  <a:pt x="0" y="40965"/>
                </a:moveTo>
                <a:lnTo>
                  <a:pt x="97292" y="0"/>
                </a:lnTo>
                <a:lnTo>
                  <a:pt x="97292" y="378927"/>
                </a:lnTo>
                <a:lnTo>
                  <a:pt x="0" y="419892"/>
                </a:lnTo>
                <a:close/>
              </a:path>
            </a:pathLst>
          </a:custGeom>
          <a:solidFill>
            <a:srgbClr val="11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1331000" y="1750527"/>
            <a:ext cx="194584" cy="81930"/>
          </a:xfrm>
          <a:custGeom>
            <a:avLst/>
            <a:gdLst/>
            <a:ahLst/>
            <a:cxnLst/>
            <a:rect l="l" t="t" r="r" b="b"/>
            <a:pathLst>
              <a:path w="194584" h="81930">
                <a:moveTo>
                  <a:pt x="0" y="40965"/>
                </a:moveTo>
                <a:lnTo>
                  <a:pt x="97292" y="0"/>
                </a:lnTo>
                <a:lnTo>
                  <a:pt x="194584" y="40965"/>
                </a:lnTo>
                <a:lnTo>
                  <a:pt x="97292" y="81930"/>
                </a:lnTo>
                <a:close/>
              </a:path>
            </a:pathLst>
          </a:custGeom>
          <a:solidFill>
            <a:srgbClr val="9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1331000" y="1791492"/>
            <a:ext cx="97292" cy="675924"/>
          </a:xfrm>
          <a:custGeom>
            <a:avLst/>
            <a:gdLst/>
            <a:ahLst/>
            <a:cxnLst/>
            <a:rect l="l" t="t" r="r" b="b"/>
            <a:pathLst>
              <a:path w="97292" h="675924">
                <a:moveTo>
                  <a:pt x="0" y="0"/>
                </a:moveTo>
                <a:lnTo>
                  <a:pt x="97292" y="40965"/>
                </a:lnTo>
                <a:lnTo>
                  <a:pt x="97292" y="675924"/>
                </a:lnTo>
                <a:lnTo>
                  <a:pt x="0" y="634959"/>
                </a:lnTo>
                <a:close/>
              </a:path>
            </a:pathLst>
          </a:custGeom>
          <a:solidFill>
            <a:srgbClr val="2AB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1428292" y="1791492"/>
            <a:ext cx="97292" cy="675924"/>
          </a:xfrm>
          <a:custGeom>
            <a:avLst/>
            <a:gdLst/>
            <a:ahLst/>
            <a:cxnLst/>
            <a:rect l="l" t="t" r="r" b="b"/>
            <a:pathLst>
              <a:path w="97292" h="675924">
                <a:moveTo>
                  <a:pt x="0" y="40965"/>
                </a:moveTo>
                <a:lnTo>
                  <a:pt x="97292" y="0"/>
                </a:lnTo>
                <a:lnTo>
                  <a:pt x="97292" y="634959"/>
                </a:lnTo>
                <a:lnTo>
                  <a:pt x="0" y="675924"/>
                </a:lnTo>
                <a:close/>
              </a:path>
            </a:pathLst>
          </a:custGeom>
          <a:solidFill>
            <a:srgbClr val="11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83664" y="1801368"/>
            <a:ext cx="1965960" cy="42062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麦当劳中国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3664" y="2359152"/>
            <a:ext cx="1965960" cy="26517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指标中台实践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" y="2999232"/>
            <a:ext cx="3108960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原有问题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" y="3364992"/>
            <a:ext cx="3108960" cy="56692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5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表多、口径散、消费链路分散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" y="4096512"/>
            <a:ext cx="3108960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关键做法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" y="4462272"/>
            <a:ext cx="3108960" cy="56692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标准指标定义与统一API消费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" y="5193792"/>
            <a:ext cx="3127248" cy="338328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5225796"/>
            <a:ext cx="2944368" cy="27432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建设指标契约与复用服务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5806440"/>
            <a:ext cx="3127248" cy="1645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85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rPr u="none">
                <a:solidFill>
                  <a:srgbClr val="546D89"/>
                </a:solidFill>
                <a:hlinkClick r:id="rId2"/>
              </a:rPr>
              <a:t>C1  查看公开来源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38828" y="1376172"/>
            <a:ext cx="3547872" cy="4370832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315968" y="1344168"/>
            <a:ext cx="3547872" cy="43708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570536" y="2477658"/>
            <a:ext cx="921715" cy="163860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4703673" y="1689079"/>
            <a:ext cx="655442" cy="174102"/>
          </a:xfrm>
          <a:custGeom>
            <a:avLst/>
            <a:gdLst/>
            <a:ahLst/>
            <a:cxnLst/>
            <a:rect l="l" t="t" r="r" b="b"/>
            <a:pathLst>
              <a:path w="655442" h="174102">
                <a:moveTo>
                  <a:pt x="0" y="71689"/>
                </a:moveTo>
                <a:lnTo>
                  <a:pt x="532547" y="0"/>
                </a:lnTo>
                <a:lnTo>
                  <a:pt x="655442" y="92172"/>
                </a:lnTo>
                <a:lnTo>
                  <a:pt x="122895" y="174102"/>
                </a:lnTo>
                <a:close/>
              </a:path>
            </a:pathLst>
          </a:custGeom>
          <a:solidFill>
            <a:srgbClr val="B1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5236220" y="1689079"/>
            <a:ext cx="122895" cy="727131"/>
          </a:xfrm>
          <a:custGeom>
            <a:avLst/>
            <a:gdLst/>
            <a:ahLst/>
            <a:cxnLst/>
            <a:rect l="l" t="t" r="r" b="b"/>
            <a:pathLst>
              <a:path w="122895" h="727131">
                <a:moveTo>
                  <a:pt x="0" y="0"/>
                </a:moveTo>
                <a:lnTo>
                  <a:pt x="122895" y="92172"/>
                </a:lnTo>
                <a:lnTo>
                  <a:pt x="122895" y="727131"/>
                </a:lnTo>
                <a:lnTo>
                  <a:pt x="0" y="655442"/>
                </a:lnTo>
                <a:close/>
              </a:path>
            </a:pathLst>
          </a:custGeom>
          <a:solidFill>
            <a:srgbClr val="147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4703673" y="1689079"/>
            <a:ext cx="532547" cy="737372"/>
          </a:xfrm>
          <a:custGeom>
            <a:avLst/>
            <a:gdLst/>
            <a:ahLst/>
            <a:cxnLst/>
            <a:rect l="l" t="t" r="r" b="b"/>
            <a:pathLst>
              <a:path w="532547" h="737372">
                <a:moveTo>
                  <a:pt x="0" y="71689"/>
                </a:moveTo>
                <a:lnTo>
                  <a:pt x="532547" y="0"/>
                </a:lnTo>
                <a:lnTo>
                  <a:pt x="532547" y="655442"/>
                </a:lnTo>
                <a:lnTo>
                  <a:pt x="0" y="737372"/>
                </a:lnTo>
                <a:close/>
              </a:path>
            </a:pathLst>
          </a:custGeom>
          <a:solidFill>
            <a:srgbClr val="52B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V="1">
            <a:off x="4795845" y="1893905"/>
            <a:ext cx="337962" cy="51206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795845" y="2037283"/>
            <a:ext cx="337962" cy="51206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4795845" y="2180661"/>
            <a:ext cx="337962" cy="51206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754880" y="2037283"/>
            <a:ext cx="440375" cy="21506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92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&lt;/&gt;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96712" y="1801368"/>
            <a:ext cx="1965960" cy="42062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菜鸟 SuperETL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96712" y="2359152"/>
            <a:ext cx="1965960" cy="26517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数据研发实践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35424" y="2999232"/>
            <a:ext cx="3108960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原有问题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35424" y="3364992"/>
            <a:ext cx="3108960" cy="56692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5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跨平台研发，规范与验证难落地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35424" y="4096512"/>
            <a:ext cx="3108960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关键做法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35424" y="4462272"/>
            <a:ext cx="3108960" cy="56692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专业方法沉淀、检查清单与执行约束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26280" y="5193792"/>
            <a:ext cx="3127248" cy="338328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17720" y="5225796"/>
            <a:ext cx="2944368" cy="27432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把规则和模板转成任务约束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26280" y="5806440"/>
            <a:ext cx="3127248" cy="1645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85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rPr u="none">
                <a:solidFill>
                  <a:srgbClr val="546D89"/>
                </a:solidFill>
                <a:hlinkClick r:id="rId3"/>
              </a:rPr>
              <a:t>C2  查看公开来源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151876" y="1376172"/>
            <a:ext cx="3547872" cy="4370832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129016" y="1344168"/>
            <a:ext cx="3547872" cy="43708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383584" y="2477658"/>
            <a:ext cx="921715" cy="163860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8342619" y="2201143"/>
            <a:ext cx="942198" cy="395723"/>
          </a:xfrm>
          <a:custGeom>
            <a:avLst/>
            <a:gdLst/>
            <a:ahLst/>
            <a:cxnLst/>
            <a:rect l="l" t="t" r="r" b="b"/>
            <a:pathLst>
              <a:path w="942198" h="395723">
                <a:moveTo>
                  <a:pt x="0" y="197862"/>
                </a:moveTo>
                <a:lnTo>
                  <a:pt x="471099" y="0"/>
                </a:lnTo>
                <a:lnTo>
                  <a:pt x="942198" y="197862"/>
                </a:lnTo>
                <a:lnTo>
                  <a:pt x="471099" y="395723"/>
                </a:lnTo>
                <a:close/>
              </a:path>
            </a:pathLst>
          </a:custGeom>
          <a:solidFill>
            <a:srgbClr val="B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8342619" y="2399005"/>
            <a:ext cx="471099" cy="284912"/>
          </a:xfrm>
          <a:custGeom>
            <a:avLst/>
            <a:gdLst/>
            <a:ahLst/>
            <a:cxnLst/>
            <a:rect l="l" t="t" r="r" b="b"/>
            <a:pathLst>
              <a:path w="471099" h="284912">
                <a:moveTo>
                  <a:pt x="0" y="0"/>
                </a:moveTo>
                <a:lnTo>
                  <a:pt x="471099" y="197861"/>
                </a:lnTo>
                <a:lnTo>
                  <a:pt x="471099" y="284912"/>
                </a:lnTo>
                <a:lnTo>
                  <a:pt x="0" y="87051"/>
                </a:lnTo>
                <a:close/>
              </a:path>
            </a:pathLst>
          </a:custGeom>
          <a:solidFill>
            <a:srgbClr val="6D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8813718" y="2399005"/>
            <a:ext cx="471099" cy="284912"/>
          </a:xfrm>
          <a:custGeom>
            <a:avLst/>
            <a:gdLst/>
            <a:ahLst/>
            <a:cxnLst/>
            <a:rect l="l" t="t" r="r" b="b"/>
            <a:pathLst>
              <a:path w="471099" h="284912">
                <a:moveTo>
                  <a:pt x="0" y="197861"/>
                </a:moveTo>
                <a:lnTo>
                  <a:pt x="471099" y="0"/>
                </a:lnTo>
                <a:lnTo>
                  <a:pt x="471099" y="87051"/>
                </a:lnTo>
                <a:lnTo>
                  <a:pt x="0" y="284912"/>
                </a:lnTo>
                <a:close/>
              </a:path>
            </a:pathLst>
          </a:custGeom>
          <a:solidFill>
            <a:srgbClr val="30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8424550" y="2006559"/>
            <a:ext cx="778337" cy="326902"/>
          </a:xfrm>
          <a:custGeom>
            <a:avLst/>
            <a:gdLst/>
            <a:ahLst/>
            <a:cxnLst/>
            <a:rect l="l" t="t" r="r" b="b"/>
            <a:pathLst>
              <a:path w="778337" h="326902">
                <a:moveTo>
                  <a:pt x="0" y="163451"/>
                </a:moveTo>
                <a:lnTo>
                  <a:pt x="389168" y="0"/>
                </a:lnTo>
                <a:lnTo>
                  <a:pt x="778337" y="163451"/>
                </a:lnTo>
                <a:lnTo>
                  <a:pt x="389168" y="326902"/>
                </a:lnTo>
                <a:close/>
              </a:path>
            </a:pathLst>
          </a:custGeom>
          <a:solidFill>
            <a:srgbClr val="94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8424550" y="2170010"/>
            <a:ext cx="389168" cy="250501"/>
          </a:xfrm>
          <a:custGeom>
            <a:avLst/>
            <a:gdLst/>
            <a:ahLst/>
            <a:cxnLst/>
            <a:rect l="l" t="t" r="r" b="b"/>
            <a:pathLst>
              <a:path w="389168" h="250501">
                <a:moveTo>
                  <a:pt x="0" y="0"/>
                </a:moveTo>
                <a:lnTo>
                  <a:pt x="389168" y="163451"/>
                </a:lnTo>
                <a:lnTo>
                  <a:pt x="389168" y="250501"/>
                </a:lnTo>
                <a:lnTo>
                  <a:pt x="0" y="87051"/>
                </a:lnTo>
                <a:close/>
              </a:path>
            </a:pathLst>
          </a:custGeom>
          <a:solidFill>
            <a:srgbClr val="3F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8813718" y="2170010"/>
            <a:ext cx="389169" cy="250501"/>
          </a:xfrm>
          <a:custGeom>
            <a:avLst/>
            <a:gdLst/>
            <a:ahLst/>
            <a:cxnLst/>
            <a:rect l="l" t="t" r="r" b="b"/>
            <a:pathLst>
              <a:path w="389169" h="250501">
                <a:moveTo>
                  <a:pt x="0" y="163451"/>
                </a:moveTo>
                <a:lnTo>
                  <a:pt x="389169" y="0"/>
                </a:lnTo>
                <a:lnTo>
                  <a:pt x="389169" y="87051"/>
                </a:lnTo>
                <a:lnTo>
                  <a:pt x="0" y="250501"/>
                </a:lnTo>
                <a:close/>
              </a:path>
            </a:pathLst>
          </a:custGeom>
          <a:solidFill>
            <a:srgbClr val="197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8516721" y="1811975"/>
            <a:ext cx="593994" cy="249477"/>
          </a:xfrm>
          <a:custGeom>
            <a:avLst/>
            <a:gdLst/>
            <a:ahLst/>
            <a:cxnLst/>
            <a:rect l="l" t="t" r="r" b="b"/>
            <a:pathLst>
              <a:path w="593994" h="249477">
                <a:moveTo>
                  <a:pt x="0" y="124738"/>
                </a:moveTo>
                <a:lnTo>
                  <a:pt x="296997" y="0"/>
                </a:lnTo>
                <a:lnTo>
                  <a:pt x="593994" y="124738"/>
                </a:lnTo>
                <a:lnTo>
                  <a:pt x="296997" y="249477"/>
                </a:lnTo>
                <a:close/>
              </a:path>
            </a:pathLst>
          </a:custGeom>
          <a:solidFill>
            <a:srgbClr val="57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8516721" y="1936713"/>
            <a:ext cx="296997" cy="211790"/>
          </a:xfrm>
          <a:custGeom>
            <a:avLst/>
            <a:gdLst/>
            <a:ahLst/>
            <a:cxnLst/>
            <a:rect l="l" t="t" r="r" b="b"/>
            <a:pathLst>
              <a:path w="296997" h="211790">
                <a:moveTo>
                  <a:pt x="0" y="0"/>
                </a:moveTo>
                <a:lnTo>
                  <a:pt x="296997" y="124739"/>
                </a:lnTo>
                <a:lnTo>
                  <a:pt x="296997" y="211790"/>
                </a:lnTo>
                <a:lnTo>
                  <a:pt x="0" y="87051"/>
                </a:lnTo>
                <a:close/>
              </a:path>
            </a:pathLst>
          </a:custGeom>
          <a:solidFill>
            <a:srgbClr val="148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8813718" y="1936713"/>
            <a:ext cx="296997" cy="211790"/>
          </a:xfrm>
          <a:custGeom>
            <a:avLst/>
            <a:gdLst/>
            <a:ahLst/>
            <a:cxnLst/>
            <a:rect l="l" t="t" r="r" b="b"/>
            <a:pathLst>
              <a:path w="296997" h="211790">
                <a:moveTo>
                  <a:pt x="0" y="124739"/>
                </a:moveTo>
                <a:lnTo>
                  <a:pt x="296997" y="0"/>
                </a:lnTo>
                <a:lnTo>
                  <a:pt x="296997" y="87051"/>
                </a:lnTo>
                <a:lnTo>
                  <a:pt x="0" y="211790"/>
                </a:lnTo>
                <a:close/>
              </a:path>
            </a:pathLst>
          </a:custGeom>
          <a:solidFill>
            <a:srgbClr val="0A5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8660099" y="1771009"/>
            <a:ext cx="194584" cy="89509"/>
          </a:xfrm>
          <a:custGeom>
            <a:avLst/>
            <a:gdLst/>
            <a:ahLst/>
            <a:cxnLst/>
            <a:rect l="l" t="t" r="r" b="b"/>
            <a:pathLst>
              <a:path w="194584" h="89509">
                <a:moveTo>
                  <a:pt x="0" y="44755"/>
                </a:moveTo>
                <a:lnTo>
                  <a:pt x="97292" y="0"/>
                </a:lnTo>
                <a:lnTo>
                  <a:pt x="194584" y="44755"/>
                </a:lnTo>
                <a:lnTo>
                  <a:pt x="97292" y="89509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8660099" y="1815764"/>
            <a:ext cx="97292" cy="188132"/>
          </a:xfrm>
          <a:custGeom>
            <a:avLst/>
            <a:gdLst/>
            <a:ahLst/>
            <a:cxnLst/>
            <a:rect l="l" t="t" r="r" b="b"/>
            <a:pathLst>
              <a:path w="97292" h="188132">
                <a:moveTo>
                  <a:pt x="0" y="0"/>
                </a:moveTo>
                <a:lnTo>
                  <a:pt x="97292" y="44754"/>
                </a:lnTo>
                <a:lnTo>
                  <a:pt x="97292" y="188132"/>
                </a:lnTo>
                <a:lnTo>
                  <a:pt x="0" y="143378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8757391" y="1815764"/>
            <a:ext cx="97292" cy="188132"/>
          </a:xfrm>
          <a:custGeom>
            <a:avLst/>
            <a:gdLst/>
            <a:ahLst/>
            <a:cxnLst/>
            <a:rect l="l" t="t" r="r" b="b"/>
            <a:pathLst>
              <a:path w="97292" h="188132">
                <a:moveTo>
                  <a:pt x="0" y="44754"/>
                </a:moveTo>
                <a:lnTo>
                  <a:pt x="97292" y="0"/>
                </a:lnTo>
                <a:lnTo>
                  <a:pt x="97292" y="143378"/>
                </a:lnTo>
                <a:lnTo>
                  <a:pt x="0" y="188132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8916131" y="1863181"/>
            <a:ext cx="194584" cy="89509"/>
          </a:xfrm>
          <a:custGeom>
            <a:avLst/>
            <a:gdLst/>
            <a:ahLst/>
            <a:cxnLst/>
            <a:rect l="l" t="t" r="r" b="b"/>
            <a:pathLst>
              <a:path w="194584" h="89509">
                <a:moveTo>
                  <a:pt x="0" y="44754"/>
                </a:moveTo>
                <a:lnTo>
                  <a:pt x="97292" y="0"/>
                </a:lnTo>
                <a:lnTo>
                  <a:pt x="194584" y="44754"/>
                </a:lnTo>
                <a:lnTo>
                  <a:pt x="97292" y="89509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8916131" y="1907935"/>
            <a:ext cx="97292" cy="188133"/>
          </a:xfrm>
          <a:custGeom>
            <a:avLst/>
            <a:gdLst/>
            <a:ahLst/>
            <a:cxnLst/>
            <a:rect l="l" t="t" r="r" b="b"/>
            <a:pathLst>
              <a:path w="97292" h="188133">
                <a:moveTo>
                  <a:pt x="0" y="0"/>
                </a:moveTo>
                <a:lnTo>
                  <a:pt x="97292" y="44755"/>
                </a:lnTo>
                <a:lnTo>
                  <a:pt x="97292" y="188133"/>
                </a:lnTo>
                <a:lnTo>
                  <a:pt x="0" y="143378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9013423" y="1907935"/>
            <a:ext cx="97292" cy="188133"/>
          </a:xfrm>
          <a:custGeom>
            <a:avLst/>
            <a:gdLst/>
            <a:ahLst/>
            <a:cxnLst/>
            <a:rect l="l" t="t" r="r" b="b"/>
            <a:pathLst>
              <a:path w="97292" h="188133">
                <a:moveTo>
                  <a:pt x="0" y="44755"/>
                </a:moveTo>
                <a:lnTo>
                  <a:pt x="97292" y="0"/>
                </a:lnTo>
                <a:lnTo>
                  <a:pt x="97292" y="143378"/>
                </a:lnTo>
                <a:lnTo>
                  <a:pt x="0" y="188133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8752271" y="1986076"/>
            <a:ext cx="194584" cy="89509"/>
          </a:xfrm>
          <a:custGeom>
            <a:avLst/>
            <a:gdLst/>
            <a:ahLst/>
            <a:cxnLst/>
            <a:rect l="l" t="t" r="r" b="b"/>
            <a:pathLst>
              <a:path w="194584" h="89509">
                <a:moveTo>
                  <a:pt x="0" y="44755"/>
                </a:moveTo>
                <a:lnTo>
                  <a:pt x="97292" y="0"/>
                </a:lnTo>
                <a:lnTo>
                  <a:pt x="194584" y="44755"/>
                </a:lnTo>
                <a:lnTo>
                  <a:pt x="97292" y="89509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8752271" y="2030831"/>
            <a:ext cx="97292" cy="188132"/>
          </a:xfrm>
          <a:custGeom>
            <a:avLst/>
            <a:gdLst/>
            <a:ahLst/>
            <a:cxnLst/>
            <a:rect l="l" t="t" r="r" b="b"/>
            <a:pathLst>
              <a:path w="97292" h="188132">
                <a:moveTo>
                  <a:pt x="0" y="0"/>
                </a:moveTo>
                <a:lnTo>
                  <a:pt x="97292" y="44754"/>
                </a:lnTo>
                <a:lnTo>
                  <a:pt x="97292" y="188132"/>
                </a:lnTo>
                <a:lnTo>
                  <a:pt x="0" y="143378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8849563" y="2030831"/>
            <a:ext cx="97292" cy="188132"/>
          </a:xfrm>
          <a:custGeom>
            <a:avLst/>
            <a:gdLst/>
            <a:ahLst/>
            <a:cxnLst/>
            <a:rect l="l" t="t" r="r" b="b"/>
            <a:pathLst>
              <a:path w="97292" h="188132">
                <a:moveTo>
                  <a:pt x="0" y="44754"/>
                </a:moveTo>
                <a:lnTo>
                  <a:pt x="97292" y="0"/>
                </a:lnTo>
                <a:lnTo>
                  <a:pt x="97292" y="143378"/>
                </a:lnTo>
                <a:lnTo>
                  <a:pt x="0" y="188132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509760" y="1801368"/>
            <a:ext cx="1965960" cy="42062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火山 DataLeap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509760" y="2359152"/>
            <a:ext cx="1965960" cy="26517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官方产品能力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348472" y="2999232"/>
            <a:ext cx="3108960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原有问题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348472" y="3364992"/>
            <a:ext cx="3108960" cy="56692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5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找数、开发与运维跨专业协作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48472" y="4096512"/>
            <a:ext cx="3108960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关键做法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348472" y="4462272"/>
            <a:ext cx="3108960" cy="56692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结合元数据和日志提供专业助手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339328" y="5193792"/>
            <a:ext cx="3127248" cy="338328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430768" y="5225796"/>
            <a:ext cx="2944368" cy="27432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按角色复用平台事实与执行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339328" y="5806440"/>
            <a:ext cx="3127248" cy="1645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85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rPr u="none">
                <a:solidFill>
                  <a:srgbClr val="546D89"/>
                </a:solidFill>
                <a:hlinkClick r:id="rId4"/>
              </a:rPr>
              <a:t>C3  查看公开来源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61772" y="6112764"/>
            <a:ext cx="11247120" cy="33832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438912" y="6080760"/>
            <a:ext cx="11247120" cy="338328"/>
          </a:xfrm>
          <a:prstGeom prst="roundRect">
            <a:avLst>
              <a:gd name="adj" fmla="val 5500"/>
            </a:avLst>
          </a:prstGeom>
          <a:solidFill>
            <a:srgbClr val="EEF7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85216" y="6117336"/>
            <a:ext cx="10954512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案例支持建设路径；披露归属原案例，不作为本项目收益或HiAgent功能已经具备的证明。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6346471"/>
            <a:ext cx="12191695" cy="235953"/>
          </a:xfrm>
          <a:custGeom>
            <a:avLst/>
            <a:gdLst/>
            <a:ahLst/>
            <a:cxnLst/>
            <a:rect l="l" t="t" r="r" b="b"/>
            <a:pathLst>
              <a:path w="12191695" h="235953">
                <a:moveTo>
                  <a:pt x="0" y="127481"/>
                </a:moveTo>
                <a:lnTo>
                  <a:pt x="135463" y="147046"/>
                </a:lnTo>
                <a:lnTo>
                  <a:pt x="270926" y="165914"/>
                </a:lnTo>
                <a:lnTo>
                  <a:pt x="406389" y="183426"/>
                </a:lnTo>
                <a:lnTo>
                  <a:pt x="541853" y="199000"/>
                </a:lnTo>
                <a:lnTo>
                  <a:pt x="677316" y="212159"/>
                </a:lnTo>
                <a:lnTo>
                  <a:pt x="812779" y="222557"/>
                </a:lnTo>
                <a:lnTo>
                  <a:pt x="948242" y="229995"/>
                </a:lnTo>
                <a:lnTo>
                  <a:pt x="1083706" y="234426"/>
                </a:lnTo>
                <a:lnTo>
                  <a:pt x="1219169" y="235953"/>
                </a:lnTo>
                <a:lnTo>
                  <a:pt x="1354632" y="234812"/>
                </a:lnTo>
                <a:lnTo>
                  <a:pt x="1490096" y="231352"/>
                </a:lnTo>
                <a:lnTo>
                  <a:pt x="1625559" y="226009"/>
                </a:lnTo>
                <a:lnTo>
                  <a:pt x="1761022" y="219267"/>
                </a:lnTo>
                <a:lnTo>
                  <a:pt x="1896485" y="211626"/>
                </a:lnTo>
                <a:lnTo>
                  <a:pt x="2031949" y="203564"/>
                </a:lnTo>
                <a:lnTo>
                  <a:pt x="2167412" y="195508"/>
                </a:lnTo>
                <a:lnTo>
                  <a:pt x="2302875" y="187800"/>
                </a:lnTo>
                <a:lnTo>
                  <a:pt x="2438339" y="180682"/>
                </a:lnTo>
                <a:lnTo>
                  <a:pt x="2573802" y="174280"/>
                </a:lnTo>
                <a:lnTo>
                  <a:pt x="2709265" y="168601"/>
                </a:lnTo>
                <a:lnTo>
                  <a:pt x="2844728" y="163541"/>
                </a:lnTo>
                <a:lnTo>
                  <a:pt x="2980192" y="158900"/>
                </a:lnTo>
                <a:lnTo>
                  <a:pt x="3115655" y="154402"/>
                </a:lnTo>
                <a:lnTo>
                  <a:pt x="3251118" y="149724"/>
                </a:lnTo>
                <a:lnTo>
                  <a:pt x="3386582" y="144534"/>
                </a:lnTo>
                <a:lnTo>
                  <a:pt x="3522045" y="138515"/>
                </a:lnTo>
                <a:lnTo>
                  <a:pt x="3657508" y="131408"/>
                </a:lnTo>
                <a:lnTo>
                  <a:pt x="3792971" y="123031"/>
                </a:lnTo>
                <a:lnTo>
                  <a:pt x="3928435" y="113309"/>
                </a:lnTo>
                <a:lnTo>
                  <a:pt x="4063898" y="102287"/>
                </a:lnTo>
                <a:lnTo>
                  <a:pt x="4199361" y="90138"/>
                </a:lnTo>
                <a:lnTo>
                  <a:pt x="4334824" y="77155"/>
                </a:lnTo>
                <a:lnTo>
                  <a:pt x="4470288" y="63745"/>
                </a:lnTo>
                <a:lnTo>
                  <a:pt x="4605751" y="50406"/>
                </a:lnTo>
                <a:lnTo>
                  <a:pt x="4741214" y="37696"/>
                </a:lnTo>
                <a:lnTo>
                  <a:pt x="4876678" y="26202"/>
                </a:lnTo>
                <a:lnTo>
                  <a:pt x="5012141" y="16503"/>
                </a:lnTo>
                <a:lnTo>
                  <a:pt x="5147604" y="9131"/>
                </a:lnTo>
                <a:lnTo>
                  <a:pt x="5283067" y="4538"/>
                </a:lnTo>
                <a:lnTo>
                  <a:pt x="5418531" y="3064"/>
                </a:lnTo>
                <a:lnTo>
                  <a:pt x="5553994" y="4912"/>
                </a:lnTo>
                <a:lnTo>
                  <a:pt x="5689457" y="10132"/>
                </a:lnTo>
                <a:lnTo>
                  <a:pt x="5824921" y="18617"/>
                </a:lnTo>
                <a:lnTo>
                  <a:pt x="5960384" y="30106"/>
                </a:lnTo>
                <a:lnTo>
                  <a:pt x="6095847" y="44193"/>
                </a:lnTo>
                <a:lnTo>
                  <a:pt x="6231310" y="60357"/>
                </a:lnTo>
                <a:lnTo>
                  <a:pt x="6366774" y="77984"/>
                </a:lnTo>
                <a:lnTo>
                  <a:pt x="6502237" y="96410"/>
                </a:lnTo>
                <a:lnTo>
                  <a:pt x="6637700" y="114953"/>
                </a:lnTo>
                <a:lnTo>
                  <a:pt x="6773164" y="132954"/>
                </a:lnTo>
                <a:lnTo>
                  <a:pt x="6908627" y="149814"/>
                </a:lnTo>
                <a:lnTo>
                  <a:pt x="7044090" y="165027"/>
                </a:lnTo>
                <a:lnTo>
                  <a:pt x="7179553" y="178204"/>
                </a:lnTo>
                <a:lnTo>
                  <a:pt x="7315017" y="189090"/>
                </a:lnTo>
                <a:lnTo>
                  <a:pt x="7450480" y="197574"/>
                </a:lnTo>
                <a:lnTo>
                  <a:pt x="7585943" y="203682"/>
                </a:lnTo>
                <a:lnTo>
                  <a:pt x="7721406" y="207573"/>
                </a:lnTo>
                <a:lnTo>
                  <a:pt x="7856870" y="209512"/>
                </a:lnTo>
                <a:lnTo>
                  <a:pt x="7992333" y="209848"/>
                </a:lnTo>
                <a:lnTo>
                  <a:pt x="8127796" y="208978"/>
                </a:lnTo>
                <a:lnTo>
                  <a:pt x="8263260" y="207316"/>
                </a:lnTo>
                <a:lnTo>
                  <a:pt x="8398723" y="205256"/>
                </a:lnTo>
                <a:lnTo>
                  <a:pt x="8534186" y="203141"/>
                </a:lnTo>
                <a:lnTo>
                  <a:pt x="8669649" y="201238"/>
                </a:lnTo>
                <a:lnTo>
                  <a:pt x="8805113" y="199711"/>
                </a:lnTo>
                <a:lnTo>
                  <a:pt x="8940576" y="198616"/>
                </a:lnTo>
                <a:lnTo>
                  <a:pt x="9076039" y="197894"/>
                </a:lnTo>
                <a:lnTo>
                  <a:pt x="9211503" y="197378"/>
                </a:lnTo>
                <a:lnTo>
                  <a:pt x="9346966" y="196808"/>
                </a:lnTo>
                <a:lnTo>
                  <a:pt x="9482429" y="195855"/>
                </a:lnTo>
                <a:lnTo>
                  <a:pt x="9617892" y="194147"/>
                </a:lnTo>
                <a:lnTo>
                  <a:pt x="9753356" y="191305"/>
                </a:lnTo>
                <a:lnTo>
                  <a:pt x="9888819" y="186977"/>
                </a:lnTo>
                <a:lnTo>
                  <a:pt x="10024282" y="180869"/>
                </a:lnTo>
                <a:lnTo>
                  <a:pt x="10159746" y="172776"/>
                </a:lnTo>
                <a:lnTo>
                  <a:pt x="10295209" y="162608"/>
                </a:lnTo>
                <a:lnTo>
                  <a:pt x="10430672" y="150402"/>
                </a:lnTo>
                <a:lnTo>
                  <a:pt x="10566135" y="136335"/>
                </a:lnTo>
                <a:lnTo>
                  <a:pt x="10701599" y="120717"/>
                </a:lnTo>
                <a:lnTo>
                  <a:pt x="10837062" y="103984"/>
                </a:lnTo>
                <a:lnTo>
                  <a:pt x="10972525" y="86673"/>
                </a:lnTo>
                <a:lnTo>
                  <a:pt x="11107988" y="69396"/>
                </a:lnTo>
                <a:lnTo>
                  <a:pt x="11243452" y="52806"/>
                </a:lnTo>
                <a:lnTo>
                  <a:pt x="11378915" y="37558"/>
                </a:lnTo>
                <a:lnTo>
                  <a:pt x="11514378" y="24274"/>
                </a:lnTo>
                <a:lnTo>
                  <a:pt x="11649842" y="13501"/>
                </a:lnTo>
                <a:lnTo>
                  <a:pt x="11785305" y="5683"/>
                </a:lnTo>
                <a:lnTo>
                  <a:pt x="11920768" y="1129"/>
                </a:lnTo>
                <a:lnTo>
                  <a:pt x="12056231" y="0"/>
                </a:lnTo>
                <a:lnTo>
                  <a:pt x="12191695" y="2300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6405649"/>
            <a:ext cx="12191695" cy="245182"/>
          </a:xfrm>
          <a:custGeom>
            <a:avLst/>
            <a:gdLst/>
            <a:ahLst/>
            <a:cxnLst/>
            <a:rect l="l" t="t" r="r" b="b"/>
            <a:pathLst>
              <a:path w="12191695" h="245182">
                <a:moveTo>
                  <a:pt x="0" y="150669"/>
                </a:moveTo>
                <a:lnTo>
                  <a:pt x="135463" y="169737"/>
                </a:lnTo>
                <a:lnTo>
                  <a:pt x="270926" y="187768"/>
                </a:lnTo>
                <a:lnTo>
                  <a:pt x="406389" y="204118"/>
                </a:lnTo>
                <a:lnTo>
                  <a:pt x="541853" y="218220"/>
                </a:lnTo>
                <a:lnTo>
                  <a:pt x="677316" y="229621"/>
                </a:lnTo>
                <a:lnTo>
                  <a:pt x="812779" y="238002"/>
                </a:lnTo>
                <a:lnTo>
                  <a:pt x="948242" y="243193"/>
                </a:lnTo>
                <a:lnTo>
                  <a:pt x="1083706" y="245182"/>
                </a:lnTo>
                <a:lnTo>
                  <a:pt x="1219169" y="244108"/>
                </a:lnTo>
                <a:lnTo>
                  <a:pt x="1354632" y="240247"/>
                </a:lnTo>
                <a:lnTo>
                  <a:pt x="1490096" y="233989"/>
                </a:lnTo>
                <a:lnTo>
                  <a:pt x="1625559" y="225812"/>
                </a:lnTo>
                <a:lnTo>
                  <a:pt x="1761022" y="216243"/>
                </a:lnTo>
                <a:lnTo>
                  <a:pt x="1896485" y="205824"/>
                </a:lnTo>
                <a:lnTo>
                  <a:pt x="2031949" y="195076"/>
                </a:lnTo>
                <a:lnTo>
                  <a:pt x="2167412" y="184466"/>
                </a:lnTo>
                <a:lnTo>
                  <a:pt x="2302875" y="174375"/>
                </a:lnTo>
                <a:lnTo>
                  <a:pt x="2438339" y="165080"/>
                </a:lnTo>
                <a:lnTo>
                  <a:pt x="2573802" y="156740"/>
                </a:lnTo>
                <a:lnTo>
                  <a:pt x="2709265" y="149392"/>
                </a:lnTo>
                <a:lnTo>
                  <a:pt x="2844728" y="142958"/>
                </a:lnTo>
                <a:lnTo>
                  <a:pt x="2980192" y="137257"/>
                </a:lnTo>
                <a:lnTo>
                  <a:pt x="3115655" y="132030"/>
                </a:lnTo>
                <a:lnTo>
                  <a:pt x="3251118" y="126965"/>
                </a:lnTo>
                <a:lnTo>
                  <a:pt x="3386582" y="121734"/>
                </a:lnTo>
                <a:lnTo>
                  <a:pt x="3522045" y="116024"/>
                </a:lnTo>
                <a:lnTo>
                  <a:pt x="3657508" y="109568"/>
                </a:lnTo>
                <a:lnTo>
                  <a:pt x="3792971" y="102177"/>
                </a:lnTo>
                <a:lnTo>
                  <a:pt x="3928435" y="93759"/>
                </a:lnTo>
                <a:lnTo>
                  <a:pt x="4063898" y="84341"/>
                </a:lnTo>
                <a:lnTo>
                  <a:pt x="4199361" y="74069"/>
                </a:lnTo>
                <a:lnTo>
                  <a:pt x="4334824" y="63211"/>
                </a:lnTo>
                <a:lnTo>
                  <a:pt x="4470288" y="52141"/>
                </a:lnTo>
                <a:lnTo>
                  <a:pt x="4605751" y="41320"/>
                </a:lnTo>
                <a:lnTo>
                  <a:pt x="4741214" y="31269"/>
                </a:lnTo>
                <a:lnTo>
                  <a:pt x="4876678" y="22536"/>
                </a:lnTo>
                <a:lnTo>
                  <a:pt x="5012141" y="15656"/>
                </a:lnTo>
                <a:lnTo>
                  <a:pt x="5147604" y="11120"/>
                </a:lnTo>
                <a:lnTo>
                  <a:pt x="5283067" y="9338"/>
                </a:lnTo>
                <a:lnTo>
                  <a:pt x="5418531" y="10605"/>
                </a:lnTo>
                <a:lnTo>
                  <a:pt x="5553994" y="15085"/>
                </a:lnTo>
                <a:lnTo>
                  <a:pt x="5689457" y="22787"/>
                </a:lnTo>
                <a:lnTo>
                  <a:pt x="5824921" y="33567"/>
                </a:lnTo>
                <a:lnTo>
                  <a:pt x="5960384" y="47128"/>
                </a:lnTo>
                <a:lnTo>
                  <a:pt x="6095847" y="63035"/>
                </a:lnTo>
                <a:lnTo>
                  <a:pt x="6231310" y="80738"/>
                </a:lnTo>
                <a:lnTo>
                  <a:pt x="6366774" y="99601"/>
                </a:lnTo>
                <a:lnTo>
                  <a:pt x="6502237" y="118939"/>
                </a:lnTo>
                <a:lnTo>
                  <a:pt x="6637700" y="138058"/>
                </a:lnTo>
                <a:lnTo>
                  <a:pt x="6773164" y="156290"/>
                </a:lnTo>
                <a:lnTo>
                  <a:pt x="6908627" y="173034"/>
                </a:lnTo>
                <a:lnTo>
                  <a:pt x="7044090" y="187783"/>
                </a:lnTo>
                <a:lnTo>
                  <a:pt x="7179553" y="200156"/>
                </a:lnTo>
                <a:lnTo>
                  <a:pt x="7315017" y="209912"/>
                </a:lnTo>
                <a:lnTo>
                  <a:pt x="7450480" y="216953"/>
                </a:lnTo>
                <a:lnTo>
                  <a:pt x="7585943" y="221331"/>
                </a:lnTo>
                <a:lnTo>
                  <a:pt x="7721406" y="223229"/>
                </a:lnTo>
                <a:lnTo>
                  <a:pt x="7856870" y="222943"/>
                </a:lnTo>
                <a:lnTo>
                  <a:pt x="7992333" y="220854"/>
                </a:lnTo>
                <a:lnTo>
                  <a:pt x="8127796" y="217398"/>
                </a:lnTo>
                <a:lnTo>
                  <a:pt x="8263260" y="213025"/>
                </a:lnTo>
                <a:lnTo>
                  <a:pt x="8398723" y="208173"/>
                </a:lnTo>
                <a:lnTo>
                  <a:pt x="8534186" y="203226"/>
                </a:lnTo>
                <a:lnTo>
                  <a:pt x="8669649" y="198493"/>
                </a:lnTo>
                <a:lnTo>
                  <a:pt x="8805113" y="194182"/>
                </a:lnTo>
                <a:lnTo>
                  <a:pt x="8940576" y="190390"/>
                </a:lnTo>
                <a:lnTo>
                  <a:pt x="9076039" y="187099"/>
                </a:lnTo>
                <a:lnTo>
                  <a:pt x="9211503" y="184181"/>
                </a:lnTo>
                <a:lnTo>
                  <a:pt x="9346966" y="181412"/>
                </a:lnTo>
                <a:lnTo>
                  <a:pt x="9482429" y="178496"/>
                </a:lnTo>
                <a:lnTo>
                  <a:pt x="9617892" y="175092"/>
                </a:lnTo>
                <a:lnTo>
                  <a:pt x="9753356" y="170845"/>
                </a:lnTo>
                <a:lnTo>
                  <a:pt x="9888819" y="165425"/>
                </a:lnTo>
                <a:lnTo>
                  <a:pt x="10024282" y="158555"/>
                </a:lnTo>
                <a:lnTo>
                  <a:pt x="10159746" y="150040"/>
                </a:lnTo>
                <a:lnTo>
                  <a:pt x="10295209" y="139797"/>
                </a:lnTo>
                <a:lnTo>
                  <a:pt x="10430672" y="127865"/>
                </a:lnTo>
                <a:lnTo>
                  <a:pt x="10566135" y="114415"/>
                </a:lnTo>
                <a:lnTo>
                  <a:pt x="10701599" y="99751"/>
                </a:lnTo>
                <a:lnTo>
                  <a:pt x="10837062" y="84291"/>
                </a:lnTo>
                <a:lnTo>
                  <a:pt x="10972525" y="68554"/>
                </a:lnTo>
                <a:lnTo>
                  <a:pt x="11107988" y="53129"/>
                </a:lnTo>
                <a:lnTo>
                  <a:pt x="11243452" y="38641"/>
                </a:lnTo>
                <a:lnTo>
                  <a:pt x="11378915" y="25713"/>
                </a:lnTo>
                <a:lnTo>
                  <a:pt x="11514378" y="14931"/>
                </a:lnTo>
                <a:lnTo>
                  <a:pt x="11649842" y="6805"/>
                </a:lnTo>
                <a:lnTo>
                  <a:pt x="11785305" y="1738"/>
                </a:lnTo>
                <a:lnTo>
                  <a:pt x="11920768" y="0"/>
                </a:lnTo>
                <a:lnTo>
                  <a:pt x="12056231" y="1708"/>
                </a:lnTo>
                <a:lnTo>
                  <a:pt x="12191695" y="6822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6467906"/>
            <a:ext cx="12191695" cy="248613"/>
          </a:xfrm>
          <a:custGeom>
            <a:avLst/>
            <a:gdLst/>
            <a:ahLst/>
            <a:cxnLst/>
            <a:rect l="l" t="t" r="r" b="b"/>
            <a:pathLst>
              <a:path w="12191695" h="248613">
                <a:moveTo>
                  <a:pt x="0" y="169572"/>
                </a:moveTo>
                <a:lnTo>
                  <a:pt x="135463" y="187517"/>
                </a:lnTo>
                <a:lnTo>
                  <a:pt x="270926" y="204116"/>
                </a:lnTo>
                <a:lnTo>
                  <a:pt x="406389" y="218744"/>
                </a:lnTo>
                <a:lnTo>
                  <a:pt x="541853" y="230861"/>
                </a:lnTo>
                <a:lnTo>
                  <a:pt x="677316" y="240043"/>
                </a:lnTo>
                <a:lnTo>
                  <a:pt x="812779" y="246004"/>
                </a:lnTo>
                <a:lnTo>
                  <a:pt x="948242" y="248613"/>
                </a:lnTo>
                <a:lnTo>
                  <a:pt x="1083706" y="247896"/>
                </a:lnTo>
                <a:lnTo>
                  <a:pt x="1219169" y="244031"/>
                </a:lnTo>
                <a:lnTo>
                  <a:pt x="1354632" y="237338"/>
                </a:lnTo>
                <a:lnTo>
                  <a:pt x="1490096" y="228250"/>
                </a:lnTo>
                <a:lnTo>
                  <a:pt x="1625559" y="217286"/>
                </a:lnTo>
                <a:lnTo>
                  <a:pt x="1761022" y="205017"/>
                </a:lnTo>
                <a:lnTo>
                  <a:pt x="1896485" y="192024"/>
                </a:lnTo>
                <a:lnTo>
                  <a:pt x="2031949" y="178869"/>
                </a:lnTo>
                <a:lnTo>
                  <a:pt x="2167412" y="166053"/>
                </a:lnTo>
                <a:lnTo>
                  <a:pt x="2302875" y="153992"/>
                </a:lnTo>
                <a:lnTo>
                  <a:pt x="2438339" y="142992"/>
                </a:lnTo>
                <a:lnTo>
                  <a:pt x="2573802" y="133239"/>
                </a:lnTo>
                <a:lnTo>
                  <a:pt x="2709265" y="124790"/>
                </a:lnTo>
                <a:lnTo>
                  <a:pt x="2844728" y="117583"/>
                </a:lnTo>
                <a:lnTo>
                  <a:pt x="2980192" y="111449"/>
                </a:lnTo>
                <a:lnTo>
                  <a:pt x="3115655" y="106137"/>
                </a:lnTo>
                <a:lnTo>
                  <a:pt x="3251118" y="101335"/>
                </a:lnTo>
                <a:lnTo>
                  <a:pt x="3386582" y="96713"/>
                </a:lnTo>
                <a:lnTo>
                  <a:pt x="3522045" y="91945"/>
                </a:lnTo>
                <a:lnTo>
                  <a:pt x="3657508" y="86753"/>
                </a:lnTo>
                <a:lnTo>
                  <a:pt x="3792971" y="80928"/>
                </a:lnTo>
                <a:lnTo>
                  <a:pt x="3928435" y="74354"/>
                </a:lnTo>
                <a:lnTo>
                  <a:pt x="4063898" y="67031"/>
                </a:lnTo>
                <a:lnTo>
                  <a:pt x="4199361" y="59072"/>
                </a:lnTo>
                <a:lnTo>
                  <a:pt x="4334824" y="50711"/>
                </a:lnTo>
                <a:lnTo>
                  <a:pt x="4470288" y="42285"/>
                </a:lnTo>
                <a:lnTo>
                  <a:pt x="4605751" y="34213"/>
                </a:lnTo>
                <a:lnTo>
                  <a:pt x="4741214" y="26977"/>
                </a:lnTo>
                <a:lnTo>
                  <a:pt x="4876678" y="21080"/>
                </a:lnTo>
                <a:lnTo>
                  <a:pt x="5012141" y="17016"/>
                </a:lnTo>
                <a:lnTo>
                  <a:pt x="5147604" y="15233"/>
                </a:lnTo>
                <a:lnTo>
                  <a:pt x="5283067" y="16099"/>
                </a:lnTo>
                <a:lnTo>
                  <a:pt x="5418531" y="19870"/>
                </a:lnTo>
                <a:lnTo>
                  <a:pt x="5553994" y="26670"/>
                </a:lnTo>
                <a:lnTo>
                  <a:pt x="5689457" y="36475"/>
                </a:lnTo>
                <a:lnTo>
                  <a:pt x="5824921" y="49109"/>
                </a:lnTo>
                <a:lnTo>
                  <a:pt x="5960384" y="64247"/>
                </a:lnTo>
                <a:lnTo>
                  <a:pt x="6095847" y="81430"/>
                </a:lnTo>
                <a:lnTo>
                  <a:pt x="6231310" y="100088"/>
                </a:lnTo>
                <a:lnTo>
                  <a:pt x="6366774" y="119571"/>
                </a:lnTo>
                <a:lnTo>
                  <a:pt x="6502237" y="139187"/>
                </a:lnTo>
                <a:lnTo>
                  <a:pt x="6637700" y="158234"/>
                </a:lnTo>
                <a:lnTo>
                  <a:pt x="6773164" y="176047"/>
                </a:lnTo>
                <a:lnTo>
                  <a:pt x="6908627" y="192030"/>
                </a:lnTo>
                <a:lnTo>
                  <a:pt x="7044090" y="205690"/>
                </a:lnTo>
                <a:lnTo>
                  <a:pt x="7179553" y="216660"/>
                </a:lnTo>
                <a:lnTo>
                  <a:pt x="7315017" y="224721"/>
                </a:lnTo>
                <a:lnTo>
                  <a:pt x="7450480" y="229802"/>
                </a:lnTo>
                <a:lnTo>
                  <a:pt x="7585943" y="231983"/>
                </a:lnTo>
                <a:lnTo>
                  <a:pt x="7721406" y="231480"/>
                </a:lnTo>
                <a:lnTo>
                  <a:pt x="7856870" y="228626"/>
                </a:lnTo>
                <a:lnTo>
                  <a:pt x="7992333" y="223841"/>
                </a:lnTo>
                <a:lnTo>
                  <a:pt x="8127796" y="217601"/>
                </a:lnTo>
                <a:lnTo>
                  <a:pt x="8263260" y="210399"/>
                </a:lnTo>
                <a:lnTo>
                  <a:pt x="8398723" y="202714"/>
                </a:lnTo>
                <a:lnTo>
                  <a:pt x="8534186" y="194975"/>
                </a:lnTo>
                <a:lnTo>
                  <a:pt x="8669649" y="187531"/>
                </a:lnTo>
                <a:lnTo>
                  <a:pt x="8805113" y="180631"/>
                </a:lnTo>
                <a:lnTo>
                  <a:pt x="8940576" y="174414"/>
                </a:lnTo>
                <a:lnTo>
                  <a:pt x="9076039" y="168896"/>
                </a:lnTo>
                <a:lnTo>
                  <a:pt x="9211503" y="163983"/>
                </a:lnTo>
                <a:lnTo>
                  <a:pt x="9346966" y="159481"/>
                </a:lnTo>
                <a:lnTo>
                  <a:pt x="9482429" y="155122"/>
                </a:lnTo>
                <a:lnTo>
                  <a:pt x="9617892" y="150584"/>
                </a:lnTo>
                <a:lnTo>
                  <a:pt x="9753356" y="145531"/>
                </a:lnTo>
                <a:lnTo>
                  <a:pt x="9888819" y="139645"/>
                </a:lnTo>
                <a:lnTo>
                  <a:pt x="10024282" y="132654"/>
                </a:lnTo>
                <a:lnTo>
                  <a:pt x="10159746" y="124369"/>
                </a:lnTo>
                <a:lnTo>
                  <a:pt x="10295209" y="114699"/>
                </a:lnTo>
                <a:lnTo>
                  <a:pt x="10430672" y="103677"/>
                </a:lnTo>
                <a:lnTo>
                  <a:pt x="10566135" y="91461"/>
                </a:lnTo>
                <a:lnTo>
                  <a:pt x="10701599" y="78333"/>
                </a:lnTo>
                <a:lnTo>
                  <a:pt x="10837062" y="64691"/>
                </a:lnTo>
                <a:lnTo>
                  <a:pt x="10972525" y="51025"/>
                </a:lnTo>
                <a:lnTo>
                  <a:pt x="11107988" y="37893"/>
                </a:lnTo>
                <a:lnTo>
                  <a:pt x="11243452" y="25885"/>
                </a:lnTo>
                <a:lnTo>
                  <a:pt x="11378915" y="15588"/>
                </a:lnTo>
                <a:lnTo>
                  <a:pt x="11514378" y="7547"/>
                </a:lnTo>
                <a:lnTo>
                  <a:pt x="11649842" y="2231"/>
                </a:lnTo>
                <a:lnTo>
                  <a:pt x="11785305" y="0"/>
                </a:lnTo>
                <a:lnTo>
                  <a:pt x="11920768" y="1082"/>
                </a:lnTo>
                <a:lnTo>
                  <a:pt x="12056231" y="5551"/>
                </a:lnTo>
                <a:lnTo>
                  <a:pt x="12191695" y="13326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0" y="6533113"/>
            <a:ext cx="12191695" cy="246124"/>
          </a:xfrm>
          <a:custGeom>
            <a:avLst/>
            <a:gdLst/>
            <a:ahLst/>
            <a:cxnLst/>
            <a:rect l="l" t="t" r="r" b="b"/>
            <a:pathLst>
              <a:path w="12191695" h="246124">
                <a:moveTo>
                  <a:pt x="0" y="183172"/>
                </a:moveTo>
                <a:lnTo>
                  <a:pt x="135463" y="199432"/>
                </a:lnTo>
                <a:lnTo>
                  <a:pt x="270926" y="214077"/>
                </a:lnTo>
                <a:lnTo>
                  <a:pt x="406389" y="226514"/>
                </a:lnTo>
                <a:lnTo>
                  <a:pt x="541853" y="236236"/>
                </a:lnTo>
                <a:lnTo>
                  <a:pt x="677316" y="242855"/>
                </a:lnTo>
                <a:lnTo>
                  <a:pt x="812779" y="246124"/>
                </a:lnTo>
                <a:lnTo>
                  <a:pt x="948242" y="245951"/>
                </a:lnTo>
                <a:lnTo>
                  <a:pt x="1083706" y="242404"/>
                </a:lnTo>
                <a:lnTo>
                  <a:pt x="1219169" y="235707"/>
                </a:lnTo>
                <a:lnTo>
                  <a:pt x="1354632" y="226219"/>
                </a:lnTo>
                <a:lnTo>
                  <a:pt x="1490096" y="214417"/>
                </a:lnTo>
                <a:lnTo>
                  <a:pt x="1625559" y="200862"/>
                </a:lnTo>
                <a:lnTo>
                  <a:pt x="1761022" y="186161"/>
                </a:lnTo>
                <a:lnTo>
                  <a:pt x="1896485" y="170935"/>
                </a:lnTo>
                <a:lnTo>
                  <a:pt x="2031949" y="155777"/>
                </a:lnTo>
                <a:lnTo>
                  <a:pt x="2167412" y="141221"/>
                </a:lnTo>
                <a:lnTo>
                  <a:pt x="2302875" y="127707"/>
                </a:lnTo>
                <a:lnTo>
                  <a:pt x="2438339" y="115564"/>
                </a:lnTo>
                <a:lnTo>
                  <a:pt x="2573802" y="104994"/>
                </a:lnTo>
                <a:lnTo>
                  <a:pt x="2709265" y="96068"/>
                </a:lnTo>
                <a:lnTo>
                  <a:pt x="2844728" y="88731"/>
                </a:lnTo>
                <a:lnTo>
                  <a:pt x="2980192" y="82816"/>
                </a:lnTo>
                <a:lnTo>
                  <a:pt x="3115655" y="78067"/>
                </a:lnTo>
                <a:lnTo>
                  <a:pt x="3251118" y="74166"/>
                </a:lnTo>
                <a:lnTo>
                  <a:pt x="3386582" y="70766"/>
                </a:lnTo>
                <a:lnTo>
                  <a:pt x="3522045" y="67527"/>
                </a:lnTo>
                <a:lnTo>
                  <a:pt x="3657508" y="64145"/>
                </a:lnTo>
                <a:lnTo>
                  <a:pt x="3792971" y="60383"/>
                </a:lnTo>
                <a:lnTo>
                  <a:pt x="3928435" y="56096"/>
                </a:lnTo>
                <a:lnTo>
                  <a:pt x="4063898" y="51248"/>
                </a:lnTo>
                <a:lnTo>
                  <a:pt x="4199361" y="45917"/>
                </a:lnTo>
                <a:lnTo>
                  <a:pt x="4334824" y="40294"/>
                </a:lnTo>
                <a:lnTo>
                  <a:pt x="4470288" y="34675"/>
                </a:lnTo>
                <a:lnTo>
                  <a:pt x="4605751" y="29440"/>
                </a:lnTo>
                <a:lnTo>
                  <a:pt x="4741214" y="25025"/>
                </a:lnTo>
                <a:lnTo>
                  <a:pt x="4876678" y="21891"/>
                </a:lnTo>
                <a:lnTo>
                  <a:pt x="5012141" y="20491"/>
                </a:lnTo>
                <a:lnTo>
                  <a:pt x="5147604" y="21233"/>
                </a:lnTo>
                <a:lnTo>
                  <a:pt x="5283067" y="24445"/>
                </a:lnTo>
                <a:lnTo>
                  <a:pt x="5418531" y="30349"/>
                </a:lnTo>
                <a:lnTo>
                  <a:pt x="5553994" y="39037"/>
                </a:lnTo>
                <a:lnTo>
                  <a:pt x="5689457" y="50457"/>
                </a:lnTo>
                <a:lnTo>
                  <a:pt x="5824921" y="64407"/>
                </a:lnTo>
                <a:lnTo>
                  <a:pt x="5960384" y="80543"/>
                </a:lnTo>
                <a:lnTo>
                  <a:pt x="6095847" y="98390"/>
                </a:lnTo>
                <a:lnTo>
                  <a:pt x="6231310" y="117369"/>
                </a:lnTo>
                <a:lnTo>
                  <a:pt x="6366774" y="136826"/>
                </a:lnTo>
                <a:lnTo>
                  <a:pt x="6502237" y="156066"/>
                </a:lnTo>
                <a:lnTo>
                  <a:pt x="6637700" y="174397"/>
                </a:lnTo>
                <a:lnTo>
                  <a:pt x="6773164" y="191162"/>
                </a:lnTo>
                <a:lnTo>
                  <a:pt x="6908627" y="205782"/>
                </a:lnTo>
                <a:lnTo>
                  <a:pt x="7044090" y="217784"/>
                </a:lnTo>
                <a:lnTo>
                  <a:pt x="7179553" y="226827"/>
                </a:lnTo>
                <a:lnTo>
                  <a:pt x="7315017" y="232720"/>
                </a:lnTo>
                <a:lnTo>
                  <a:pt x="7450480" y="235424"/>
                </a:lnTo>
                <a:lnTo>
                  <a:pt x="7585943" y="235057"/>
                </a:lnTo>
                <a:lnTo>
                  <a:pt x="7721406" y="231872"/>
                </a:lnTo>
                <a:lnTo>
                  <a:pt x="7856870" y="226244"/>
                </a:lnTo>
                <a:lnTo>
                  <a:pt x="7992333" y="218632"/>
                </a:lnTo>
                <a:lnTo>
                  <a:pt x="8127796" y="209557"/>
                </a:lnTo>
                <a:lnTo>
                  <a:pt x="8263260" y="199555"/>
                </a:lnTo>
                <a:lnTo>
                  <a:pt x="8398723" y="189147"/>
                </a:lnTo>
                <a:lnTo>
                  <a:pt x="8534186" y="178801"/>
                </a:lnTo>
                <a:lnTo>
                  <a:pt x="8669649" y="168908"/>
                </a:lnTo>
                <a:lnTo>
                  <a:pt x="8805113" y="159754"/>
                </a:lnTo>
                <a:lnTo>
                  <a:pt x="8940576" y="151510"/>
                </a:lnTo>
                <a:lnTo>
                  <a:pt x="9076039" y="144224"/>
                </a:lnTo>
                <a:lnTo>
                  <a:pt x="9211503" y="137828"/>
                </a:lnTo>
                <a:lnTo>
                  <a:pt x="9346966" y="132152"/>
                </a:lnTo>
                <a:lnTo>
                  <a:pt x="9482429" y="126943"/>
                </a:lnTo>
                <a:lnTo>
                  <a:pt x="9617892" y="121894"/>
                </a:lnTo>
                <a:lnTo>
                  <a:pt x="9753356" y="116677"/>
                </a:lnTo>
                <a:lnTo>
                  <a:pt x="9888819" y="110975"/>
                </a:lnTo>
                <a:lnTo>
                  <a:pt x="10024282" y="104513"/>
                </a:lnTo>
                <a:lnTo>
                  <a:pt x="10159746" y="97095"/>
                </a:lnTo>
                <a:lnTo>
                  <a:pt x="10295209" y="88617"/>
                </a:lnTo>
                <a:lnTo>
                  <a:pt x="10430672" y="79094"/>
                </a:lnTo>
                <a:lnTo>
                  <a:pt x="10566135" y="68661"/>
                </a:lnTo>
                <a:lnTo>
                  <a:pt x="10701599" y="57573"/>
                </a:lnTo>
                <a:lnTo>
                  <a:pt x="10837062" y="46197"/>
                </a:lnTo>
                <a:lnTo>
                  <a:pt x="10972525" y="34990"/>
                </a:lnTo>
                <a:lnTo>
                  <a:pt x="11107988" y="24471"/>
                </a:lnTo>
                <a:lnTo>
                  <a:pt x="11243452" y="15192"/>
                </a:lnTo>
                <a:lnTo>
                  <a:pt x="11378915" y="7698"/>
                </a:lnTo>
                <a:lnTo>
                  <a:pt x="11514378" y="2492"/>
                </a:lnTo>
                <a:lnTo>
                  <a:pt x="11649842" y="0"/>
                </a:lnTo>
                <a:lnTo>
                  <a:pt x="11785305" y="541"/>
                </a:lnTo>
                <a:lnTo>
                  <a:pt x="11920768" y="4298"/>
                </a:lnTo>
                <a:lnTo>
                  <a:pt x="12056231" y="11307"/>
                </a:lnTo>
                <a:lnTo>
                  <a:pt x="12191695" y="21447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0" y="6600998"/>
            <a:ext cx="12191695" cy="238322"/>
          </a:xfrm>
          <a:custGeom>
            <a:avLst/>
            <a:gdLst/>
            <a:ahLst/>
            <a:cxnLst/>
            <a:rect l="l" t="t" r="r" b="b"/>
            <a:pathLst>
              <a:path w="12191695" h="238322">
                <a:moveTo>
                  <a:pt x="0" y="190722"/>
                </a:moveTo>
                <a:lnTo>
                  <a:pt x="135463" y="204821"/>
                </a:lnTo>
                <a:lnTo>
                  <a:pt x="270926" y="217096"/>
                </a:lnTo>
                <a:lnTo>
                  <a:pt x="406389" y="226989"/>
                </a:lnTo>
                <a:lnTo>
                  <a:pt x="541853" y="234032"/>
                </a:lnTo>
                <a:lnTo>
                  <a:pt x="677316" y="237878"/>
                </a:lnTo>
                <a:lnTo>
                  <a:pt x="812779" y="238322"/>
                </a:lnTo>
                <a:lnTo>
                  <a:pt x="948242" y="235314"/>
                </a:lnTo>
                <a:lnTo>
                  <a:pt x="1083706" y="228966"/>
                </a:lnTo>
                <a:lnTo>
                  <a:pt x="1219169" y="219541"/>
                </a:lnTo>
                <a:lnTo>
                  <a:pt x="1354632" y="207444"/>
                </a:lnTo>
                <a:lnTo>
                  <a:pt x="1490096" y="193188"/>
                </a:lnTo>
                <a:lnTo>
                  <a:pt x="1625559" y="177371"/>
                </a:lnTo>
                <a:lnTo>
                  <a:pt x="1761022" y="160636"/>
                </a:lnTo>
                <a:lnTo>
                  <a:pt x="1896485" y="143634"/>
                </a:lnTo>
                <a:lnTo>
                  <a:pt x="2031949" y="126985"/>
                </a:lnTo>
                <a:lnTo>
                  <a:pt x="2167412" y="111244"/>
                </a:lnTo>
                <a:lnTo>
                  <a:pt x="2302875" y="96871"/>
                </a:lnTo>
                <a:lnTo>
                  <a:pt x="2438339" y="84207"/>
                </a:lnTo>
                <a:lnTo>
                  <a:pt x="2573802" y="73462"/>
                </a:lnTo>
                <a:lnTo>
                  <a:pt x="2709265" y="64709"/>
                </a:lnTo>
                <a:lnTo>
                  <a:pt x="2844728" y="57891"/>
                </a:lnTo>
                <a:lnTo>
                  <a:pt x="2980192" y="52834"/>
                </a:lnTo>
                <a:lnTo>
                  <a:pt x="3115655" y="49267"/>
                </a:lnTo>
                <a:lnTo>
                  <a:pt x="3251118" y="46856"/>
                </a:lnTo>
                <a:lnTo>
                  <a:pt x="3386582" y="45231"/>
                </a:lnTo>
                <a:lnTo>
                  <a:pt x="3522045" y="44024"/>
                </a:lnTo>
                <a:lnTo>
                  <a:pt x="3657508" y="42902"/>
                </a:lnTo>
                <a:lnTo>
                  <a:pt x="3792971" y="41593"/>
                </a:lnTo>
                <a:lnTo>
                  <a:pt x="3928435" y="39916"/>
                </a:lnTo>
                <a:lnTo>
                  <a:pt x="4063898" y="37794"/>
                </a:lnTo>
                <a:lnTo>
                  <a:pt x="4199361" y="35264"/>
                </a:lnTo>
                <a:lnTo>
                  <a:pt x="4334824" y="32476"/>
                </a:lnTo>
                <a:lnTo>
                  <a:pt x="4470288" y="29683"/>
                </a:lnTo>
                <a:lnTo>
                  <a:pt x="4605751" y="27220"/>
                </a:lnTo>
                <a:lnTo>
                  <a:pt x="4741214" y="25484"/>
                </a:lnTo>
                <a:lnTo>
                  <a:pt x="4876678" y="24895"/>
                </a:lnTo>
                <a:lnTo>
                  <a:pt x="5012141" y="25867"/>
                </a:lnTo>
                <a:lnTo>
                  <a:pt x="5147604" y="28771"/>
                </a:lnTo>
                <a:lnTo>
                  <a:pt x="5283067" y="33905"/>
                </a:lnTo>
                <a:lnTo>
                  <a:pt x="5418531" y="41460"/>
                </a:lnTo>
                <a:lnTo>
                  <a:pt x="5553994" y="51504"/>
                </a:lnTo>
                <a:lnTo>
                  <a:pt x="5689457" y="63964"/>
                </a:lnTo>
                <a:lnTo>
                  <a:pt x="5824921" y="78622"/>
                </a:lnTo>
                <a:lnTo>
                  <a:pt x="5960384" y="95124"/>
                </a:lnTo>
                <a:lnTo>
                  <a:pt x="6095847" y="112989"/>
                </a:lnTo>
                <a:lnTo>
                  <a:pt x="6231310" y="131639"/>
                </a:lnTo>
                <a:lnTo>
                  <a:pt x="6366774" y="150423"/>
                </a:lnTo>
                <a:lnTo>
                  <a:pt x="6502237" y="168658"/>
                </a:lnTo>
                <a:lnTo>
                  <a:pt x="6637700" y="185665"/>
                </a:lnTo>
                <a:lnTo>
                  <a:pt x="6773164" y="200809"/>
                </a:lnTo>
                <a:lnTo>
                  <a:pt x="6908627" y="213535"/>
                </a:lnTo>
                <a:lnTo>
                  <a:pt x="7044090" y="223398"/>
                </a:lnTo>
                <a:lnTo>
                  <a:pt x="7179553" y="230090"/>
                </a:lnTo>
                <a:lnTo>
                  <a:pt x="7315017" y="233454"/>
                </a:lnTo>
                <a:lnTo>
                  <a:pt x="7450480" y="233492"/>
                </a:lnTo>
                <a:lnTo>
                  <a:pt x="7585943" y="230359"/>
                </a:lnTo>
                <a:lnTo>
                  <a:pt x="7721406" y="224353"/>
                </a:lnTo>
                <a:lnTo>
                  <a:pt x="7856870" y="215888"/>
                </a:lnTo>
                <a:lnTo>
                  <a:pt x="7992333" y="205470"/>
                </a:lnTo>
                <a:lnTo>
                  <a:pt x="8127796" y="193658"/>
                </a:lnTo>
                <a:lnTo>
                  <a:pt x="8263260" y="181033"/>
                </a:lnTo>
                <a:lnTo>
                  <a:pt x="8398723" y="168153"/>
                </a:lnTo>
                <a:lnTo>
                  <a:pt x="8534186" y="155526"/>
                </a:lnTo>
                <a:lnTo>
                  <a:pt x="8669649" y="143575"/>
                </a:lnTo>
                <a:lnTo>
                  <a:pt x="8805113" y="132618"/>
                </a:lnTo>
                <a:lnTo>
                  <a:pt x="8940576" y="122852"/>
                </a:lnTo>
                <a:lnTo>
                  <a:pt x="9076039" y="114351"/>
                </a:lnTo>
                <a:lnTo>
                  <a:pt x="9211503" y="107063"/>
                </a:lnTo>
                <a:lnTo>
                  <a:pt x="9346966" y="100832"/>
                </a:lnTo>
                <a:lnTo>
                  <a:pt x="9482429" y="95413"/>
                </a:lnTo>
                <a:lnTo>
                  <a:pt x="9617892" y="90502"/>
                </a:lnTo>
                <a:lnTo>
                  <a:pt x="9753356" y="85770"/>
                </a:lnTo>
                <a:lnTo>
                  <a:pt x="9888819" y="80892"/>
                </a:lnTo>
                <a:lnTo>
                  <a:pt x="10024282" y="75582"/>
                </a:lnTo>
                <a:lnTo>
                  <a:pt x="10159746" y="69623"/>
                </a:lnTo>
                <a:lnTo>
                  <a:pt x="10295209" y="62893"/>
                </a:lnTo>
                <a:lnTo>
                  <a:pt x="10430672" y="55378"/>
                </a:lnTo>
                <a:lnTo>
                  <a:pt x="10566135" y="47183"/>
                </a:lnTo>
                <a:lnTo>
                  <a:pt x="10701599" y="38531"/>
                </a:lnTo>
                <a:lnTo>
                  <a:pt x="10837062" y="29751"/>
                </a:lnTo>
                <a:lnTo>
                  <a:pt x="10972525" y="21260"/>
                </a:lnTo>
                <a:lnTo>
                  <a:pt x="11107988" y="13537"/>
                </a:lnTo>
                <a:lnTo>
                  <a:pt x="11243452" y="7091"/>
                </a:lnTo>
                <a:lnTo>
                  <a:pt x="11378915" y="2425"/>
                </a:lnTo>
                <a:lnTo>
                  <a:pt x="11514378" y="0"/>
                </a:lnTo>
                <a:lnTo>
                  <a:pt x="11649842" y="198"/>
                </a:lnTo>
                <a:lnTo>
                  <a:pt x="11785305" y="3299"/>
                </a:lnTo>
                <a:lnTo>
                  <a:pt x="11920768" y="9446"/>
                </a:lnTo>
                <a:lnTo>
                  <a:pt x="12056231" y="18641"/>
                </a:lnTo>
                <a:lnTo>
                  <a:pt x="12191695" y="30728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46304"/>
            <a:ext cx="11283696" cy="44805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价值形成路径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722376"/>
            <a:ext cx="585216" cy="41148"/>
          </a:xfrm>
          <a:prstGeom prst="rect">
            <a:avLst/>
          </a:prstGeom>
          <a:solidFill>
            <a:srgbClr val="EE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649224"/>
            <a:ext cx="10469880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2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基础内容被消费，才能转化为业务改善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292608"/>
            <a:ext cx="896112" cy="20116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HiAgent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6647688"/>
            <a:ext cx="10241280" cy="1280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7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企业数据智能体建设规划  /  规划视图  /  2026.10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629400"/>
            <a:ext cx="585216" cy="17373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05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" y="1449324"/>
            <a:ext cx="2622041" cy="173736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1480" y="1417320"/>
            <a:ext cx="2622041" cy="1737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5124" y="1987082"/>
            <a:ext cx="469087" cy="8339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564276" y="1846356"/>
            <a:ext cx="479511" cy="201395"/>
          </a:xfrm>
          <a:custGeom>
            <a:avLst/>
            <a:gdLst/>
            <a:ahLst/>
            <a:cxnLst/>
            <a:rect l="l" t="t" r="r" b="b"/>
            <a:pathLst>
              <a:path w="479511" h="201395">
                <a:moveTo>
                  <a:pt x="0" y="100697"/>
                </a:moveTo>
                <a:lnTo>
                  <a:pt x="239755" y="0"/>
                </a:lnTo>
                <a:lnTo>
                  <a:pt x="479511" y="100697"/>
                </a:lnTo>
                <a:lnTo>
                  <a:pt x="239755" y="201395"/>
                </a:lnTo>
                <a:close/>
              </a:path>
            </a:pathLst>
          </a:custGeom>
          <a:solidFill>
            <a:srgbClr val="B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564276" y="1947053"/>
            <a:ext cx="239755" cy="145000"/>
          </a:xfrm>
          <a:custGeom>
            <a:avLst/>
            <a:gdLst/>
            <a:ahLst/>
            <a:cxnLst/>
            <a:rect l="l" t="t" r="r" b="b"/>
            <a:pathLst>
              <a:path w="239755" h="145000">
                <a:moveTo>
                  <a:pt x="0" y="0"/>
                </a:moveTo>
                <a:lnTo>
                  <a:pt x="239755" y="100698"/>
                </a:lnTo>
                <a:lnTo>
                  <a:pt x="239755" y="145000"/>
                </a:lnTo>
                <a:lnTo>
                  <a:pt x="0" y="44303"/>
                </a:lnTo>
                <a:close/>
              </a:path>
            </a:pathLst>
          </a:custGeom>
          <a:solidFill>
            <a:srgbClr val="6D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804031" y="1947053"/>
            <a:ext cx="239756" cy="145000"/>
          </a:xfrm>
          <a:custGeom>
            <a:avLst/>
            <a:gdLst/>
            <a:ahLst/>
            <a:cxnLst/>
            <a:rect l="l" t="t" r="r" b="b"/>
            <a:pathLst>
              <a:path w="239756" h="145000">
                <a:moveTo>
                  <a:pt x="0" y="100698"/>
                </a:moveTo>
                <a:lnTo>
                  <a:pt x="239756" y="0"/>
                </a:lnTo>
                <a:lnTo>
                  <a:pt x="239756" y="44303"/>
                </a:lnTo>
                <a:lnTo>
                  <a:pt x="0" y="145000"/>
                </a:lnTo>
                <a:close/>
              </a:path>
            </a:pathLst>
          </a:custGeom>
          <a:solidFill>
            <a:srgbClr val="30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605972" y="1747326"/>
            <a:ext cx="396118" cy="166370"/>
          </a:xfrm>
          <a:custGeom>
            <a:avLst/>
            <a:gdLst/>
            <a:ahLst/>
            <a:cxnLst/>
            <a:rect l="l" t="t" r="r" b="b"/>
            <a:pathLst>
              <a:path w="396118" h="166370">
                <a:moveTo>
                  <a:pt x="0" y="83185"/>
                </a:moveTo>
                <a:lnTo>
                  <a:pt x="198059" y="0"/>
                </a:lnTo>
                <a:lnTo>
                  <a:pt x="396118" y="83185"/>
                </a:lnTo>
                <a:lnTo>
                  <a:pt x="198059" y="166370"/>
                </a:lnTo>
                <a:close/>
              </a:path>
            </a:pathLst>
          </a:custGeom>
          <a:solidFill>
            <a:srgbClr val="94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605972" y="1830511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0"/>
                </a:moveTo>
                <a:lnTo>
                  <a:pt x="198059" y="83185"/>
                </a:lnTo>
                <a:lnTo>
                  <a:pt x="198059" y="127488"/>
                </a:lnTo>
                <a:lnTo>
                  <a:pt x="0" y="44303"/>
                </a:lnTo>
                <a:close/>
              </a:path>
            </a:pathLst>
          </a:custGeom>
          <a:solidFill>
            <a:srgbClr val="3F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804031" y="1830511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83185"/>
                </a:moveTo>
                <a:lnTo>
                  <a:pt x="198059" y="0"/>
                </a:lnTo>
                <a:lnTo>
                  <a:pt x="198059" y="44303"/>
                </a:lnTo>
                <a:lnTo>
                  <a:pt x="0" y="127488"/>
                </a:lnTo>
                <a:close/>
              </a:path>
            </a:pathLst>
          </a:custGeom>
          <a:solidFill>
            <a:srgbClr val="197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652881" y="1648297"/>
            <a:ext cx="302301" cy="126966"/>
          </a:xfrm>
          <a:custGeom>
            <a:avLst/>
            <a:gdLst/>
            <a:ahLst/>
            <a:cxnLst/>
            <a:rect l="l" t="t" r="r" b="b"/>
            <a:pathLst>
              <a:path w="302301" h="126966">
                <a:moveTo>
                  <a:pt x="0" y="63483"/>
                </a:moveTo>
                <a:lnTo>
                  <a:pt x="151150" y="0"/>
                </a:lnTo>
                <a:lnTo>
                  <a:pt x="302301" y="63483"/>
                </a:lnTo>
                <a:lnTo>
                  <a:pt x="151150" y="126966"/>
                </a:lnTo>
                <a:close/>
              </a:path>
            </a:pathLst>
          </a:custGeom>
          <a:solidFill>
            <a:srgbClr val="57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652881" y="1711780"/>
            <a:ext cx="151150" cy="107786"/>
          </a:xfrm>
          <a:custGeom>
            <a:avLst/>
            <a:gdLst/>
            <a:ahLst/>
            <a:cxnLst/>
            <a:rect l="l" t="t" r="r" b="b"/>
            <a:pathLst>
              <a:path w="151150" h="107786">
                <a:moveTo>
                  <a:pt x="0" y="0"/>
                </a:moveTo>
                <a:lnTo>
                  <a:pt x="151150" y="63483"/>
                </a:lnTo>
                <a:lnTo>
                  <a:pt x="151150" y="107786"/>
                </a:lnTo>
                <a:lnTo>
                  <a:pt x="0" y="44303"/>
                </a:lnTo>
                <a:close/>
              </a:path>
            </a:pathLst>
          </a:custGeom>
          <a:solidFill>
            <a:srgbClr val="148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804031" y="1711780"/>
            <a:ext cx="151151" cy="107786"/>
          </a:xfrm>
          <a:custGeom>
            <a:avLst/>
            <a:gdLst/>
            <a:ahLst/>
            <a:cxnLst/>
            <a:rect l="l" t="t" r="r" b="b"/>
            <a:pathLst>
              <a:path w="151151" h="107786">
                <a:moveTo>
                  <a:pt x="0" y="63483"/>
                </a:moveTo>
                <a:lnTo>
                  <a:pt x="151151" y="0"/>
                </a:lnTo>
                <a:lnTo>
                  <a:pt x="151151" y="44303"/>
                </a:lnTo>
                <a:lnTo>
                  <a:pt x="0" y="107786"/>
                </a:lnTo>
                <a:close/>
              </a:path>
            </a:pathLst>
          </a:custGeom>
          <a:solidFill>
            <a:srgbClr val="0A5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725850" y="1627449"/>
            <a:ext cx="99030" cy="45553"/>
          </a:xfrm>
          <a:custGeom>
            <a:avLst/>
            <a:gdLst/>
            <a:ahLst/>
            <a:cxnLst/>
            <a:rect l="l" t="t" r="r" b="b"/>
            <a:pathLst>
              <a:path w="99030" h="45553">
                <a:moveTo>
                  <a:pt x="0" y="22776"/>
                </a:moveTo>
                <a:lnTo>
                  <a:pt x="49515" y="0"/>
                </a:lnTo>
                <a:lnTo>
                  <a:pt x="99030" y="22776"/>
                </a:lnTo>
                <a:lnTo>
                  <a:pt x="49515" y="45553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725850" y="1650225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70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775365" y="1650225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70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856152" y="1674357"/>
            <a:ext cx="99030" cy="45554"/>
          </a:xfrm>
          <a:custGeom>
            <a:avLst/>
            <a:gdLst/>
            <a:ahLst/>
            <a:cxnLst/>
            <a:rect l="l" t="t" r="r" b="b"/>
            <a:pathLst>
              <a:path w="99030" h="45554">
                <a:moveTo>
                  <a:pt x="0" y="22777"/>
                </a:moveTo>
                <a:lnTo>
                  <a:pt x="49515" y="0"/>
                </a:lnTo>
                <a:lnTo>
                  <a:pt x="99030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856152" y="1697134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905667" y="1697134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772759" y="1736902"/>
            <a:ext cx="99029" cy="45554"/>
          </a:xfrm>
          <a:custGeom>
            <a:avLst/>
            <a:gdLst/>
            <a:ahLst/>
            <a:cxnLst/>
            <a:rect l="l" t="t" r="r" b="b"/>
            <a:pathLst>
              <a:path w="99029" h="45554">
                <a:moveTo>
                  <a:pt x="0" y="22777"/>
                </a:moveTo>
                <a:lnTo>
                  <a:pt x="49515" y="0"/>
                </a:lnTo>
                <a:lnTo>
                  <a:pt x="99029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772759" y="1759679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822274" y="1759679"/>
            <a:ext cx="49514" cy="95746"/>
          </a:xfrm>
          <a:custGeom>
            <a:avLst/>
            <a:gdLst/>
            <a:ahLst/>
            <a:cxnLst/>
            <a:rect l="l" t="t" r="r" b="b"/>
            <a:pathLst>
              <a:path w="49514" h="95746">
                <a:moveTo>
                  <a:pt x="0" y="22777"/>
                </a:moveTo>
                <a:lnTo>
                  <a:pt x="49514" y="0"/>
                </a:lnTo>
                <a:lnTo>
                  <a:pt x="49514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20" y="1591056"/>
            <a:ext cx="1689353" cy="3931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企业内容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2322576"/>
            <a:ext cx="2201418" cy="75895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指标口径 / 术语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模型映射 / 规范</a:t>
            </a:r>
          </a:p>
        </p:txBody>
      </p:sp>
      <p:sp>
        <p:nvSpPr>
          <p:cNvPr id="36" name="Oval 35"/>
          <p:cNvSpPr/>
          <p:nvPr/>
        </p:nvSpPr>
        <p:spPr>
          <a:xfrm>
            <a:off x="566928" y="1289304"/>
            <a:ext cx="274320" cy="274320"/>
          </a:xfrm>
          <a:prstGeom prst="ellipse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1312164"/>
            <a:ext cx="274320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01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070098" y="2286000"/>
            <a:ext cx="219455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3231087" y="2286000"/>
            <a:ext cx="58466" cy="35845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3231087" y="2250154"/>
            <a:ext cx="58466" cy="3584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3348989" y="1449324"/>
            <a:ext cx="2622041" cy="173736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326129" y="1417320"/>
            <a:ext cx="2622041" cy="1737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99774" y="1987082"/>
            <a:ext cx="469087" cy="8339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3478926" y="1846356"/>
            <a:ext cx="479511" cy="201395"/>
          </a:xfrm>
          <a:custGeom>
            <a:avLst/>
            <a:gdLst/>
            <a:ahLst/>
            <a:cxnLst/>
            <a:rect l="l" t="t" r="r" b="b"/>
            <a:pathLst>
              <a:path w="479511" h="201395">
                <a:moveTo>
                  <a:pt x="0" y="100697"/>
                </a:moveTo>
                <a:lnTo>
                  <a:pt x="239755" y="0"/>
                </a:lnTo>
                <a:lnTo>
                  <a:pt x="479511" y="100697"/>
                </a:lnTo>
                <a:lnTo>
                  <a:pt x="239755" y="201395"/>
                </a:lnTo>
                <a:close/>
              </a:path>
            </a:pathLst>
          </a:custGeom>
          <a:solidFill>
            <a:srgbClr val="B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3478926" y="1947053"/>
            <a:ext cx="239755" cy="145000"/>
          </a:xfrm>
          <a:custGeom>
            <a:avLst/>
            <a:gdLst/>
            <a:ahLst/>
            <a:cxnLst/>
            <a:rect l="l" t="t" r="r" b="b"/>
            <a:pathLst>
              <a:path w="239755" h="145000">
                <a:moveTo>
                  <a:pt x="0" y="0"/>
                </a:moveTo>
                <a:lnTo>
                  <a:pt x="239755" y="100698"/>
                </a:lnTo>
                <a:lnTo>
                  <a:pt x="239755" y="145000"/>
                </a:lnTo>
                <a:lnTo>
                  <a:pt x="0" y="44303"/>
                </a:lnTo>
                <a:close/>
              </a:path>
            </a:pathLst>
          </a:custGeom>
          <a:solidFill>
            <a:srgbClr val="6D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3718681" y="1947053"/>
            <a:ext cx="239756" cy="145000"/>
          </a:xfrm>
          <a:custGeom>
            <a:avLst/>
            <a:gdLst/>
            <a:ahLst/>
            <a:cxnLst/>
            <a:rect l="l" t="t" r="r" b="b"/>
            <a:pathLst>
              <a:path w="239756" h="145000">
                <a:moveTo>
                  <a:pt x="0" y="100698"/>
                </a:moveTo>
                <a:lnTo>
                  <a:pt x="239756" y="0"/>
                </a:lnTo>
                <a:lnTo>
                  <a:pt x="239756" y="44303"/>
                </a:lnTo>
                <a:lnTo>
                  <a:pt x="0" y="145000"/>
                </a:lnTo>
                <a:close/>
              </a:path>
            </a:pathLst>
          </a:custGeom>
          <a:solidFill>
            <a:srgbClr val="30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3520622" y="1747326"/>
            <a:ext cx="396118" cy="166370"/>
          </a:xfrm>
          <a:custGeom>
            <a:avLst/>
            <a:gdLst/>
            <a:ahLst/>
            <a:cxnLst/>
            <a:rect l="l" t="t" r="r" b="b"/>
            <a:pathLst>
              <a:path w="396118" h="166370">
                <a:moveTo>
                  <a:pt x="0" y="83185"/>
                </a:moveTo>
                <a:lnTo>
                  <a:pt x="198059" y="0"/>
                </a:lnTo>
                <a:lnTo>
                  <a:pt x="396118" y="83185"/>
                </a:lnTo>
                <a:lnTo>
                  <a:pt x="198059" y="166370"/>
                </a:lnTo>
                <a:close/>
              </a:path>
            </a:pathLst>
          </a:custGeom>
          <a:solidFill>
            <a:srgbClr val="94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3520622" y="1830511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0"/>
                </a:moveTo>
                <a:lnTo>
                  <a:pt x="198059" y="83185"/>
                </a:lnTo>
                <a:lnTo>
                  <a:pt x="198059" y="127488"/>
                </a:lnTo>
                <a:lnTo>
                  <a:pt x="0" y="44303"/>
                </a:lnTo>
                <a:close/>
              </a:path>
            </a:pathLst>
          </a:custGeom>
          <a:solidFill>
            <a:srgbClr val="3F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3718681" y="1830511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83185"/>
                </a:moveTo>
                <a:lnTo>
                  <a:pt x="198059" y="0"/>
                </a:lnTo>
                <a:lnTo>
                  <a:pt x="198059" y="44303"/>
                </a:lnTo>
                <a:lnTo>
                  <a:pt x="0" y="127488"/>
                </a:lnTo>
                <a:close/>
              </a:path>
            </a:pathLst>
          </a:custGeom>
          <a:solidFill>
            <a:srgbClr val="197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3567531" y="1648297"/>
            <a:ext cx="302301" cy="126966"/>
          </a:xfrm>
          <a:custGeom>
            <a:avLst/>
            <a:gdLst/>
            <a:ahLst/>
            <a:cxnLst/>
            <a:rect l="l" t="t" r="r" b="b"/>
            <a:pathLst>
              <a:path w="302301" h="126966">
                <a:moveTo>
                  <a:pt x="0" y="63483"/>
                </a:moveTo>
                <a:lnTo>
                  <a:pt x="151150" y="0"/>
                </a:lnTo>
                <a:lnTo>
                  <a:pt x="302301" y="63483"/>
                </a:lnTo>
                <a:lnTo>
                  <a:pt x="151150" y="126966"/>
                </a:lnTo>
                <a:close/>
              </a:path>
            </a:pathLst>
          </a:custGeom>
          <a:solidFill>
            <a:srgbClr val="57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3567531" y="1711780"/>
            <a:ext cx="151150" cy="107786"/>
          </a:xfrm>
          <a:custGeom>
            <a:avLst/>
            <a:gdLst/>
            <a:ahLst/>
            <a:cxnLst/>
            <a:rect l="l" t="t" r="r" b="b"/>
            <a:pathLst>
              <a:path w="151150" h="107786">
                <a:moveTo>
                  <a:pt x="0" y="0"/>
                </a:moveTo>
                <a:lnTo>
                  <a:pt x="151150" y="63483"/>
                </a:lnTo>
                <a:lnTo>
                  <a:pt x="151150" y="107786"/>
                </a:lnTo>
                <a:lnTo>
                  <a:pt x="0" y="44303"/>
                </a:lnTo>
                <a:close/>
              </a:path>
            </a:pathLst>
          </a:custGeom>
          <a:solidFill>
            <a:srgbClr val="148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3718681" y="1711780"/>
            <a:ext cx="151151" cy="107786"/>
          </a:xfrm>
          <a:custGeom>
            <a:avLst/>
            <a:gdLst/>
            <a:ahLst/>
            <a:cxnLst/>
            <a:rect l="l" t="t" r="r" b="b"/>
            <a:pathLst>
              <a:path w="151151" h="107786">
                <a:moveTo>
                  <a:pt x="0" y="63483"/>
                </a:moveTo>
                <a:lnTo>
                  <a:pt x="151151" y="0"/>
                </a:lnTo>
                <a:lnTo>
                  <a:pt x="151151" y="44303"/>
                </a:lnTo>
                <a:lnTo>
                  <a:pt x="0" y="107786"/>
                </a:lnTo>
                <a:close/>
              </a:path>
            </a:pathLst>
          </a:custGeom>
          <a:solidFill>
            <a:srgbClr val="0A5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3640500" y="1627449"/>
            <a:ext cx="99030" cy="45553"/>
          </a:xfrm>
          <a:custGeom>
            <a:avLst/>
            <a:gdLst/>
            <a:ahLst/>
            <a:cxnLst/>
            <a:rect l="l" t="t" r="r" b="b"/>
            <a:pathLst>
              <a:path w="99030" h="45553">
                <a:moveTo>
                  <a:pt x="0" y="22776"/>
                </a:moveTo>
                <a:lnTo>
                  <a:pt x="49515" y="0"/>
                </a:lnTo>
                <a:lnTo>
                  <a:pt x="99030" y="22776"/>
                </a:lnTo>
                <a:lnTo>
                  <a:pt x="49515" y="45553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3640500" y="1650225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70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3690015" y="1650225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70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3770802" y="1674357"/>
            <a:ext cx="99030" cy="45554"/>
          </a:xfrm>
          <a:custGeom>
            <a:avLst/>
            <a:gdLst/>
            <a:ahLst/>
            <a:cxnLst/>
            <a:rect l="l" t="t" r="r" b="b"/>
            <a:pathLst>
              <a:path w="99030" h="45554">
                <a:moveTo>
                  <a:pt x="0" y="22777"/>
                </a:moveTo>
                <a:lnTo>
                  <a:pt x="49515" y="0"/>
                </a:lnTo>
                <a:lnTo>
                  <a:pt x="99030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3770802" y="1697134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3820317" y="1697134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3687409" y="1736902"/>
            <a:ext cx="99029" cy="45554"/>
          </a:xfrm>
          <a:custGeom>
            <a:avLst/>
            <a:gdLst/>
            <a:ahLst/>
            <a:cxnLst/>
            <a:rect l="l" t="t" r="r" b="b"/>
            <a:pathLst>
              <a:path w="99029" h="45554">
                <a:moveTo>
                  <a:pt x="0" y="22777"/>
                </a:moveTo>
                <a:lnTo>
                  <a:pt x="49515" y="0"/>
                </a:lnTo>
                <a:lnTo>
                  <a:pt x="99029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3687409" y="1759679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3736924" y="1759679"/>
            <a:ext cx="49514" cy="95746"/>
          </a:xfrm>
          <a:custGeom>
            <a:avLst/>
            <a:gdLst/>
            <a:ahLst/>
            <a:cxnLst/>
            <a:rect l="l" t="t" r="r" b="b"/>
            <a:pathLst>
              <a:path w="49514" h="95746">
                <a:moveTo>
                  <a:pt x="0" y="22777"/>
                </a:moveTo>
                <a:lnTo>
                  <a:pt x="49514" y="0"/>
                </a:lnTo>
                <a:lnTo>
                  <a:pt x="49514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03370" y="1591056"/>
            <a:ext cx="1689353" cy="3931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专业能力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36441" y="2322576"/>
            <a:ext cx="2201418" cy="75895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任务理解 / 规划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检索 / 检查 / 生成</a:t>
            </a:r>
          </a:p>
        </p:txBody>
      </p:sp>
      <p:sp>
        <p:nvSpPr>
          <p:cNvPr id="64" name="Oval 63"/>
          <p:cNvSpPr/>
          <p:nvPr/>
        </p:nvSpPr>
        <p:spPr>
          <a:xfrm>
            <a:off x="3481577" y="1289304"/>
            <a:ext cx="274320" cy="274320"/>
          </a:xfrm>
          <a:prstGeom prst="ellipse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481577" y="1312164"/>
            <a:ext cx="274320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02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984747" y="2286000"/>
            <a:ext cx="219456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6145737" y="2286000"/>
            <a:ext cx="58466" cy="35845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6145737" y="2250154"/>
            <a:ext cx="58466" cy="3584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6263640" y="1449324"/>
            <a:ext cx="2622041" cy="173736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6240779" y="1417320"/>
            <a:ext cx="2622041" cy="1737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414424" y="1987082"/>
            <a:ext cx="469087" cy="8339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6393576" y="1846356"/>
            <a:ext cx="479511" cy="201395"/>
          </a:xfrm>
          <a:custGeom>
            <a:avLst/>
            <a:gdLst/>
            <a:ahLst/>
            <a:cxnLst/>
            <a:rect l="l" t="t" r="r" b="b"/>
            <a:pathLst>
              <a:path w="479511" h="201395">
                <a:moveTo>
                  <a:pt x="0" y="100697"/>
                </a:moveTo>
                <a:lnTo>
                  <a:pt x="239755" y="0"/>
                </a:lnTo>
                <a:lnTo>
                  <a:pt x="479511" y="100697"/>
                </a:lnTo>
                <a:lnTo>
                  <a:pt x="239755" y="201395"/>
                </a:lnTo>
                <a:close/>
              </a:path>
            </a:pathLst>
          </a:custGeom>
          <a:solidFill>
            <a:srgbClr val="B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6393576" y="1947053"/>
            <a:ext cx="239755" cy="145000"/>
          </a:xfrm>
          <a:custGeom>
            <a:avLst/>
            <a:gdLst/>
            <a:ahLst/>
            <a:cxnLst/>
            <a:rect l="l" t="t" r="r" b="b"/>
            <a:pathLst>
              <a:path w="239755" h="145000">
                <a:moveTo>
                  <a:pt x="0" y="0"/>
                </a:moveTo>
                <a:lnTo>
                  <a:pt x="239755" y="100698"/>
                </a:lnTo>
                <a:lnTo>
                  <a:pt x="239755" y="145000"/>
                </a:lnTo>
                <a:lnTo>
                  <a:pt x="0" y="44303"/>
                </a:lnTo>
                <a:close/>
              </a:path>
            </a:pathLst>
          </a:custGeom>
          <a:solidFill>
            <a:srgbClr val="6D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6633331" y="1947053"/>
            <a:ext cx="239756" cy="145000"/>
          </a:xfrm>
          <a:custGeom>
            <a:avLst/>
            <a:gdLst/>
            <a:ahLst/>
            <a:cxnLst/>
            <a:rect l="l" t="t" r="r" b="b"/>
            <a:pathLst>
              <a:path w="239756" h="145000">
                <a:moveTo>
                  <a:pt x="0" y="100698"/>
                </a:moveTo>
                <a:lnTo>
                  <a:pt x="239756" y="0"/>
                </a:lnTo>
                <a:lnTo>
                  <a:pt x="239756" y="44303"/>
                </a:lnTo>
                <a:lnTo>
                  <a:pt x="0" y="145000"/>
                </a:lnTo>
                <a:close/>
              </a:path>
            </a:pathLst>
          </a:custGeom>
          <a:solidFill>
            <a:srgbClr val="30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6435272" y="1747326"/>
            <a:ext cx="396118" cy="166370"/>
          </a:xfrm>
          <a:custGeom>
            <a:avLst/>
            <a:gdLst/>
            <a:ahLst/>
            <a:cxnLst/>
            <a:rect l="l" t="t" r="r" b="b"/>
            <a:pathLst>
              <a:path w="396118" h="166370">
                <a:moveTo>
                  <a:pt x="0" y="83185"/>
                </a:moveTo>
                <a:lnTo>
                  <a:pt x="198059" y="0"/>
                </a:lnTo>
                <a:lnTo>
                  <a:pt x="396118" y="83185"/>
                </a:lnTo>
                <a:lnTo>
                  <a:pt x="198059" y="166370"/>
                </a:lnTo>
                <a:close/>
              </a:path>
            </a:pathLst>
          </a:custGeom>
          <a:solidFill>
            <a:srgbClr val="94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6435272" y="1830511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0"/>
                </a:moveTo>
                <a:lnTo>
                  <a:pt x="198059" y="83185"/>
                </a:lnTo>
                <a:lnTo>
                  <a:pt x="198059" y="127488"/>
                </a:lnTo>
                <a:lnTo>
                  <a:pt x="0" y="44303"/>
                </a:lnTo>
                <a:close/>
              </a:path>
            </a:pathLst>
          </a:custGeom>
          <a:solidFill>
            <a:srgbClr val="3F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6633331" y="1830511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83185"/>
                </a:moveTo>
                <a:lnTo>
                  <a:pt x="198059" y="0"/>
                </a:lnTo>
                <a:lnTo>
                  <a:pt x="198059" y="44303"/>
                </a:lnTo>
                <a:lnTo>
                  <a:pt x="0" y="127488"/>
                </a:lnTo>
                <a:close/>
              </a:path>
            </a:pathLst>
          </a:custGeom>
          <a:solidFill>
            <a:srgbClr val="197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6482181" y="1648297"/>
            <a:ext cx="302301" cy="126966"/>
          </a:xfrm>
          <a:custGeom>
            <a:avLst/>
            <a:gdLst/>
            <a:ahLst/>
            <a:cxnLst/>
            <a:rect l="l" t="t" r="r" b="b"/>
            <a:pathLst>
              <a:path w="302301" h="126966">
                <a:moveTo>
                  <a:pt x="0" y="63483"/>
                </a:moveTo>
                <a:lnTo>
                  <a:pt x="151150" y="0"/>
                </a:lnTo>
                <a:lnTo>
                  <a:pt x="302301" y="63483"/>
                </a:lnTo>
                <a:lnTo>
                  <a:pt x="151150" y="126966"/>
                </a:lnTo>
                <a:close/>
              </a:path>
            </a:pathLst>
          </a:custGeom>
          <a:solidFill>
            <a:srgbClr val="57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6482181" y="1711780"/>
            <a:ext cx="151150" cy="107786"/>
          </a:xfrm>
          <a:custGeom>
            <a:avLst/>
            <a:gdLst/>
            <a:ahLst/>
            <a:cxnLst/>
            <a:rect l="l" t="t" r="r" b="b"/>
            <a:pathLst>
              <a:path w="151150" h="107786">
                <a:moveTo>
                  <a:pt x="0" y="0"/>
                </a:moveTo>
                <a:lnTo>
                  <a:pt x="151150" y="63483"/>
                </a:lnTo>
                <a:lnTo>
                  <a:pt x="151150" y="107786"/>
                </a:lnTo>
                <a:lnTo>
                  <a:pt x="0" y="44303"/>
                </a:lnTo>
                <a:close/>
              </a:path>
            </a:pathLst>
          </a:custGeom>
          <a:solidFill>
            <a:srgbClr val="148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6633331" y="1711780"/>
            <a:ext cx="151151" cy="107786"/>
          </a:xfrm>
          <a:custGeom>
            <a:avLst/>
            <a:gdLst/>
            <a:ahLst/>
            <a:cxnLst/>
            <a:rect l="l" t="t" r="r" b="b"/>
            <a:pathLst>
              <a:path w="151151" h="107786">
                <a:moveTo>
                  <a:pt x="0" y="63483"/>
                </a:moveTo>
                <a:lnTo>
                  <a:pt x="151151" y="0"/>
                </a:lnTo>
                <a:lnTo>
                  <a:pt x="151151" y="44303"/>
                </a:lnTo>
                <a:lnTo>
                  <a:pt x="0" y="107786"/>
                </a:lnTo>
                <a:close/>
              </a:path>
            </a:pathLst>
          </a:custGeom>
          <a:solidFill>
            <a:srgbClr val="0A5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6555150" y="1627449"/>
            <a:ext cx="99030" cy="45553"/>
          </a:xfrm>
          <a:custGeom>
            <a:avLst/>
            <a:gdLst/>
            <a:ahLst/>
            <a:cxnLst/>
            <a:rect l="l" t="t" r="r" b="b"/>
            <a:pathLst>
              <a:path w="99030" h="45553">
                <a:moveTo>
                  <a:pt x="0" y="22776"/>
                </a:moveTo>
                <a:lnTo>
                  <a:pt x="49515" y="0"/>
                </a:lnTo>
                <a:lnTo>
                  <a:pt x="99030" y="22776"/>
                </a:lnTo>
                <a:lnTo>
                  <a:pt x="49515" y="45553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6555150" y="1650225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70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6604665" y="1650225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70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6685452" y="1674357"/>
            <a:ext cx="99030" cy="45554"/>
          </a:xfrm>
          <a:custGeom>
            <a:avLst/>
            <a:gdLst/>
            <a:ahLst/>
            <a:cxnLst/>
            <a:rect l="l" t="t" r="r" b="b"/>
            <a:pathLst>
              <a:path w="99030" h="45554">
                <a:moveTo>
                  <a:pt x="0" y="22777"/>
                </a:moveTo>
                <a:lnTo>
                  <a:pt x="49515" y="0"/>
                </a:lnTo>
                <a:lnTo>
                  <a:pt x="99030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6685452" y="1697134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6734967" y="1697134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6602059" y="1736902"/>
            <a:ext cx="99029" cy="45554"/>
          </a:xfrm>
          <a:custGeom>
            <a:avLst/>
            <a:gdLst/>
            <a:ahLst/>
            <a:cxnLst/>
            <a:rect l="l" t="t" r="r" b="b"/>
            <a:pathLst>
              <a:path w="99029" h="45554">
                <a:moveTo>
                  <a:pt x="0" y="22777"/>
                </a:moveTo>
                <a:lnTo>
                  <a:pt x="49515" y="0"/>
                </a:lnTo>
                <a:lnTo>
                  <a:pt x="99029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6602059" y="1759679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6651574" y="1759679"/>
            <a:ext cx="49514" cy="95746"/>
          </a:xfrm>
          <a:custGeom>
            <a:avLst/>
            <a:gdLst/>
            <a:ahLst/>
            <a:cxnLst/>
            <a:rect l="l" t="t" r="r" b="b"/>
            <a:pathLst>
              <a:path w="49514" h="95746">
                <a:moveTo>
                  <a:pt x="0" y="22777"/>
                </a:moveTo>
                <a:lnTo>
                  <a:pt x="49514" y="0"/>
                </a:lnTo>
                <a:lnTo>
                  <a:pt x="49514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018019" y="1591056"/>
            <a:ext cx="1689353" cy="3931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平台执行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51092" y="2322576"/>
            <a:ext cx="2201418" cy="75895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数据查询 / 计算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调试 / 质量 / 调度</a:t>
            </a:r>
          </a:p>
        </p:txBody>
      </p:sp>
      <p:sp>
        <p:nvSpPr>
          <p:cNvPr id="92" name="Oval 91"/>
          <p:cNvSpPr/>
          <p:nvPr/>
        </p:nvSpPr>
        <p:spPr>
          <a:xfrm>
            <a:off x="6396227" y="1289304"/>
            <a:ext cx="274320" cy="274320"/>
          </a:xfrm>
          <a:prstGeom prst="ellipse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396227" y="1312164"/>
            <a:ext cx="274320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03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8899397" y="2286000"/>
            <a:ext cx="219457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>
            <a:off x="9060387" y="2286000"/>
            <a:ext cx="58467" cy="35845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H="1" flipV="1">
            <a:off x="9060387" y="2250154"/>
            <a:ext cx="58467" cy="3584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ounded Rectangle 96"/>
          <p:cNvSpPr/>
          <p:nvPr/>
        </p:nvSpPr>
        <p:spPr>
          <a:xfrm>
            <a:off x="9178289" y="1449324"/>
            <a:ext cx="2622041" cy="173736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9155429" y="1417320"/>
            <a:ext cx="2622041" cy="1737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9329074" y="1987082"/>
            <a:ext cx="469087" cy="8339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9334286" y="1914113"/>
            <a:ext cx="453451" cy="208587"/>
          </a:xfrm>
          <a:custGeom>
            <a:avLst/>
            <a:gdLst/>
            <a:ahLst/>
            <a:cxnLst/>
            <a:rect l="l" t="t" r="r" b="b"/>
            <a:pathLst>
              <a:path w="453451" h="208587">
                <a:moveTo>
                  <a:pt x="0" y="104294"/>
                </a:moveTo>
                <a:lnTo>
                  <a:pt x="226726" y="0"/>
                </a:lnTo>
                <a:lnTo>
                  <a:pt x="453451" y="104294"/>
                </a:lnTo>
                <a:lnTo>
                  <a:pt x="226726" y="208587"/>
                </a:lnTo>
                <a:close/>
              </a:path>
            </a:pathLst>
          </a:custGeom>
          <a:solidFill>
            <a:srgbClr val="B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9334286" y="2018407"/>
            <a:ext cx="226726" cy="125142"/>
          </a:xfrm>
          <a:custGeom>
            <a:avLst/>
            <a:gdLst/>
            <a:ahLst/>
            <a:cxnLst/>
            <a:rect l="l" t="t" r="r" b="b"/>
            <a:pathLst>
              <a:path w="226726" h="125142">
                <a:moveTo>
                  <a:pt x="0" y="0"/>
                </a:moveTo>
                <a:lnTo>
                  <a:pt x="226726" y="104293"/>
                </a:lnTo>
                <a:lnTo>
                  <a:pt x="226726" y="125142"/>
                </a:lnTo>
                <a:lnTo>
                  <a:pt x="0" y="20848"/>
                </a:lnTo>
                <a:close/>
              </a:path>
            </a:pathLst>
          </a:custGeom>
          <a:solidFill>
            <a:srgbClr val="7FC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9561012" y="2018407"/>
            <a:ext cx="226725" cy="125142"/>
          </a:xfrm>
          <a:custGeom>
            <a:avLst/>
            <a:gdLst/>
            <a:ahLst/>
            <a:cxnLst/>
            <a:rect l="l" t="t" r="r" b="b"/>
            <a:pathLst>
              <a:path w="226725" h="125142">
                <a:moveTo>
                  <a:pt x="0" y="104293"/>
                </a:moveTo>
                <a:lnTo>
                  <a:pt x="226725" y="0"/>
                </a:lnTo>
                <a:lnTo>
                  <a:pt x="226725" y="20848"/>
                </a:lnTo>
                <a:lnTo>
                  <a:pt x="0" y="125142"/>
                </a:lnTo>
                <a:close/>
              </a:path>
            </a:pathLst>
          </a:custGeom>
          <a:solidFill>
            <a:srgbClr val="5AA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9370771" y="1846356"/>
            <a:ext cx="99029" cy="41697"/>
          </a:xfrm>
          <a:custGeom>
            <a:avLst/>
            <a:gdLst/>
            <a:ahLst/>
            <a:cxnLst/>
            <a:rect l="l" t="t" r="r" b="b"/>
            <a:pathLst>
              <a:path w="99029" h="41697">
                <a:moveTo>
                  <a:pt x="0" y="20848"/>
                </a:moveTo>
                <a:lnTo>
                  <a:pt x="49514" y="0"/>
                </a:lnTo>
                <a:lnTo>
                  <a:pt x="99029" y="20848"/>
                </a:lnTo>
                <a:lnTo>
                  <a:pt x="49514" y="41697"/>
                </a:lnTo>
                <a:close/>
              </a:path>
            </a:pathLst>
          </a:custGeom>
          <a:solidFill>
            <a:srgbClr val="9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9370771" y="1867204"/>
            <a:ext cx="49514" cy="114666"/>
          </a:xfrm>
          <a:custGeom>
            <a:avLst/>
            <a:gdLst/>
            <a:ahLst/>
            <a:cxnLst/>
            <a:rect l="l" t="t" r="r" b="b"/>
            <a:pathLst>
              <a:path w="49514" h="114666">
                <a:moveTo>
                  <a:pt x="0" y="0"/>
                </a:moveTo>
                <a:lnTo>
                  <a:pt x="49514" y="20849"/>
                </a:lnTo>
                <a:lnTo>
                  <a:pt x="49514" y="114666"/>
                </a:lnTo>
                <a:lnTo>
                  <a:pt x="0" y="93818"/>
                </a:lnTo>
                <a:close/>
              </a:path>
            </a:pathLst>
          </a:custGeom>
          <a:solidFill>
            <a:srgbClr val="2AB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9420285" y="1867204"/>
            <a:ext cx="49515" cy="114666"/>
          </a:xfrm>
          <a:custGeom>
            <a:avLst/>
            <a:gdLst/>
            <a:ahLst/>
            <a:cxnLst/>
            <a:rect l="l" t="t" r="r" b="b"/>
            <a:pathLst>
              <a:path w="49515" h="114666">
                <a:moveTo>
                  <a:pt x="0" y="20849"/>
                </a:moveTo>
                <a:lnTo>
                  <a:pt x="49515" y="0"/>
                </a:lnTo>
                <a:lnTo>
                  <a:pt x="49515" y="93818"/>
                </a:lnTo>
                <a:lnTo>
                  <a:pt x="0" y="114666"/>
                </a:lnTo>
                <a:close/>
              </a:path>
            </a:pathLst>
          </a:custGeom>
          <a:solidFill>
            <a:srgbClr val="11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9495861" y="1747326"/>
            <a:ext cx="99029" cy="41697"/>
          </a:xfrm>
          <a:custGeom>
            <a:avLst/>
            <a:gdLst/>
            <a:ahLst/>
            <a:cxnLst/>
            <a:rect l="l" t="t" r="r" b="b"/>
            <a:pathLst>
              <a:path w="99029" h="41697">
                <a:moveTo>
                  <a:pt x="0" y="20849"/>
                </a:moveTo>
                <a:lnTo>
                  <a:pt x="49514" y="0"/>
                </a:lnTo>
                <a:lnTo>
                  <a:pt x="99029" y="20849"/>
                </a:lnTo>
                <a:lnTo>
                  <a:pt x="49514" y="41697"/>
                </a:lnTo>
                <a:close/>
              </a:path>
            </a:pathLst>
          </a:custGeom>
          <a:solidFill>
            <a:srgbClr val="9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9495861" y="1768175"/>
            <a:ext cx="49514" cy="213695"/>
          </a:xfrm>
          <a:custGeom>
            <a:avLst/>
            <a:gdLst/>
            <a:ahLst/>
            <a:cxnLst/>
            <a:rect l="l" t="t" r="r" b="b"/>
            <a:pathLst>
              <a:path w="49514" h="213695">
                <a:moveTo>
                  <a:pt x="0" y="0"/>
                </a:moveTo>
                <a:lnTo>
                  <a:pt x="49514" y="20848"/>
                </a:lnTo>
                <a:lnTo>
                  <a:pt x="49514" y="213695"/>
                </a:lnTo>
                <a:lnTo>
                  <a:pt x="0" y="192847"/>
                </a:lnTo>
                <a:close/>
              </a:path>
            </a:pathLst>
          </a:custGeom>
          <a:solidFill>
            <a:srgbClr val="2AB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9545375" y="1768175"/>
            <a:ext cx="49515" cy="213695"/>
          </a:xfrm>
          <a:custGeom>
            <a:avLst/>
            <a:gdLst/>
            <a:ahLst/>
            <a:cxnLst/>
            <a:rect l="l" t="t" r="r" b="b"/>
            <a:pathLst>
              <a:path w="49515" h="213695">
                <a:moveTo>
                  <a:pt x="0" y="20848"/>
                </a:moveTo>
                <a:lnTo>
                  <a:pt x="49515" y="0"/>
                </a:lnTo>
                <a:lnTo>
                  <a:pt x="49515" y="192847"/>
                </a:lnTo>
                <a:lnTo>
                  <a:pt x="0" y="213695"/>
                </a:lnTo>
                <a:close/>
              </a:path>
            </a:pathLst>
          </a:custGeom>
          <a:solidFill>
            <a:srgbClr val="11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9620951" y="1617024"/>
            <a:ext cx="99029" cy="41697"/>
          </a:xfrm>
          <a:custGeom>
            <a:avLst/>
            <a:gdLst/>
            <a:ahLst/>
            <a:cxnLst/>
            <a:rect l="l" t="t" r="r" b="b"/>
            <a:pathLst>
              <a:path w="99029" h="41697">
                <a:moveTo>
                  <a:pt x="0" y="20849"/>
                </a:moveTo>
                <a:lnTo>
                  <a:pt x="49514" y="0"/>
                </a:lnTo>
                <a:lnTo>
                  <a:pt x="99029" y="20849"/>
                </a:lnTo>
                <a:lnTo>
                  <a:pt x="49514" y="41697"/>
                </a:lnTo>
                <a:close/>
              </a:path>
            </a:pathLst>
          </a:custGeom>
          <a:solidFill>
            <a:srgbClr val="9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9620951" y="1637873"/>
            <a:ext cx="49514" cy="343997"/>
          </a:xfrm>
          <a:custGeom>
            <a:avLst/>
            <a:gdLst/>
            <a:ahLst/>
            <a:cxnLst/>
            <a:rect l="l" t="t" r="r" b="b"/>
            <a:pathLst>
              <a:path w="49514" h="343997">
                <a:moveTo>
                  <a:pt x="0" y="0"/>
                </a:moveTo>
                <a:lnTo>
                  <a:pt x="49514" y="20848"/>
                </a:lnTo>
                <a:lnTo>
                  <a:pt x="49514" y="343997"/>
                </a:lnTo>
                <a:lnTo>
                  <a:pt x="0" y="323149"/>
                </a:lnTo>
                <a:close/>
              </a:path>
            </a:pathLst>
          </a:custGeom>
          <a:solidFill>
            <a:srgbClr val="2AB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9670465" y="1637873"/>
            <a:ext cx="49515" cy="343997"/>
          </a:xfrm>
          <a:custGeom>
            <a:avLst/>
            <a:gdLst/>
            <a:ahLst/>
            <a:cxnLst/>
            <a:rect l="l" t="t" r="r" b="b"/>
            <a:pathLst>
              <a:path w="49515" h="343997">
                <a:moveTo>
                  <a:pt x="0" y="20848"/>
                </a:moveTo>
                <a:lnTo>
                  <a:pt x="49515" y="0"/>
                </a:lnTo>
                <a:lnTo>
                  <a:pt x="49515" y="323149"/>
                </a:lnTo>
                <a:lnTo>
                  <a:pt x="0" y="343997"/>
                </a:lnTo>
                <a:close/>
              </a:path>
            </a:pathLst>
          </a:custGeom>
          <a:solidFill>
            <a:srgbClr val="11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932669" y="1591056"/>
            <a:ext cx="1689353" cy="3931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业务成果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365741" y="2322576"/>
            <a:ext cx="2201418" cy="75895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需求与设计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代码与证据 / 分析</a:t>
            </a:r>
          </a:p>
        </p:txBody>
      </p:sp>
      <p:sp>
        <p:nvSpPr>
          <p:cNvPr id="114" name="Oval 113"/>
          <p:cNvSpPr/>
          <p:nvPr/>
        </p:nvSpPr>
        <p:spPr>
          <a:xfrm>
            <a:off x="9310877" y="1289304"/>
            <a:ext cx="274320" cy="274320"/>
          </a:xfrm>
          <a:prstGeom prst="ellipse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310877" y="1312164"/>
            <a:ext cx="274320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04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521207" y="3566160"/>
            <a:ext cx="11137392" cy="649224"/>
          </a:xfrm>
          <a:prstGeom prst="roundRect">
            <a:avLst>
              <a:gd name="adj" fmla="val 3500"/>
            </a:avLst>
          </a:prstGeom>
          <a:solidFill>
            <a:srgbClr val="08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12647" y="3598164"/>
            <a:ext cx="10954512" cy="585215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价值传导：统一定义 → 复用已有成果 → 减少错误与返工 → 缩短专业任务过程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544068" y="4604004"/>
            <a:ext cx="3602736" cy="102412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521207" y="4572000"/>
            <a:ext cx="3602736" cy="1024128"/>
          </a:xfrm>
          <a:prstGeom prst="roundRect">
            <a:avLst>
              <a:gd name="adj" fmla="val 5500"/>
            </a:avLst>
          </a:prstGeom>
          <a:solidFill>
            <a:srgbClr val="FFF6E9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67512" y="4718304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77240" y="4654296"/>
            <a:ext cx="3209544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不建指标与语义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04088" y="5129784"/>
            <a:ext cx="3236976" cy="36576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问数仍需反复解释口径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4311396" y="4604004"/>
            <a:ext cx="3602736" cy="102412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4288536" y="4572000"/>
            <a:ext cx="3602736" cy="1024128"/>
          </a:xfrm>
          <a:prstGeom prst="roundRect">
            <a:avLst>
              <a:gd name="adj" fmla="val 5500"/>
            </a:avLst>
          </a:prstGeom>
          <a:solidFill>
            <a:srgbClr val="FFF6E9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434840" y="4718304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544568" y="4654296"/>
            <a:ext cx="3209544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不建规则与验证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471416" y="5129784"/>
            <a:ext cx="3236976" cy="36576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生成结果难稳定复核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8078724" y="4604004"/>
            <a:ext cx="3602736" cy="102412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8055864" y="4572000"/>
            <a:ext cx="3602736" cy="1024128"/>
          </a:xfrm>
          <a:prstGeom prst="roundRect">
            <a:avLst>
              <a:gd name="adj" fmla="val 5500"/>
            </a:avLst>
          </a:prstGeom>
          <a:solidFill>
            <a:srgbClr val="FFF6E9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8202168" y="4718304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311896" y="4654296"/>
            <a:ext cx="3209544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不建平台连接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238744" y="5129784"/>
            <a:ext cx="3236976" cy="36576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跨系统工作仍靠人工搬运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461772" y="6112764"/>
            <a:ext cx="11247120" cy="33832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438912" y="6080760"/>
            <a:ext cx="11247120" cy="338328"/>
          </a:xfrm>
          <a:prstGeom prst="roundRect">
            <a:avLst>
              <a:gd name="adj" fmla="val 5500"/>
            </a:avLst>
          </a:prstGeom>
          <a:solidFill>
            <a:srgbClr val="EEF7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585216" y="6117336"/>
            <a:ext cx="10954512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建设成效看定义与方法是否被复用、任务是否改善，而非建库数量或Agent数量。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6346471"/>
            <a:ext cx="12191695" cy="235953"/>
          </a:xfrm>
          <a:custGeom>
            <a:avLst/>
            <a:gdLst/>
            <a:ahLst/>
            <a:cxnLst/>
            <a:rect l="l" t="t" r="r" b="b"/>
            <a:pathLst>
              <a:path w="12191695" h="235953">
                <a:moveTo>
                  <a:pt x="0" y="127481"/>
                </a:moveTo>
                <a:lnTo>
                  <a:pt x="135463" y="147046"/>
                </a:lnTo>
                <a:lnTo>
                  <a:pt x="270926" y="165914"/>
                </a:lnTo>
                <a:lnTo>
                  <a:pt x="406389" y="183426"/>
                </a:lnTo>
                <a:lnTo>
                  <a:pt x="541853" y="199000"/>
                </a:lnTo>
                <a:lnTo>
                  <a:pt x="677316" y="212159"/>
                </a:lnTo>
                <a:lnTo>
                  <a:pt x="812779" y="222557"/>
                </a:lnTo>
                <a:lnTo>
                  <a:pt x="948242" y="229995"/>
                </a:lnTo>
                <a:lnTo>
                  <a:pt x="1083706" y="234426"/>
                </a:lnTo>
                <a:lnTo>
                  <a:pt x="1219169" y="235953"/>
                </a:lnTo>
                <a:lnTo>
                  <a:pt x="1354632" y="234812"/>
                </a:lnTo>
                <a:lnTo>
                  <a:pt x="1490096" y="231352"/>
                </a:lnTo>
                <a:lnTo>
                  <a:pt x="1625559" y="226009"/>
                </a:lnTo>
                <a:lnTo>
                  <a:pt x="1761022" y="219267"/>
                </a:lnTo>
                <a:lnTo>
                  <a:pt x="1896485" y="211626"/>
                </a:lnTo>
                <a:lnTo>
                  <a:pt x="2031949" y="203564"/>
                </a:lnTo>
                <a:lnTo>
                  <a:pt x="2167412" y="195508"/>
                </a:lnTo>
                <a:lnTo>
                  <a:pt x="2302875" y="187800"/>
                </a:lnTo>
                <a:lnTo>
                  <a:pt x="2438339" y="180682"/>
                </a:lnTo>
                <a:lnTo>
                  <a:pt x="2573802" y="174280"/>
                </a:lnTo>
                <a:lnTo>
                  <a:pt x="2709265" y="168601"/>
                </a:lnTo>
                <a:lnTo>
                  <a:pt x="2844728" y="163541"/>
                </a:lnTo>
                <a:lnTo>
                  <a:pt x="2980192" y="158900"/>
                </a:lnTo>
                <a:lnTo>
                  <a:pt x="3115655" y="154402"/>
                </a:lnTo>
                <a:lnTo>
                  <a:pt x="3251118" y="149724"/>
                </a:lnTo>
                <a:lnTo>
                  <a:pt x="3386582" y="144534"/>
                </a:lnTo>
                <a:lnTo>
                  <a:pt x="3522045" y="138515"/>
                </a:lnTo>
                <a:lnTo>
                  <a:pt x="3657508" y="131408"/>
                </a:lnTo>
                <a:lnTo>
                  <a:pt x="3792971" y="123031"/>
                </a:lnTo>
                <a:lnTo>
                  <a:pt x="3928435" y="113309"/>
                </a:lnTo>
                <a:lnTo>
                  <a:pt x="4063898" y="102287"/>
                </a:lnTo>
                <a:lnTo>
                  <a:pt x="4199361" y="90138"/>
                </a:lnTo>
                <a:lnTo>
                  <a:pt x="4334824" y="77155"/>
                </a:lnTo>
                <a:lnTo>
                  <a:pt x="4470288" y="63745"/>
                </a:lnTo>
                <a:lnTo>
                  <a:pt x="4605751" y="50406"/>
                </a:lnTo>
                <a:lnTo>
                  <a:pt x="4741214" y="37696"/>
                </a:lnTo>
                <a:lnTo>
                  <a:pt x="4876678" y="26202"/>
                </a:lnTo>
                <a:lnTo>
                  <a:pt x="5012141" y="16503"/>
                </a:lnTo>
                <a:lnTo>
                  <a:pt x="5147604" y="9131"/>
                </a:lnTo>
                <a:lnTo>
                  <a:pt x="5283067" y="4538"/>
                </a:lnTo>
                <a:lnTo>
                  <a:pt x="5418531" y="3064"/>
                </a:lnTo>
                <a:lnTo>
                  <a:pt x="5553994" y="4912"/>
                </a:lnTo>
                <a:lnTo>
                  <a:pt x="5689457" y="10132"/>
                </a:lnTo>
                <a:lnTo>
                  <a:pt x="5824921" y="18617"/>
                </a:lnTo>
                <a:lnTo>
                  <a:pt x="5960384" y="30106"/>
                </a:lnTo>
                <a:lnTo>
                  <a:pt x="6095847" y="44193"/>
                </a:lnTo>
                <a:lnTo>
                  <a:pt x="6231310" y="60357"/>
                </a:lnTo>
                <a:lnTo>
                  <a:pt x="6366774" y="77984"/>
                </a:lnTo>
                <a:lnTo>
                  <a:pt x="6502237" y="96410"/>
                </a:lnTo>
                <a:lnTo>
                  <a:pt x="6637700" y="114953"/>
                </a:lnTo>
                <a:lnTo>
                  <a:pt x="6773164" y="132954"/>
                </a:lnTo>
                <a:lnTo>
                  <a:pt x="6908627" y="149814"/>
                </a:lnTo>
                <a:lnTo>
                  <a:pt x="7044090" y="165027"/>
                </a:lnTo>
                <a:lnTo>
                  <a:pt x="7179553" y="178204"/>
                </a:lnTo>
                <a:lnTo>
                  <a:pt x="7315017" y="189090"/>
                </a:lnTo>
                <a:lnTo>
                  <a:pt x="7450480" y="197574"/>
                </a:lnTo>
                <a:lnTo>
                  <a:pt x="7585943" y="203682"/>
                </a:lnTo>
                <a:lnTo>
                  <a:pt x="7721406" y="207573"/>
                </a:lnTo>
                <a:lnTo>
                  <a:pt x="7856870" y="209512"/>
                </a:lnTo>
                <a:lnTo>
                  <a:pt x="7992333" y="209848"/>
                </a:lnTo>
                <a:lnTo>
                  <a:pt x="8127796" y="208978"/>
                </a:lnTo>
                <a:lnTo>
                  <a:pt x="8263260" y="207316"/>
                </a:lnTo>
                <a:lnTo>
                  <a:pt x="8398723" y="205256"/>
                </a:lnTo>
                <a:lnTo>
                  <a:pt x="8534186" y="203141"/>
                </a:lnTo>
                <a:lnTo>
                  <a:pt x="8669649" y="201238"/>
                </a:lnTo>
                <a:lnTo>
                  <a:pt x="8805113" y="199711"/>
                </a:lnTo>
                <a:lnTo>
                  <a:pt x="8940576" y="198616"/>
                </a:lnTo>
                <a:lnTo>
                  <a:pt x="9076039" y="197894"/>
                </a:lnTo>
                <a:lnTo>
                  <a:pt x="9211503" y="197378"/>
                </a:lnTo>
                <a:lnTo>
                  <a:pt x="9346966" y="196808"/>
                </a:lnTo>
                <a:lnTo>
                  <a:pt x="9482429" y="195855"/>
                </a:lnTo>
                <a:lnTo>
                  <a:pt x="9617892" y="194147"/>
                </a:lnTo>
                <a:lnTo>
                  <a:pt x="9753356" y="191305"/>
                </a:lnTo>
                <a:lnTo>
                  <a:pt x="9888819" y="186977"/>
                </a:lnTo>
                <a:lnTo>
                  <a:pt x="10024282" y="180869"/>
                </a:lnTo>
                <a:lnTo>
                  <a:pt x="10159746" y="172776"/>
                </a:lnTo>
                <a:lnTo>
                  <a:pt x="10295209" y="162608"/>
                </a:lnTo>
                <a:lnTo>
                  <a:pt x="10430672" y="150402"/>
                </a:lnTo>
                <a:lnTo>
                  <a:pt x="10566135" y="136335"/>
                </a:lnTo>
                <a:lnTo>
                  <a:pt x="10701599" y="120717"/>
                </a:lnTo>
                <a:lnTo>
                  <a:pt x="10837062" y="103984"/>
                </a:lnTo>
                <a:lnTo>
                  <a:pt x="10972525" y="86673"/>
                </a:lnTo>
                <a:lnTo>
                  <a:pt x="11107988" y="69396"/>
                </a:lnTo>
                <a:lnTo>
                  <a:pt x="11243452" y="52806"/>
                </a:lnTo>
                <a:lnTo>
                  <a:pt x="11378915" y="37558"/>
                </a:lnTo>
                <a:lnTo>
                  <a:pt x="11514378" y="24274"/>
                </a:lnTo>
                <a:lnTo>
                  <a:pt x="11649842" y="13501"/>
                </a:lnTo>
                <a:lnTo>
                  <a:pt x="11785305" y="5683"/>
                </a:lnTo>
                <a:lnTo>
                  <a:pt x="11920768" y="1129"/>
                </a:lnTo>
                <a:lnTo>
                  <a:pt x="12056231" y="0"/>
                </a:lnTo>
                <a:lnTo>
                  <a:pt x="12191695" y="2300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6405649"/>
            <a:ext cx="12191695" cy="245182"/>
          </a:xfrm>
          <a:custGeom>
            <a:avLst/>
            <a:gdLst/>
            <a:ahLst/>
            <a:cxnLst/>
            <a:rect l="l" t="t" r="r" b="b"/>
            <a:pathLst>
              <a:path w="12191695" h="245182">
                <a:moveTo>
                  <a:pt x="0" y="150669"/>
                </a:moveTo>
                <a:lnTo>
                  <a:pt x="135463" y="169737"/>
                </a:lnTo>
                <a:lnTo>
                  <a:pt x="270926" y="187768"/>
                </a:lnTo>
                <a:lnTo>
                  <a:pt x="406389" y="204118"/>
                </a:lnTo>
                <a:lnTo>
                  <a:pt x="541853" y="218220"/>
                </a:lnTo>
                <a:lnTo>
                  <a:pt x="677316" y="229621"/>
                </a:lnTo>
                <a:lnTo>
                  <a:pt x="812779" y="238002"/>
                </a:lnTo>
                <a:lnTo>
                  <a:pt x="948242" y="243193"/>
                </a:lnTo>
                <a:lnTo>
                  <a:pt x="1083706" y="245182"/>
                </a:lnTo>
                <a:lnTo>
                  <a:pt x="1219169" y="244108"/>
                </a:lnTo>
                <a:lnTo>
                  <a:pt x="1354632" y="240247"/>
                </a:lnTo>
                <a:lnTo>
                  <a:pt x="1490096" y="233989"/>
                </a:lnTo>
                <a:lnTo>
                  <a:pt x="1625559" y="225812"/>
                </a:lnTo>
                <a:lnTo>
                  <a:pt x="1761022" y="216243"/>
                </a:lnTo>
                <a:lnTo>
                  <a:pt x="1896485" y="205824"/>
                </a:lnTo>
                <a:lnTo>
                  <a:pt x="2031949" y="195076"/>
                </a:lnTo>
                <a:lnTo>
                  <a:pt x="2167412" y="184466"/>
                </a:lnTo>
                <a:lnTo>
                  <a:pt x="2302875" y="174375"/>
                </a:lnTo>
                <a:lnTo>
                  <a:pt x="2438339" y="165080"/>
                </a:lnTo>
                <a:lnTo>
                  <a:pt x="2573802" y="156740"/>
                </a:lnTo>
                <a:lnTo>
                  <a:pt x="2709265" y="149392"/>
                </a:lnTo>
                <a:lnTo>
                  <a:pt x="2844728" y="142958"/>
                </a:lnTo>
                <a:lnTo>
                  <a:pt x="2980192" y="137257"/>
                </a:lnTo>
                <a:lnTo>
                  <a:pt x="3115655" y="132030"/>
                </a:lnTo>
                <a:lnTo>
                  <a:pt x="3251118" y="126965"/>
                </a:lnTo>
                <a:lnTo>
                  <a:pt x="3386582" y="121734"/>
                </a:lnTo>
                <a:lnTo>
                  <a:pt x="3522045" y="116024"/>
                </a:lnTo>
                <a:lnTo>
                  <a:pt x="3657508" y="109568"/>
                </a:lnTo>
                <a:lnTo>
                  <a:pt x="3792971" y="102177"/>
                </a:lnTo>
                <a:lnTo>
                  <a:pt x="3928435" y="93759"/>
                </a:lnTo>
                <a:lnTo>
                  <a:pt x="4063898" y="84341"/>
                </a:lnTo>
                <a:lnTo>
                  <a:pt x="4199361" y="74069"/>
                </a:lnTo>
                <a:lnTo>
                  <a:pt x="4334824" y="63211"/>
                </a:lnTo>
                <a:lnTo>
                  <a:pt x="4470288" y="52141"/>
                </a:lnTo>
                <a:lnTo>
                  <a:pt x="4605751" y="41320"/>
                </a:lnTo>
                <a:lnTo>
                  <a:pt x="4741214" y="31269"/>
                </a:lnTo>
                <a:lnTo>
                  <a:pt x="4876678" y="22536"/>
                </a:lnTo>
                <a:lnTo>
                  <a:pt x="5012141" y="15656"/>
                </a:lnTo>
                <a:lnTo>
                  <a:pt x="5147604" y="11120"/>
                </a:lnTo>
                <a:lnTo>
                  <a:pt x="5283067" y="9338"/>
                </a:lnTo>
                <a:lnTo>
                  <a:pt x="5418531" y="10605"/>
                </a:lnTo>
                <a:lnTo>
                  <a:pt x="5553994" y="15085"/>
                </a:lnTo>
                <a:lnTo>
                  <a:pt x="5689457" y="22787"/>
                </a:lnTo>
                <a:lnTo>
                  <a:pt x="5824921" y="33567"/>
                </a:lnTo>
                <a:lnTo>
                  <a:pt x="5960384" y="47128"/>
                </a:lnTo>
                <a:lnTo>
                  <a:pt x="6095847" y="63035"/>
                </a:lnTo>
                <a:lnTo>
                  <a:pt x="6231310" y="80738"/>
                </a:lnTo>
                <a:lnTo>
                  <a:pt x="6366774" y="99601"/>
                </a:lnTo>
                <a:lnTo>
                  <a:pt x="6502237" y="118939"/>
                </a:lnTo>
                <a:lnTo>
                  <a:pt x="6637700" y="138058"/>
                </a:lnTo>
                <a:lnTo>
                  <a:pt x="6773164" y="156290"/>
                </a:lnTo>
                <a:lnTo>
                  <a:pt x="6908627" y="173034"/>
                </a:lnTo>
                <a:lnTo>
                  <a:pt x="7044090" y="187783"/>
                </a:lnTo>
                <a:lnTo>
                  <a:pt x="7179553" y="200156"/>
                </a:lnTo>
                <a:lnTo>
                  <a:pt x="7315017" y="209912"/>
                </a:lnTo>
                <a:lnTo>
                  <a:pt x="7450480" y="216953"/>
                </a:lnTo>
                <a:lnTo>
                  <a:pt x="7585943" y="221331"/>
                </a:lnTo>
                <a:lnTo>
                  <a:pt x="7721406" y="223229"/>
                </a:lnTo>
                <a:lnTo>
                  <a:pt x="7856870" y="222943"/>
                </a:lnTo>
                <a:lnTo>
                  <a:pt x="7992333" y="220854"/>
                </a:lnTo>
                <a:lnTo>
                  <a:pt x="8127796" y="217398"/>
                </a:lnTo>
                <a:lnTo>
                  <a:pt x="8263260" y="213025"/>
                </a:lnTo>
                <a:lnTo>
                  <a:pt x="8398723" y="208173"/>
                </a:lnTo>
                <a:lnTo>
                  <a:pt x="8534186" y="203226"/>
                </a:lnTo>
                <a:lnTo>
                  <a:pt x="8669649" y="198493"/>
                </a:lnTo>
                <a:lnTo>
                  <a:pt x="8805113" y="194182"/>
                </a:lnTo>
                <a:lnTo>
                  <a:pt x="8940576" y="190390"/>
                </a:lnTo>
                <a:lnTo>
                  <a:pt x="9076039" y="187099"/>
                </a:lnTo>
                <a:lnTo>
                  <a:pt x="9211503" y="184181"/>
                </a:lnTo>
                <a:lnTo>
                  <a:pt x="9346966" y="181412"/>
                </a:lnTo>
                <a:lnTo>
                  <a:pt x="9482429" y="178496"/>
                </a:lnTo>
                <a:lnTo>
                  <a:pt x="9617892" y="175092"/>
                </a:lnTo>
                <a:lnTo>
                  <a:pt x="9753356" y="170845"/>
                </a:lnTo>
                <a:lnTo>
                  <a:pt x="9888819" y="165425"/>
                </a:lnTo>
                <a:lnTo>
                  <a:pt x="10024282" y="158555"/>
                </a:lnTo>
                <a:lnTo>
                  <a:pt x="10159746" y="150040"/>
                </a:lnTo>
                <a:lnTo>
                  <a:pt x="10295209" y="139797"/>
                </a:lnTo>
                <a:lnTo>
                  <a:pt x="10430672" y="127865"/>
                </a:lnTo>
                <a:lnTo>
                  <a:pt x="10566135" y="114415"/>
                </a:lnTo>
                <a:lnTo>
                  <a:pt x="10701599" y="99751"/>
                </a:lnTo>
                <a:lnTo>
                  <a:pt x="10837062" y="84291"/>
                </a:lnTo>
                <a:lnTo>
                  <a:pt x="10972525" y="68554"/>
                </a:lnTo>
                <a:lnTo>
                  <a:pt x="11107988" y="53129"/>
                </a:lnTo>
                <a:lnTo>
                  <a:pt x="11243452" y="38641"/>
                </a:lnTo>
                <a:lnTo>
                  <a:pt x="11378915" y="25713"/>
                </a:lnTo>
                <a:lnTo>
                  <a:pt x="11514378" y="14931"/>
                </a:lnTo>
                <a:lnTo>
                  <a:pt x="11649842" y="6805"/>
                </a:lnTo>
                <a:lnTo>
                  <a:pt x="11785305" y="1738"/>
                </a:lnTo>
                <a:lnTo>
                  <a:pt x="11920768" y="0"/>
                </a:lnTo>
                <a:lnTo>
                  <a:pt x="12056231" y="1708"/>
                </a:lnTo>
                <a:lnTo>
                  <a:pt x="12191695" y="6822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6467906"/>
            <a:ext cx="12191695" cy="248613"/>
          </a:xfrm>
          <a:custGeom>
            <a:avLst/>
            <a:gdLst/>
            <a:ahLst/>
            <a:cxnLst/>
            <a:rect l="l" t="t" r="r" b="b"/>
            <a:pathLst>
              <a:path w="12191695" h="248613">
                <a:moveTo>
                  <a:pt x="0" y="169572"/>
                </a:moveTo>
                <a:lnTo>
                  <a:pt x="135463" y="187517"/>
                </a:lnTo>
                <a:lnTo>
                  <a:pt x="270926" y="204116"/>
                </a:lnTo>
                <a:lnTo>
                  <a:pt x="406389" y="218744"/>
                </a:lnTo>
                <a:lnTo>
                  <a:pt x="541853" y="230861"/>
                </a:lnTo>
                <a:lnTo>
                  <a:pt x="677316" y="240043"/>
                </a:lnTo>
                <a:lnTo>
                  <a:pt x="812779" y="246004"/>
                </a:lnTo>
                <a:lnTo>
                  <a:pt x="948242" y="248613"/>
                </a:lnTo>
                <a:lnTo>
                  <a:pt x="1083706" y="247896"/>
                </a:lnTo>
                <a:lnTo>
                  <a:pt x="1219169" y="244031"/>
                </a:lnTo>
                <a:lnTo>
                  <a:pt x="1354632" y="237338"/>
                </a:lnTo>
                <a:lnTo>
                  <a:pt x="1490096" y="228250"/>
                </a:lnTo>
                <a:lnTo>
                  <a:pt x="1625559" y="217286"/>
                </a:lnTo>
                <a:lnTo>
                  <a:pt x="1761022" y="205017"/>
                </a:lnTo>
                <a:lnTo>
                  <a:pt x="1896485" y="192024"/>
                </a:lnTo>
                <a:lnTo>
                  <a:pt x="2031949" y="178869"/>
                </a:lnTo>
                <a:lnTo>
                  <a:pt x="2167412" y="166053"/>
                </a:lnTo>
                <a:lnTo>
                  <a:pt x="2302875" y="153992"/>
                </a:lnTo>
                <a:lnTo>
                  <a:pt x="2438339" y="142992"/>
                </a:lnTo>
                <a:lnTo>
                  <a:pt x="2573802" y="133239"/>
                </a:lnTo>
                <a:lnTo>
                  <a:pt x="2709265" y="124790"/>
                </a:lnTo>
                <a:lnTo>
                  <a:pt x="2844728" y="117583"/>
                </a:lnTo>
                <a:lnTo>
                  <a:pt x="2980192" y="111449"/>
                </a:lnTo>
                <a:lnTo>
                  <a:pt x="3115655" y="106137"/>
                </a:lnTo>
                <a:lnTo>
                  <a:pt x="3251118" y="101335"/>
                </a:lnTo>
                <a:lnTo>
                  <a:pt x="3386582" y="96713"/>
                </a:lnTo>
                <a:lnTo>
                  <a:pt x="3522045" y="91945"/>
                </a:lnTo>
                <a:lnTo>
                  <a:pt x="3657508" y="86753"/>
                </a:lnTo>
                <a:lnTo>
                  <a:pt x="3792971" y="80928"/>
                </a:lnTo>
                <a:lnTo>
                  <a:pt x="3928435" y="74354"/>
                </a:lnTo>
                <a:lnTo>
                  <a:pt x="4063898" y="67031"/>
                </a:lnTo>
                <a:lnTo>
                  <a:pt x="4199361" y="59072"/>
                </a:lnTo>
                <a:lnTo>
                  <a:pt x="4334824" y="50711"/>
                </a:lnTo>
                <a:lnTo>
                  <a:pt x="4470288" y="42285"/>
                </a:lnTo>
                <a:lnTo>
                  <a:pt x="4605751" y="34213"/>
                </a:lnTo>
                <a:lnTo>
                  <a:pt x="4741214" y="26977"/>
                </a:lnTo>
                <a:lnTo>
                  <a:pt x="4876678" y="21080"/>
                </a:lnTo>
                <a:lnTo>
                  <a:pt x="5012141" y="17016"/>
                </a:lnTo>
                <a:lnTo>
                  <a:pt x="5147604" y="15233"/>
                </a:lnTo>
                <a:lnTo>
                  <a:pt x="5283067" y="16099"/>
                </a:lnTo>
                <a:lnTo>
                  <a:pt x="5418531" y="19870"/>
                </a:lnTo>
                <a:lnTo>
                  <a:pt x="5553994" y="26670"/>
                </a:lnTo>
                <a:lnTo>
                  <a:pt x="5689457" y="36475"/>
                </a:lnTo>
                <a:lnTo>
                  <a:pt x="5824921" y="49109"/>
                </a:lnTo>
                <a:lnTo>
                  <a:pt x="5960384" y="64247"/>
                </a:lnTo>
                <a:lnTo>
                  <a:pt x="6095847" y="81430"/>
                </a:lnTo>
                <a:lnTo>
                  <a:pt x="6231310" y="100088"/>
                </a:lnTo>
                <a:lnTo>
                  <a:pt x="6366774" y="119571"/>
                </a:lnTo>
                <a:lnTo>
                  <a:pt x="6502237" y="139187"/>
                </a:lnTo>
                <a:lnTo>
                  <a:pt x="6637700" y="158234"/>
                </a:lnTo>
                <a:lnTo>
                  <a:pt x="6773164" y="176047"/>
                </a:lnTo>
                <a:lnTo>
                  <a:pt x="6908627" y="192030"/>
                </a:lnTo>
                <a:lnTo>
                  <a:pt x="7044090" y="205690"/>
                </a:lnTo>
                <a:lnTo>
                  <a:pt x="7179553" y="216660"/>
                </a:lnTo>
                <a:lnTo>
                  <a:pt x="7315017" y="224721"/>
                </a:lnTo>
                <a:lnTo>
                  <a:pt x="7450480" y="229802"/>
                </a:lnTo>
                <a:lnTo>
                  <a:pt x="7585943" y="231983"/>
                </a:lnTo>
                <a:lnTo>
                  <a:pt x="7721406" y="231480"/>
                </a:lnTo>
                <a:lnTo>
                  <a:pt x="7856870" y="228626"/>
                </a:lnTo>
                <a:lnTo>
                  <a:pt x="7992333" y="223841"/>
                </a:lnTo>
                <a:lnTo>
                  <a:pt x="8127796" y="217601"/>
                </a:lnTo>
                <a:lnTo>
                  <a:pt x="8263260" y="210399"/>
                </a:lnTo>
                <a:lnTo>
                  <a:pt x="8398723" y="202714"/>
                </a:lnTo>
                <a:lnTo>
                  <a:pt x="8534186" y="194975"/>
                </a:lnTo>
                <a:lnTo>
                  <a:pt x="8669649" y="187531"/>
                </a:lnTo>
                <a:lnTo>
                  <a:pt x="8805113" y="180631"/>
                </a:lnTo>
                <a:lnTo>
                  <a:pt x="8940576" y="174414"/>
                </a:lnTo>
                <a:lnTo>
                  <a:pt x="9076039" y="168896"/>
                </a:lnTo>
                <a:lnTo>
                  <a:pt x="9211503" y="163983"/>
                </a:lnTo>
                <a:lnTo>
                  <a:pt x="9346966" y="159481"/>
                </a:lnTo>
                <a:lnTo>
                  <a:pt x="9482429" y="155122"/>
                </a:lnTo>
                <a:lnTo>
                  <a:pt x="9617892" y="150584"/>
                </a:lnTo>
                <a:lnTo>
                  <a:pt x="9753356" y="145531"/>
                </a:lnTo>
                <a:lnTo>
                  <a:pt x="9888819" y="139645"/>
                </a:lnTo>
                <a:lnTo>
                  <a:pt x="10024282" y="132654"/>
                </a:lnTo>
                <a:lnTo>
                  <a:pt x="10159746" y="124369"/>
                </a:lnTo>
                <a:lnTo>
                  <a:pt x="10295209" y="114699"/>
                </a:lnTo>
                <a:lnTo>
                  <a:pt x="10430672" y="103677"/>
                </a:lnTo>
                <a:lnTo>
                  <a:pt x="10566135" y="91461"/>
                </a:lnTo>
                <a:lnTo>
                  <a:pt x="10701599" y="78333"/>
                </a:lnTo>
                <a:lnTo>
                  <a:pt x="10837062" y="64691"/>
                </a:lnTo>
                <a:lnTo>
                  <a:pt x="10972525" y="51025"/>
                </a:lnTo>
                <a:lnTo>
                  <a:pt x="11107988" y="37893"/>
                </a:lnTo>
                <a:lnTo>
                  <a:pt x="11243452" y="25885"/>
                </a:lnTo>
                <a:lnTo>
                  <a:pt x="11378915" y="15588"/>
                </a:lnTo>
                <a:lnTo>
                  <a:pt x="11514378" y="7547"/>
                </a:lnTo>
                <a:lnTo>
                  <a:pt x="11649842" y="2231"/>
                </a:lnTo>
                <a:lnTo>
                  <a:pt x="11785305" y="0"/>
                </a:lnTo>
                <a:lnTo>
                  <a:pt x="11920768" y="1082"/>
                </a:lnTo>
                <a:lnTo>
                  <a:pt x="12056231" y="5551"/>
                </a:lnTo>
                <a:lnTo>
                  <a:pt x="12191695" y="13326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0" y="6533113"/>
            <a:ext cx="12191695" cy="246124"/>
          </a:xfrm>
          <a:custGeom>
            <a:avLst/>
            <a:gdLst/>
            <a:ahLst/>
            <a:cxnLst/>
            <a:rect l="l" t="t" r="r" b="b"/>
            <a:pathLst>
              <a:path w="12191695" h="246124">
                <a:moveTo>
                  <a:pt x="0" y="183172"/>
                </a:moveTo>
                <a:lnTo>
                  <a:pt x="135463" y="199432"/>
                </a:lnTo>
                <a:lnTo>
                  <a:pt x="270926" y="214077"/>
                </a:lnTo>
                <a:lnTo>
                  <a:pt x="406389" y="226514"/>
                </a:lnTo>
                <a:lnTo>
                  <a:pt x="541853" y="236236"/>
                </a:lnTo>
                <a:lnTo>
                  <a:pt x="677316" y="242855"/>
                </a:lnTo>
                <a:lnTo>
                  <a:pt x="812779" y="246124"/>
                </a:lnTo>
                <a:lnTo>
                  <a:pt x="948242" y="245951"/>
                </a:lnTo>
                <a:lnTo>
                  <a:pt x="1083706" y="242404"/>
                </a:lnTo>
                <a:lnTo>
                  <a:pt x="1219169" y="235707"/>
                </a:lnTo>
                <a:lnTo>
                  <a:pt x="1354632" y="226219"/>
                </a:lnTo>
                <a:lnTo>
                  <a:pt x="1490096" y="214417"/>
                </a:lnTo>
                <a:lnTo>
                  <a:pt x="1625559" y="200862"/>
                </a:lnTo>
                <a:lnTo>
                  <a:pt x="1761022" y="186161"/>
                </a:lnTo>
                <a:lnTo>
                  <a:pt x="1896485" y="170935"/>
                </a:lnTo>
                <a:lnTo>
                  <a:pt x="2031949" y="155777"/>
                </a:lnTo>
                <a:lnTo>
                  <a:pt x="2167412" y="141221"/>
                </a:lnTo>
                <a:lnTo>
                  <a:pt x="2302875" y="127707"/>
                </a:lnTo>
                <a:lnTo>
                  <a:pt x="2438339" y="115564"/>
                </a:lnTo>
                <a:lnTo>
                  <a:pt x="2573802" y="104994"/>
                </a:lnTo>
                <a:lnTo>
                  <a:pt x="2709265" y="96068"/>
                </a:lnTo>
                <a:lnTo>
                  <a:pt x="2844728" y="88731"/>
                </a:lnTo>
                <a:lnTo>
                  <a:pt x="2980192" y="82816"/>
                </a:lnTo>
                <a:lnTo>
                  <a:pt x="3115655" y="78067"/>
                </a:lnTo>
                <a:lnTo>
                  <a:pt x="3251118" y="74166"/>
                </a:lnTo>
                <a:lnTo>
                  <a:pt x="3386582" y="70766"/>
                </a:lnTo>
                <a:lnTo>
                  <a:pt x="3522045" y="67527"/>
                </a:lnTo>
                <a:lnTo>
                  <a:pt x="3657508" y="64145"/>
                </a:lnTo>
                <a:lnTo>
                  <a:pt x="3792971" y="60383"/>
                </a:lnTo>
                <a:lnTo>
                  <a:pt x="3928435" y="56096"/>
                </a:lnTo>
                <a:lnTo>
                  <a:pt x="4063898" y="51248"/>
                </a:lnTo>
                <a:lnTo>
                  <a:pt x="4199361" y="45917"/>
                </a:lnTo>
                <a:lnTo>
                  <a:pt x="4334824" y="40294"/>
                </a:lnTo>
                <a:lnTo>
                  <a:pt x="4470288" y="34675"/>
                </a:lnTo>
                <a:lnTo>
                  <a:pt x="4605751" y="29440"/>
                </a:lnTo>
                <a:lnTo>
                  <a:pt x="4741214" y="25025"/>
                </a:lnTo>
                <a:lnTo>
                  <a:pt x="4876678" y="21891"/>
                </a:lnTo>
                <a:lnTo>
                  <a:pt x="5012141" y="20491"/>
                </a:lnTo>
                <a:lnTo>
                  <a:pt x="5147604" y="21233"/>
                </a:lnTo>
                <a:lnTo>
                  <a:pt x="5283067" y="24445"/>
                </a:lnTo>
                <a:lnTo>
                  <a:pt x="5418531" y="30349"/>
                </a:lnTo>
                <a:lnTo>
                  <a:pt x="5553994" y="39037"/>
                </a:lnTo>
                <a:lnTo>
                  <a:pt x="5689457" y="50457"/>
                </a:lnTo>
                <a:lnTo>
                  <a:pt x="5824921" y="64407"/>
                </a:lnTo>
                <a:lnTo>
                  <a:pt x="5960384" y="80543"/>
                </a:lnTo>
                <a:lnTo>
                  <a:pt x="6095847" y="98390"/>
                </a:lnTo>
                <a:lnTo>
                  <a:pt x="6231310" y="117369"/>
                </a:lnTo>
                <a:lnTo>
                  <a:pt x="6366774" y="136826"/>
                </a:lnTo>
                <a:lnTo>
                  <a:pt x="6502237" y="156066"/>
                </a:lnTo>
                <a:lnTo>
                  <a:pt x="6637700" y="174397"/>
                </a:lnTo>
                <a:lnTo>
                  <a:pt x="6773164" y="191162"/>
                </a:lnTo>
                <a:lnTo>
                  <a:pt x="6908627" y="205782"/>
                </a:lnTo>
                <a:lnTo>
                  <a:pt x="7044090" y="217784"/>
                </a:lnTo>
                <a:lnTo>
                  <a:pt x="7179553" y="226827"/>
                </a:lnTo>
                <a:lnTo>
                  <a:pt x="7315017" y="232720"/>
                </a:lnTo>
                <a:lnTo>
                  <a:pt x="7450480" y="235424"/>
                </a:lnTo>
                <a:lnTo>
                  <a:pt x="7585943" y="235057"/>
                </a:lnTo>
                <a:lnTo>
                  <a:pt x="7721406" y="231872"/>
                </a:lnTo>
                <a:lnTo>
                  <a:pt x="7856870" y="226244"/>
                </a:lnTo>
                <a:lnTo>
                  <a:pt x="7992333" y="218632"/>
                </a:lnTo>
                <a:lnTo>
                  <a:pt x="8127796" y="209557"/>
                </a:lnTo>
                <a:lnTo>
                  <a:pt x="8263260" y="199555"/>
                </a:lnTo>
                <a:lnTo>
                  <a:pt x="8398723" y="189147"/>
                </a:lnTo>
                <a:lnTo>
                  <a:pt x="8534186" y="178801"/>
                </a:lnTo>
                <a:lnTo>
                  <a:pt x="8669649" y="168908"/>
                </a:lnTo>
                <a:lnTo>
                  <a:pt x="8805113" y="159754"/>
                </a:lnTo>
                <a:lnTo>
                  <a:pt x="8940576" y="151510"/>
                </a:lnTo>
                <a:lnTo>
                  <a:pt x="9076039" y="144224"/>
                </a:lnTo>
                <a:lnTo>
                  <a:pt x="9211503" y="137828"/>
                </a:lnTo>
                <a:lnTo>
                  <a:pt x="9346966" y="132152"/>
                </a:lnTo>
                <a:lnTo>
                  <a:pt x="9482429" y="126943"/>
                </a:lnTo>
                <a:lnTo>
                  <a:pt x="9617892" y="121894"/>
                </a:lnTo>
                <a:lnTo>
                  <a:pt x="9753356" y="116677"/>
                </a:lnTo>
                <a:lnTo>
                  <a:pt x="9888819" y="110975"/>
                </a:lnTo>
                <a:lnTo>
                  <a:pt x="10024282" y="104513"/>
                </a:lnTo>
                <a:lnTo>
                  <a:pt x="10159746" y="97095"/>
                </a:lnTo>
                <a:lnTo>
                  <a:pt x="10295209" y="88617"/>
                </a:lnTo>
                <a:lnTo>
                  <a:pt x="10430672" y="79094"/>
                </a:lnTo>
                <a:lnTo>
                  <a:pt x="10566135" y="68661"/>
                </a:lnTo>
                <a:lnTo>
                  <a:pt x="10701599" y="57573"/>
                </a:lnTo>
                <a:lnTo>
                  <a:pt x="10837062" y="46197"/>
                </a:lnTo>
                <a:lnTo>
                  <a:pt x="10972525" y="34990"/>
                </a:lnTo>
                <a:lnTo>
                  <a:pt x="11107988" y="24471"/>
                </a:lnTo>
                <a:lnTo>
                  <a:pt x="11243452" y="15192"/>
                </a:lnTo>
                <a:lnTo>
                  <a:pt x="11378915" y="7698"/>
                </a:lnTo>
                <a:lnTo>
                  <a:pt x="11514378" y="2492"/>
                </a:lnTo>
                <a:lnTo>
                  <a:pt x="11649842" y="0"/>
                </a:lnTo>
                <a:lnTo>
                  <a:pt x="11785305" y="541"/>
                </a:lnTo>
                <a:lnTo>
                  <a:pt x="11920768" y="4298"/>
                </a:lnTo>
                <a:lnTo>
                  <a:pt x="12056231" y="11307"/>
                </a:lnTo>
                <a:lnTo>
                  <a:pt x="12191695" y="21447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0" y="6600998"/>
            <a:ext cx="12191695" cy="238322"/>
          </a:xfrm>
          <a:custGeom>
            <a:avLst/>
            <a:gdLst/>
            <a:ahLst/>
            <a:cxnLst/>
            <a:rect l="l" t="t" r="r" b="b"/>
            <a:pathLst>
              <a:path w="12191695" h="238322">
                <a:moveTo>
                  <a:pt x="0" y="190722"/>
                </a:moveTo>
                <a:lnTo>
                  <a:pt x="135463" y="204821"/>
                </a:lnTo>
                <a:lnTo>
                  <a:pt x="270926" y="217096"/>
                </a:lnTo>
                <a:lnTo>
                  <a:pt x="406389" y="226989"/>
                </a:lnTo>
                <a:lnTo>
                  <a:pt x="541853" y="234032"/>
                </a:lnTo>
                <a:lnTo>
                  <a:pt x="677316" y="237878"/>
                </a:lnTo>
                <a:lnTo>
                  <a:pt x="812779" y="238322"/>
                </a:lnTo>
                <a:lnTo>
                  <a:pt x="948242" y="235314"/>
                </a:lnTo>
                <a:lnTo>
                  <a:pt x="1083706" y="228966"/>
                </a:lnTo>
                <a:lnTo>
                  <a:pt x="1219169" y="219541"/>
                </a:lnTo>
                <a:lnTo>
                  <a:pt x="1354632" y="207444"/>
                </a:lnTo>
                <a:lnTo>
                  <a:pt x="1490096" y="193188"/>
                </a:lnTo>
                <a:lnTo>
                  <a:pt x="1625559" y="177371"/>
                </a:lnTo>
                <a:lnTo>
                  <a:pt x="1761022" y="160636"/>
                </a:lnTo>
                <a:lnTo>
                  <a:pt x="1896485" y="143634"/>
                </a:lnTo>
                <a:lnTo>
                  <a:pt x="2031949" y="126985"/>
                </a:lnTo>
                <a:lnTo>
                  <a:pt x="2167412" y="111244"/>
                </a:lnTo>
                <a:lnTo>
                  <a:pt x="2302875" y="96871"/>
                </a:lnTo>
                <a:lnTo>
                  <a:pt x="2438339" y="84207"/>
                </a:lnTo>
                <a:lnTo>
                  <a:pt x="2573802" y="73462"/>
                </a:lnTo>
                <a:lnTo>
                  <a:pt x="2709265" y="64709"/>
                </a:lnTo>
                <a:lnTo>
                  <a:pt x="2844728" y="57891"/>
                </a:lnTo>
                <a:lnTo>
                  <a:pt x="2980192" y="52834"/>
                </a:lnTo>
                <a:lnTo>
                  <a:pt x="3115655" y="49267"/>
                </a:lnTo>
                <a:lnTo>
                  <a:pt x="3251118" y="46856"/>
                </a:lnTo>
                <a:lnTo>
                  <a:pt x="3386582" y="45231"/>
                </a:lnTo>
                <a:lnTo>
                  <a:pt x="3522045" y="44024"/>
                </a:lnTo>
                <a:lnTo>
                  <a:pt x="3657508" y="42902"/>
                </a:lnTo>
                <a:lnTo>
                  <a:pt x="3792971" y="41593"/>
                </a:lnTo>
                <a:lnTo>
                  <a:pt x="3928435" y="39916"/>
                </a:lnTo>
                <a:lnTo>
                  <a:pt x="4063898" y="37794"/>
                </a:lnTo>
                <a:lnTo>
                  <a:pt x="4199361" y="35264"/>
                </a:lnTo>
                <a:lnTo>
                  <a:pt x="4334824" y="32476"/>
                </a:lnTo>
                <a:lnTo>
                  <a:pt x="4470288" y="29683"/>
                </a:lnTo>
                <a:lnTo>
                  <a:pt x="4605751" y="27220"/>
                </a:lnTo>
                <a:lnTo>
                  <a:pt x="4741214" y="25484"/>
                </a:lnTo>
                <a:lnTo>
                  <a:pt x="4876678" y="24895"/>
                </a:lnTo>
                <a:lnTo>
                  <a:pt x="5012141" y="25867"/>
                </a:lnTo>
                <a:lnTo>
                  <a:pt x="5147604" y="28771"/>
                </a:lnTo>
                <a:lnTo>
                  <a:pt x="5283067" y="33905"/>
                </a:lnTo>
                <a:lnTo>
                  <a:pt x="5418531" y="41460"/>
                </a:lnTo>
                <a:lnTo>
                  <a:pt x="5553994" y="51504"/>
                </a:lnTo>
                <a:lnTo>
                  <a:pt x="5689457" y="63964"/>
                </a:lnTo>
                <a:lnTo>
                  <a:pt x="5824921" y="78622"/>
                </a:lnTo>
                <a:lnTo>
                  <a:pt x="5960384" y="95124"/>
                </a:lnTo>
                <a:lnTo>
                  <a:pt x="6095847" y="112989"/>
                </a:lnTo>
                <a:lnTo>
                  <a:pt x="6231310" y="131639"/>
                </a:lnTo>
                <a:lnTo>
                  <a:pt x="6366774" y="150423"/>
                </a:lnTo>
                <a:lnTo>
                  <a:pt x="6502237" y="168658"/>
                </a:lnTo>
                <a:lnTo>
                  <a:pt x="6637700" y="185665"/>
                </a:lnTo>
                <a:lnTo>
                  <a:pt x="6773164" y="200809"/>
                </a:lnTo>
                <a:lnTo>
                  <a:pt x="6908627" y="213535"/>
                </a:lnTo>
                <a:lnTo>
                  <a:pt x="7044090" y="223398"/>
                </a:lnTo>
                <a:lnTo>
                  <a:pt x="7179553" y="230090"/>
                </a:lnTo>
                <a:lnTo>
                  <a:pt x="7315017" y="233454"/>
                </a:lnTo>
                <a:lnTo>
                  <a:pt x="7450480" y="233492"/>
                </a:lnTo>
                <a:lnTo>
                  <a:pt x="7585943" y="230359"/>
                </a:lnTo>
                <a:lnTo>
                  <a:pt x="7721406" y="224353"/>
                </a:lnTo>
                <a:lnTo>
                  <a:pt x="7856870" y="215888"/>
                </a:lnTo>
                <a:lnTo>
                  <a:pt x="7992333" y="205470"/>
                </a:lnTo>
                <a:lnTo>
                  <a:pt x="8127796" y="193658"/>
                </a:lnTo>
                <a:lnTo>
                  <a:pt x="8263260" y="181033"/>
                </a:lnTo>
                <a:lnTo>
                  <a:pt x="8398723" y="168153"/>
                </a:lnTo>
                <a:lnTo>
                  <a:pt x="8534186" y="155526"/>
                </a:lnTo>
                <a:lnTo>
                  <a:pt x="8669649" y="143575"/>
                </a:lnTo>
                <a:lnTo>
                  <a:pt x="8805113" y="132618"/>
                </a:lnTo>
                <a:lnTo>
                  <a:pt x="8940576" y="122852"/>
                </a:lnTo>
                <a:lnTo>
                  <a:pt x="9076039" y="114351"/>
                </a:lnTo>
                <a:lnTo>
                  <a:pt x="9211503" y="107063"/>
                </a:lnTo>
                <a:lnTo>
                  <a:pt x="9346966" y="100832"/>
                </a:lnTo>
                <a:lnTo>
                  <a:pt x="9482429" y="95413"/>
                </a:lnTo>
                <a:lnTo>
                  <a:pt x="9617892" y="90502"/>
                </a:lnTo>
                <a:lnTo>
                  <a:pt x="9753356" y="85770"/>
                </a:lnTo>
                <a:lnTo>
                  <a:pt x="9888819" y="80892"/>
                </a:lnTo>
                <a:lnTo>
                  <a:pt x="10024282" y="75582"/>
                </a:lnTo>
                <a:lnTo>
                  <a:pt x="10159746" y="69623"/>
                </a:lnTo>
                <a:lnTo>
                  <a:pt x="10295209" y="62893"/>
                </a:lnTo>
                <a:lnTo>
                  <a:pt x="10430672" y="55378"/>
                </a:lnTo>
                <a:lnTo>
                  <a:pt x="10566135" y="47183"/>
                </a:lnTo>
                <a:lnTo>
                  <a:pt x="10701599" y="38531"/>
                </a:lnTo>
                <a:lnTo>
                  <a:pt x="10837062" y="29751"/>
                </a:lnTo>
                <a:lnTo>
                  <a:pt x="10972525" y="21260"/>
                </a:lnTo>
                <a:lnTo>
                  <a:pt x="11107988" y="13537"/>
                </a:lnTo>
                <a:lnTo>
                  <a:pt x="11243452" y="7091"/>
                </a:lnTo>
                <a:lnTo>
                  <a:pt x="11378915" y="2425"/>
                </a:lnTo>
                <a:lnTo>
                  <a:pt x="11514378" y="0"/>
                </a:lnTo>
                <a:lnTo>
                  <a:pt x="11649842" y="198"/>
                </a:lnTo>
                <a:lnTo>
                  <a:pt x="11785305" y="3299"/>
                </a:lnTo>
                <a:lnTo>
                  <a:pt x="11920768" y="9446"/>
                </a:lnTo>
                <a:lnTo>
                  <a:pt x="12056231" y="18641"/>
                </a:lnTo>
                <a:lnTo>
                  <a:pt x="12191695" y="30728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46304"/>
            <a:ext cx="11283696" cy="44805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能力地图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722376"/>
            <a:ext cx="585216" cy="41148"/>
          </a:xfrm>
          <a:prstGeom prst="rect">
            <a:avLst/>
          </a:prstGeom>
          <a:solidFill>
            <a:srgbClr val="EE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649224"/>
            <a:ext cx="10469880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2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三类九种Agent，由六层能力共同支撑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292608"/>
            <a:ext cx="896112" cy="20116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HiAgent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6647688"/>
            <a:ext cx="10241280" cy="1280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7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企业数据智能体建设规划  /  规划视图  /  2026.10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629400"/>
            <a:ext cx="585216" cy="17373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06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941832"/>
            <a:ext cx="1810512" cy="530352"/>
          </a:xfrm>
          <a:prstGeom prst="rect">
            <a:avLst/>
          </a:prstGeom>
          <a:solidFill>
            <a:srgbClr val="08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987552"/>
            <a:ext cx="1664208" cy="4389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5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01 业务工作空间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04288" y="941832"/>
            <a:ext cx="7525512" cy="530352"/>
          </a:xfrm>
          <a:prstGeom prst="rect">
            <a:avLst/>
          </a:prstGeom>
          <a:solidFill>
            <a:srgbClr val="F5FA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395728" y="1024128"/>
            <a:ext cx="1410004" cy="365759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1056132"/>
            <a:ext cx="1227124" cy="301751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数据研发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78884" y="1024128"/>
            <a:ext cx="1410004" cy="365759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0324" y="1056132"/>
            <a:ext cx="1227124" cy="301751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资产服务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62041" y="1024128"/>
            <a:ext cx="1410004" cy="365759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53481" y="1056132"/>
            <a:ext cx="1227124" cy="301751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治理运营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45198" y="1024128"/>
            <a:ext cx="1410004" cy="365759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36638" y="1056132"/>
            <a:ext cx="1227124" cy="301751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运行保障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8355" y="1024128"/>
            <a:ext cx="1410004" cy="365759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9795" y="1056132"/>
            <a:ext cx="1227124" cy="301751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分析决策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1618488"/>
            <a:ext cx="1810512" cy="1124712"/>
          </a:xfrm>
          <a:prstGeom prst="rect">
            <a:avLst/>
          </a:prstGeom>
          <a:solidFill>
            <a:srgbClr val="08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1664208"/>
            <a:ext cx="1664208" cy="1033271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5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02 专业智能体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04288" y="1618488"/>
            <a:ext cx="7525512" cy="1124712"/>
          </a:xfrm>
          <a:prstGeom prst="rect">
            <a:avLst/>
          </a:prstGeom>
          <a:solidFill>
            <a:srgbClr val="F5FA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95728" y="1700784"/>
            <a:ext cx="3840480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生产类 · 5种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95728" y="2011680"/>
            <a:ext cx="731520" cy="310896"/>
          </a:xfrm>
          <a:prstGeom prst="rect">
            <a:avLst/>
          </a:prstGeom>
          <a:solidFill>
            <a:srgbClr val="EAF5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18588" y="2039112"/>
            <a:ext cx="685800" cy="25603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需求分析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72968" y="2011680"/>
            <a:ext cx="731520" cy="310896"/>
          </a:xfrm>
          <a:prstGeom prst="rect">
            <a:avLst/>
          </a:prstGeom>
          <a:solidFill>
            <a:srgbClr val="EAF5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95828" y="2039112"/>
            <a:ext cx="685800" cy="25603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数据设计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50208" y="2011680"/>
            <a:ext cx="731520" cy="310896"/>
          </a:xfrm>
          <a:prstGeom prst="rect">
            <a:avLst/>
          </a:prstGeom>
          <a:solidFill>
            <a:srgbClr val="EAF5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73068" y="2039112"/>
            <a:ext cx="685800" cy="25603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数据开发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27448" y="2011680"/>
            <a:ext cx="731520" cy="310896"/>
          </a:xfrm>
          <a:prstGeom prst="rect">
            <a:avLst/>
          </a:prstGeom>
          <a:solidFill>
            <a:srgbClr val="EAF5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0308" y="2039112"/>
            <a:ext cx="685800" cy="25603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数据测试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04688" y="2011680"/>
            <a:ext cx="731520" cy="310896"/>
          </a:xfrm>
          <a:prstGeom prst="rect">
            <a:avLst/>
          </a:prstGeom>
          <a:solidFill>
            <a:srgbClr val="EAF5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27548" y="2039112"/>
            <a:ext cx="685800" cy="25603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数据评审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27648" y="1700784"/>
            <a:ext cx="2240280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运营类 · 3种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27648" y="2011680"/>
            <a:ext cx="716280" cy="310896"/>
          </a:xfrm>
          <a:prstGeom prst="rect">
            <a:avLst/>
          </a:prstGeom>
          <a:solidFill>
            <a:srgbClr val="EAF9FA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0508" y="2039112"/>
            <a:ext cx="670560" cy="25603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078B9F"/>
                </a:solidFill>
                <a:latin typeface="Noto Sans CJK SC"/>
                <a:ea typeface="Noto Sans CJK SC"/>
              </a:defRPr>
            </a:pPr>
            <a:r>
              <a:t>数据资产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89648" y="2011680"/>
            <a:ext cx="716280" cy="310896"/>
          </a:xfrm>
          <a:prstGeom prst="rect">
            <a:avLst/>
          </a:prstGeom>
          <a:solidFill>
            <a:srgbClr val="EAF5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12508" y="2039112"/>
            <a:ext cx="670560" cy="25603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数据运维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51647" y="2011680"/>
            <a:ext cx="716280" cy="310896"/>
          </a:xfrm>
          <a:prstGeom prst="rect">
            <a:avLst/>
          </a:prstGeom>
          <a:solidFill>
            <a:srgbClr val="EAF5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74508" y="2039112"/>
            <a:ext cx="670560" cy="25603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数据治理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59368" y="1700784"/>
            <a:ext cx="1078992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分析挖掘类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59368" y="2011680"/>
            <a:ext cx="1078992" cy="310896"/>
          </a:xfrm>
          <a:prstGeom prst="rect">
            <a:avLst/>
          </a:prstGeom>
          <a:solidFill>
            <a:srgbClr val="EAF5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82228" y="2039112"/>
            <a:ext cx="1033271" cy="25603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数据分析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68880" y="2450592"/>
            <a:ext cx="7132320" cy="19202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Agent内部：理解目标 → 规划 → 按需引用Agent / 调用工具 → 核验汇总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2889504"/>
            <a:ext cx="1810512" cy="539496"/>
          </a:xfrm>
          <a:prstGeom prst="rect">
            <a:avLst/>
          </a:prstGeom>
          <a:solidFill>
            <a:srgbClr val="08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8912" y="2935224"/>
            <a:ext cx="1664208" cy="44805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5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03 方法与工具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304288" y="2889504"/>
            <a:ext cx="7525512" cy="539496"/>
          </a:xfrm>
          <a:prstGeom prst="rect">
            <a:avLst/>
          </a:prstGeom>
          <a:solidFill>
            <a:srgbClr val="F5FA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2395728" y="2971800"/>
            <a:ext cx="2398775" cy="374904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487168" y="3003804"/>
            <a:ext cx="2215895" cy="31089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提示词 / SKILL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867656" y="2971800"/>
            <a:ext cx="2398775" cy="374904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959096" y="3003804"/>
            <a:ext cx="2215895" cy="31089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检索 / 核验 / 检查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39584" y="2971800"/>
            <a:ext cx="2398775" cy="374904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31024" y="3003804"/>
            <a:ext cx="2215895" cy="31089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计算 / 生成 / 平台接口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3575304"/>
            <a:ext cx="1810512" cy="539496"/>
          </a:xfrm>
          <a:prstGeom prst="rect">
            <a:avLst/>
          </a:prstGeom>
          <a:solidFill>
            <a:srgbClr val="08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8912" y="3621024"/>
            <a:ext cx="1664208" cy="44805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5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04 企业语义与知识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304288" y="3575304"/>
            <a:ext cx="7525512" cy="539496"/>
          </a:xfrm>
          <a:prstGeom prst="rect">
            <a:avLst/>
          </a:prstGeom>
          <a:solidFill>
            <a:srgbClr val="F5FA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2395728" y="3657600"/>
            <a:ext cx="2398775" cy="374904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487168" y="3689604"/>
            <a:ext cx="2215895" cy="31089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术语 / 指标口径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867656" y="3657600"/>
            <a:ext cx="2398775" cy="374904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959096" y="3689604"/>
            <a:ext cx="2215895" cy="31089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规范 / 模板 / 案例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339584" y="3657600"/>
            <a:ext cx="2398775" cy="374904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31024" y="3689604"/>
            <a:ext cx="2215895" cy="31089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模型映射 / 责任 / 版本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4261104"/>
            <a:ext cx="1810512" cy="539496"/>
          </a:xfrm>
          <a:prstGeom prst="rect">
            <a:avLst/>
          </a:prstGeom>
          <a:solidFill>
            <a:srgbClr val="08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38912" y="4306824"/>
            <a:ext cx="1664208" cy="44805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5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05 治理与内容供给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304288" y="4261104"/>
            <a:ext cx="7525512" cy="539496"/>
          </a:xfrm>
          <a:prstGeom prst="rect">
            <a:avLst/>
          </a:prstGeom>
          <a:solidFill>
            <a:srgbClr val="F5FA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2395728" y="4343400"/>
            <a:ext cx="2398775" cy="374904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487168" y="4375404"/>
            <a:ext cx="2215895" cy="31089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盘点 / 冲突识别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867656" y="4343400"/>
            <a:ext cx="2398775" cy="374904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959096" y="4375404"/>
            <a:ext cx="2215895" cy="31089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补全 / 复核 / 发布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339584" y="4343400"/>
            <a:ext cx="2398775" cy="374904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431024" y="4375404"/>
            <a:ext cx="2215895" cy="31089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知识索引 / 查询数据 / 更新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" y="4946904"/>
            <a:ext cx="1810512" cy="822960"/>
          </a:xfrm>
          <a:prstGeom prst="rect">
            <a:avLst/>
          </a:prstGeom>
          <a:solidFill>
            <a:srgbClr val="08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38912" y="4992624"/>
            <a:ext cx="1664208" cy="73152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5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06 系统与平台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304288" y="4946904"/>
            <a:ext cx="7525512" cy="822960"/>
          </a:xfrm>
          <a:prstGeom prst="rect">
            <a:avLst/>
          </a:prstGeom>
          <a:solidFill>
            <a:srgbClr val="F5FA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2395728" y="5029200"/>
            <a:ext cx="2398775" cy="658368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487168" y="5061204"/>
            <a:ext cx="2215895" cy="594359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数据开发 / 数据调度平台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867656" y="5029200"/>
            <a:ext cx="2398775" cy="658368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959096" y="5061204"/>
            <a:ext cx="2215895" cy="594359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数据资产平台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血缘工具 / 质量工具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39584" y="5029200"/>
            <a:ext cx="2398775" cy="658368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431024" y="5061204"/>
            <a:ext cx="2215895" cy="594359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数仓 / 计算引擎 / 业务系统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003536" y="941832"/>
            <a:ext cx="1773936" cy="4828032"/>
          </a:xfrm>
          <a:prstGeom prst="rect">
            <a:avLst/>
          </a:prstGeom>
          <a:solidFill>
            <a:srgbClr val="EAF5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113264" y="1161288"/>
            <a:ext cx="1554480" cy="4754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HiAgent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158984" y="1911095"/>
            <a:ext cx="1463040" cy="349300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Agent承载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资源引用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会话与检索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数据工具接入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横向保障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身份权限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追溯与评测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人工确认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61772" y="6112764"/>
            <a:ext cx="11247120" cy="33832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438912" y="6080760"/>
            <a:ext cx="11247120" cy="338328"/>
          </a:xfrm>
          <a:prstGeom prst="roundRect">
            <a:avLst>
              <a:gd name="adj" fmla="val 5500"/>
            </a:avLst>
          </a:prstGeom>
          <a:solidFill>
            <a:srgbClr val="EEF7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85216" y="6117336"/>
            <a:ext cx="10954512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绿色标出当前资产切入；其余为目标规划。角色是专业分工，实例数量按场景确定。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6346471"/>
            <a:ext cx="12191695" cy="235953"/>
          </a:xfrm>
          <a:custGeom>
            <a:avLst/>
            <a:gdLst/>
            <a:ahLst/>
            <a:cxnLst/>
            <a:rect l="l" t="t" r="r" b="b"/>
            <a:pathLst>
              <a:path w="12191695" h="235953">
                <a:moveTo>
                  <a:pt x="0" y="127481"/>
                </a:moveTo>
                <a:lnTo>
                  <a:pt x="135463" y="147046"/>
                </a:lnTo>
                <a:lnTo>
                  <a:pt x="270926" y="165914"/>
                </a:lnTo>
                <a:lnTo>
                  <a:pt x="406389" y="183426"/>
                </a:lnTo>
                <a:lnTo>
                  <a:pt x="541853" y="199000"/>
                </a:lnTo>
                <a:lnTo>
                  <a:pt x="677316" y="212159"/>
                </a:lnTo>
                <a:lnTo>
                  <a:pt x="812779" y="222557"/>
                </a:lnTo>
                <a:lnTo>
                  <a:pt x="948242" y="229995"/>
                </a:lnTo>
                <a:lnTo>
                  <a:pt x="1083706" y="234426"/>
                </a:lnTo>
                <a:lnTo>
                  <a:pt x="1219169" y="235953"/>
                </a:lnTo>
                <a:lnTo>
                  <a:pt x="1354632" y="234812"/>
                </a:lnTo>
                <a:lnTo>
                  <a:pt x="1490096" y="231352"/>
                </a:lnTo>
                <a:lnTo>
                  <a:pt x="1625559" y="226009"/>
                </a:lnTo>
                <a:lnTo>
                  <a:pt x="1761022" y="219267"/>
                </a:lnTo>
                <a:lnTo>
                  <a:pt x="1896485" y="211626"/>
                </a:lnTo>
                <a:lnTo>
                  <a:pt x="2031949" y="203564"/>
                </a:lnTo>
                <a:lnTo>
                  <a:pt x="2167412" y="195508"/>
                </a:lnTo>
                <a:lnTo>
                  <a:pt x="2302875" y="187800"/>
                </a:lnTo>
                <a:lnTo>
                  <a:pt x="2438339" y="180682"/>
                </a:lnTo>
                <a:lnTo>
                  <a:pt x="2573802" y="174280"/>
                </a:lnTo>
                <a:lnTo>
                  <a:pt x="2709265" y="168601"/>
                </a:lnTo>
                <a:lnTo>
                  <a:pt x="2844728" y="163541"/>
                </a:lnTo>
                <a:lnTo>
                  <a:pt x="2980192" y="158900"/>
                </a:lnTo>
                <a:lnTo>
                  <a:pt x="3115655" y="154402"/>
                </a:lnTo>
                <a:lnTo>
                  <a:pt x="3251118" y="149724"/>
                </a:lnTo>
                <a:lnTo>
                  <a:pt x="3386582" y="144534"/>
                </a:lnTo>
                <a:lnTo>
                  <a:pt x="3522045" y="138515"/>
                </a:lnTo>
                <a:lnTo>
                  <a:pt x="3657508" y="131408"/>
                </a:lnTo>
                <a:lnTo>
                  <a:pt x="3792971" y="123031"/>
                </a:lnTo>
                <a:lnTo>
                  <a:pt x="3928435" y="113309"/>
                </a:lnTo>
                <a:lnTo>
                  <a:pt x="4063898" y="102287"/>
                </a:lnTo>
                <a:lnTo>
                  <a:pt x="4199361" y="90138"/>
                </a:lnTo>
                <a:lnTo>
                  <a:pt x="4334824" y="77155"/>
                </a:lnTo>
                <a:lnTo>
                  <a:pt x="4470288" y="63745"/>
                </a:lnTo>
                <a:lnTo>
                  <a:pt x="4605751" y="50406"/>
                </a:lnTo>
                <a:lnTo>
                  <a:pt x="4741214" y="37696"/>
                </a:lnTo>
                <a:lnTo>
                  <a:pt x="4876678" y="26202"/>
                </a:lnTo>
                <a:lnTo>
                  <a:pt x="5012141" y="16503"/>
                </a:lnTo>
                <a:lnTo>
                  <a:pt x="5147604" y="9131"/>
                </a:lnTo>
                <a:lnTo>
                  <a:pt x="5283067" y="4538"/>
                </a:lnTo>
                <a:lnTo>
                  <a:pt x="5418531" y="3064"/>
                </a:lnTo>
                <a:lnTo>
                  <a:pt x="5553994" y="4912"/>
                </a:lnTo>
                <a:lnTo>
                  <a:pt x="5689457" y="10132"/>
                </a:lnTo>
                <a:lnTo>
                  <a:pt x="5824921" y="18617"/>
                </a:lnTo>
                <a:lnTo>
                  <a:pt x="5960384" y="30106"/>
                </a:lnTo>
                <a:lnTo>
                  <a:pt x="6095847" y="44193"/>
                </a:lnTo>
                <a:lnTo>
                  <a:pt x="6231310" y="60357"/>
                </a:lnTo>
                <a:lnTo>
                  <a:pt x="6366774" y="77984"/>
                </a:lnTo>
                <a:lnTo>
                  <a:pt x="6502237" y="96410"/>
                </a:lnTo>
                <a:lnTo>
                  <a:pt x="6637700" y="114953"/>
                </a:lnTo>
                <a:lnTo>
                  <a:pt x="6773164" y="132954"/>
                </a:lnTo>
                <a:lnTo>
                  <a:pt x="6908627" y="149814"/>
                </a:lnTo>
                <a:lnTo>
                  <a:pt x="7044090" y="165027"/>
                </a:lnTo>
                <a:lnTo>
                  <a:pt x="7179553" y="178204"/>
                </a:lnTo>
                <a:lnTo>
                  <a:pt x="7315017" y="189090"/>
                </a:lnTo>
                <a:lnTo>
                  <a:pt x="7450480" y="197574"/>
                </a:lnTo>
                <a:lnTo>
                  <a:pt x="7585943" y="203682"/>
                </a:lnTo>
                <a:lnTo>
                  <a:pt x="7721406" y="207573"/>
                </a:lnTo>
                <a:lnTo>
                  <a:pt x="7856870" y="209512"/>
                </a:lnTo>
                <a:lnTo>
                  <a:pt x="7992333" y="209848"/>
                </a:lnTo>
                <a:lnTo>
                  <a:pt x="8127796" y="208978"/>
                </a:lnTo>
                <a:lnTo>
                  <a:pt x="8263260" y="207316"/>
                </a:lnTo>
                <a:lnTo>
                  <a:pt x="8398723" y="205256"/>
                </a:lnTo>
                <a:lnTo>
                  <a:pt x="8534186" y="203141"/>
                </a:lnTo>
                <a:lnTo>
                  <a:pt x="8669649" y="201238"/>
                </a:lnTo>
                <a:lnTo>
                  <a:pt x="8805113" y="199711"/>
                </a:lnTo>
                <a:lnTo>
                  <a:pt x="8940576" y="198616"/>
                </a:lnTo>
                <a:lnTo>
                  <a:pt x="9076039" y="197894"/>
                </a:lnTo>
                <a:lnTo>
                  <a:pt x="9211503" y="197378"/>
                </a:lnTo>
                <a:lnTo>
                  <a:pt x="9346966" y="196808"/>
                </a:lnTo>
                <a:lnTo>
                  <a:pt x="9482429" y="195855"/>
                </a:lnTo>
                <a:lnTo>
                  <a:pt x="9617892" y="194147"/>
                </a:lnTo>
                <a:lnTo>
                  <a:pt x="9753356" y="191305"/>
                </a:lnTo>
                <a:lnTo>
                  <a:pt x="9888819" y="186977"/>
                </a:lnTo>
                <a:lnTo>
                  <a:pt x="10024282" y="180869"/>
                </a:lnTo>
                <a:lnTo>
                  <a:pt x="10159746" y="172776"/>
                </a:lnTo>
                <a:lnTo>
                  <a:pt x="10295209" y="162608"/>
                </a:lnTo>
                <a:lnTo>
                  <a:pt x="10430672" y="150402"/>
                </a:lnTo>
                <a:lnTo>
                  <a:pt x="10566135" y="136335"/>
                </a:lnTo>
                <a:lnTo>
                  <a:pt x="10701599" y="120717"/>
                </a:lnTo>
                <a:lnTo>
                  <a:pt x="10837062" y="103984"/>
                </a:lnTo>
                <a:lnTo>
                  <a:pt x="10972525" y="86673"/>
                </a:lnTo>
                <a:lnTo>
                  <a:pt x="11107988" y="69396"/>
                </a:lnTo>
                <a:lnTo>
                  <a:pt x="11243452" y="52806"/>
                </a:lnTo>
                <a:lnTo>
                  <a:pt x="11378915" y="37558"/>
                </a:lnTo>
                <a:lnTo>
                  <a:pt x="11514378" y="24274"/>
                </a:lnTo>
                <a:lnTo>
                  <a:pt x="11649842" y="13501"/>
                </a:lnTo>
                <a:lnTo>
                  <a:pt x="11785305" y="5683"/>
                </a:lnTo>
                <a:lnTo>
                  <a:pt x="11920768" y="1129"/>
                </a:lnTo>
                <a:lnTo>
                  <a:pt x="12056231" y="0"/>
                </a:lnTo>
                <a:lnTo>
                  <a:pt x="12191695" y="2300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6405649"/>
            <a:ext cx="12191695" cy="245182"/>
          </a:xfrm>
          <a:custGeom>
            <a:avLst/>
            <a:gdLst/>
            <a:ahLst/>
            <a:cxnLst/>
            <a:rect l="l" t="t" r="r" b="b"/>
            <a:pathLst>
              <a:path w="12191695" h="245182">
                <a:moveTo>
                  <a:pt x="0" y="150669"/>
                </a:moveTo>
                <a:lnTo>
                  <a:pt x="135463" y="169737"/>
                </a:lnTo>
                <a:lnTo>
                  <a:pt x="270926" y="187768"/>
                </a:lnTo>
                <a:lnTo>
                  <a:pt x="406389" y="204118"/>
                </a:lnTo>
                <a:lnTo>
                  <a:pt x="541853" y="218220"/>
                </a:lnTo>
                <a:lnTo>
                  <a:pt x="677316" y="229621"/>
                </a:lnTo>
                <a:lnTo>
                  <a:pt x="812779" y="238002"/>
                </a:lnTo>
                <a:lnTo>
                  <a:pt x="948242" y="243193"/>
                </a:lnTo>
                <a:lnTo>
                  <a:pt x="1083706" y="245182"/>
                </a:lnTo>
                <a:lnTo>
                  <a:pt x="1219169" y="244108"/>
                </a:lnTo>
                <a:lnTo>
                  <a:pt x="1354632" y="240247"/>
                </a:lnTo>
                <a:lnTo>
                  <a:pt x="1490096" y="233989"/>
                </a:lnTo>
                <a:lnTo>
                  <a:pt x="1625559" y="225812"/>
                </a:lnTo>
                <a:lnTo>
                  <a:pt x="1761022" y="216243"/>
                </a:lnTo>
                <a:lnTo>
                  <a:pt x="1896485" y="205824"/>
                </a:lnTo>
                <a:lnTo>
                  <a:pt x="2031949" y="195076"/>
                </a:lnTo>
                <a:lnTo>
                  <a:pt x="2167412" y="184466"/>
                </a:lnTo>
                <a:lnTo>
                  <a:pt x="2302875" y="174375"/>
                </a:lnTo>
                <a:lnTo>
                  <a:pt x="2438339" y="165080"/>
                </a:lnTo>
                <a:lnTo>
                  <a:pt x="2573802" y="156740"/>
                </a:lnTo>
                <a:lnTo>
                  <a:pt x="2709265" y="149392"/>
                </a:lnTo>
                <a:lnTo>
                  <a:pt x="2844728" y="142958"/>
                </a:lnTo>
                <a:lnTo>
                  <a:pt x="2980192" y="137257"/>
                </a:lnTo>
                <a:lnTo>
                  <a:pt x="3115655" y="132030"/>
                </a:lnTo>
                <a:lnTo>
                  <a:pt x="3251118" y="126965"/>
                </a:lnTo>
                <a:lnTo>
                  <a:pt x="3386582" y="121734"/>
                </a:lnTo>
                <a:lnTo>
                  <a:pt x="3522045" y="116024"/>
                </a:lnTo>
                <a:lnTo>
                  <a:pt x="3657508" y="109568"/>
                </a:lnTo>
                <a:lnTo>
                  <a:pt x="3792971" y="102177"/>
                </a:lnTo>
                <a:lnTo>
                  <a:pt x="3928435" y="93759"/>
                </a:lnTo>
                <a:lnTo>
                  <a:pt x="4063898" y="84341"/>
                </a:lnTo>
                <a:lnTo>
                  <a:pt x="4199361" y="74069"/>
                </a:lnTo>
                <a:lnTo>
                  <a:pt x="4334824" y="63211"/>
                </a:lnTo>
                <a:lnTo>
                  <a:pt x="4470288" y="52141"/>
                </a:lnTo>
                <a:lnTo>
                  <a:pt x="4605751" y="41320"/>
                </a:lnTo>
                <a:lnTo>
                  <a:pt x="4741214" y="31269"/>
                </a:lnTo>
                <a:lnTo>
                  <a:pt x="4876678" y="22536"/>
                </a:lnTo>
                <a:lnTo>
                  <a:pt x="5012141" y="15656"/>
                </a:lnTo>
                <a:lnTo>
                  <a:pt x="5147604" y="11120"/>
                </a:lnTo>
                <a:lnTo>
                  <a:pt x="5283067" y="9338"/>
                </a:lnTo>
                <a:lnTo>
                  <a:pt x="5418531" y="10605"/>
                </a:lnTo>
                <a:lnTo>
                  <a:pt x="5553994" y="15085"/>
                </a:lnTo>
                <a:lnTo>
                  <a:pt x="5689457" y="22787"/>
                </a:lnTo>
                <a:lnTo>
                  <a:pt x="5824921" y="33567"/>
                </a:lnTo>
                <a:lnTo>
                  <a:pt x="5960384" y="47128"/>
                </a:lnTo>
                <a:lnTo>
                  <a:pt x="6095847" y="63035"/>
                </a:lnTo>
                <a:lnTo>
                  <a:pt x="6231310" y="80738"/>
                </a:lnTo>
                <a:lnTo>
                  <a:pt x="6366774" y="99601"/>
                </a:lnTo>
                <a:lnTo>
                  <a:pt x="6502237" y="118939"/>
                </a:lnTo>
                <a:lnTo>
                  <a:pt x="6637700" y="138058"/>
                </a:lnTo>
                <a:lnTo>
                  <a:pt x="6773164" y="156290"/>
                </a:lnTo>
                <a:lnTo>
                  <a:pt x="6908627" y="173034"/>
                </a:lnTo>
                <a:lnTo>
                  <a:pt x="7044090" y="187783"/>
                </a:lnTo>
                <a:lnTo>
                  <a:pt x="7179553" y="200156"/>
                </a:lnTo>
                <a:lnTo>
                  <a:pt x="7315017" y="209912"/>
                </a:lnTo>
                <a:lnTo>
                  <a:pt x="7450480" y="216953"/>
                </a:lnTo>
                <a:lnTo>
                  <a:pt x="7585943" y="221331"/>
                </a:lnTo>
                <a:lnTo>
                  <a:pt x="7721406" y="223229"/>
                </a:lnTo>
                <a:lnTo>
                  <a:pt x="7856870" y="222943"/>
                </a:lnTo>
                <a:lnTo>
                  <a:pt x="7992333" y="220854"/>
                </a:lnTo>
                <a:lnTo>
                  <a:pt x="8127796" y="217398"/>
                </a:lnTo>
                <a:lnTo>
                  <a:pt x="8263260" y="213025"/>
                </a:lnTo>
                <a:lnTo>
                  <a:pt x="8398723" y="208173"/>
                </a:lnTo>
                <a:lnTo>
                  <a:pt x="8534186" y="203226"/>
                </a:lnTo>
                <a:lnTo>
                  <a:pt x="8669649" y="198493"/>
                </a:lnTo>
                <a:lnTo>
                  <a:pt x="8805113" y="194182"/>
                </a:lnTo>
                <a:lnTo>
                  <a:pt x="8940576" y="190390"/>
                </a:lnTo>
                <a:lnTo>
                  <a:pt x="9076039" y="187099"/>
                </a:lnTo>
                <a:lnTo>
                  <a:pt x="9211503" y="184181"/>
                </a:lnTo>
                <a:lnTo>
                  <a:pt x="9346966" y="181412"/>
                </a:lnTo>
                <a:lnTo>
                  <a:pt x="9482429" y="178496"/>
                </a:lnTo>
                <a:lnTo>
                  <a:pt x="9617892" y="175092"/>
                </a:lnTo>
                <a:lnTo>
                  <a:pt x="9753356" y="170845"/>
                </a:lnTo>
                <a:lnTo>
                  <a:pt x="9888819" y="165425"/>
                </a:lnTo>
                <a:lnTo>
                  <a:pt x="10024282" y="158555"/>
                </a:lnTo>
                <a:lnTo>
                  <a:pt x="10159746" y="150040"/>
                </a:lnTo>
                <a:lnTo>
                  <a:pt x="10295209" y="139797"/>
                </a:lnTo>
                <a:lnTo>
                  <a:pt x="10430672" y="127865"/>
                </a:lnTo>
                <a:lnTo>
                  <a:pt x="10566135" y="114415"/>
                </a:lnTo>
                <a:lnTo>
                  <a:pt x="10701599" y="99751"/>
                </a:lnTo>
                <a:lnTo>
                  <a:pt x="10837062" y="84291"/>
                </a:lnTo>
                <a:lnTo>
                  <a:pt x="10972525" y="68554"/>
                </a:lnTo>
                <a:lnTo>
                  <a:pt x="11107988" y="53129"/>
                </a:lnTo>
                <a:lnTo>
                  <a:pt x="11243452" y="38641"/>
                </a:lnTo>
                <a:lnTo>
                  <a:pt x="11378915" y="25713"/>
                </a:lnTo>
                <a:lnTo>
                  <a:pt x="11514378" y="14931"/>
                </a:lnTo>
                <a:lnTo>
                  <a:pt x="11649842" y="6805"/>
                </a:lnTo>
                <a:lnTo>
                  <a:pt x="11785305" y="1738"/>
                </a:lnTo>
                <a:lnTo>
                  <a:pt x="11920768" y="0"/>
                </a:lnTo>
                <a:lnTo>
                  <a:pt x="12056231" y="1708"/>
                </a:lnTo>
                <a:lnTo>
                  <a:pt x="12191695" y="6822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6467906"/>
            <a:ext cx="12191695" cy="248613"/>
          </a:xfrm>
          <a:custGeom>
            <a:avLst/>
            <a:gdLst/>
            <a:ahLst/>
            <a:cxnLst/>
            <a:rect l="l" t="t" r="r" b="b"/>
            <a:pathLst>
              <a:path w="12191695" h="248613">
                <a:moveTo>
                  <a:pt x="0" y="169572"/>
                </a:moveTo>
                <a:lnTo>
                  <a:pt x="135463" y="187517"/>
                </a:lnTo>
                <a:lnTo>
                  <a:pt x="270926" y="204116"/>
                </a:lnTo>
                <a:lnTo>
                  <a:pt x="406389" y="218744"/>
                </a:lnTo>
                <a:lnTo>
                  <a:pt x="541853" y="230861"/>
                </a:lnTo>
                <a:lnTo>
                  <a:pt x="677316" y="240043"/>
                </a:lnTo>
                <a:lnTo>
                  <a:pt x="812779" y="246004"/>
                </a:lnTo>
                <a:lnTo>
                  <a:pt x="948242" y="248613"/>
                </a:lnTo>
                <a:lnTo>
                  <a:pt x="1083706" y="247896"/>
                </a:lnTo>
                <a:lnTo>
                  <a:pt x="1219169" y="244031"/>
                </a:lnTo>
                <a:lnTo>
                  <a:pt x="1354632" y="237338"/>
                </a:lnTo>
                <a:lnTo>
                  <a:pt x="1490096" y="228250"/>
                </a:lnTo>
                <a:lnTo>
                  <a:pt x="1625559" y="217286"/>
                </a:lnTo>
                <a:lnTo>
                  <a:pt x="1761022" y="205017"/>
                </a:lnTo>
                <a:lnTo>
                  <a:pt x="1896485" y="192024"/>
                </a:lnTo>
                <a:lnTo>
                  <a:pt x="2031949" y="178869"/>
                </a:lnTo>
                <a:lnTo>
                  <a:pt x="2167412" y="166053"/>
                </a:lnTo>
                <a:lnTo>
                  <a:pt x="2302875" y="153992"/>
                </a:lnTo>
                <a:lnTo>
                  <a:pt x="2438339" y="142992"/>
                </a:lnTo>
                <a:lnTo>
                  <a:pt x="2573802" y="133239"/>
                </a:lnTo>
                <a:lnTo>
                  <a:pt x="2709265" y="124790"/>
                </a:lnTo>
                <a:lnTo>
                  <a:pt x="2844728" y="117583"/>
                </a:lnTo>
                <a:lnTo>
                  <a:pt x="2980192" y="111449"/>
                </a:lnTo>
                <a:lnTo>
                  <a:pt x="3115655" y="106137"/>
                </a:lnTo>
                <a:lnTo>
                  <a:pt x="3251118" y="101335"/>
                </a:lnTo>
                <a:lnTo>
                  <a:pt x="3386582" y="96713"/>
                </a:lnTo>
                <a:lnTo>
                  <a:pt x="3522045" y="91945"/>
                </a:lnTo>
                <a:lnTo>
                  <a:pt x="3657508" y="86753"/>
                </a:lnTo>
                <a:lnTo>
                  <a:pt x="3792971" y="80928"/>
                </a:lnTo>
                <a:lnTo>
                  <a:pt x="3928435" y="74354"/>
                </a:lnTo>
                <a:lnTo>
                  <a:pt x="4063898" y="67031"/>
                </a:lnTo>
                <a:lnTo>
                  <a:pt x="4199361" y="59072"/>
                </a:lnTo>
                <a:lnTo>
                  <a:pt x="4334824" y="50711"/>
                </a:lnTo>
                <a:lnTo>
                  <a:pt x="4470288" y="42285"/>
                </a:lnTo>
                <a:lnTo>
                  <a:pt x="4605751" y="34213"/>
                </a:lnTo>
                <a:lnTo>
                  <a:pt x="4741214" y="26977"/>
                </a:lnTo>
                <a:lnTo>
                  <a:pt x="4876678" y="21080"/>
                </a:lnTo>
                <a:lnTo>
                  <a:pt x="5012141" y="17016"/>
                </a:lnTo>
                <a:lnTo>
                  <a:pt x="5147604" y="15233"/>
                </a:lnTo>
                <a:lnTo>
                  <a:pt x="5283067" y="16099"/>
                </a:lnTo>
                <a:lnTo>
                  <a:pt x="5418531" y="19870"/>
                </a:lnTo>
                <a:lnTo>
                  <a:pt x="5553994" y="26670"/>
                </a:lnTo>
                <a:lnTo>
                  <a:pt x="5689457" y="36475"/>
                </a:lnTo>
                <a:lnTo>
                  <a:pt x="5824921" y="49109"/>
                </a:lnTo>
                <a:lnTo>
                  <a:pt x="5960384" y="64247"/>
                </a:lnTo>
                <a:lnTo>
                  <a:pt x="6095847" y="81430"/>
                </a:lnTo>
                <a:lnTo>
                  <a:pt x="6231310" y="100088"/>
                </a:lnTo>
                <a:lnTo>
                  <a:pt x="6366774" y="119571"/>
                </a:lnTo>
                <a:lnTo>
                  <a:pt x="6502237" y="139187"/>
                </a:lnTo>
                <a:lnTo>
                  <a:pt x="6637700" y="158234"/>
                </a:lnTo>
                <a:lnTo>
                  <a:pt x="6773164" y="176047"/>
                </a:lnTo>
                <a:lnTo>
                  <a:pt x="6908627" y="192030"/>
                </a:lnTo>
                <a:lnTo>
                  <a:pt x="7044090" y="205690"/>
                </a:lnTo>
                <a:lnTo>
                  <a:pt x="7179553" y="216660"/>
                </a:lnTo>
                <a:lnTo>
                  <a:pt x="7315017" y="224721"/>
                </a:lnTo>
                <a:lnTo>
                  <a:pt x="7450480" y="229802"/>
                </a:lnTo>
                <a:lnTo>
                  <a:pt x="7585943" y="231983"/>
                </a:lnTo>
                <a:lnTo>
                  <a:pt x="7721406" y="231480"/>
                </a:lnTo>
                <a:lnTo>
                  <a:pt x="7856870" y="228626"/>
                </a:lnTo>
                <a:lnTo>
                  <a:pt x="7992333" y="223841"/>
                </a:lnTo>
                <a:lnTo>
                  <a:pt x="8127796" y="217601"/>
                </a:lnTo>
                <a:lnTo>
                  <a:pt x="8263260" y="210399"/>
                </a:lnTo>
                <a:lnTo>
                  <a:pt x="8398723" y="202714"/>
                </a:lnTo>
                <a:lnTo>
                  <a:pt x="8534186" y="194975"/>
                </a:lnTo>
                <a:lnTo>
                  <a:pt x="8669649" y="187531"/>
                </a:lnTo>
                <a:lnTo>
                  <a:pt x="8805113" y="180631"/>
                </a:lnTo>
                <a:lnTo>
                  <a:pt x="8940576" y="174414"/>
                </a:lnTo>
                <a:lnTo>
                  <a:pt x="9076039" y="168896"/>
                </a:lnTo>
                <a:lnTo>
                  <a:pt x="9211503" y="163983"/>
                </a:lnTo>
                <a:lnTo>
                  <a:pt x="9346966" y="159481"/>
                </a:lnTo>
                <a:lnTo>
                  <a:pt x="9482429" y="155122"/>
                </a:lnTo>
                <a:lnTo>
                  <a:pt x="9617892" y="150584"/>
                </a:lnTo>
                <a:lnTo>
                  <a:pt x="9753356" y="145531"/>
                </a:lnTo>
                <a:lnTo>
                  <a:pt x="9888819" y="139645"/>
                </a:lnTo>
                <a:lnTo>
                  <a:pt x="10024282" y="132654"/>
                </a:lnTo>
                <a:lnTo>
                  <a:pt x="10159746" y="124369"/>
                </a:lnTo>
                <a:lnTo>
                  <a:pt x="10295209" y="114699"/>
                </a:lnTo>
                <a:lnTo>
                  <a:pt x="10430672" y="103677"/>
                </a:lnTo>
                <a:lnTo>
                  <a:pt x="10566135" y="91461"/>
                </a:lnTo>
                <a:lnTo>
                  <a:pt x="10701599" y="78333"/>
                </a:lnTo>
                <a:lnTo>
                  <a:pt x="10837062" y="64691"/>
                </a:lnTo>
                <a:lnTo>
                  <a:pt x="10972525" y="51025"/>
                </a:lnTo>
                <a:lnTo>
                  <a:pt x="11107988" y="37893"/>
                </a:lnTo>
                <a:lnTo>
                  <a:pt x="11243452" y="25885"/>
                </a:lnTo>
                <a:lnTo>
                  <a:pt x="11378915" y="15588"/>
                </a:lnTo>
                <a:lnTo>
                  <a:pt x="11514378" y="7547"/>
                </a:lnTo>
                <a:lnTo>
                  <a:pt x="11649842" y="2231"/>
                </a:lnTo>
                <a:lnTo>
                  <a:pt x="11785305" y="0"/>
                </a:lnTo>
                <a:lnTo>
                  <a:pt x="11920768" y="1082"/>
                </a:lnTo>
                <a:lnTo>
                  <a:pt x="12056231" y="5551"/>
                </a:lnTo>
                <a:lnTo>
                  <a:pt x="12191695" y="13326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0" y="6533113"/>
            <a:ext cx="12191695" cy="246124"/>
          </a:xfrm>
          <a:custGeom>
            <a:avLst/>
            <a:gdLst/>
            <a:ahLst/>
            <a:cxnLst/>
            <a:rect l="l" t="t" r="r" b="b"/>
            <a:pathLst>
              <a:path w="12191695" h="246124">
                <a:moveTo>
                  <a:pt x="0" y="183172"/>
                </a:moveTo>
                <a:lnTo>
                  <a:pt x="135463" y="199432"/>
                </a:lnTo>
                <a:lnTo>
                  <a:pt x="270926" y="214077"/>
                </a:lnTo>
                <a:lnTo>
                  <a:pt x="406389" y="226514"/>
                </a:lnTo>
                <a:lnTo>
                  <a:pt x="541853" y="236236"/>
                </a:lnTo>
                <a:lnTo>
                  <a:pt x="677316" y="242855"/>
                </a:lnTo>
                <a:lnTo>
                  <a:pt x="812779" y="246124"/>
                </a:lnTo>
                <a:lnTo>
                  <a:pt x="948242" y="245951"/>
                </a:lnTo>
                <a:lnTo>
                  <a:pt x="1083706" y="242404"/>
                </a:lnTo>
                <a:lnTo>
                  <a:pt x="1219169" y="235707"/>
                </a:lnTo>
                <a:lnTo>
                  <a:pt x="1354632" y="226219"/>
                </a:lnTo>
                <a:lnTo>
                  <a:pt x="1490096" y="214417"/>
                </a:lnTo>
                <a:lnTo>
                  <a:pt x="1625559" y="200862"/>
                </a:lnTo>
                <a:lnTo>
                  <a:pt x="1761022" y="186161"/>
                </a:lnTo>
                <a:lnTo>
                  <a:pt x="1896485" y="170935"/>
                </a:lnTo>
                <a:lnTo>
                  <a:pt x="2031949" y="155777"/>
                </a:lnTo>
                <a:lnTo>
                  <a:pt x="2167412" y="141221"/>
                </a:lnTo>
                <a:lnTo>
                  <a:pt x="2302875" y="127707"/>
                </a:lnTo>
                <a:lnTo>
                  <a:pt x="2438339" y="115564"/>
                </a:lnTo>
                <a:lnTo>
                  <a:pt x="2573802" y="104994"/>
                </a:lnTo>
                <a:lnTo>
                  <a:pt x="2709265" y="96068"/>
                </a:lnTo>
                <a:lnTo>
                  <a:pt x="2844728" y="88731"/>
                </a:lnTo>
                <a:lnTo>
                  <a:pt x="2980192" y="82816"/>
                </a:lnTo>
                <a:lnTo>
                  <a:pt x="3115655" y="78067"/>
                </a:lnTo>
                <a:lnTo>
                  <a:pt x="3251118" y="74166"/>
                </a:lnTo>
                <a:lnTo>
                  <a:pt x="3386582" y="70766"/>
                </a:lnTo>
                <a:lnTo>
                  <a:pt x="3522045" y="67527"/>
                </a:lnTo>
                <a:lnTo>
                  <a:pt x="3657508" y="64145"/>
                </a:lnTo>
                <a:lnTo>
                  <a:pt x="3792971" y="60383"/>
                </a:lnTo>
                <a:lnTo>
                  <a:pt x="3928435" y="56096"/>
                </a:lnTo>
                <a:lnTo>
                  <a:pt x="4063898" y="51248"/>
                </a:lnTo>
                <a:lnTo>
                  <a:pt x="4199361" y="45917"/>
                </a:lnTo>
                <a:lnTo>
                  <a:pt x="4334824" y="40294"/>
                </a:lnTo>
                <a:lnTo>
                  <a:pt x="4470288" y="34675"/>
                </a:lnTo>
                <a:lnTo>
                  <a:pt x="4605751" y="29440"/>
                </a:lnTo>
                <a:lnTo>
                  <a:pt x="4741214" y="25025"/>
                </a:lnTo>
                <a:lnTo>
                  <a:pt x="4876678" y="21891"/>
                </a:lnTo>
                <a:lnTo>
                  <a:pt x="5012141" y="20491"/>
                </a:lnTo>
                <a:lnTo>
                  <a:pt x="5147604" y="21233"/>
                </a:lnTo>
                <a:lnTo>
                  <a:pt x="5283067" y="24445"/>
                </a:lnTo>
                <a:lnTo>
                  <a:pt x="5418531" y="30349"/>
                </a:lnTo>
                <a:lnTo>
                  <a:pt x="5553994" y="39037"/>
                </a:lnTo>
                <a:lnTo>
                  <a:pt x="5689457" y="50457"/>
                </a:lnTo>
                <a:lnTo>
                  <a:pt x="5824921" y="64407"/>
                </a:lnTo>
                <a:lnTo>
                  <a:pt x="5960384" y="80543"/>
                </a:lnTo>
                <a:lnTo>
                  <a:pt x="6095847" y="98390"/>
                </a:lnTo>
                <a:lnTo>
                  <a:pt x="6231310" y="117369"/>
                </a:lnTo>
                <a:lnTo>
                  <a:pt x="6366774" y="136826"/>
                </a:lnTo>
                <a:lnTo>
                  <a:pt x="6502237" y="156066"/>
                </a:lnTo>
                <a:lnTo>
                  <a:pt x="6637700" y="174397"/>
                </a:lnTo>
                <a:lnTo>
                  <a:pt x="6773164" y="191162"/>
                </a:lnTo>
                <a:lnTo>
                  <a:pt x="6908627" y="205782"/>
                </a:lnTo>
                <a:lnTo>
                  <a:pt x="7044090" y="217784"/>
                </a:lnTo>
                <a:lnTo>
                  <a:pt x="7179553" y="226827"/>
                </a:lnTo>
                <a:lnTo>
                  <a:pt x="7315017" y="232720"/>
                </a:lnTo>
                <a:lnTo>
                  <a:pt x="7450480" y="235424"/>
                </a:lnTo>
                <a:lnTo>
                  <a:pt x="7585943" y="235057"/>
                </a:lnTo>
                <a:lnTo>
                  <a:pt x="7721406" y="231872"/>
                </a:lnTo>
                <a:lnTo>
                  <a:pt x="7856870" y="226244"/>
                </a:lnTo>
                <a:lnTo>
                  <a:pt x="7992333" y="218632"/>
                </a:lnTo>
                <a:lnTo>
                  <a:pt x="8127796" y="209557"/>
                </a:lnTo>
                <a:lnTo>
                  <a:pt x="8263260" y="199555"/>
                </a:lnTo>
                <a:lnTo>
                  <a:pt x="8398723" y="189147"/>
                </a:lnTo>
                <a:lnTo>
                  <a:pt x="8534186" y="178801"/>
                </a:lnTo>
                <a:lnTo>
                  <a:pt x="8669649" y="168908"/>
                </a:lnTo>
                <a:lnTo>
                  <a:pt x="8805113" y="159754"/>
                </a:lnTo>
                <a:lnTo>
                  <a:pt x="8940576" y="151510"/>
                </a:lnTo>
                <a:lnTo>
                  <a:pt x="9076039" y="144224"/>
                </a:lnTo>
                <a:lnTo>
                  <a:pt x="9211503" y="137828"/>
                </a:lnTo>
                <a:lnTo>
                  <a:pt x="9346966" y="132152"/>
                </a:lnTo>
                <a:lnTo>
                  <a:pt x="9482429" y="126943"/>
                </a:lnTo>
                <a:lnTo>
                  <a:pt x="9617892" y="121894"/>
                </a:lnTo>
                <a:lnTo>
                  <a:pt x="9753356" y="116677"/>
                </a:lnTo>
                <a:lnTo>
                  <a:pt x="9888819" y="110975"/>
                </a:lnTo>
                <a:lnTo>
                  <a:pt x="10024282" y="104513"/>
                </a:lnTo>
                <a:lnTo>
                  <a:pt x="10159746" y="97095"/>
                </a:lnTo>
                <a:lnTo>
                  <a:pt x="10295209" y="88617"/>
                </a:lnTo>
                <a:lnTo>
                  <a:pt x="10430672" y="79094"/>
                </a:lnTo>
                <a:lnTo>
                  <a:pt x="10566135" y="68661"/>
                </a:lnTo>
                <a:lnTo>
                  <a:pt x="10701599" y="57573"/>
                </a:lnTo>
                <a:lnTo>
                  <a:pt x="10837062" y="46197"/>
                </a:lnTo>
                <a:lnTo>
                  <a:pt x="10972525" y="34990"/>
                </a:lnTo>
                <a:lnTo>
                  <a:pt x="11107988" y="24471"/>
                </a:lnTo>
                <a:lnTo>
                  <a:pt x="11243452" y="15192"/>
                </a:lnTo>
                <a:lnTo>
                  <a:pt x="11378915" y="7698"/>
                </a:lnTo>
                <a:lnTo>
                  <a:pt x="11514378" y="2492"/>
                </a:lnTo>
                <a:lnTo>
                  <a:pt x="11649842" y="0"/>
                </a:lnTo>
                <a:lnTo>
                  <a:pt x="11785305" y="541"/>
                </a:lnTo>
                <a:lnTo>
                  <a:pt x="11920768" y="4298"/>
                </a:lnTo>
                <a:lnTo>
                  <a:pt x="12056231" y="11307"/>
                </a:lnTo>
                <a:lnTo>
                  <a:pt x="12191695" y="21447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0" y="6600998"/>
            <a:ext cx="12191695" cy="238322"/>
          </a:xfrm>
          <a:custGeom>
            <a:avLst/>
            <a:gdLst/>
            <a:ahLst/>
            <a:cxnLst/>
            <a:rect l="l" t="t" r="r" b="b"/>
            <a:pathLst>
              <a:path w="12191695" h="238322">
                <a:moveTo>
                  <a:pt x="0" y="190722"/>
                </a:moveTo>
                <a:lnTo>
                  <a:pt x="135463" y="204821"/>
                </a:lnTo>
                <a:lnTo>
                  <a:pt x="270926" y="217096"/>
                </a:lnTo>
                <a:lnTo>
                  <a:pt x="406389" y="226989"/>
                </a:lnTo>
                <a:lnTo>
                  <a:pt x="541853" y="234032"/>
                </a:lnTo>
                <a:lnTo>
                  <a:pt x="677316" y="237878"/>
                </a:lnTo>
                <a:lnTo>
                  <a:pt x="812779" y="238322"/>
                </a:lnTo>
                <a:lnTo>
                  <a:pt x="948242" y="235314"/>
                </a:lnTo>
                <a:lnTo>
                  <a:pt x="1083706" y="228966"/>
                </a:lnTo>
                <a:lnTo>
                  <a:pt x="1219169" y="219541"/>
                </a:lnTo>
                <a:lnTo>
                  <a:pt x="1354632" y="207444"/>
                </a:lnTo>
                <a:lnTo>
                  <a:pt x="1490096" y="193188"/>
                </a:lnTo>
                <a:lnTo>
                  <a:pt x="1625559" y="177371"/>
                </a:lnTo>
                <a:lnTo>
                  <a:pt x="1761022" y="160636"/>
                </a:lnTo>
                <a:lnTo>
                  <a:pt x="1896485" y="143634"/>
                </a:lnTo>
                <a:lnTo>
                  <a:pt x="2031949" y="126985"/>
                </a:lnTo>
                <a:lnTo>
                  <a:pt x="2167412" y="111244"/>
                </a:lnTo>
                <a:lnTo>
                  <a:pt x="2302875" y="96871"/>
                </a:lnTo>
                <a:lnTo>
                  <a:pt x="2438339" y="84207"/>
                </a:lnTo>
                <a:lnTo>
                  <a:pt x="2573802" y="73462"/>
                </a:lnTo>
                <a:lnTo>
                  <a:pt x="2709265" y="64709"/>
                </a:lnTo>
                <a:lnTo>
                  <a:pt x="2844728" y="57891"/>
                </a:lnTo>
                <a:lnTo>
                  <a:pt x="2980192" y="52834"/>
                </a:lnTo>
                <a:lnTo>
                  <a:pt x="3115655" y="49267"/>
                </a:lnTo>
                <a:lnTo>
                  <a:pt x="3251118" y="46856"/>
                </a:lnTo>
                <a:lnTo>
                  <a:pt x="3386582" y="45231"/>
                </a:lnTo>
                <a:lnTo>
                  <a:pt x="3522045" y="44024"/>
                </a:lnTo>
                <a:lnTo>
                  <a:pt x="3657508" y="42902"/>
                </a:lnTo>
                <a:lnTo>
                  <a:pt x="3792971" y="41593"/>
                </a:lnTo>
                <a:lnTo>
                  <a:pt x="3928435" y="39916"/>
                </a:lnTo>
                <a:lnTo>
                  <a:pt x="4063898" y="37794"/>
                </a:lnTo>
                <a:lnTo>
                  <a:pt x="4199361" y="35264"/>
                </a:lnTo>
                <a:lnTo>
                  <a:pt x="4334824" y="32476"/>
                </a:lnTo>
                <a:lnTo>
                  <a:pt x="4470288" y="29683"/>
                </a:lnTo>
                <a:lnTo>
                  <a:pt x="4605751" y="27220"/>
                </a:lnTo>
                <a:lnTo>
                  <a:pt x="4741214" y="25484"/>
                </a:lnTo>
                <a:lnTo>
                  <a:pt x="4876678" y="24895"/>
                </a:lnTo>
                <a:lnTo>
                  <a:pt x="5012141" y="25867"/>
                </a:lnTo>
                <a:lnTo>
                  <a:pt x="5147604" y="28771"/>
                </a:lnTo>
                <a:lnTo>
                  <a:pt x="5283067" y="33905"/>
                </a:lnTo>
                <a:lnTo>
                  <a:pt x="5418531" y="41460"/>
                </a:lnTo>
                <a:lnTo>
                  <a:pt x="5553994" y="51504"/>
                </a:lnTo>
                <a:lnTo>
                  <a:pt x="5689457" y="63964"/>
                </a:lnTo>
                <a:lnTo>
                  <a:pt x="5824921" y="78622"/>
                </a:lnTo>
                <a:lnTo>
                  <a:pt x="5960384" y="95124"/>
                </a:lnTo>
                <a:lnTo>
                  <a:pt x="6095847" y="112989"/>
                </a:lnTo>
                <a:lnTo>
                  <a:pt x="6231310" y="131639"/>
                </a:lnTo>
                <a:lnTo>
                  <a:pt x="6366774" y="150423"/>
                </a:lnTo>
                <a:lnTo>
                  <a:pt x="6502237" y="168658"/>
                </a:lnTo>
                <a:lnTo>
                  <a:pt x="6637700" y="185665"/>
                </a:lnTo>
                <a:lnTo>
                  <a:pt x="6773164" y="200809"/>
                </a:lnTo>
                <a:lnTo>
                  <a:pt x="6908627" y="213535"/>
                </a:lnTo>
                <a:lnTo>
                  <a:pt x="7044090" y="223398"/>
                </a:lnTo>
                <a:lnTo>
                  <a:pt x="7179553" y="230090"/>
                </a:lnTo>
                <a:lnTo>
                  <a:pt x="7315017" y="233454"/>
                </a:lnTo>
                <a:lnTo>
                  <a:pt x="7450480" y="233492"/>
                </a:lnTo>
                <a:lnTo>
                  <a:pt x="7585943" y="230359"/>
                </a:lnTo>
                <a:lnTo>
                  <a:pt x="7721406" y="224353"/>
                </a:lnTo>
                <a:lnTo>
                  <a:pt x="7856870" y="215888"/>
                </a:lnTo>
                <a:lnTo>
                  <a:pt x="7992333" y="205470"/>
                </a:lnTo>
                <a:lnTo>
                  <a:pt x="8127796" y="193658"/>
                </a:lnTo>
                <a:lnTo>
                  <a:pt x="8263260" y="181033"/>
                </a:lnTo>
                <a:lnTo>
                  <a:pt x="8398723" y="168153"/>
                </a:lnTo>
                <a:lnTo>
                  <a:pt x="8534186" y="155526"/>
                </a:lnTo>
                <a:lnTo>
                  <a:pt x="8669649" y="143575"/>
                </a:lnTo>
                <a:lnTo>
                  <a:pt x="8805113" y="132618"/>
                </a:lnTo>
                <a:lnTo>
                  <a:pt x="8940576" y="122852"/>
                </a:lnTo>
                <a:lnTo>
                  <a:pt x="9076039" y="114351"/>
                </a:lnTo>
                <a:lnTo>
                  <a:pt x="9211503" y="107063"/>
                </a:lnTo>
                <a:lnTo>
                  <a:pt x="9346966" y="100832"/>
                </a:lnTo>
                <a:lnTo>
                  <a:pt x="9482429" y="95413"/>
                </a:lnTo>
                <a:lnTo>
                  <a:pt x="9617892" y="90502"/>
                </a:lnTo>
                <a:lnTo>
                  <a:pt x="9753356" y="85770"/>
                </a:lnTo>
                <a:lnTo>
                  <a:pt x="9888819" y="80892"/>
                </a:lnTo>
                <a:lnTo>
                  <a:pt x="10024282" y="75582"/>
                </a:lnTo>
                <a:lnTo>
                  <a:pt x="10159746" y="69623"/>
                </a:lnTo>
                <a:lnTo>
                  <a:pt x="10295209" y="62893"/>
                </a:lnTo>
                <a:lnTo>
                  <a:pt x="10430672" y="55378"/>
                </a:lnTo>
                <a:lnTo>
                  <a:pt x="10566135" y="47183"/>
                </a:lnTo>
                <a:lnTo>
                  <a:pt x="10701599" y="38531"/>
                </a:lnTo>
                <a:lnTo>
                  <a:pt x="10837062" y="29751"/>
                </a:lnTo>
                <a:lnTo>
                  <a:pt x="10972525" y="21260"/>
                </a:lnTo>
                <a:lnTo>
                  <a:pt x="11107988" y="13537"/>
                </a:lnTo>
                <a:lnTo>
                  <a:pt x="11243452" y="7091"/>
                </a:lnTo>
                <a:lnTo>
                  <a:pt x="11378915" y="2425"/>
                </a:lnTo>
                <a:lnTo>
                  <a:pt x="11514378" y="0"/>
                </a:lnTo>
                <a:lnTo>
                  <a:pt x="11649842" y="198"/>
                </a:lnTo>
                <a:lnTo>
                  <a:pt x="11785305" y="3299"/>
                </a:lnTo>
                <a:lnTo>
                  <a:pt x="11920768" y="9446"/>
                </a:lnTo>
                <a:lnTo>
                  <a:pt x="12056231" y="18641"/>
                </a:lnTo>
                <a:lnTo>
                  <a:pt x="12191695" y="30728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46304"/>
            <a:ext cx="11283696" cy="44805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功能全景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722376"/>
            <a:ext cx="585216" cy="41148"/>
          </a:xfrm>
          <a:prstGeom prst="rect">
            <a:avLst/>
          </a:prstGeom>
          <a:solidFill>
            <a:srgbClr val="EE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649224"/>
            <a:ext cx="10469880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2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服务、内容、连接与运营形成完整建设范围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292608"/>
            <a:ext cx="896112" cy="20116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HiAgent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6647688"/>
            <a:ext cx="10241280" cy="1280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7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企业数据智能体建设规划  /  规划视图  /  2026.10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629400"/>
            <a:ext cx="585216" cy="17373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07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" y="987552"/>
            <a:ext cx="11155680" cy="512064"/>
          </a:xfrm>
          <a:prstGeom prst="roundRect">
            <a:avLst>
              <a:gd name="adj" fmla="val 3500"/>
            </a:avLst>
          </a:prstGeom>
          <a:solidFill>
            <a:srgbClr val="08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019556"/>
            <a:ext cx="10972800" cy="44805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业务入口：对话工作台 / 数据平台入口 / 按场景嵌入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924" y="1805939"/>
            <a:ext cx="3474720" cy="3648456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2064" y="1773936"/>
            <a:ext cx="3474720" cy="3648456"/>
          </a:xfrm>
          <a:prstGeom prst="roundRect">
            <a:avLst>
              <a:gd name="adj" fmla="val 5500"/>
            </a:avLst>
          </a:prstGeom>
          <a:solidFill>
            <a:srgbClr val="F5FA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1892807"/>
            <a:ext cx="3145536" cy="31089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专业服务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6656" y="2304288"/>
            <a:ext cx="3145535" cy="0"/>
          </a:xfrm>
          <a:prstGeom prst="line">
            <a:avLst/>
          </a:prstGeom>
          <a:ln w="8890">
            <a:solidFill>
              <a:srgbClr val="D4E7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67512" y="2414016"/>
            <a:ext cx="3163824" cy="466344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2446020"/>
            <a:ext cx="2980944" cy="40233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2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资产：表字段 / 字典码值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" y="3054096"/>
            <a:ext cx="3163824" cy="466344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3086100"/>
            <a:ext cx="2980944" cy="40233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2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生产：需求 / 设计 / 开发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" y="3694176"/>
            <a:ext cx="3163824" cy="466344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3726180"/>
            <a:ext cx="2980944" cy="40233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2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交付：测试 / 评审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" y="4334256"/>
            <a:ext cx="3163824" cy="466344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4366260"/>
            <a:ext cx="2980944" cy="40233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2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运营分析：治理 / 运维 / 分析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5404" y="1805939"/>
            <a:ext cx="3474720" cy="3648456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52544" y="1773936"/>
            <a:ext cx="3474720" cy="3648456"/>
          </a:xfrm>
          <a:prstGeom prst="roundRect">
            <a:avLst>
              <a:gd name="adj" fmla="val 5500"/>
            </a:avLst>
          </a:prstGeom>
          <a:solidFill>
            <a:srgbClr val="F5FA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17136" y="1892807"/>
            <a:ext cx="3145536" cy="31089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内容与方法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17136" y="2304288"/>
            <a:ext cx="3145535" cy="0"/>
          </a:xfrm>
          <a:prstGeom prst="line">
            <a:avLst/>
          </a:prstGeom>
          <a:ln w="8890">
            <a:solidFill>
              <a:srgbClr val="D4E7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507992" y="2414016"/>
            <a:ext cx="3163824" cy="466344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9431" y="2446020"/>
            <a:ext cx="2980944" cy="40233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2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术语 / 指标 / 模型语义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07992" y="3054096"/>
            <a:ext cx="3163824" cy="466344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99431" y="3086100"/>
            <a:ext cx="2980944" cy="40233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2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规则 / 模板 / SKILL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07992" y="3694176"/>
            <a:ext cx="3163824" cy="466344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99431" y="3726180"/>
            <a:ext cx="2980944" cy="40233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2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知识文件 / 检索索引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07992" y="4334256"/>
            <a:ext cx="3163824" cy="466344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99431" y="4366260"/>
            <a:ext cx="2980944" cy="40233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2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事实查询数据 / 来源版本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15884" y="1805939"/>
            <a:ext cx="3474720" cy="3648456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93024" y="1773936"/>
            <a:ext cx="3474720" cy="3648456"/>
          </a:xfrm>
          <a:prstGeom prst="roundRect">
            <a:avLst>
              <a:gd name="adj" fmla="val 5500"/>
            </a:avLst>
          </a:prstGeom>
          <a:solidFill>
            <a:srgbClr val="F5FA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57616" y="1892807"/>
            <a:ext cx="3145536" cy="31089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平台连接与运营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357616" y="2304288"/>
            <a:ext cx="3145536" cy="0"/>
          </a:xfrm>
          <a:prstGeom prst="line">
            <a:avLst/>
          </a:prstGeom>
          <a:ln w="8890">
            <a:solidFill>
              <a:srgbClr val="D4E7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8348472" y="2414016"/>
            <a:ext cx="3163824" cy="466344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39912" y="2446020"/>
            <a:ext cx="2980944" cy="40233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2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目录 / 指标 / 血缘接口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48472" y="3054096"/>
            <a:ext cx="3163824" cy="466344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39912" y="3086100"/>
            <a:ext cx="2980944" cy="40233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2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开发 / 调度 / 质量接入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48472" y="3694176"/>
            <a:ext cx="3163824" cy="466344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39912" y="3726180"/>
            <a:ext cx="2980944" cy="40233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2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身份 / 权限 / 操作确认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48472" y="4334256"/>
            <a:ext cx="3163824" cy="466344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39912" y="4366260"/>
            <a:ext cx="2980944" cy="40233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2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评测 / 反馈 / 内容更新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249424" y="1545336"/>
            <a:ext cx="0" cy="192024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2213578" y="1678893"/>
            <a:ext cx="35846" cy="58467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249424" y="1678893"/>
            <a:ext cx="35845" cy="58467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089904" y="1545336"/>
            <a:ext cx="0" cy="192024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 flipV="1">
            <a:off x="6054058" y="1678893"/>
            <a:ext cx="35846" cy="58467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089904" y="1678893"/>
            <a:ext cx="35845" cy="58467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930384" y="1545336"/>
            <a:ext cx="0" cy="192024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H="1" flipV="1">
            <a:off x="9894538" y="1678893"/>
            <a:ext cx="35846" cy="58467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9930384" y="1678893"/>
            <a:ext cx="35845" cy="58467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461772" y="6112764"/>
            <a:ext cx="11247120" cy="33832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438912" y="6080760"/>
            <a:ext cx="11247120" cy="338328"/>
          </a:xfrm>
          <a:prstGeom prst="roundRect">
            <a:avLst>
              <a:gd name="adj" fmla="val 5500"/>
            </a:avLst>
          </a:prstGeom>
          <a:solidFill>
            <a:srgbClr val="EEF7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5216" y="6117336"/>
            <a:ext cx="10954512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功能建设分别落实到Agent、内容维护、平台适配与持续运营，模块可复用现有系统承载。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6346471"/>
            <a:ext cx="12191695" cy="235953"/>
          </a:xfrm>
          <a:custGeom>
            <a:avLst/>
            <a:gdLst/>
            <a:ahLst/>
            <a:cxnLst/>
            <a:rect l="l" t="t" r="r" b="b"/>
            <a:pathLst>
              <a:path w="12191695" h="235953">
                <a:moveTo>
                  <a:pt x="0" y="127481"/>
                </a:moveTo>
                <a:lnTo>
                  <a:pt x="135463" y="147046"/>
                </a:lnTo>
                <a:lnTo>
                  <a:pt x="270926" y="165914"/>
                </a:lnTo>
                <a:lnTo>
                  <a:pt x="406389" y="183426"/>
                </a:lnTo>
                <a:lnTo>
                  <a:pt x="541853" y="199000"/>
                </a:lnTo>
                <a:lnTo>
                  <a:pt x="677316" y="212159"/>
                </a:lnTo>
                <a:lnTo>
                  <a:pt x="812779" y="222557"/>
                </a:lnTo>
                <a:lnTo>
                  <a:pt x="948242" y="229995"/>
                </a:lnTo>
                <a:lnTo>
                  <a:pt x="1083706" y="234426"/>
                </a:lnTo>
                <a:lnTo>
                  <a:pt x="1219169" y="235953"/>
                </a:lnTo>
                <a:lnTo>
                  <a:pt x="1354632" y="234812"/>
                </a:lnTo>
                <a:lnTo>
                  <a:pt x="1490096" y="231352"/>
                </a:lnTo>
                <a:lnTo>
                  <a:pt x="1625559" y="226009"/>
                </a:lnTo>
                <a:lnTo>
                  <a:pt x="1761022" y="219267"/>
                </a:lnTo>
                <a:lnTo>
                  <a:pt x="1896485" y="211626"/>
                </a:lnTo>
                <a:lnTo>
                  <a:pt x="2031949" y="203564"/>
                </a:lnTo>
                <a:lnTo>
                  <a:pt x="2167412" y="195508"/>
                </a:lnTo>
                <a:lnTo>
                  <a:pt x="2302875" y="187800"/>
                </a:lnTo>
                <a:lnTo>
                  <a:pt x="2438339" y="180682"/>
                </a:lnTo>
                <a:lnTo>
                  <a:pt x="2573802" y="174280"/>
                </a:lnTo>
                <a:lnTo>
                  <a:pt x="2709265" y="168601"/>
                </a:lnTo>
                <a:lnTo>
                  <a:pt x="2844728" y="163541"/>
                </a:lnTo>
                <a:lnTo>
                  <a:pt x="2980192" y="158900"/>
                </a:lnTo>
                <a:lnTo>
                  <a:pt x="3115655" y="154402"/>
                </a:lnTo>
                <a:lnTo>
                  <a:pt x="3251118" y="149724"/>
                </a:lnTo>
                <a:lnTo>
                  <a:pt x="3386582" y="144534"/>
                </a:lnTo>
                <a:lnTo>
                  <a:pt x="3522045" y="138515"/>
                </a:lnTo>
                <a:lnTo>
                  <a:pt x="3657508" y="131408"/>
                </a:lnTo>
                <a:lnTo>
                  <a:pt x="3792971" y="123031"/>
                </a:lnTo>
                <a:lnTo>
                  <a:pt x="3928435" y="113309"/>
                </a:lnTo>
                <a:lnTo>
                  <a:pt x="4063898" y="102287"/>
                </a:lnTo>
                <a:lnTo>
                  <a:pt x="4199361" y="90138"/>
                </a:lnTo>
                <a:lnTo>
                  <a:pt x="4334824" y="77155"/>
                </a:lnTo>
                <a:lnTo>
                  <a:pt x="4470288" y="63745"/>
                </a:lnTo>
                <a:lnTo>
                  <a:pt x="4605751" y="50406"/>
                </a:lnTo>
                <a:lnTo>
                  <a:pt x="4741214" y="37696"/>
                </a:lnTo>
                <a:lnTo>
                  <a:pt x="4876678" y="26202"/>
                </a:lnTo>
                <a:lnTo>
                  <a:pt x="5012141" y="16503"/>
                </a:lnTo>
                <a:lnTo>
                  <a:pt x="5147604" y="9131"/>
                </a:lnTo>
                <a:lnTo>
                  <a:pt x="5283067" y="4538"/>
                </a:lnTo>
                <a:lnTo>
                  <a:pt x="5418531" y="3064"/>
                </a:lnTo>
                <a:lnTo>
                  <a:pt x="5553994" y="4912"/>
                </a:lnTo>
                <a:lnTo>
                  <a:pt x="5689457" y="10132"/>
                </a:lnTo>
                <a:lnTo>
                  <a:pt x="5824921" y="18617"/>
                </a:lnTo>
                <a:lnTo>
                  <a:pt x="5960384" y="30106"/>
                </a:lnTo>
                <a:lnTo>
                  <a:pt x="6095847" y="44193"/>
                </a:lnTo>
                <a:lnTo>
                  <a:pt x="6231310" y="60357"/>
                </a:lnTo>
                <a:lnTo>
                  <a:pt x="6366774" y="77984"/>
                </a:lnTo>
                <a:lnTo>
                  <a:pt x="6502237" y="96410"/>
                </a:lnTo>
                <a:lnTo>
                  <a:pt x="6637700" y="114953"/>
                </a:lnTo>
                <a:lnTo>
                  <a:pt x="6773164" y="132954"/>
                </a:lnTo>
                <a:lnTo>
                  <a:pt x="6908627" y="149814"/>
                </a:lnTo>
                <a:lnTo>
                  <a:pt x="7044090" y="165027"/>
                </a:lnTo>
                <a:lnTo>
                  <a:pt x="7179553" y="178204"/>
                </a:lnTo>
                <a:lnTo>
                  <a:pt x="7315017" y="189090"/>
                </a:lnTo>
                <a:lnTo>
                  <a:pt x="7450480" y="197574"/>
                </a:lnTo>
                <a:lnTo>
                  <a:pt x="7585943" y="203682"/>
                </a:lnTo>
                <a:lnTo>
                  <a:pt x="7721406" y="207573"/>
                </a:lnTo>
                <a:lnTo>
                  <a:pt x="7856870" y="209512"/>
                </a:lnTo>
                <a:lnTo>
                  <a:pt x="7992333" y="209848"/>
                </a:lnTo>
                <a:lnTo>
                  <a:pt x="8127796" y="208978"/>
                </a:lnTo>
                <a:lnTo>
                  <a:pt x="8263260" y="207316"/>
                </a:lnTo>
                <a:lnTo>
                  <a:pt x="8398723" y="205256"/>
                </a:lnTo>
                <a:lnTo>
                  <a:pt x="8534186" y="203141"/>
                </a:lnTo>
                <a:lnTo>
                  <a:pt x="8669649" y="201238"/>
                </a:lnTo>
                <a:lnTo>
                  <a:pt x="8805113" y="199711"/>
                </a:lnTo>
                <a:lnTo>
                  <a:pt x="8940576" y="198616"/>
                </a:lnTo>
                <a:lnTo>
                  <a:pt x="9076039" y="197894"/>
                </a:lnTo>
                <a:lnTo>
                  <a:pt x="9211503" y="197378"/>
                </a:lnTo>
                <a:lnTo>
                  <a:pt x="9346966" y="196808"/>
                </a:lnTo>
                <a:lnTo>
                  <a:pt x="9482429" y="195855"/>
                </a:lnTo>
                <a:lnTo>
                  <a:pt x="9617892" y="194147"/>
                </a:lnTo>
                <a:lnTo>
                  <a:pt x="9753356" y="191305"/>
                </a:lnTo>
                <a:lnTo>
                  <a:pt x="9888819" y="186977"/>
                </a:lnTo>
                <a:lnTo>
                  <a:pt x="10024282" y="180869"/>
                </a:lnTo>
                <a:lnTo>
                  <a:pt x="10159746" y="172776"/>
                </a:lnTo>
                <a:lnTo>
                  <a:pt x="10295209" y="162608"/>
                </a:lnTo>
                <a:lnTo>
                  <a:pt x="10430672" y="150402"/>
                </a:lnTo>
                <a:lnTo>
                  <a:pt x="10566135" y="136335"/>
                </a:lnTo>
                <a:lnTo>
                  <a:pt x="10701599" y="120717"/>
                </a:lnTo>
                <a:lnTo>
                  <a:pt x="10837062" y="103984"/>
                </a:lnTo>
                <a:lnTo>
                  <a:pt x="10972525" y="86673"/>
                </a:lnTo>
                <a:lnTo>
                  <a:pt x="11107988" y="69396"/>
                </a:lnTo>
                <a:lnTo>
                  <a:pt x="11243452" y="52806"/>
                </a:lnTo>
                <a:lnTo>
                  <a:pt x="11378915" y="37558"/>
                </a:lnTo>
                <a:lnTo>
                  <a:pt x="11514378" y="24274"/>
                </a:lnTo>
                <a:lnTo>
                  <a:pt x="11649842" y="13501"/>
                </a:lnTo>
                <a:lnTo>
                  <a:pt x="11785305" y="5683"/>
                </a:lnTo>
                <a:lnTo>
                  <a:pt x="11920768" y="1129"/>
                </a:lnTo>
                <a:lnTo>
                  <a:pt x="12056231" y="0"/>
                </a:lnTo>
                <a:lnTo>
                  <a:pt x="12191695" y="2300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6405649"/>
            <a:ext cx="12191695" cy="245182"/>
          </a:xfrm>
          <a:custGeom>
            <a:avLst/>
            <a:gdLst/>
            <a:ahLst/>
            <a:cxnLst/>
            <a:rect l="l" t="t" r="r" b="b"/>
            <a:pathLst>
              <a:path w="12191695" h="245182">
                <a:moveTo>
                  <a:pt x="0" y="150669"/>
                </a:moveTo>
                <a:lnTo>
                  <a:pt x="135463" y="169737"/>
                </a:lnTo>
                <a:lnTo>
                  <a:pt x="270926" y="187768"/>
                </a:lnTo>
                <a:lnTo>
                  <a:pt x="406389" y="204118"/>
                </a:lnTo>
                <a:lnTo>
                  <a:pt x="541853" y="218220"/>
                </a:lnTo>
                <a:lnTo>
                  <a:pt x="677316" y="229621"/>
                </a:lnTo>
                <a:lnTo>
                  <a:pt x="812779" y="238002"/>
                </a:lnTo>
                <a:lnTo>
                  <a:pt x="948242" y="243193"/>
                </a:lnTo>
                <a:lnTo>
                  <a:pt x="1083706" y="245182"/>
                </a:lnTo>
                <a:lnTo>
                  <a:pt x="1219169" y="244108"/>
                </a:lnTo>
                <a:lnTo>
                  <a:pt x="1354632" y="240247"/>
                </a:lnTo>
                <a:lnTo>
                  <a:pt x="1490096" y="233989"/>
                </a:lnTo>
                <a:lnTo>
                  <a:pt x="1625559" y="225812"/>
                </a:lnTo>
                <a:lnTo>
                  <a:pt x="1761022" y="216243"/>
                </a:lnTo>
                <a:lnTo>
                  <a:pt x="1896485" y="205824"/>
                </a:lnTo>
                <a:lnTo>
                  <a:pt x="2031949" y="195076"/>
                </a:lnTo>
                <a:lnTo>
                  <a:pt x="2167412" y="184466"/>
                </a:lnTo>
                <a:lnTo>
                  <a:pt x="2302875" y="174375"/>
                </a:lnTo>
                <a:lnTo>
                  <a:pt x="2438339" y="165080"/>
                </a:lnTo>
                <a:lnTo>
                  <a:pt x="2573802" y="156740"/>
                </a:lnTo>
                <a:lnTo>
                  <a:pt x="2709265" y="149392"/>
                </a:lnTo>
                <a:lnTo>
                  <a:pt x="2844728" y="142958"/>
                </a:lnTo>
                <a:lnTo>
                  <a:pt x="2980192" y="137257"/>
                </a:lnTo>
                <a:lnTo>
                  <a:pt x="3115655" y="132030"/>
                </a:lnTo>
                <a:lnTo>
                  <a:pt x="3251118" y="126965"/>
                </a:lnTo>
                <a:lnTo>
                  <a:pt x="3386582" y="121734"/>
                </a:lnTo>
                <a:lnTo>
                  <a:pt x="3522045" y="116024"/>
                </a:lnTo>
                <a:lnTo>
                  <a:pt x="3657508" y="109568"/>
                </a:lnTo>
                <a:lnTo>
                  <a:pt x="3792971" y="102177"/>
                </a:lnTo>
                <a:lnTo>
                  <a:pt x="3928435" y="93759"/>
                </a:lnTo>
                <a:lnTo>
                  <a:pt x="4063898" y="84341"/>
                </a:lnTo>
                <a:lnTo>
                  <a:pt x="4199361" y="74069"/>
                </a:lnTo>
                <a:lnTo>
                  <a:pt x="4334824" y="63211"/>
                </a:lnTo>
                <a:lnTo>
                  <a:pt x="4470288" y="52141"/>
                </a:lnTo>
                <a:lnTo>
                  <a:pt x="4605751" y="41320"/>
                </a:lnTo>
                <a:lnTo>
                  <a:pt x="4741214" y="31269"/>
                </a:lnTo>
                <a:lnTo>
                  <a:pt x="4876678" y="22536"/>
                </a:lnTo>
                <a:lnTo>
                  <a:pt x="5012141" y="15656"/>
                </a:lnTo>
                <a:lnTo>
                  <a:pt x="5147604" y="11120"/>
                </a:lnTo>
                <a:lnTo>
                  <a:pt x="5283067" y="9338"/>
                </a:lnTo>
                <a:lnTo>
                  <a:pt x="5418531" y="10605"/>
                </a:lnTo>
                <a:lnTo>
                  <a:pt x="5553994" y="15085"/>
                </a:lnTo>
                <a:lnTo>
                  <a:pt x="5689457" y="22787"/>
                </a:lnTo>
                <a:lnTo>
                  <a:pt x="5824921" y="33567"/>
                </a:lnTo>
                <a:lnTo>
                  <a:pt x="5960384" y="47128"/>
                </a:lnTo>
                <a:lnTo>
                  <a:pt x="6095847" y="63035"/>
                </a:lnTo>
                <a:lnTo>
                  <a:pt x="6231310" y="80738"/>
                </a:lnTo>
                <a:lnTo>
                  <a:pt x="6366774" y="99601"/>
                </a:lnTo>
                <a:lnTo>
                  <a:pt x="6502237" y="118939"/>
                </a:lnTo>
                <a:lnTo>
                  <a:pt x="6637700" y="138058"/>
                </a:lnTo>
                <a:lnTo>
                  <a:pt x="6773164" y="156290"/>
                </a:lnTo>
                <a:lnTo>
                  <a:pt x="6908627" y="173034"/>
                </a:lnTo>
                <a:lnTo>
                  <a:pt x="7044090" y="187783"/>
                </a:lnTo>
                <a:lnTo>
                  <a:pt x="7179553" y="200156"/>
                </a:lnTo>
                <a:lnTo>
                  <a:pt x="7315017" y="209912"/>
                </a:lnTo>
                <a:lnTo>
                  <a:pt x="7450480" y="216953"/>
                </a:lnTo>
                <a:lnTo>
                  <a:pt x="7585943" y="221331"/>
                </a:lnTo>
                <a:lnTo>
                  <a:pt x="7721406" y="223229"/>
                </a:lnTo>
                <a:lnTo>
                  <a:pt x="7856870" y="222943"/>
                </a:lnTo>
                <a:lnTo>
                  <a:pt x="7992333" y="220854"/>
                </a:lnTo>
                <a:lnTo>
                  <a:pt x="8127796" y="217398"/>
                </a:lnTo>
                <a:lnTo>
                  <a:pt x="8263260" y="213025"/>
                </a:lnTo>
                <a:lnTo>
                  <a:pt x="8398723" y="208173"/>
                </a:lnTo>
                <a:lnTo>
                  <a:pt x="8534186" y="203226"/>
                </a:lnTo>
                <a:lnTo>
                  <a:pt x="8669649" y="198493"/>
                </a:lnTo>
                <a:lnTo>
                  <a:pt x="8805113" y="194182"/>
                </a:lnTo>
                <a:lnTo>
                  <a:pt x="8940576" y="190390"/>
                </a:lnTo>
                <a:lnTo>
                  <a:pt x="9076039" y="187099"/>
                </a:lnTo>
                <a:lnTo>
                  <a:pt x="9211503" y="184181"/>
                </a:lnTo>
                <a:lnTo>
                  <a:pt x="9346966" y="181412"/>
                </a:lnTo>
                <a:lnTo>
                  <a:pt x="9482429" y="178496"/>
                </a:lnTo>
                <a:lnTo>
                  <a:pt x="9617892" y="175092"/>
                </a:lnTo>
                <a:lnTo>
                  <a:pt x="9753356" y="170845"/>
                </a:lnTo>
                <a:lnTo>
                  <a:pt x="9888819" y="165425"/>
                </a:lnTo>
                <a:lnTo>
                  <a:pt x="10024282" y="158555"/>
                </a:lnTo>
                <a:lnTo>
                  <a:pt x="10159746" y="150040"/>
                </a:lnTo>
                <a:lnTo>
                  <a:pt x="10295209" y="139797"/>
                </a:lnTo>
                <a:lnTo>
                  <a:pt x="10430672" y="127865"/>
                </a:lnTo>
                <a:lnTo>
                  <a:pt x="10566135" y="114415"/>
                </a:lnTo>
                <a:lnTo>
                  <a:pt x="10701599" y="99751"/>
                </a:lnTo>
                <a:lnTo>
                  <a:pt x="10837062" y="84291"/>
                </a:lnTo>
                <a:lnTo>
                  <a:pt x="10972525" y="68554"/>
                </a:lnTo>
                <a:lnTo>
                  <a:pt x="11107988" y="53129"/>
                </a:lnTo>
                <a:lnTo>
                  <a:pt x="11243452" y="38641"/>
                </a:lnTo>
                <a:lnTo>
                  <a:pt x="11378915" y="25713"/>
                </a:lnTo>
                <a:lnTo>
                  <a:pt x="11514378" y="14931"/>
                </a:lnTo>
                <a:lnTo>
                  <a:pt x="11649842" y="6805"/>
                </a:lnTo>
                <a:lnTo>
                  <a:pt x="11785305" y="1738"/>
                </a:lnTo>
                <a:lnTo>
                  <a:pt x="11920768" y="0"/>
                </a:lnTo>
                <a:lnTo>
                  <a:pt x="12056231" y="1708"/>
                </a:lnTo>
                <a:lnTo>
                  <a:pt x="12191695" y="6822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6467906"/>
            <a:ext cx="12191695" cy="248613"/>
          </a:xfrm>
          <a:custGeom>
            <a:avLst/>
            <a:gdLst/>
            <a:ahLst/>
            <a:cxnLst/>
            <a:rect l="l" t="t" r="r" b="b"/>
            <a:pathLst>
              <a:path w="12191695" h="248613">
                <a:moveTo>
                  <a:pt x="0" y="169572"/>
                </a:moveTo>
                <a:lnTo>
                  <a:pt x="135463" y="187517"/>
                </a:lnTo>
                <a:lnTo>
                  <a:pt x="270926" y="204116"/>
                </a:lnTo>
                <a:lnTo>
                  <a:pt x="406389" y="218744"/>
                </a:lnTo>
                <a:lnTo>
                  <a:pt x="541853" y="230861"/>
                </a:lnTo>
                <a:lnTo>
                  <a:pt x="677316" y="240043"/>
                </a:lnTo>
                <a:lnTo>
                  <a:pt x="812779" y="246004"/>
                </a:lnTo>
                <a:lnTo>
                  <a:pt x="948242" y="248613"/>
                </a:lnTo>
                <a:lnTo>
                  <a:pt x="1083706" y="247896"/>
                </a:lnTo>
                <a:lnTo>
                  <a:pt x="1219169" y="244031"/>
                </a:lnTo>
                <a:lnTo>
                  <a:pt x="1354632" y="237338"/>
                </a:lnTo>
                <a:lnTo>
                  <a:pt x="1490096" y="228250"/>
                </a:lnTo>
                <a:lnTo>
                  <a:pt x="1625559" y="217286"/>
                </a:lnTo>
                <a:lnTo>
                  <a:pt x="1761022" y="205017"/>
                </a:lnTo>
                <a:lnTo>
                  <a:pt x="1896485" y="192024"/>
                </a:lnTo>
                <a:lnTo>
                  <a:pt x="2031949" y="178869"/>
                </a:lnTo>
                <a:lnTo>
                  <a:pt x="2167412" y="166053"/>
                </a:lnTo>
                <a:lnTo>
                  <a:pt x="2302875" y="153992"/>
                </a:lnTo>
                <a:lnTo>
                  <a:pt x="2438339" y="142992"/>
                </a:lnTo>
                <a:lnTo>
                  <a:pt x="2573802" y="133239"/>
                </a:lnTo>
                <a:lnTo>
                  <a:pt x="2709265" y="124790"/>
                </a:lnTo>
                <a:lnTo>
                  <a:pt x="2844728" y="117583"/>
                </a:lnTo>
                <a:lnTo>
                  <a:pt x="2980192" y="111449"/>
                </a:lnTo>
                <a:lnTo>
                  <a:pt x="3115655" y="106137"/>
                </a:lnTo>
                <a:lnTo>
                  <a:pt x="3251118" y="101335"/>
                </a:lnTo>
                <a:lnTo>
                  <a:pt x="3386582" y="96713"/>
                </a:lnTo>
                <a:lnTo>
                  <a:pt x="3522045" y="91945"/>
                </a:lnTo>
                <a:lnTo>
                  <a:pt x="3657508" y="86753"/>
                </a:lnTo>
                <a:lnTo>
                  <a:pt x="3792971" y="80928"/>
                </a:lnTo>
                <a:lnTo>
                  <a:pt x="3928435" y="74354"/>
                </a:lnTo>
                <a:lnTo>
                  <a:pt x="4063898" y="67031"/>
                </a:lnTo>
                <a:lnTo>
                  <a:pt x="4199361" y="59072"/>
                </a:lnTo>
                <a:lnTo>
                  <a:pt x="4334824" y="50711"/>
                </a:lnTo>
                <a:lnTo>
                  <a:pt x="4470288" y="42285"/>
                </a:lnTo>
                <a:lnTo>
                  <a:pt x="4605751" y="34213"/>
                </a:lnTo>
                <a:lnTo>
                  <a:pt x="4741214" y="26977"/>
                </a:lnTo>
                <a:lnTo>
                  <a:pt x="4876678" y="21080"/>
                </a:lnTo>
                <a:lnTo>
                  <a:pt x="5012141" y="17016"/>
                </a:lnTo>
                <a:lnTo>
                  <a:pt x="5147604" y="15233"/>
                </a:lnTo>
                <a:lnTo>
                  <a:pt x="5283067" y="16099"/>
                </a:lnTo>
                <a:lnTo>
                  <a:pt x="5418531" y="19870"/>
                </a:lnTo>
                <a:lnTo>
                  <a:pt x="5553994" y="26670"/>
                </a:lnTo>
                <a:lnTo>
                  <a:pt x="5689457" y="36475"/>
                </a:lnTo>
                <a:lnTo>
                  <a:pt x="5824921" y="49109"/>
                </a:lnTo>
                <a:lnTo>
                  <a:pt x="5960384" y="64247"/>
                </a:lnTo>
                <a:lnTo>
                  <a:pt x="6095847" y="81430"/>
                </a:lnTo>
                <a:lnTo>
                  <a:pt x="6231310" y="100088"/>
                </a:lnTo>
                <a:lnTo>
                  <a:pt x="6366774" y="119571"/>
                </a:lnTo>
                <a:lnTo>
                  <a:pt x="6502237" y="139187"/>
                </a:lnTo>
                <a:lnTo>
                  <a:pt x="6637700" y="158234"/>
                </a:lnTo>
                <a:lnTo>
                  <a:pt x="6773164" y="176047"/>
                </a:lnTo>
                <a:lnTo>
                  <a:pt x="6908627" y="192030"/>
                </a:lnTo>
                <a:lnTo>
                  <a:pt x="7044090" y="205690"/>
                </a:lnTo>
                <a:lnTo>
                  <a:pt x="7179553" y="216660"/>
                </a:lnTo>
                <a:lnTo>
                  <a:pt x="7315017" y="224721"/>
                </a:lnTo>
                <a:lnTo>
                  <a:pt x="7450480" y="229802"/>
                </a:lnTo>
                <a:lnTo>
                  <a:pt x="7585943" y="231983"/>
                </a:lnTo>
                <a:lnTo>
                  <a:pt x="7721406" y="231480"/>
                </a:lnTo>
                <a:lnTo>
                  <a:pt x="7856870" y="228626"/>
                </a:lnTo>
                <a:lnTo>
                  <a:pt x="7992333" y="223841"/>
                </a:lnTo>
                <a:lnTo>
                  <a:pt x="8127796" y="217601"/>
                </a:lnTo>
                <a:lnTo>
                  <a:pt x="8263260" y="210399"/>
                </a:lnTo>
                <a:lnTo>
                  <a:pt x="8398723" y="202714"/>
                </a:lnTo>
                <a:lnTo>
                  <a:pt x="8534186" y="194975"/>
                </a:lnTo>
                <a:lnTo>
                  <a:pt x="8669649" y="187531"/>
                </a:lnTo>
                <a:lnTo>
                  <a:pt x="8805113" y="180631"/>
                </a:lnTo>
                <a:lnTo>
                  <a:pt x="8940576" y="174414"/>
                </a:lnTo>
                <a:lnTo>
                  <a:pt x="9076039" y="168896"/>
                </a:lnTo>
                <a:lnTo>
                  <a:pt x="9211503" y="163983"/>
                </a:lnTo>
                <a:lnTo>
                  <a:pt x="9346966" y="159481"/>
                </a:lnTo>
                <a:lnTo>
                  <a:pt x="9482429" y="155122"/>
                </a:lnTo>
                <a:lnTo>
                  <a:pt x="9617892" y="150584"/>
                </a:lnTo>
                <a:lnTo>
                  <a:pt x="9753356" y="145531"/>
                </a:lnTo>
                <a:lnTo>
                  <a:pt x="9888819" y="139645"/>
                </a:lnTo>
                <a:lnTo>
                  <a:pt x="10024282" y="132654"/>
                </a:lnTo>
                <a:lnTo>
                  <a:pt x="10159746" y="124369"/>
                </a:lnTo>
                <a:lnTo>
                  <a:pt x="10295209" y="114699"/>
                </a:lnTo>
                <a:lnTo>
                  <a:pt x="10430672" y="103677"/>
                </a:lnTo>
                <a:lnTo>
                  <a:pt x="10566135" y="91461"/>
                </a:lnTo>
                <a:lnTo>
                  <a:pt x="10701599" y="78333"/>
                </a:lnTo>
                <a:lnTo>
                  <a:pt x="10837062" y="64691"/>
                </a:lnTo>
                <a:lnTo>
                  <a:pt x="10972525" y="51025"/>
                </a:lnTo>
                <a:lnTo>
                  <a:pt x="11107988" y="37893"/>
                </a:lnTo>
                <a:lnTo>
                  <a:pt x="11243452" y="25885"/>
                </a:lnTo>
                <a:lnTo>
                  <a:pt x="11378915" y="15588"/>
                </a:lnTo>
                <a:lnTo>
                  <a:pt x="11514378" y="7547"/>
                </a:lnTo>
                <a:lnTo>
                  <a:pt x="11649842" y="2231"/>
                </a:lnTo>
                <a:lnTo>
                  <a:pt x="11785305" y="0"/>
                </a:lnTo>
                <a:lnTo>
                  <a:pt x="11920768" y="1082"/>
                </a:lnTo>
                <a:lnTo>
                  <a:pt x="12056231" y="5551"/>
                </a:lnTo>
                <a:lnTo>
                  <a:pt x="12191695" y="13326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0" y="6533113"/>
            <a:ext cx="12191695" cy="246124"/>
          </a:xfrm>
          <a:custGeom>
            <a:avLst/>
            <a:gdLst/>
            <a:ahLst/>
            <a:cxnLst/>
            <a:rect l="l" t="t" r="r" b="b"/>
            <a:pathLst>
              <a:path w="12191695" h="246124">
                <a:moveTo>
                  <a:pt x="0" y="183172"/>
                </a:moveTo>
                <a:lnTo>
                  <a:pt x="135463" y="199432"/>
                </a:lnTo>
                <a:lnTo>
                  <a:pt x="270926" y="214077"/>
                </a:lnTo>
                <a:lnTo>
                  <a:pt x="406389" y="226514"/>
                </a:lnTo>
                <a:lnTo>
                  <a:pt x="541853" y="236236"/>
                </a:lnTo>
                <a:lnTo>
                  <a:pt x="677316" y="242855"/>
                </a:lnTo>
                <a:lnTo>
                  <a:pt x="812779" y="246124"/>
                </a:lnTo>
                <a:lnTo>
                  <a:pt x="948242" y="245951"/>
                </a:lnTo>
                <a:lnTo>
                  <a:pt x="1083706" y="242404"/>
                </a:lnTo>
                <a:lnTo>
                  <a:pt x="1219169" y="235707"/>
                </a:lnTo>
                <a:lnTo>
                  <a:pt x="1354632" y="226219"/>
                </a:lnTo>
                <a:lnTo>
                  <a:pt x="1490096" y="214417"/>
                </a:lnTo>
                <a:lnTo>
                  <a:pt x="1625559" y="200862"/>
                </a:lnTo>
                <a:lnTo>
                  <a:pt x="1761022" y="186161"/>
                </a:lnTo>
                <a:lnTo>
                  <a:pt x="1896485" y="170935"/>
                </a:lnTo>
                <a:lnTo>
                  <a:pt x="2031949" y="155777"/>
                </a:lnTo>
                <a:lnTo>
                  <a:pt x="2167412" y="141221"/>
                </a:lnTo>
                <a:lnTo>
                  <a:pt x="2302875" y="127707"/>
                </a:lnTo>
                <a:lnTo>
                  <a:pt x="2438339" y="115564"/>
                </a:lnTo>
                <a:lnTo>
                  <a:pt x="2573802" y="104994"/>
                </a:lnTo>
                <a:lnTo>
                  <a:pt x="2709265" y="96068"/>
                </a:lnTo>
                <a:lnTo>
                  <a:pt x="2844728" y="88731"/>
                </a:lnTo>
                <a:lnTo>
                  <a:pt x="2980192" y="82816"/>
                </a:lnTo>
                <a:lnTo>
                  <a:pt x="3115655" y="78067"/>
                </a:lnTo>
                <a:lnTo>
                  <a:pt x="3251118" y="74166"/>
                </a:lnTo>
                <a:lnTo>
                  <a:pt x="3386582" y="70766"/>
                </a:lnTo>
                <a:lnTo>
                  <a:pt x="3522045" y="67527"/>
                </a:lnTo>
                <a:lnTo>
                  <a:pt x="3657508" y="64145"/>
                </a:lnTo>
                <a:lnTo>
                  <a:pt x="3792971" y="60383"/>
                </a:lnTo>
                <a:lnTo>
                  <a:pt x="3928435" y="56096"/>
                </a:lnTo>
                <a:lnTo>
                  <a:pt x="4063898" y="51248"/>
                </a:lnTo>
                <a:lnTo>
                  <a:pt x="4199361" y="45917"/>
                </a:lnTo>
                <a:lnTo>
                  <a:pt x="4334824" y="40294"/>
                </a:lnTo>
                <a:lnTo>
                  <a:pt x="4470288" y="34675"/>
                </a:lnTo>
                <a:lnTo>
                  <a:pt x="4605751" y="29440"/>
                </a:lnTo>
                <a:lnTo>
                  <a:pt x="4741214" y="25025"/>
                </a:lnTo>
                <a:lnTo>
                  <a:pt x="4876678" y="21891"/>
                </a:lnTo>
                <a:lnTo>
                  <a:pt x="5012141" y="20491"/>
                </a:lnTo>
                <a:lnTo>
                  <a:pt x="5147604" y="21233"/>
                </a:lnTo>
                <a:lnTo>
                  <a:pt x="5283067" y="24445"/>
                </a:lnTo>
                <a:lnTo>
                  <a:pt x="5418531" y="30349"/>
                </a:lnTo>
                <a:lnTo>
                  <a:pt x="5553994" y="39037"/>
                </a:lnTo>
                <a:lnTo>
                  <a:pt x="5689457" y="50457"/>
                </a:lnTo>
                <a:lnTo>
                  <a:pt x="5824921" y="64407"/>
                </a:lnTo>
                <a:lnTo>
                  <a:pt x="5960384" y="80543"/>
                </a:lnTo>
                <a:lnTo>
                  <a:pt x="6095847" y="98390"/>
                </a:lnTo>
                <a:lnTo>
                  <a:pt x="6231310" y="117369"/>
                </a:lnTo>
                <a:lnTo>
                  <a:pt x="6366774" y="136826"/>
                </a:lnTo>
                <a:lnTo>
                  <a:pt x="6502237" y="156066"/>
                </a:lnTo>
                <a:lnTo>
                  <a:pt x="6637700" y="174397"/>
                </a:lnTo>
                <a:lnTo>
                  <a:pt x="6773164" y="191162"/>
                </a:lnTo>
                <a:lnTo>
                  <a:pt x="6908627" y="205782"/>
                </a:lnTo>
                <a:lnTo>
                  <a:pt x="7044090" y="217784"/>
                </a:lnTo>
                <a:lnTo>
                  <a:pt x="7179553" y="226827"/>
                </a:lnTo>
                <a:lnTo>
                  <a:pt x="7315017" y="232720"/>
                </a:lnTo>
                <a:lnTo>
                  <a:pt x="7450480" y="235424"/>
                </a:lnTo>
                <a:lnTo>
                  <a:pt x="7585943" y="235057"/>
                </a:lnTo>
                <a:lnTo>
                  <a:pt x="7721406" y="231872"/>
                </a:lnTo>
                <a:lnTo>
                  <a:pt x="7856870" y="226244"/>
                </a:lnTo>
                <a:lnTo>
                  <a:pt x="7992333" y="218632"/>
                </a:lnTo>
                <a:lnTo>
                  <a:pt x="8127796" y="209557"/>
                </a:lnTo>
                <a:lnTo>
                  <a:pt x="8263260" y="199555"/>
                </a:lnTo>
                <a:lnTo>
                  <a:pt x="8398723" y="189147"/>
                </a:lnTo>
                <a:lnTo>
                  <a:pt x="8534186" y="178801"/>
                </a:lnTo>
                <a:lnTo>
                  <a:pt x="8669649" y="168908"/>
                </a:lnTo>
                <a:lnTo>
                  <a:pt x="8805113" y="159754"/>
                </a:lnTo>
                <a:lnTo>
                  <a:pt x="8940576" y="151510"/>
                </a:lnTo>
                <a:lnTo>
                  <a:pt x="9076039" y="144224"/>
                </a:lnTo>
                <a:lnTo>
                  <a:pt x="9211503" y="137828"/>
                </a:lnTo>
                <a:lnTo>
                  <a:pt x="9346966" y="132152"/>
                </a:lnTo>
                <a:lnTo>
                  <a:pt x="9482429" y="126943"/>
                </a:lnTo>
                <a:lnTo>
                  <a:pt x="9617892" y="121894"/>
                </a:lnTo>
                <a:lnTo>
                  <a:pt x="9753356" y="116677"/>
                </a:lnTo>
                <a:lnTo>
                  <a:pt x="9888819" y="110975"/>
                </a:lnTo>
                <a:lnTo>
                  <a:pt x="10024282" y="104513"/>
                </a:lnTo>
                <a:lnTo>
                  <a:pt x="10159746" y="97095"/>
                </a:lnTo>
                <a:lnTo>
                  <a:pt x="10295209" y="88617"/>
                </a:lnTo>
                <a:lnTo>
                  <a:pt x="10430672" y="79094"/>
                </a:lnTo>
                <a:lnTo>
                  <a:pt x="10566135" y="68661"/>
                </a:lnTo>
                <a:lnTo>
                  <a:pt x="10701599" y="57573"/>
                </a:lnTo>
                <a:lnTo>
                  <a:pt x="10837062" y="46197"/>
                </a:lnTo>
                <a:lnTo>
                  <a:pt x="10972525" y="34990"/>
                </a:lnTo>
                <a:lnTo>
                  <a:pt x="11107988" y="24471"/>
                </a:lnTo>
                <a:lnTo>
                  <a:pt x="11243452" y="15192"/>
                </a:lnTo>
                <a:lnTo>
                  <a:pt x="11378915" y="7698"/>
                </a:lnTo>
                <a:lnTo>
                  <a:pt x="11514378" y="2492"/>
                </a:lnTo>
                <a:lnTo>
                  <a:pt x="11649842" y="0"/>
                </a:lnTo>
                <a:lnTo>
                  <a:pt x="11785305" y="541"/>
                </a:lnTo>
                <a:lnTo>
                  <a:pt x="11920768" y="4298"/>
                </a:lnTo>
                <a:lnTo>
                  <a:pt x="12056231" y="11307"/>
                </a:lnTo>
                <a:lnTo>
                  <a:pt x="12191695" y="21447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0" y="6600998"/>
            <a:ext cx="12191695" cy="238322"/>
          </a:xfrm>
          <a:custGeom>
            <a:avLst/>
            <a:gdLst/>
            <a:ahLst/>
            <a:cxnLst/>
            <a:rect l="l" t="t" r="r" b="b"/>
            <a:pathLst>
              <a:path w="12191695" h="238322">
                <a:moveTo>
                  <a:pt x="0" y="190722"/>
                </a:moveTo>
                <a:lnTo>
                  <a:pt x="135463" y="204821"/>
                </a:lnTo>
                <a:lnTo>
                  <a:pt x="270926" y="217096"/>
                </a:lnTo>
                <a:lnTo>
                  <a:pt x="406389" y="226989"/>
                </a:lnTo>
                <a:lnTo>
                  <a:pt x="541853" y="234032"/>
                </a:lnTo>
                <a:lnTo>
                  <a:pt x="677316" y="237878"/>
                </a:lnTo>
                <a:lnTo>
                  <a:pt x="812779" y="238322"/>
                </a:lnTo>
                <a:lnTo>
                  <a:pt x="948242" y="235314"/>
                </a:lnTo>
                <a:lnTo>
                  <a:pt x="1083706" y="228966"/>
                </a:lnTo>
                <a:lnTo>
                  <a:pt x="1219169" y="219541"/>
                </a:lnTo>
                <a:lnTo>
                  <a:pt x="1354632" y="207444"/>
                </a:lnTo>
                <a:lnTo>
                  <a:pt x="1490096" y="193188"/>
                </a:lnTo>
                <a:lnTo>
                  <a:pt x="1625559" y="177371"/>
                </a:lnTo>
                <a:lnTo>
                  <a:pt x="1761022" y="160636"/>
                </a:lnTo>
                <a:lnTo>
                  <a:pt x="1896485" y="143634"/>
                </a:lnTo>
                <a:lnTo>
                  <a:pt x="2031949" y="126985"/>
                </a:lnTo>
                <a:lnTo>
                  <a:pt x="2167412" y="111244"/>
                </a:lnTo>
                <a:lnTo>
                  <a:pt x="2302875" y="96871"/>
                </a:lnTo>
                <a:lnTo>
                  <a:pt x="2438339" y="84207"/>
                </a:lnTo>
                <a:lnTo>
                  <a:pt x="2573802" y="73462"/>
                </a:lnTo>
                <a:lnTo>
                  <a:pt x="2709265" y="64709"/>
                </a:lnTo>
                <a:lnTo>
                  <a:pt x="2844728" y="57891"/>
                </a:lnTo>
                <a:lnTo>
                  <a:pt x="2980192" y="52834"/>
                </a:lnTo>
                <a:lnTo>
                  <a:pt x="3115655" y="49267"/>
                </a:lnTo>
                <a:lnTo>
                  <a:pt x="3251118" y="46856"/>
                </a:lnTo>
                <a:lnTo>
                  <a:pt x="3386582" y="45231"/>
                </a:lnTo>
                <a:lnTo>
                  <a:pt x="3522045" y="44024"/>
                </a:lnTo>
                <a:lnTo>
                  <a:pt x="3657508" y="42902"/>
                </a:lnTo>
                <a:lnTo>
                  <a:pt x="3792971" y="41593"/>
                </a:lnTo>
                <a:lnTo>
                  <a:pt x="3928435" y="39916"/>
                </a:lnTo>
                <a:lnTo>
                  <a:pt x="4063898" y="37794"/>
                </a:lnTo>
                <a:lnTo>
                  <a:pt x="4199361" y="35264"/>
                </a:lnTo>
                <a:lnTo>
                  <a:pt x="4334824" y="32476"/>
                </a:lnTo>
                <a:lnTo>
                  <a:pt x="4470288" y="29683"/>
                </a:lnTo>
                <a:lnTo>
                  <a:pt x="4605751" y="27220"/>
                </a:lnTo>
                <a:lnTo>
                  <a:pt x="4741214" y="25484"/>
                </a:lnTo>
                <a:lnTo>
                  <a:pt x="4876678" y="24895"/>
                </a:lnTo>
                <a:lnTo>
                  <a:pt x="5012141" y="25867"/>
                </a:lnTo>
                <a:lnTo>
                  <a:pt x="5147604" y="28771"/>
                </a:lnTo>
                <a:lnTo>
                  <a:pt x="5283067" y="33905"/>
                </a:lnTo>
                <a:lnTo>
                  <a:pt x="5418531" y="41460"/>
                </a:lnTo>
                <a:lnTo>
                  <a:pt x="5553994" y="51504"/>
                </a:lnTo>
                <a:lnTo>
                  <a:pt x="5689457" y="63964"/>
                </a:lnTo>
                <a:lnTo>
                  <a:pt x="5824921" y="78622"/>
                </a:lnTo>
                <a:lnTo>
                  <a:pt x="5960384" y="95124"/>
                </a:lnTo>
                <a:lnTo>
                  <a:pt x="6095847" y="112989"/>
                </a:lnTo>
                <a:lnTo>
                  <a:pt x="6231310" y="131639"/>
                </a:lnTo>
                <a:lnTo>
                  <a:pt x="6366774" y="150423"/>
                </a:lnTo>
                <a:lnTo>
                  <a:pt x="6502237" y="168658"/>
                </a:lnTo>
                <a:lnTo>
                  <a:pt x="6637700" y="185665"/>
                </a:lnTo>
                <a:lnTo>
                  <a:pt x="6773164" y="200809"/>
                </a:lnTo>
                <a:lnTo>
                  <a:pt x="6908627" y="213535"/>
                </a:lnTo>
                <a:lnTo>
                  <a:pt x="7044090" y="223398"/>
                </a:lnTo>
                <a:lnTo>
                  <a:pt x="7179553" y="230090"/>
                </a:lnTo>
                <a:lnTo>
                  <a:pt x="7315017" y="233454"/>
                </a:lnTo>
                <a:lnTo>
                  <a:pt x="7450480" y="233492"/>
                </a:lnTo>
                <a:lnTo>
                  <a:pt x="7585943" y="230359"/>
                </a:lnTo>
                <a:lnTo>
                  <a:pt x="7721406" y="224353"/>
                </a:lnTo>
                <a:lnTo>
                  <a:pt x="7856870" y="215888"/>
                </a:lnTo>
                <a:lnTo>
                  <a:pt x="7992333" y="205470"/>
                </a:lnTo>
                <a:lnTo>
                  <a:pt x="8127796" y="193658"/>
                </a:lnTo>
                <a:lnTo>
                  <a:pt x="8263260" y="181033"/>
                </a:lnTo>
                <a:lnTo>
                  <a:pt x="8398723" y="168153"/>
                </a:lnTo>
                <a:lnTo>
                  <a:pt x="8534186" y="155526"/>
                </a:lnTo>
                <a:lnTo>
                  <a:pt x="8669649" y="143575"/>
                </a:lnTo>
                <a:lnTo>
                  <a:pt x="8805113" y="132618"/>
                </a:lnTo>
                <a:lnTo>
                  <a:pt x="8940576" y="122852"/>
                </a:lnTo>
                <a:lnTo>
                  <a:pt x="9076039" y="114351"/>
                </a:lnTo>
                <a:lnTo>
                  <a:pt x="9211503" y="107063"/>
                </a:lnTo>
                <a:lnTo>
                  <a:pt x="9346966" y="100832"/>
                </a:lnTo>
                <a:lnTo>
                  <a:pt x="9482429" y="95413"/>
                </a:lnTo>
                <a:lnTo>
                  <a:pt x="9617892" y="90502"/>
                </a:lnTo>
                <a:lnTo>
                  <a:pt x="9753356" y="85770"/>
                </a:lnTo>
                <a:lnTo>
                  <a:pt x="9888819" y="80892"/>
                </a:lnTo>
                <a:lnTo>
                  <a:pt x="10024282" y="75582"/>
                </a:lnTo>
                <a:lnTo>
                  <a:pt x="10159746" y="69623"/>
                </a:lnTo>
                <a:lnTo>
                  <a:pt x="10295209" y="62893"/>
                </a:lnTo>
                <a:lnTo>
                  <a:pt x="10430672" y="55378"/>
                </a:lnTo>
                <a:lnTo>
                  <a:pt x="10566135" y="47183"/>
                </a:lnTo>
                <a:lnTo>
                  <a:pt x="10701599" y="38531"/>
                </a:lnTo>
                <a:lnTo>
                  <a:pt x="10837062" y="29751"/>
                </a:lnTo>
                <a:lnTo>
                  <a:pt x="10972525" y="21260"/>
                </a:lnTo>
                <a:lnTo>
                  <a:pt x="11107988" y="13537"/>
                </a:lnTo>
                <a:lnTo>
                  <a:pt x="11243452" y="7091"/>
                </a:lnTo>
                <a:lnTo>
                  <a:pt x="11378915" y="2425"/>
                </a:lnTo>
                <a:lnTo>
                  <a:pt x="11514378" y="0"/>
                </a:lnTo>
                <a:lnTo>
                  <a:pt x="11649842" y="198"/>
                </a:lnTo>
                <a:lnTo>
                  <a:pt x="11785305" y="3299"/>
                </a:lnTo>
                <a:lnTo>
                  <a:pt x="11920768" y="9446"/>
                </a:lnTo>
                <a:lnTo>
                  <a:pt x="12056231" y="18641"/>
                </a:lnTo>
                <a:lnTo>
                  <a:pt x="12191695" y="30728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46304"/>
            <a:ext cx="11283696" cy="44805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系统架构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722376"/>
            <a:ext cx="585216" cy="41148"/>
          </a:xfrm>
          <a:prstGeom prst="rect">
            <a:avLst/>
          </a:prstGeom>
          <a:solidFill>
            <a:srgbClr val="EE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649224"/>
            <a:ext cx="10469880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2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HiAgent组织专业任务，平台提供权威与执行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292608"/>
            <a:ext cx="896112" cy="20116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HiAgent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6647688"/>
            <a:ext cx="10241280" cy="1280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7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企业数据智能体建设规划  /  规划视图  /  2026.10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629400"/>
            <a:ext cx="585216" cy="17373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08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" y="1065275"/>
            <a:ext cx="3657600" cy="4745736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1480" y="1033271"/>
            <a:ext cx="3657600" cy="4745736"/>
          </a:xfrm>
          <a:prstGeom prst="roundRect">
            <a:avLst>
              <a:gd name="adj" fmla="val 5500"/>
            </a:avLst>
          </a:prstGeom>
          <a:solidFill>
            <a:srgbClr val="F5FA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1152143"/>
            <a:ext cx="3328416" cy="31089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HiAgent · 智能服务域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6072" y="1563624"/>
            <a:ext cx="3328416" cy="0"/>
          </a:xfrm>
          <a:prstGeom prst="line">
            <a:avLst/>
          </a:prstGeom>
          <a:ln w="8890">
            <a:solidFill>
              <a:srgbClr val="D4E7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293108" y="1065275"/>
            <a:ext cx="3200400" cy="4745736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70248" y="1033271"/>
            <a:ext cx="3200400" cy="4745736"/>
          </a:xfrm>
          <a:prstGeom prst="roundRect">
            <a:avLst>
              <a:gd name="adj" fmla="val 5500"/>
            </a:avLst>
          </a:prstGeom>
          <a:solidFill>
            <a:srgbClr val="F5FA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1152143"/>
            <a:ext cx="2871216" cy="31089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本项目 · 内容与服务适配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434840" y="1563624"/>
            <a:ext cx="2871216" cy="0"/>
          </a:xfrm>
          <a:prstGeom prst="line">
            <a:avLst/>
          </a:prstGeom>
          <a:ln w="8890">
            <a:solidFill>
              <a:srgbClr val="D4E7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859268" y="1065275"/>
            <a:ext cx="3941063" cy="4745736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36408" y="1033271"/>
            <a:ext cx="3941063" cy="4745736"/>
          </a:xfrm>
          <a:prstGeom prst="roundRect">
            <a:avLst>
              <a:gd name="adj" fmla="val 5500"/>
            </a:avLst>
          </a:prstGeom>
          <a:solidFill>
            <a:srgbClr val="F5FA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1152143"/>
            <a:ext cx="3611879" cy="31089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既有系统 · 权威与执行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001000" y="1563624"/>
            <a:ext cx="3611880" cy="0"/>
          </a:xfrm>
          <a:prstGeom prst="line">
            <a:avLst/>
          </a:prstGeom>
          <a:ln w="8890">
            <a:solidFill>
              <a:srgbClr val="D4E7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" y="1796795"/>
            <a:ext cx="3291840" cy="1078992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4360" y="1764792"/>
            <a:ext cx="3291840" cy="1078992"/>
          </a:xfrm>
          <a:prstGeom prst="roundRect">
            <a:avLst>
              <a:gd name="adj" fmla="val 5500"/>
            </a:avLst>
          </a:prstGeom>
          <a:solidFill>
            <a:srgbClr val="EAF5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0664" y="1911095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" y="1847088"/>
            <a:ext cx="2898648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专业Agent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2322576"/>
            <a:ext cx="2926080" cy="420623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规划 / 引用同级Agent / 汇总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" y="3186684"/>
            <a:ext cx="3291840" cy="896112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94360" y="3154680"/>
            <a:ext cx="329184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0664" y="3300984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3236976"/>
            <a:ext cx="2898648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规则与资源引用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3712464"/>
            <a:ext cx="2926080" cy="23774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提示词 / SKILL / 知识 / 数据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" y="4402836"/>
            <a:ext cx="3291840" cy="896112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94360" y="4370832"/>
            <a:ext cx="329184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0664" y="4517136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" y="4453128"/>
            <a:ext cx="2898648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平台能力复用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4928616"/>
            <a:ext cx="2926080" cy="23774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会话 / 检索 / 数据工具接入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75988" y="1796795"/>
            <a:ext cx="2834640" cy="1078992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453128" y="1764792"/>
            <a:ext cx="2834640" cy="10789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99432" y="1911095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09160" y="1847088"/>
            <a:ext cx="2441448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内容供给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36008" y="2322576"/>
            <a:ext cx="2468880" cy="420623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语义 / 指标 / 规范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知识索引 / 查询数据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75988" y="3186684"/>
            <a:ext cx="2834640" cy="2112264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453128" y="3154680"/>
            <a:ext cx="2834640" cy="21122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626772" y="3724442"/>
            <a:ext cx="469087" cy="8339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4694529" y="3323112"/>
            <a:ext cx="333573" cy="88605"/>
          </a:xfrm>
          <a:custGeom>
            <a:avLst/>
            <a:gdLst/>
            <a:ahLst/>
            <a:cxnLst/>
            <a:rect l="l" t="t" r="r" b="b"/>
            <a:pathLst>
              <a:path w="333573" h="88605">
                <a:moveTo>
                  <a:pt x="0" y="36485"/>
                </a:moveTo>
                <a:lnTo>
                  <a:pt x="271028" y="0"/>
                </a:lnTo>
                <a:lnTo>
                  <a:pt x="333573" y="46909"/>
                </a:lnTo>
                <a:lnTo>
                  <a:pt x="62545" y="88605"/>
                </a:lnTo>
                <a:close/>
              </a:path>
            </a:pathLst>
          </a:custGeom>
          <a:solidFill>
            <a:srgbClr val="B1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4965557" y="3323112"/>
            <a:ext cx="62545" cy="370058"/>
          </a:xfrm>
          <a:custGeom>
            <a:avLst/>
            <a:gdLst/>
            <a:ahLst/>
            <a:cxnLst/>
            <a:rect l="l" t="t" r="r" b="b"/>
            <a:pathLst>
              <a:path w="62545" h="370058">
                <a:moveTo>
                  <a:pt x="0" y="0"/>
                </a:moveTo>
                <a:lnTo>
                  <a:pt x="62545" y="46909"/>
                </a:lnTo>
                <a:lnTo>
                  <a:pt x="62545" y="370058"/>
                </a:lnTo>
                <a:lnTo>
                  <a:pt x="0" y="333573"/>
                </a:lnTo>
                <a:close/>
              </a:path>
            </a:pathLst>
          </a:custGeom>
          <a:solidFill>
            <a:srgbClr val="147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4694529" y="3323112"/>
            <a:ext cx="271028" cy="375270"/>
          </a:xfrm>
          <a:custGeom>
            <a:avLst/>
            <a:gdLst/>
            <a:ahLst/>
            <a:cxnLst/>
            <a:rect l="l" t="t" r="r" b="b"/>
            <a:pathLst>
              <a:path w="271028" h="375270">
                <a:moveTo>
                  <a:pt x="0" y="36485"/>
                </a:moveTo>
                <a:lnTo>
                  <a:pt x="271028" y="0"/>
                </a:lnTo>
                <a:lnTo>
                  <a:pt x="271028" y="333573"/>
                </a:lnTo>
                <a:lnTo>
                  <a:pt x="0" y="375270"/>
                </a:lnTo>
                <a:close/>
              </a:path>
            </a:pathLst>
          </a:custGeom>
          <a:solidFill>
            <a:srgbClr val="52B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 flipV="1">
            <a:off x="4741438" y="3427354"/>
            <a:ext cx="171998" cy="2606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741438" y="3500323"/>
            <a:ext cx="171998" cy="2606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4741438" y="3573292"/>
            <a:ext cx="171998" cy="2606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767498" y="3536807"/>
            <a:ext cx="52121" cy="52121"/>
          </a:xfrm>
          <a:prstGeom prst="line">
            <a:avLst/>
          </a:prstGeom>
          <a:ln w="254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819619" y="3463838"/>
            <a:ext cx="104242" cy="125090"/>
          </a:xfrm>
          <a:prstGeom prst="line">
            <a:avLst/>
          </a:prstGeom>
          <a:ln w="254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230368" y="3328416"/>
            <a:ext cx="1901952" cy="3931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服务适配与验证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4059936"/>
            <a:ext cx="2414016" cy="113385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身份与接口契约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版本 / 结果 / 异常核对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API或适配工具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042148" y="1796795"/>
            <a:ext cx="3575304" cy="941832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019288" y="1764792"/>
            <a:ext cx="3575304" cy="9418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165592" y="1911095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75319" y="1847088"/>
            <a:ext cx="3182112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资产平台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02167" y="2322576"/>
            <a:ext cx="3209544" cy="28346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目录 / 指标 / 血缘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042148" y="2967228"/>
            <a:ext cx="3575304" cy="941832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019288" y="2935224"/>
            <a:ext cx="3575304" cy="9418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165592" y="3081528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75319" y="3017520"/>
            <a:ext cx="3182112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开发与调度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02167" y="3493008"/>
            <a:ext cx="3209544" cy="28346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代码 / 调试 / 运行日志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42148" y="4137660"/>
            <a:ext cx="3575304" cy="941832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8019288" y="4105656"/>
            <a:ext cx="3575304" cy="9418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165592" y="4251960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75319" y="4187952"/>
            <a:ext cx="3182112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质量工具与计算引擎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02167" y="4663440"/>
            <a:ext cx="3209544" cy="28346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质量检查 / 受控计算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3922776" y="2304288"/>
            <a:ext cx="310896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4175205" y="2304288"/>
            <a:ext cx="58467" cy="35845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 flipV="1">
            <a:off x="4175205" y="2268442"/>
            <a:ext cx="58467" cy="3584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922776" y="3602736"/>
            <a:ext cx="310896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4175205" y="3602736"/>
            <a:ext cx="58467" cy="35845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 flipV="1">
            <a:off x="4175205" y="3566890"/>
            <a:ext cx="58467" cy="3584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507224" y="4224528"/>
            <a:ext cx="164592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671816" y="2240280"/>
            <a:ext cx="0" cy="1984248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71816" y="2240280"/>
            <a:ext cx="310896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>
            <a:off x="7924245" y="2240280"/>
            <a:ext cx="58467" cy="35845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H="1" flipV="1">
            <a:off x="7924245" y="2204434"/>
            <a:ext cx="58467" cy="3584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671816" y="3419856"/>
            <a:ext cx="310896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7924245" y="3419856"/>
            <a:ext cx="58467" cy="35845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 flipV="1">
            <a:off x="7924245" y="3384010"/>
            <a:ext cx="58467" cy="3584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7671816" y="4590288"/>
            <a:ext cx="310896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7924245" y="4590288"/>
            <a:ext cx="58467" cy="35845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H="1" flipV="1">
            <a:off x="7924245" y="4554442"/>
            <a:ext cx="58467" cy="3584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461772" y="6112764"/>
            <a:ext cx="11247120" cy="33832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438912" y="6080760"/>
            <a:ext cx="11247120" cy="338328"/>
          </a:xfrm>
          <a:prstGeom prst="roundRect">
            <a:avLst>
              <a:gd name="adj" fmla="val 5500"/>
            </a:avLst>
          </a:prstGeom>
          <a:solidFill>
            <a:srgbClr val="EEF7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85216" y="6117336"/>
            <a:ext cx="10954512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权威定义留在原平台；知识副本保留来源与版本；数据和作业在原平台受控执行。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6346471"/>
            <a:ext cx="12191695" cy="235953"/>
          </a:xfrm>
          <a:custGeom>
            <a:avLst/>
            <a:gdLst/>
            <a:ahLst/>
            <a:cxnLst/>
            <a:rect l="l" t="t" r="r" b="b"/>
            <a:pathLst>
              <a:path w="12191695" h="235953">
                <a:moveTo>
                  <a:pt x="0" y="127481"/>
                </a:moveTo>
                <a:lnTo>
                  <a:pt x="135463" y="147046"/>
                </a:lnTo>
                <a:lnTo>
                  <a:pt x="270926" y="165914"/>
                </a:lnTo>
                <a:lnTo>
                  <a:pt x="406389" y="183426"/>
                </a:lnTo>
                <a:lnTo>
                  <a:pt x="541853" y="199000"/>
                </a:lnTo>
                <a:lnTo>
                  <a:pt x="677316" y="212159"/>
                </a:lnTo>
                <a:lnTo>
                  <a:pt x="812779" y="222557"/>
                </a:lnTo>
                <a:lnTo>
                  <a:pt x="948242" y="229995"/>
                </a:lnTo>
                <a:lnTo>
                  <a:pt x="1083706" y="234426"/>
                </a:lnTo>
                <a:lnTo>
                  <a:pt x="1219169" y="235953"/>
                </a:lnTo>
                <a:lnTo>
                  <a:pt x="1354632" y="234812"/>
                </a:lnTo>
                <a:lnTo>
                  <a:pt x="1490096" y="231352"/>
                </a:lnTo>
                <a:lnTo>
                  <a:pt x="1625559" y="226009"/>
                </a:lnTo>
                <a:lnTo>
                  <a:pt x="1761022" y="219267"/>
                </a:lnTo>
                <a:lnTo>
                  <a:pt x="1896485" y="211626"/>
                </a:lnTo>
                <a:lnTo>
                  <a:pt x="2031949" y="203564"/>
                </a:lnTo>
                <a:lnTo>
                  <a:pt x="2167412" y="195508"/>
                </a:lnTo>
                <a:lnTo>
                  <a:pt x="2302875" y="187800"/>
                </a:lnTo>
                <a:lnTo>
                  <a:pt x="2438339" y="180682"/>
                </a:lnTo>
                <a:lnTo>
                  <a:pt x="2573802" y="174280"/>
                </a:lnTo>
                <a:lnTo>
                  <a:pt x="2709265" y="168601"/>
                </a:lnTo>
                <a:lnTo>
                  <a:pt x="2844728" y="163541"/>
                </a:lnTo>
                <a:lnTo>
                  <a:pt x="2980192" y="158900"/>
                </a:lnTo>
                <a:lnTo>
                  <a:pt x="3115655" y="154402"/>
                </a:lnTo>
                <a:lnTo>
                  <a:pt x="3251118" y="149724"/>
                </a:lnTo>
                <a:lnTo>
                  <a:pt x="3386582" y="144534"/>
                </a:lnTo>
                <a:lnTo>
                  <a:pt x="3522045" y="138515"/>
                </a:lnTo>
                <a:lnTo>
                  <a:pt x="3657508" y="131408"/>
                </a:lnTo>
                <a:lnTo>
                  <a:pt x="3792971" y="123031"/>
                </a:lnTo>
                <a:lnTo>
                  <a:pt x="3928435" y="113309"/>
                </a:lnTo>
                <a:lnTo>
                  <a:pt x="4063898" y="102287"/>
                </a:lnTo>
                <a:lnTo>
                  <a:pt x="4199361" y="90138"/>
                </a:lnTo>
                <a:lnTo>
                  <a:pt x="4334824" y="77155"/>
                </a:lnTo>
                <a:lnTo>
                  <a:pt x="4470288" y="63745"/>
                </a:lnTo>
                <a:lnTo>
                  <a:pt x="4605751" y="50406"/>
                </a:lnTo>
                <a:lnTo>
                  <a:pt x="4741214" y="37696"/>
                </a:lnTo>
                <a:lnTo>
                  <a:pt x="4876678" y="26202"/>
                </a:lnTo>
                <a:lnTo>
                  <a:pt x="5012141" y="16503"/>
                </a:lnTo>
                <a:lnTo>
                  <a:pt x="5147604" y="9131"/>
                </a:lnTo>
                <a:lnTo>
                  <a:pt x="5283067" y="4538"/>
                </a:lnTo>
                <a:lnTo>
                  <a:pt x="5418531" y="3064"/>
                </a:lnTo>
                <a:lnTo>
                  <a:pt x="5553994" y="4912"/>
                </a:lnTo>
                <a:lnTo>
                  <a:pt x="5689457" y="10132"/>
                </a:lnTo>
                <a:lnTo>
                  <a:pt x="5824921" y="18617"/>
                </a:lnTo>
                <a:lnTo>
                  <a:pt x="5960384" y="30106"/>
                </a:lnTo>
                <a:lnTo>
                  <a:pt x="6095847" y="44193"/>
                </a:lnTo>
                <a:lnTo>
                  <a:pt x="6231310" y="60357"/>
                </a:lnTo>
                <a:lnTo>
                  <a:pt x="6366774" y="77984"/>
                </a:lnTo>
                <a:lnTo>
                  <a:pt x="6502237" y="96410"/>
                </a:lnTo>
                <a:lnTo>
                  <a:pt x="6637700" y="114953"/>
                </a:lnTo>
                <a:lnTo>
                  <a:pt x="6773164" y="132954"/>
                </a:lnTo>
                <a:lnTo>
                  <a:pt x="6908627" y="149814"/>
                </a:lnTo>
                <a:lnTo>
                  <a:pt x="7044090" y="165027"/>
                </a:lnTo>
                <a:lnTo>
                  <a:pt x="7179553" y="178204"/>
                </a:lnTo>
                <a:lnTo>
                  <a:pt x="7315017" y="189090"/>
                </a:lnTo>
                <a:lnTo>
                  <a:pt x="7450480" y="197574"/>
                </a:lnTo>
                <a:lnTo>
                  <a:pt x="7585943" y="203682"/>
                </a:lnTo>
                <a:lnTo>
                  <a:pt x="7721406" y="207573"/>
                </a:lnTo>
                <a:lnTo>
                  <a:pt x="7856870" y="209512"/>
                </a:lnTo>
                <a:lnTo>
                  <a:pt x="7992333" y="209848"/>
                </a:lnTo>
                <a:lnTo>
                  <a:pt x="8127796" y="208978"/>
                </a:lnTo>
                <a:lnTo>
                  <a:pt x="8263260" y="207316"/>
                </a:lnTo>
                <a:lnTo>
                  <a:pt x="8398723" y="205256"/>
                </a:lnTo>
                <a:lnTo>
                  <a:pt x="8534186" y="203141"/>
                </a:lnTo>
                <a:lnTo>
                  <a:pt x="8669649" y="201238"/>
                </a:lnTo>
                <a:lnTo>
                  <a:pt x="8805113" y="199711"/>
                </a:lnTo>
                <a:lnTo>
                  <a:pt x="8940576" y="198616"/>
                </a:lnTo>
                <a:lnTo>
                  <a:pt x="9076039" y="197894"/>
                </a:lnTo>
                <a:lnTo>
                  <a:pt x="9211503" y="197378"/>
                </a:lnTo>
                <a:lnTo>
                  <a:pt x="9346966" y="196808"/>
                </a:lnTo>
                <a:lnTo>
                  <a:pt x="9482429" y="195855"/>
                </a:lnTo>
                <a:lnTo>
                  <a:pt x="9617892" y="194147"/>
                </a:lnTo>
                <a:lnTo>
                  <a:pt x="9753356" y="191305"/>
                </a:lnTo>
                <a:lnTo>
                  <a:pt x="9888819" y="186977"/>
                </a:lnTo>
                <a:lnTo>
                  <a:pt x="10024282" y="180869"/>
                </a:lnTo>
                <a:lnTo>
                  <a:pt x="10159746" y="172776"/>
                </a:lnTo>
                <a:lnTo>
                  <a:pt x="10295209" y="162608"/>
                </a:lnTo>
                <a:lnTo>
                  <a:pt x="10430672" y="150402"/>
                </a:lnTo>
                <a:lnTo>
                  <a:pt x="10566135" y="136335"/>
                </a:lnTo>
                <a:lnTo>
                  <a:pt x="10701599" y="120717"/>
                </a:lnTo>
                <a:lnTo>
                  <a:pt x="10837062" y="103984"/>
                </a:lnTo>
                <a:lnTo>
                  <a:pt x="10972525" y="86673"/>
                </a:lnTo>
                <a:lnTo>
                  <a:pt x="11107988" y="69396"/>
                </a:lnTo>
                <a:lnTo>
                  <a:pt x="11243452" y="52806"/>
                </a:lnTo>
                <a:lnTo>
                  <a:pt x="11378915" y="37558"/>
                </a:lnTo>
                <a:lnTo>
                  <a:pt x="11514378" y="24274"/>
                </a:lnTo>
                <a:lnTo>
                  <a:pt x="11649842" y="13501"/>
                </a:lnTo>
                <a:lnTo>
                  <a:pt x="11785305" y="5683"/>
                </a:lnTo>
                <a:lnTo>
                  <a:pt x="11920768" y="1129"/>
                </a:lnTo>
                <a:lnTo>
                  <a:pt x="12056231" y="0"/>
                </a:lnTo>
                <a:lnTo>
                  <a:pt x="12191695" y="2300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6405649"/>
            <a:ext cx="12191695" cy="245182"/>
          </a:xfrm>
          <a:custGeom>
            <a:avLst/>
            <a:gdLst/>
            <a:ahLst/>
            <a:cxnLst/>
            <a:rect l="l" t="t" r="r" b="b"/>
            <a:pathLst>
              <a:path w="12191695" h="245182">
                <a:moveTo>
                  <a:pt x="0" y="150669"/>
                </a:moveTo>
                <a:lnTo>
                  <a:pt x="135463" y="169737"/>
                </a:lnTo>
                <a:lnTo>
                  <a:pt x="270926" y="187768"/>
                </a:lnTo>
                <a:lnTo>
                  <a:pt x="406389" y="204118"/>
                </a:lnTo>
                <a:lnTo>
                  <a:pt x="541853" y="218220"/>
                </a:lnTo>
                <a:lnTo>
                  <a:pt x="677316" y="229621"/>
                </a:lnTo>
                <a:lnTo>
                  <a:pt x="812779" y="238002"/>
                </a:lnTo>
                <a:lnTo>
                  <a:pt x="948242" y="243193"/>
                </a:lnTo>
                <a:lnTo>
                  <a:pt x="1083706" y="245182"/>
                </a:lnTo>
                <a:lnTo>
                  <a:pt x="1219169" y="244108"/>
                </a:lnTo>
                <a:lnTo>
                  <a:pt x="1354632" y="240247"/>
                </a:lnTo>
                <a:lnTo>
                  <a:pt x="1490096" y="233989"/>
                </a:lnTo>
                <a:lnTo>
                  <a:pt x="1625559" y="225812"/>
                </a:lnTo>
                <a:lnTo>
                  <a:pt x="1761022" y="216243"/>
                </a:lnTo>
                <a:lnTo>
                  <a:pt x="1896485" y="205824"/>
                </a:lnTo>
                <a:lnTo>
                  <a:pt x="2031949" y="195076"/>
                </a:lnTo>
                <a:lnTo>
                  <a:pt x="2167412" y="184466"/>
                </a:lnTo>
                <a:lnTo>
                  <a:pt x="2302875" y="174375"/>
                </a:lnTo>
                <a:lnTo>
                  <a:pt x="2438339" y="165080"/>
                </a:lnTo>
                <a:lnTo>
                  <a:pt x="2573802" y="156740"/>
                </a:lnTo>
                <a:lnTo>
                  <a:pt x="2709265" y="149392"/>
                </a:lnTo>
                <a:lnTo>
                  <a:pt x="2844728" y="142958"/>
                </a:lnTo>
                <a:lnTo>
                  <a:pt x="2980192" y="137257"/>
                </a:lnTo>
                <a:lnTo>
                  <a:pt x="3115655" y="132030"/>
                </a:lnTo>
                <a:lnTo>
                  <a:pt x="3251118" y="126965"/>
                </a:lnTo>
                <a:lnTo>
                  <a:pt x="3386582" y="121734"/>
                </a:lnTo>
                <a:lnTo>
                  <a:pt x="3522045" y="116024"/>
                </a:lnTo>
                <a:lnTo>
                  <a:pt x="3657508" y="109568"/>
                </a:lnTo>
                <a:lnTo>
                  <a:pt x="3792971" y="102177"/>
                </a:lnTo>
                <a:lnTo>
                  <a:pt x="3928435" y="93759"/>
                </a:lnTo>
                <a:lnTo>
                  <a:pt x="4063898" y="84341"/>
                </a:lnTo>
                <a:lnTo>
                  <a:pt x="4199361" y="74069"/>
                </a:lnTo>
                <a:lnTo>
                  <a:pt x="4334824" y="63211"/>
                </a:lnTo>
                <a:lnTo>
                  <a:pt x="4470288" y="52141"/>
                </a:lnTo>
                <a:lnTo>
                  <a:pt x="4605751" y="41320"/>
                </a:lnTo>
                <a:lnTo>
                  <a:pt x="4741214" y="31269"/>
                </a:lnTo>
                <a:lnTo>
                  <a:pt x="4876678" y="22536"/>
                </a:lnTo>
                <a:lnTo>
                  <a:pt x="5012141" y="15656"/>
                </a:lnTo>
                <a:lnTo>
                  <a:pt x="5147604" y="11120"/>
                </a:lnTo>
                <a:lnTo>
                  <a:pt x="5283067" y="9338"/>
                </a:lnTo>
                <a:lnTo>
                  <a:pt x="5418531" y="10605"/>
                </a:lnTo>
                <a:lnTo>
                  <a:pt x="5553994" y="15085"/>
                </a:lnTo>
                <a:lnTo>
                  <a:pt x="5689457" y="22787"/>
                </a:lnTo>
                <a:lnTo>
                  <a:pt x="5824921" y="33567"/>
                </a:lnTo>
                <a:lnTo>
                  <a:pt x="5960384" y="47128"/>
                </a:lnTo>
                <a:lnTo>
                  <a:pt x="6095847" y="63035"/>
                </a:lnTo>
                <a:lnTo>
                  <a:pt x="6231310" y="80738"/>
                </a:lnTo>
                <a:lnTo>
                  <a:pt x="6366774" y="99601"/>
                </a:lnTo>
                <a:lnTo>
                  <a:pt x="6502237" y="118939"/>
                </a:lnTo>
                <a:lnTo>
                  <a:pt x="6637700" y="138058"/>
                </a:lnTo>
                <a:lnTo>
                  <a:pt x="6773164" y="156290"/>
                </a:lnTo>
                <a:lnTo>
                  <a:pt x="6908627" y="173034"/>
                </a:lnTo>
                <a:lnTo>
                  <a:pt x="7044090" y="187783"/>
                </a:lnTo>
                <a:lnTo>
                  <a:pt x="7179553" y="200156"/>
                </a:lnTo>
                <a:lnTo>
                  <a:pt x="7315017" y="209912"/>
                </a:lnTo>
                <a:lnTo>
                  <a:pt x="7450480" y="216953"/>
                </a:lnTo>
                <a:lnTo>
                  <a:pt x="7585943" y="221331"/>
                </a:lnTo>
                <a:lnTo>
                  <a:pt x="7721406" y="223229"/>
                </a:lnTo>
                <a:lnTo>
                  <a:pt x="7856870" y="222943"/>
                </a:lnTo>
                <a:lnTo>
                  <a:pt x="7992333" y="220854"/>
                </a:lnTo>
                <a:lnTo>
                  <a:pt x="8127796" y="217398"/>
                </a:lnTo>
                <a:lnTo>
                  <a:pt x="8263260" y="213025"/>
                </a:lnTo>
                <a:lnTo>
                  <a:pt x="8398723" y="208173"/>
                </a:lnTo>
                <a:lnTo>
                  <a:pt x="8534186" y="203226"/>
                </a:lnTo>
                <a:lnTo>
                  <a:pt x="8669649" y="198493"/>
                </a:lnTo>
                <a:lnTo>
                  <a:pt x="8805113" y="194182"/>
                </a:lnTo>
                <a:lnTo>
                  <a:pt x="8940576" y="190390"/>
                </a:lnTo>
                <a:lnTo>
                  <a:pt x="9076039" y="187099"/>
                </a:lnTo>
                <a:lnTo>
                  <a:pt x="9211503" y="184181"/>
                </a:lnTo>
                <a:lnTo>
                  <a:pt x="9346966" y="181412"/>
                </a:lnTo>
                <a:lnTo>
                  <a:pt x="9482429" y="178496"/>
                </a:lnTo>
                <a:lnTo>
                  <a:pt x="9617892" y="175092"/>
                </a:lnTo>
                <a:lnTo>
                  <a:pt x="9753356" y="170845"/>
                </a:lnTo>
                <a:lnTo>
                  <a:pt x="9888819" y="165425"/>
                </a:lnTo>
                <a:lnTo>
                  <a:pt x="10024282" y="158555"/>
                </a:lnTo>
                <a:lnTo>
                  <a:pt x="10159746" y="150040"/>
                </a:lnTo>
                <a:lnTo>
                  <a:pt x="10295209" y="139797"/>
                </a:lnTo>
                <a:lnTo>
                  <a:pt x="10430672" y="127865"/>
                </a:lnTo>
                <a:lnTo>
                  <a:pt x="10566135" y="114415"/>
                </a:lnTo>
                <a:lnTo>
                  <a:pt x="10701599" y="99751"/>
                </a:lnTo>
                <a:lnTo>
                  <a:pt x="10837062" y="84291"/>
                </a:lnTo>
                <a:lnTo>
                  <a:pt x="10972525" y="68554"/>
                </a:lnTo>
                <a:lnTo>
                  <a:pt x="11107988" y="53129"/>
                </a:lnTo>
                <a:lnTo>
                  <a:pt x="11243452" y="38641"/>
                </a:lnTo>
                <a:lnTo>
                  <a:pt x="11378915" y="25713"/>
                </a:lnTo>
                <a:lnTo>
                  <a:pt x="11514378" y="14931"/>
                </a:lnTo>
                <a:lnTo>
                  <a:pt x="11649842" y="6805"/>
                </a:lnTo>
                <a:lnTo>
                  <a:pt x="11785305" y="1738"/>
                </a:lnTo>
                <a:lnTo>
                  <a:pt x="11920768" y="0"/>
                </a:lnTo>
                <a:lnTo>
                  <a:pt x="12056231" y="1708"/>
                </a:lnTo>
                <a:lnTo>
                  <a:pt x="12191695" y="6822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6467906"/>
            <a:ext cx="12191695" cy="248613"/>
          </a:xfrm>
          <a:custGeom>
            <a:avLst/>
            <a:gdLst/>
            <a:ahLst/>
            <a:cxnLst/>
            <a:rect l="l" t="t" r="r" b="b"/>
            <a:pathLst>
              <a:path w="12191695" h="248613">
                <a:moveTo>
                  <a:pt x="0" y="169572"/>
                </a:moveTo>
                <a:lnTo>
                  <a:pt x="135463" y="187517"/>
                </a:lnTo>
                <a:lnTo>
                  <a:pt x="270926" y="204116"/>
                </a:lnTo>
                <a:lnTo>
                  <a:pt x="406389" y="218744"/>
                </a:lnTo>
                <a:lnTo>
                  <a:pt x="541853" y="230861"/>
                </a:lnTo>
                <a:lnTo>
                  <a:pt x="677316" y="240043"/>
                </a:lnTo>
                <a:lnTo>
                  <a:pt x="812779" y="246004"/>
                </a:lnTo>
                <a:lnTo>
                  <a:pt x="948242" y="248613"/>
                </a:lnTo>
                <a:lnTo>
                  <a:pt x="1083706" y="247896"/>
                </a:lnTo>
                <a:lnTo>
                  <a:pt x="1219169" y="244031"/>
                </a:lnTo>
                <a:lnTo>
                  <a:pt x="1354632" y="237338"/>
                </a:lnTo>
                <a:lnTo>
                  <a:pt x="1490096" y="228250"/>
                </a:lnTo>
                <a:lnTo>
                  <a:pt x="1625559" y="217286"/>
                </a:lnTo>
                <a:lnTo>
                  <a:pt x="1761022" y="205017"/>
                </a:lnTo>
                <a:lnTo>
                  <a:pt x="1896485" y="192024"/>
                </a:lnTo>
                <a:lnTo>
                  <a:pt x="2031949" y="178869"/>
                </a:lnTo>
                <a:lnTo>
                  <a:pt x="2167412" y="166053"/>
                </a:lnTo>
                <a:lnTo>
                  <a:pt x="2302875" y="153992"/>
                </a:lnTo>
                <a:lnTo>
                  <a:pt x="2438339" y="142992"/>
                </a:lnTo>
                <a:lnTo>
                  <a:pt x="2573802" y="133239"/>
                </a:lnTo>
                <a:lnTo>
                  <a:pt x="2709265" y="124790"/>
                </a:lnTo>
                <a:lnTo>
                  <a:pt x="2844728" y="117583"/>
                </a:lnTo>
                <a:lnTo>
                  <a:pt x="2980192" y="111449"/>
                </a:lnTo>
                <a:lnTo>
                  <a:pt x="3115655" y="106137"/>
                </a:lnTo>
                <a:lnTo>
                  <a:pt x="3251118" y="101335"/>
                </a:lnTo>
                <a:lnTo>
                  <a:pt x="3386582" y="96713"/>
                </a:lnTo>
                <a:lnTo>
                  <a:pt x="3522045" y="91945"/>
                </a:lnTo>
                <a:lnTo>
                  <a:pt x="3657508" y="86753"/>
                </a:lnTo>
                <a:lnTo>
                  <a:pt x="3792971" y="80928"/>
                </a:lnTo>
                <a:lnTo>
                  <a:pt x="3928435" y="74354"/>
                </a:lnTo>
                <a:lnTo>
                  <a:pt x="4063898" y="67031"/>
                </a:lnTo>
                <a:lnTo>
                  <a:pt x="4199361" y="59072"/>
                </a:lnTo>
                <a:lnTo>
                  <a:pt x="4334824" y="50711"/>
                </a:lnTo>
                <a:lnTo>
                  <a:pt x="4470288" y="42285"/>
                </a:lnTo>
                <a:lnTo>
                  <a:pt x="4605751" y="34213"/>
                </a:lnTo>
                <a:lnTo>
                  <a:pt x="4741214" y="26977"/>
                </a:lnTo>
                <a:lnTo>
                  <a:pt x="4876678" y="21080"/>
                </a:lnTo>
                <a:lnTo>
                  <a:pt x="5012141" y="17016"/>
                </a:lnTo>
                <a:lnTo>
                  <a:pt x="5147604" y="15233"/>
                </a:lnTo>
                <a:lnTo>
                  <a:pt x="5283067" y="16099"/>
                </a:lnTo>
                <a:lnTo>
                  <a:pt x="5418531" y="19870"/>
                </a:lnTo>
                <a:lnTo>
                  <a:pt x="5553994" y="26670"/>
                </a:lnTo>
                <a:lnTo>
                  <a:pt x="5689457" y="36475"/>
                </a:lnTo>
                <a:lnTo>
                  <a:pt x="5824921" y="49109"/>
                </a:lnTo>
                <a:lnTo>
                  <a:pt x="5960384" y="64247"/>
                </a:lnTo>
                <a:lnTo>
                  <a:pt x="6095847" y="81430"/>
                </a:lnTo>
                <a:lnTo>
                  <a:pt x="6231310" y="100088"/>
                </a:lnTo>
                <a:lnTo>
                  <a:pt x="6366774" y="119571"/>
                </a:lnTo>
                <a:lnTo>
                  <a:pt x="6502237" y="139187"/>
                </a:lnTo>
                <a:lnTo>
                  <a:pt x="6637700" y="158234"/>
                </a:lnTo>
                <a:lnTo>
                  <a:pt x="6773164" y="176047"/>
                </a:lnTo>
                <a:lnTo>
                  <a:pt x="6908627" y="192030"/>
                </a:lnTo>
                <a:lnTo>
                  <a:pt x="7044090" y="205690"/>
                </a:lnTo>
                <a:lnTo>
                  <a:pt x="7179553" y="216660"/>
                </a:lnTo>
                <a:lnTo>
                  <a:pt x="7315017" y="224721"/>
                </a:lnTo>
                <a:lnTo>
                  <a:pt x="7450480" y="229802"/>
                </a:lnTo>
                <a:lnTo>
                  <a:pt x="7585943" y="231983"/>
                </a:lnTo>
                <a:lnTo>
                  <a:pt x="7721406" y="231480"/>
                </a:lnTo>
                <a:lnTo>
                  <a:pt x="7856870" y="228626"/>
                </a:lnTo>
                <a:lnTo>
                  <a:pt x="7992333" y="223841"/>
                </a:lnTo>
                <a:lnTo>
                  <a:pt x="8127796" y="217601"/>
                </a:lnTo>
                <a:lnTo>
                  <a:pt x="8263260" y="210399"/>
                </a:lnTo>
                <a:lnTo>
                  <a:pt x="8398723" y="202714"/>
                </a:lnTo>
                <a:lnTo>
                  <a:pt x="8534186" y="194975"/>
                </a:lnTo>
                <a:lnTo>
                  <a:pt x="8669649" y="187531"/>
                </a:lnTo>
                <a:lnTo>
                  <a:pt x="8805113" y="180631"/>
                </a:lnTo>
                <a:lnTo>
                  <a:pt x="8940576" y="174414"/>
                </a:lnTo>
                <a:lnTo>
                  <a:pt x="9076039" y="168896"/>
                </a:lnTo>
                <a:lnTo>
                  <a:pt x="9211503" y="163983"/>
                </a:lnTo>
                <a:lnTo>
                  <a:pt x="9346966" y="159481"/>
                </a:lnTo>
                <a:lnTo>
                  <a:pt x="9482429" y="155122"/>
                </a:lnTo>
                <a:lnTo>
                  <a:pt x="9617892" y="150584"/>
                </a:lnTo>
                <a:lnTo>
                  <a:pt x="9753356" y="145531"/>
                </a:lnTo>
                <a:lnTo>
                  <a:pt x="9888819" y="139645"/>
                </a:lnTo>
                <a:lnTo>
                  <a:pt x="10024282" y="132654"/>
                </a:lnTo>
                <a:lnTo>
                  <a:pt x="10159746" y="124369"/>
                </a:lnTo>
                <a:lnTo>
                  <a:pt x="10295209" y="114699"/>
                </a:lnTo>
                <a:lnTo>
                  <a:pt x="10430672" y="103677"/>
                </a:lnTo>
                <a:lnTo>
                  <a:pt x="10566135" y="91461"/>
                </a:lnTo>
                <a:lnTo>
                  <a:pt x="10701599" y="78333"/>
                </a:lnTo>
                <a:lnTo>
                  <a:pt x="10837062" y="64691"/>
                </a:lnTo>
                <a:lnTo>
                  <a:pt x="10972525" y="51025"/>
                </a:lnTo>
                <a:lnTo>
                  <a:pt x="11107988" y="37893"/>
                </a:lnTo>
                <a:lnTo>
                  <a:pt x="11243452" y="25885"/>
                </a:lnTo>
                <a:lnTo>
                  <a:pt x="11378915" y="15588"/>
                </a:lnTo>
                <a:lnTo>
                  <a:pt x="11514378" y="7547"/>
                </a:lnTo>
                <a:lnTo>
                  <a:pt x="11649842" y="2231"/>
                </a:lnTo>
                <a:lnTo>
                  <a:pt x="11785305" y="0"/>
                </a:lnTo>
                <a:lnTo>
                  <a:pt x="11920768" y="1082"/>
                </a:lnTo>
                <a:lnTo>
                  <a:pt x="12056231" y="5551"/>
                </a:lnTo>
                <a:lnTo>
                  <a:pt x="12191695" y="13326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0" y="6533113"/>
            <a:ext cx="12191695" cy="246124"/>
          </a:xfrm>
          <a:custGeom>
            <a:avLst/>
            <a:gdLst/>
            <a:ahLst/>
            <a:cxnLst/>
            <a:rect l="l" t="t" r="r" b="b"/>
            <a:pathLst>
              <a:path w="12191695" h="246124">
                <a:moveTo>
                  <a:pt x="0" y="183172"/>
                </a:moveTo>
                <a:lnTo>
                  <a:pt x="135463" y="199432"/>
                </a:lnTo>
                <a:lnTo>
                  <a:pt x="270926" y="214077"/>
                </a:lnTo>
                <a:lnTo>
                  <a:pt x="406389" y="226514"/>
                </a:lnTo>
                <a:lnTo>
                  <a:pt x="541853" y="236236"/>
                </a:lnTo>
                <a:lnTo>
                  <a:pt x="677316" y="242855"/>
                </a:lnTo>
                <a:lnTo>
                  <a:pt x="812779" y="246124"/>
                </a:lnTo>
                <a:lnTo>
                  <a:pt x="948242" y="245951"/>
                </a:lnTo>
                <a:lnTo>
                  <a:pt x="1083706" y="242404"/>
                </a:lnTo>
                <a:lnTo>
                  <a:pt x="1219169" y="235707"/>
                </a:lnTo>
                <a:lnTo>
                  <a:pt x="1354632" y="226219"/>
                </a:lnTo>
                <a:lnTo>
                  <a:pt x="1490096" y="214417"/>
                </a:lnTo>
                <a:lnTo>
                  <a:pt x="1625559" y="200862"/>
                </a:lnTo>
                <a:lnTo>
                  <a:pt x="1761022" y="186161"/>
                </a:lnTo>
                <a:lnTo>
                  <a:pt x="1896485" y="170935"/>
                </a:lnTo>
                <a:lnTo>
                  <a:pt x="2031949" y="155777"/>
                </a:lnTo>
                <a:lnTo>
                  <a:pt x="2167412" y="141221"/>
                </a:lnTo>
                <a:lnTo>
                  <a:pt x="2302875" y="127707"/>
                </a:lnTo>
                <a:lnTo>
                  <a:pt x="2438339" y="115564"/>
                </a:lnTo>
                <a:lnTo>
                  <a:pt x="2573802" y="104994"/>
                </a:lnTo>
                <a:lnTo>
                  <a:pt x="2709265" y="96068"/>
                </a:lnTo>
                <a:lnTo>
                  <a:pt x="2844728" y="88731"/>
                </a:lnTo>
                <a:lnTo>
                  <a:pt x="2980192" y="82816"/>
                </a:lnTo>
                <a:lnTo>
                  <a:pt x="3115655" y="78067"/>
                </a:lnTo>
                <a:lnTo>
                  <a:pt x="3251118" y="74166"/>
                </a:lnTo>
                <a:lnTo>
                  <a:pt x="3386582" y="70766"/>
                </a:lnTo>
                <a:lnTo>
                  <a:pt x="3522045" y="67527"/>
                </a:lnTo>
                <a:lnTo>
                  <a:pt x="3657508" y="64145"/>
                </a:lnTo>
                <a:lnTo>
                  <a:pt x="3792971" y="60383"/>
                </a:lnTo>
                <a:lnTo>
                  <a:pt x="3928435" y="56096"/>
                </a:lnTo>
                <a:lnTo>
                  <a:pt x="4063898" y="51248"/>
                </a:lnTo>
                <a:lnTo>
                  <a:pt x="4199361" y="45917"/>
                </a:lnTo>
                <a:lnTo>
                  <a:pt x="4334824" y="40294"/>
                </a:lnTo>
                <a:lnTo>
                  <a:pt x="4470288" y="34675"/>
                </a:lnTo>
                <a:lnTo>
                  <a:pt x="4605751" y="29440"/>
                </a:lnTo>
                <a:lnTo>
                  <a:pt x="4741214" y="25025"/>
                </a:lnTo>
                <a:lnTo>
                  <a:pt x="4876678" y="21891"/>
                </a:lnTo>
                <a:lnTo>
                  <a:pt x="5012141" y="20491"/>
                </a:lnTo>
                <a:lnTo>
                  <a:pt x="5147604" y="21233"/>
                </a:lnTo>
                <a:lnTo>
                  <a:pt x="5283067" y="24445"/>
                </a:lnTo>
                <a:lnTo>
                  <a:pt x="5418531" y="30349"/>
                </a:lnTo>
                <a:lnTo>
                  <a:pt x="5553994" y="39037"/>
                </a:lnTo>
                <a:lnTo>
                  <a:pt x="5689457" y="50457"/>
                </a:lnTo>
                <a:lnTo>
                  <a:pt x="5824921" y="64407"/>
                </a:lnTo>
                <a:lnTo>
                  <a:pt x="5960384" y="80543"/>
                </a:lnTo>
                <a:lnTo>
                  <a:pt x="6095847" y="98390"/>
                </a:lnTo>
                <a:lnTo>
                  <a:pt x="6231310" y="117369"/>
                </a:lnTo>
                <a:lnTo>
                  <a:pt x="6366774" y="136826"/>
                </a:lnTo>
                <a:lnTo>
                  <a:pt x="6502237" y="156066"/>
                </a:lnTo>
                <a:lnTo>
                  <a:pt x="6637700" y="174397"/>
                </a:lnTo>
                <a:lnTo>
                  <a:pt x="6773164" y="191162"/>
                </a:lnTo>
                <a:lnTo>
                  <a:pt x="6908627" y="205782"/>
                </a:lnTo>
                <a:lnTo>
                  <a:pt x="7044090" y="217784"/>
                </a:lnTo>
                <a:lnTo>
                  <a:pt x="7179553" y="226827"/>
                </a:lnTo>
                <a:lnTo>
                  <a:pt x="7315017" y="232720"/>
                </a:lnTo>
                <a:lnTo>
                  <a:pt x="7450480" y="235424"/>
                </a:lnTo>
                <a:lnTo>
                  <a:pt x="7585943" y="235057"/>
                </a:lnTo>
                <a:lnTo>
                  <a:pt x="7721406" y="231872"/>
                </a:lnTo>
                <a:lnTo>
                  <a:pt x="7856870" y="226244"/>
                </a:lnTo>
                <a:lnTo>
                  <a:pt x="7992333" y="218632"/>
                </a:lnTo>
                <a:lnTo>
                  <a:pt x="8127796" y="209557"/>
                </a:lnTo>
                <a:lnTo>
                  <a:pt x="8263260" y="199555"/>
                </a:lnTo>
                <a:lnTo>
                  <a:pt x="8398723" y="189147"/>
                </a:lnTo>
                <a:lnTo>
                  <a:pt x="8534186" y="178801"/>
                </a:lnTo>
                <a:lnTo>
                  <a:pt x="8669649" y="168908"/>
                </a:lnTo>
                <a:lnTo>
                  <a:pt x="8805113" y="159754"/>
                </a:lnTo>
                <a:lnTo>
                  <a:pt x="8940576" y="151510"/>
                </a:lnTo>
                <a:lnTo>
                  <a:pt x="9076039" y="144224"/>
                </a:lnTo>
                <a:lnTo>
                  <a:pt x="9211503" y="137828"/>
                </a:lnTo>
                <a:lnTo>
                  <a:pt x="9346966" y="132152"/>
                </a:lnTo>
                <a:lnTo>
                  <a:pt x="9482429" y="126943"/>
                </a:lnTo>
                <a:lnTo>
                  <a:pt x="9617892" y="121894"/>
                </a:lnTo>
                <a:lnTo>
                  <a:pt x="9753356" y="116677"/>
                </a:lnTo>
                <a:lnTo>
                  <a:pt x="9888819" y="110975"/>
                </a:lnTo>
                <a:lnTo>
                  <a:pt x="10024282" y="104513"/>
                </a:lnTo>
                <a:lnTo>
                  <a:pt x="10159746" y="97095"/>
                </a:lnTo>
                <a:lnTo>
                  <a:pt x="10295209" y="88617"/>
                </a:lnTo>
                <a:lnTo>
                  <a:pt x="10430672" y="79094"/>
                </a:lnTo>
                <a:lnTo>
                  <a:pt x="10566135" y="68661"/>
                </a:lnTo>
                <a:lnTo>
                  <a:pt x="10701599" y="57573"/>
                </a:lnTo>
                <a:lnTo>
                  <a:pt x="10837062" y="46197"/>
                </a:lnTo>
                <a:lnTo>
                  <a:pt x="10972525" y="34990"/>
                </a:lnTo>
                <a:lnTo>
                  <a:pt x="11107988" y="24471"/>
                </a:lnTo>
                <a:lnTo>
                  <a:pt x="11243452" y="15192"/>
                </a:lnTo>
                <a:lnTo>
                  <a:pt x="11378915" y="7698"/>
                </a:lnTo>
                <a:lnTo>
                  <a:pt x="11514378" y="2492"/>
                </a:lnTo>
                <a:lnTo>
                  <a:pt x="11649842" y="0"/>
                </a:lnTo>
                <a:lnTo>
                  <a:pt x="11785305" y="541"/>
                </a:lnTo>
                <a:lnTo>
                  <a:pt x="11920768" y="4298"/>
                </a:lnTo>
                <a:lnTo>
                  <a:pt x="12056231" y="11307"/>
                </a:lnTo>
                <a:lnTo>
                  <a:pt x="12191695" y="21447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0" y="6600998"/>
            <a:ext cx="12191695" cy="238322"/>
          </a:xfrm>
          <a:custGeom>
            <a:avLst/>
            <a:gdLst/>
            <a:ahLst/>
            <a:cxnLst/>
            <a:rect l="l" t="t" r="r" b="b"/>
            <a:pathLst>
              <a:path w="12191695" h="238322">
                <a:moveTo>
                  <a:pt x="0" y="190722"/>
                </a:moveTo>
                <a:lnTo>
                  <a:pt x="135463" y="204821"/>
                </a:lnTo>
                <a:lnTo>
                  <a:pt x="270926" y="217096"/>
                </a:lnTo>
                <a:lnTo>
                  <a:pt x="406389" y="226989"/>
                </a:lnTo>
                <a:lnTo>
                  <a:pt x="541853" y="234032"/>
                </a:lnTo>
                <a:lnTo>
                  <a:pt x="677316" y="237878"/>
                </a:lnTo>
                <a:lnTo>
                  <a:pt x="812779" y="238322"/>
                </a:lnTo>
                <a:lnTo>
                  <a:pt x="948242" y="235314"/>
                </a:lnTo>
                <a:lnTo>
                  <a:pt x="1083706" y="228966"/>
                </a:lnTo>
                <a:lnTo>
                  <a:pt x="1219169" y="219541"/>
                </a:lnTo>
                <a:lnTo>
                  <a:pt x="1354632" y="207444"/>
                </a:lnTo>
                <a:lnTo>
                  <a:pt x="1490096" y="193188"/>
                </a:lnTo>
                <a:lnTo>
                  <a:pt x="1625559" y="177371"/>
                </a:lnTo>
                <a:lnTo>
                  <a:pt x="1761022" y="160636"/>
                </a:lnTo>
                <a:lnTo>
                  <a:pt x="1896485" y="143634"/>
                </a:lnTo>
                <a:lnTo>
                  <a:pt x="2031949" y="126985"/>
                </a:lnTo>
                <a:lnTo>
                  <a:pt x="2167412" y="111244"/>
                </a:lnTo>
                <a:lnTo>
                  <a:pt x="2302875" y="96871"/>
                </a:lnTo>
                <a:lnTo>
                  <a:pt x="2438339" y="84207"/>
                </a:lnTo>
                <a:lnTo>
                  <a:pt x="2573802" y="73462"/>
                </a:lnTo>
                <a:lnTo>
                  <a:pt x="2709265" y="64709"/>
                </a:lnTo>
                <a:lnTo>
                  <a:pt x="2844728" y="57891"/>
                </a:lnTo>
                <a:lnTo>
                  <a:pt x="2980192" y="52834"/>
                </a:lnTo>
                <a:lnTo>
                  <a:pt x="3115655" y="49267"/>
                </a:lnTo>
                <a:lnTo>
                  <a:pt x="3251118" y="46856"/>
                </a:lnTo>
                <a:lnTo>
                  <a:pt x="3386582" y="45231"/>
                </a:lnTo>
                <a:lnTo>
                  <a:pt x="3522045" y="44024"/>
                </a:lnTo>
                <a:lnTo>
                  <a:pt x="3657508" y="42902"/>
                </a:lnTo>
                <a:lnTo>
                  <a:pt x="3792971" y="41593"/>
                </a:lnTo>
                <a:lnTo>
                  <a:pt x="3928435" y="39916"/>
                </a:lnTo>
                <a:lnTo>
                  <a:pt x="4063898" y="37794"/>
                </a:lnTo>
                <a:lnTo>
                  <a:pt x="4199361" y="35264"/>
                </a:lnTo>
                <a:lnTo>
                  <a:pt x="4334824" y="32476"/>
                </a:lnTo>
                <a:lnTo>
                  <a:pt x="4470288" y="29683"/>
                </a:lnTo>
                <a:lnTo>
                  <a:pt x="4605751" y="27220"/>
                </a:lnTo>
                <a:lnTo>
                  <a:pt x="4741214" y="25484"/>
                </a:lnTo>
                <a:lnTo>
                  <a:pt x="4876678" y="24895"/>
                </a:lnTo>
                <a:lnTo>
                  <a:pt x="5012141" y="25867"/>
                </a:lnTo>
                <a:lnTo>
                  <a:pt x="5147604" y="28771"/>
                </a:lnTo>
                <a:lnTo>
                  <a:pt x="5283067" y="33905"/>
                </a:lnTo>
                <a:lnTo>
                  <a:pt x="5418531" y="41460"/>
                </a:lnTo>
                <a:lnTo>
                  <a:pt x="5553994" y="51504"/>
                </a:lnTo>
                <a:lnTo>
                  <a:pt x="5689457" y="63964"/>
                </a:lnTo>
                <a:lnTo>
                  <a:pt x="5824921" y="78622"/>
                </a:lnTo>
                <a:lnTo>
                  <a:pt x="5960384" y="95124"/>
                </a:lnTo>
                <a:lnTo>
                  <a:pt x="6095847" y="112989"/>
                </a:lnTo>
                <a:lnTo>
                  <a:pt x="6231310" y="131639"/>
                </a:lnTo>
                <a:lnTo>
                  <a:pt x="6366774" y="150423"/>
                </a:lnTo>
                <a:lnTo>
                  <a:pt x="6502237" y="168658"/>
                </a:lnTo>
                <a:lnTo>
                  <a:pt x="6637700" y="185665"/>
                </a:lnTo>
                <a:lnTo>
                  <a:pt x="6773164" y="200809"/>
                </a:lnTo>
                <a:lnTo>
                  <a:pt x="6908627" y="213535"/>
                </a:lnTo>
                <a:lnTo>
                  <a:pt x="7044090" y="223398"/>
                </a:lnTo>
                <a:lnTo>
                  <a:pt x="7179553" y="230090"/>
                </a:lnTo>
                <a:lnTo>
                  <a:pt x="7315017" y="233454"/>
                </a:lnTo>
                <a:lnTo>
                  <a:pt x="7450480" y="233492"/>
                </a:lnTo>
                <a:lnTo>
                  <a:pt x="7585943" y="230359"/>
                </a:lnTo>
                <a:lnTo>
                  <a:pt x="7721406" y="224353"/>
                </a:lnTo>
                <a:lnTo>
                  <a:pt x="7856870" y="215888"/>
                </a:lnTo>
                <a:lnTo>
                  <a:pt x="7992333" y="205470"/>
                </a:lnTo>
                <a:lnTo>
                  <a:pt x="8127796" y="193658"/>
                </a:lnTo>
                <a:lnTo>
                  <a:pt x="8263260" y="181033"/>
                </a:lnTo>
                <a:lnTo>
                  <a:pt x="8398723" y="168153"/>
                </a:lnTo>
                <a:lnTo>
                  <a:pt x="8534186" y="155526"/>
                </a:lnTo>
                <a:lnTo>
                  <a:pt x="8669649" y="143575"/>
                </a:lnTo>
                <a:lnTo>
                  <a:pt x="8805113" y="132618"/>
                </a:lnTo>
                <a:lnTo>
                  <a:pt x="8940576" y="122852"/>
                </a:lnTo>
                <a:lnTo>
                  <a:pt x="9076039" y="114351"/>
                </a:lnTo>
                <a:lnTo>
                  <a:pt x="9211503" y="107063"/>
                </a:lnTo>
                <a:lnTo>
                  <a:pt x="9346966" y="100832"/>
                </a:lnTo>
                <a:lnTo>
                  <a:pt x="9482429" y="95413"/>
                </a:lnTo>
                <a:lnTo>
                  <a:pt x="9617892" y="90502"/>
                </a:lnTo>
                <a:lnTo>
                  <a:pt x="9753356" y="85770"/>
                </a:lnTo>
                <a:lnTo>
                  <a:pt x="9888819" y="80892"/>
                </a:lnTo>
                <a:lnTo>
                  <a:pt x="10024282" y="75582"/>
                </a:lnTo>
                <a:lnTo>
                  <a:pt x="10159746" y="69623"/>
                </a:lnTo>
                <a:lnTo>
                  <a:pt x="10295209" y="62893"/>
                </a:lnTo>
                <a:lnTo>
                  <a:pt x="10430672" y="55378"/>
                </a:lnTo>
                <a:lnTo>
                  <a:pt x="10566135" y="47183"/>
                </a:lnTo>
                <a:lnTo>
                  <a:pt x="10701599" y="38531"/>
                </a:lnTo>
                <a:lnTo>
                  <a:pt x="10837062" y="29751"/>
                </a:lnTo>
                <a:lnTo>
                  <a:pt x="10972525" y="21260"/>
                </a:lnTo>
                <a:lnTo>
                  <a:pt x="11107988" y="13537"/>
                </a:lnTo>
                <a:lnTo>
                  <a:pt x="11243452" y="7091"/>
                </a:lnTo>
                <a:lnTo>
                  <a:pt x="11378915" y="2425"/>
                </a:lnTo>
                <a:lnTo>
                  <a:pt x="11514378" y="0"/>
                </a:lnTo>
                <a:lnTo>
                  <a:pt x="11649842" y="198"/>
                </a:lnTo>
                <a:lnTo>
                  <a:pt x="11785305" y="3299"/>
                </a:lnTo>
                <a:lnTo>
                  <a:pt x="11920768" y="9446"/>
                </a:lnTo>
                <a:lnTo>
                  <a:pt x="12056231" y="18641"/>
                </a:lnTo>
                <a:lnTo>
                  <a:pt x="12191695" y="30728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46304"/>
            <a:ext cx="11283696" cy="44805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平台分工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722376"/>
            <a:ext cx="585216" cy="41148"/>
          </a:xfrm>
          <a:prstGeom prst="rect">
            <a:avLst/>
          </a:prstGeom>
          <a:solidFill>
            <a:srgbClr val="EE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649224"/>
            <a:ext cx="10469880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2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智能体组织工作，原平台承担专业执行职责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292608"/>
            <a:ext cx="896112" cy="20116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HiAgent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6647688"/>
            <a:ext cx="10241280" cy="1280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7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企业数据智能体建设规划  /  规划视图  /  2026.10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629400"/>
            <a:ext cx="585216" cy="17373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09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19956" y="1083563"/>
            <a:ext cx="3785615" cy="1078992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97096" y="1051560"/>
            <a:ext cx="3785615" cy="1078992"/>
          </a:xfrm>
          <a:prstGeom prst="roundRect">
            <a:avLst>
              <a:gd name="adj" fmla="val 5500"/>
            </a:avLst>
          </a:prstGeom>
          <a:solidFill>
            <a:srgbClr val="EAF5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197863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1133856"/>
            <a:ext cx="3392423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专业Agent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9976" y="1609343"/>
            <a:ext cx="3419856" cy="420623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理解 / 规划 / 调用 / 核验 / 解释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89904" y="2167128"/>
            <a:ext cx="0" cy="365760"/>
          </a:xfrm>
          <a:prstGeom prst="line">
            <a:avLst/>
          </a:prstGeom>
          <a:ln w="11430">
            <a:solidFill>
              <a:srgbClr val="266D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2240280" y="2532888"/>
            <a:ext cx="3849624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240280" y="2532888"/>
            <a:ext cx="0" cy="301752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2204434" y="2776173"/>
            <a:ext cx="35846" cy="58467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40280" y="2776173"/>
            <a:ext cx="35845" cy="58467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89904" y="2532888"/>
            <a:ext cx="9144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99048" y="2532888"/>
            <a:ext cx="0" cy="301752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6063202" y="2776173"/>
            <a:ext cx="35846" cy="58467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099048" y="2776173"/>
            <a:ext cx="35845" cy="58467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89904" y="2532888"/>
            <a:ext cx="3867912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957816" y="2532888"/>
            <a:ext cx="0" cy="301752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9921970" y="2776173"/>
            <a:ext cx="35846" cy="58467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9957816" y="2776173"/>
            <a:ext cx="35845" cy="58467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34340" y="2903220"/>
            <a:ext cx="3657600" cy="118872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11480" y="2871216"/>
            <a:ext cx="3657600" cy="11887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7784" y="3017520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" y="2953512"/>
            <a:ext cx="3264408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数据资产平台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3429000"/>
            <a:ext cx="3291840" cy="53035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管理定义、资产与血缘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返回权威上下文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3108" y="2903220"/>
            <a:ext cx="3657600" cy="118872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270248" y="2871216"/>
            <a:ext cx="3657600" cy="11887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16552" y="3017520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26280" y="2953512"/>
            <a:ext cx="3264408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数据开发平台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53128" y="3429000"/>
            <a:ext cx="3291840" cy="53035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管理代码、调试与发布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执行研发与交付流程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51876" y="2903220"/>
            <a:ext cx="3657600" cy="118872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129016" y="2871216"/>
            <a:ext cx="3657600" cy="11887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75320" y="3017520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85048" y="2953512"/>
            <a:ext cx="3264408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数据调度平台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11896" y="3429000"/>
            <a:ext cx="3291840" cy="53035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管理任务、实例与日志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执行运行与恢复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4340" y="4439412"/>
            <a:ext cx="3657600" cy="118872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11480" y="4407408"/>
            <a:ext cx="3657600" cy="11887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57784" y="4553712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7512" y="4489704"/>
            <a:ext cx="3264408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质量工具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4965192"/>
            <a:ext cx="3291840" cy="53035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执行质量规则与检查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返回质量证据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93108" y="4439412"/>
            <a:ext cx="3657600" cy="118872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270248" y="4407408"/>
            <a:ext cx="3657600" cy="11887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416552" y="4553712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26280" y="4489704"/>
            <a:ext cx="3264408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血缘工具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53128" y="4965192"/>
            <a:ext cx="3291840" cy="53035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采集解析真实依赖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经资产平台提供服务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151876" y="4439412"/>
            <a:ext cx="3657600" cy="118872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129016" y="4407408"/>
            <a:ext cx="3657600" cy="11887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275320" y="4553712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85048" y="4489704"/>
            <a:ext cx="3264408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数仓与计算引擎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11896" y="4965192"/>
            <a:ext cx="3291840" cy="53035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按授权查询和计算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返回实际结果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61772" y="6112764"/>
            <a:ext cx="11247120" cy="33832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438912" y="6080760"/>
            <a:ext cx="11247120" cy="338328"/>
          </a:xfrm>
          <a:prstGeom prst="roundRect">
            <a:avLst>
              <a:gd name="adj" fmla="val 5500"/>
            </a:avLst>
          </a:prstGeom>
          <a:solidFill>
            <a:srgbClr val="EEF7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5216" y="6117336"/>
            <a:ext cx="10954512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人员确认业务口径与关键变更；Agent调用不转移平台的权限、发布及运行责任。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6346471"/>
            <a:ext cx="12191695" cy="235953"/>
          </a:xfrm>
          <a:custGeom>
            <a:avLst/>
            <a:gdLst/>
            <a:ahLst/>
            <a:cxnLst/>
            <a:rect l="l" t="t" r="r" b="b"/>
            <a:pathLst>
              <a:path w="12191695" h="235953">
                <a:moveTo>
                  <a:pt x="0" y="127481"/>
                </a:moveTo>
                <a:lnTo>
                  <a:pt x="135463" y="147046"/>
                </a:lnTo>
                <a:lnTo>
                  <a:pt x="270926" y="165914"/>
                </a:lnTo>
                <a:lnTo>
                  <a:pt x="406389" y="183426"/>
                </a:lnTo>
                <a:lnTo>
                  <a:pt x="541853" y="199000"/>
                </a:lnTo>
                <a:lnTo>
                  <a:pt x="677316" y="212159"/>
                </a:lnTo>
                <a:lnTo>
                  <a:pt x="812779" y="222557"/>
                </a:lnTo>
                <a:lnTo>
                  <a:pt x="948242" y="229995"/>
                </a:lnTo>
                <a:lnTo>
                  <a:pt x="1083706" y="234426"/>
                </a:lnTo>
                <a:lnTo>
                  <a:pt x="1219169" y="235953"/>
                </a:lnTo>
                <a:lnTo>
                  <a:pt x="1354632" y="234812"/>
                </a:lnTo>
                <a:lnTo>
                  <a:pt x="1490096" y="231352"/>
                </a:lnTo>
                <a:lnTo>
                  <a:pt x="1625559" y="226009"/>
                </a:lnTo>
                <a:lnTo>
                  <a:pt x="1761022" y="219267"/>
                </a:lnTo>
                <a:lnTo>
                  <a:pt x="1896485" y="211626"/>
                </a:lnTo>
                <a:lnTo>
                  <a:pt x="2031949" y="203564"/>
                </a:lnTo>
                <a:lnTo>
                  <a:pt x="2167412" y="195508"/>
                </a:lnTo>
                <a:lnTo>
                  <a:pt x="2302875" y="187800"/>
                </a:lnTo>
                <a:lnTo>
                  <a:pt x="2438339" y="180682"/>
                </a:lnTo>
                <a:lnTo>
                  <a:pt x="2573802" y="174280"/>
                </a:lnTo>
                <a:lnTo>
                  <a:pt x="2709265" y="168601"/>
                </a:lnTo>
                <a:lnTo>
                  <a:pt x="2844728" y="163541"/>
                </a:lnTo>
                <a:lnTo>
                  <a:pt x="2980192" y="158900"/>
                </a:lnTo>
                <a:lnTo>
                  <a:pt x="3115655" y="154402"/>
                </a:lnTo>
                <a:lnTo>
                  <a:pt x="3251118" y="149724"/>
                </a:lnTo>
                <a:lnTo>
                  <a:pt x="3386582" y="144534"/>
                </a:lnTo>
                <a:lnTo>
                  <a:pt x="3522045" y="138515"/>
                </a:lnTo>
                <a:lnTo>
                  <a:pt x="3657508" y="131408"/>
                </a:lnTo>
                <a:lnTo>
                  <a:pt x="3792971" y="123031"/>
                </a:lnTo>
                <a:lnTo>
                  <a:pt x="3928435" y="113309"/>
                </a:lnTo>
                <a:lnTo>
                  <a:pt x="4063898" y="102287"/>
                </a:lnTo>
                <a:lnTo>
                  <a:pt x="4199361" y="90138"/>
                </a:lnTo>
                <a:lnTo>
                  <a:pt x="4334824" y="77155"/>
                </a:lnTo>
                <a:lnTo>
                  <a:pt x="4470288" y="63745"/>
                </a:lnTo>
                <a:lnTo>
                  <a:pt x="4605751" y="50406"/>
                </a:lnTo>
                <a:lnTo>
                  <a:pt x="4741214" y="37696"/>
                </a:lnTo>
                <a:lnTo>
                  <a:pt x="4876678" y="26202"/>
                </a:lnTo>
                <a:lnTo>
                  <a:pt x="5012141" y="16503"/>
                </a:lnTo>
                <a:lnTo>
                  <a:pt x="5147604" y="9131"/>
                </a:lnTo>
                <a:lnTo>
                  <a:pt x="5283067" y="4538"/>
                </a:lnTo>
                <a:lnTo>
                  <a:pt x="5418531" y="3064"/>
                </a:lnTo>
                <a:lnTo>
                  <a:pt x="5553994" y="4912"/>
                </a:lnTo>
                <a:lnTo>
                  <a:pt x="5689457" y="10132"/>
                </a:lnTo>
                <a:lnTo>
                  <a:pt x="5824921" y="18617"/>
                </a:lnTo>
                <a:lnTo>
                  <a:pt x="5960384" y="30106"/>
                </a:lnTo>
                <a:lnTo>
                  <a:pt x="6095847" y="44193"/>
                </a:lnTo>
                <a:lnTo>
                  <a:pt x="6231310" y="60357"/>
                </a:lnTo>
                <a:lnTo>
                  <a:pt x="6366774" y="77984"/>
                </a:lnTo>
                <a:lnTo>
                  <a:pt x="6502237" y="96410"/>
                </a:lnTo>
                <a:lnTo>
                  <a:pt x="6637700" y="114953"/>
                </a:lnTo>
                <a:lnTo>
                  <a:pt x="6773164" y="132954"/>
                </a:lnTo>
                <a:lnTo>
                  <a:pt x="6908627" y="149814"/>
                </a:lnTo>
                <a:lnTo>
                  <a:pt x="7044090" y="165027"/>
                </a:lnTo>
                <a:lnTo>
                  <a:pt x="7179553" y="178204"/>
                </a:lnTo>
                <a:lnTo>
                  <a:pt x="7315017" y="189090"/>
                </a:lnTo>
                <a:lnTo>
                  <a:pt x="7450480" y="197574"/>
                </a:lnTo>
                <a:lnTo>
                  <a:pt x="7585943" y="203682"/>
                </a:lnTo>
                <a:lnTo>
                  <a:pt x="7721406" y="207573"/>
                </a:lnTo>
                <a:lnTo>
                  <a:pt x="7856870" y="209512"/>
                </a:lnTo>
                <a:lnTo>
                  <a:pt x="7992333" y="209848"/>
                </a:lnTo>
                <a:lnTo>
                  <a:pt x="8127796" y="208978"/>
                </a:lnTo>
                <a:lnTo>
                  <a:pt x="8263260" y="207316"/>
                </a:lnTo>
                <a:lnTo>
                  <a:pt x="8398723" y="205256"/>
                </a:lnTo>
                <a:lnTo>
                  <a:pt x="8534186" y="203141"/>
                </a:lnTo>
                <a:lnTo>
                  <a:pt x="8669649" y="201238"/>
                </a:lnTo>
                <a:lnTo>
                  <a:pt x="8805113" y="199711"/>
                </a:lnTo>
                <a:lnTo>
                  <a:pt x="8940576" y="198616"/>
                </a:lnTo>
                <a:lnTo>
                  <a:pt x="9076039" y="197894"/>
                </a:lnTo>
                <a:lnTo>
                  <a:pt x="9211503" y="197378"/>
                </a:lnTo>
                <a:lnTo>
                  <a:pt x="9346966" y="196808"/>
                </a:lnTo>
                <a:lnTo>
                  <a:pt x="9482429" y="195855"/>
                </a:lnTo>
                <a:lnTo>
                  <a:pt x="9617892" y="194147"/>
                </a:lnTo>
                <a:lnTo>
                  <a:pt x="9753356" y="191305"/>
                </a:lnTo>
                <a:lnTo>
                  <a:pt x="9888819" y="186977"/>
                </a:lnTo>
                <a:lnTo>
                  <a:pt x="10024282" y="180869"/>
                </a:lnTo>
                <a:lnTo>
                  <a:pt x="10159746" y="172776"/>
                </a:lnTo>
                <a:lnTo>
                  <a:pt x="10295209" y="162608"/>
                </a:lnTo>
                <a:lnTo>
                  <a:pt x="10430672" y="150402"/>
                </a:lnTo>
                <a:lnTo>
                  <a:pt x="10566135" y="136335"/>
                </a:lnTo>
                <a:lnTo>
                  <a:pt x="10701599" y="120717"/>
                </a:lnTo>
                <a:lnTo>
                  <a:pt x="10837062" y="103984"/>
                </a:lnTo>
                <a:lnTo>
                  <a:pt x="10972525" y="86673"/>
                </a:lnTo>
                <a:lnTo>
                  <a:pt x="11107988" y="69396"/>
                </a:lnTo>
                <a:lnTo>
                  <a:pt x="11243452" y="52806"/>
                </a:lnTo>
                <a:lnTo>
                  <a:pt x="11378915" y="37558"/>
                </a:lnTo>
                <a:lnTo>
                  <a:pt x="11514378" y="24274"/>
                </a:lnTo>
                <a:lnTo>
                  <a:pt x="11649842" y="13501"/>
                </a:lnTo>
                <a:lnTo>
                  <a:pt x="11785305" y="5683"/>
                </a:lnTo>
                <a:lnTo>
                  <a:pt x="11920768" y="1129"/>
                </a:lnTo>
                <a:lnTo>
                  <a:pt x="12056231" y="0"/>
                </a:lnTo>
                <a:lnTo>
                  <a:pt x="12191695" y="2300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6405649"/>
            <a:ext cx="12191695" cy="245182"/>
          </a:xfrm>
          <a:custGeom>
            <a:avLst/>
            <a:gdLst/>
            <a:ahLst/>
            <a:cxnLst/>
            <a:rect l="l" t="t" r="r" b="b"/>
            <a:pathLst>
              <a:path w="12191695" h="245182">
                <a:moveTo>
                  <a:pt x="0" y="150669"/>
                </a:moveTo>
                <a:lnTo>
                  <a:pt x="135463" y="169737"/>
                </a:lnTo>
                <a:lnTo>
                  <a:pt x="270926" y="187768"/>
                </a:lnTo>
                <a:lnTo>
                  <a:pt x="406389" y="204118"/>
                </a:lnTo>
                <a:lnTo>
                  <a:pt x="541853" y="218220"/>
                </a:lnTo>
                <a:lnTo>
                  <a:pt x="677316" y="229621"/>
                </a:lnTo>
                <a:lnTo>
                  <a:pt x="812779" y="238002"/>
                </a:lnTo>
                <a:lnTo>
                  <a:pt x="948242" y="243193"/>
                </a:lnTo>
                <a:lnTo>
                  <a:pt x="1083706" y="245182"/>
                </a:lnTo>
                <a:lnTo>
                  <a:pt x="1219169" y="244108"/>
                </a:lnTo>
                <a:lnTo>
                  <a:pt x="1354632" y="240247"/>
                </a:lnTo>
                <a:lnTo>
                  <a:pt x="1490096" y="233989"/>
                </a:lnTo>
                <a:lnTo>
                  <a:pt x="1625559" y="225812"/>
                </a:lnTo>
                <a:lnTo>
                  <a:pt x="1761022" y="216243"/>
                </a:lnTo>
                <a:lnTo>
                  <a:pt x="1896485" y="205824"/>
                </a:lnTo>
                <a:lnTo>
                  <a:pt x="2031949" y="195076"/>
                </a:lnTo>
                <a:lnTo>
                  <a:pt x="2167412" y="184466"/>
                </a:lnTo>
                <a:lnTo>
                  <a:pt x="2302875" y="174375"/>
                </a:lnTo>
                <a:lnTo>
                  <a:pt x="2438339" y="165080"/>
                </a:lnTo>
                <a:lnTo>
                  <a:pt x="2573802" y="156740"/>
                </a:lnTo>
                <a:lnTo>
                  <a:pt x="2709265" y="149392"/>
                </a:lnTo>
                <a:lnTo>
                  <a:pt x="2844728" y="142958"/>
                </a:lnTo>
                <a:lnTo>
                  <a:pt x="2980192" y="137257"/>
                </a:lnTo>
                <a:lnTo>
                  <a:pt x="3115655" y="132030"/>
                </a:lnTo>
                <a:lnTo>
                  <a:pt x="3251118" y="126965"/>
                </a:lnTo>
                <a:lnTo>
                  <a:pt x="3386582" y="121734"/>
                </a:lnTo>
                <a:lnTo>
                  <a:pt x="3522045" y="116024"/>
                </a:lnTo>
                <a:lnTo>
                  <a:pt x="3657508" y="109568"/>
                </a:lnTo>
                <a:lnTo>
                  <a:pt x="3792971" y="102177"/>
                </a:lnTo>
                <a:lnTo>
                  <a:pt x="3928435" y="93759"/>
                </a:lnTo>
                <a:lnTo>
                  <a:pt x="4063898" y="84341"/>
                </a:lnTo>
                <a:lnTo>
                  <a:pt x="4199361" y="74069"/>
                </a:lnTo>
                <a:lnTo>
                  <a:pt x="4334824" y="63211"/>
                </a:lnTo>
                <a:lnTo>
                  <a:pt x="4470288" y="52141"/>
                </a:lnTo>
                <a:lnTo>
                  <a:pt x="4605751" y="41320"/>
                </a:lnTo>
                <a:lnTo>
                  <a:pt x="4741214" y="31269"/>
                </a:lnTo>
                <a:lnTo>
                  <a:pt x="4876678" y="22536"/>
                </a:lnTo>
                <a:lnTo>
                  <a:pt x="5012141" y="15656"/>
                </a:lnTo>
                <a:lnTo>
                  <a:pt x="5147604" y="11120"/>
                </a:lnTo>
                <a:lnTo>
                  <a:pt x="5283067" y="9338"/>
                </a:lnTo>
                <a:lnTo>
                  <a:pt x="5418531" y="10605"/>
                </a:lnTo>
                <a:lnTo>
                  <a:pt x="5553994" y="15085"/>
                </a:lnTo>
                <a:lnTo>
                  <a:pt x="5689457" y="22787"/>
                </a:lnTo>
                <a:lnTo>
                  <a:pt x="5824921" y="33567"/>
                </a:lnTo>
                <a:lnTo>
                  <a:pt x="5960384" y="47128"/>
                </a:lnTo>
                <a:lnTo>
                  <a:pt x="6095847" y="63035"/>
                </a:lnTo>
                <a:lnTo>
                  <a:pt x="6231310" y="80738"/>
                </a:lnTo>
                <a:lnTo>
                  <a:pt x="6366774" y="99601"/>
                </a:lnTo>
                <a:lnTo>
                  <a:pt x="6502237" y="118939"/>
                </a:lnTo>
                <a:lnTo>
                  <a:pt x="6637700" y="138058"/>
                </a:lnTo>
                <a:lnTo>
                  <a:pt x="6773164" y="156290"/>
                </a:lnTo>
                <a:lnTo>
                  <a:pt x="6908627" y="173034"/>
                </a:lnTo>
                <a:lnTo>
                  <a:pt x="7044090" y="187783"/>
                </a:lnTo>
                <a:lnTo>
                  <a:pt x="7179553" y="200156"/>
                </a:lnTo>
                <a:lnTo>
                  <a:pt x="7315017" y="209912"/>
                </a:lnTo>
                <a:lnTo>
                  <a:pt x="7450480" y="216953"/>
                </a:lnTo>
                <a:lnTo>
                  <a:pt x="7585943" y="221331"/>
                </a:lnTo>
                <a:lnTo>
                  <a:pt x="7721406" y="223229"/>
                </a:lnTo>
                <a:lnTo>
                  <a:pt x="7856870" y="222943"/>
                </a:lnTo>
                <a:lnTo>
                  <a:pt x="7992333" y="220854"/>
                </a:lnTo>
                <a:lnTo>
                  <a:pt x="8127796" y="217398"/>
                </a:lnTo>
                <a:lnTo>
                  <a:pt x="8263260" y="213025"/>
                </a:lnTo>
                <a:lnTo>
                  <a:pt x="8398723" y="208173"/>
                </a:lnTo>
                <a:lnTo>
                  <a:pt x="8534186" y="203226"/>
                </a:lnTo>
                <a:lnTo>
                  <a:pt x="8669649" y="198493"/>
                </a:lnTo>
                <a:lnTo>
                  <a:pt x="8805113" y="194182"/>
                </a:lnTo>
                <a:lnTo>
                  <a:pt x="8940576" y="190390"/>
                </a:lnTo>
                <a:lnTo>
                  <a:pt x="9076039" y="187099"/>
                </a:lnTo>
                <a:lnTo>
                  <a:pt x="9211503" y="184181"/>
                </a:lnTo>
                <a:lnTo>
                  <a:pt x="9346966" y="181412"/>
                </a:lnTo>
                <a:lnTo>
                  <a:pt x="9482429" y="178496"/>
                </a:lnTo>
                <a:lnTo>
                  <a:pt x="9617892" y="175092"/>
                </a:lnTo>
                <a:lnTo>
                  <a:pt x="9753356" y="170845"/>
                </a:lnTo>
                <a:lnTo>
                  <a:pt x="9888819" y="165425"/>
                </a:lnTo>
                <a:lnTo>
                  <a:pt x="10024282" y="158555"/>
                </a:lnTo>
                <a:lnTo>
                  <a:pt x="10159746" y="150040"/>
                </a:lnTo>
                <a:lnTo>
                  <a:pt x="10295209" y="139797"/>
                </a:lnTo>
                <a:lnTo>
                  <a:pt x="10430672" y="127865"/>
                </a:lnTo>
                <a:lnTo>
                  <a:pt x="10566135" y="114415"/>
                </a:lnTo>
                <a:lnTo>
                  <a:pt x="10701599" y="99751"/>
                </a:lnTo>
                <a:lnTo>
                  <a:pt x="10837062" y="84291"/>
                </a:lnTo>
                <a:lnTo>
                  <a:pt x="10972525" y="68554"/>
                </a:lnTo>
                <a:lnTo>
                  <a:pt x="11107988" y="53129"/>
                </a:lnTo>
                <a:lnTo>
                  <a:pt x="11243452" y="38641"/>
                </a:lnTo>
                <a:lnTo>
                  <a:pt x="11378915" y="25713"/>
                </a:lnTo>
                <a:lnTo>
                  <a:pt x="11514378" y="14931"/>
                </a:lnTo>
                <a:lnTo>
                  <a:pt x="11649842" y="6805"/>
                </a:lnTo>
                <a:lnTo>
                  <a:pt x="11785305" y="1738"/>
                </a:lnTo>
                <a:lnTo>
                  <a:pt x="11920768" y="0"/>
                </a:lnTo>
                <a:lnTo>
                  <a:pt x="12056231" y="1708"/>
                </a:lnTo>
                <a:lnTo>
                  <a:pt x="12191695" y="6822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6467906"/>
            <a:ext cx="12191695" cy="248613"/>
          </a:xfrm>
          <a:custGeom>
            <a:avLst/>
            <a:gdLst/>
            <a:ahLst/>
            <a:cxnLst/>
            <a:rect l="l" t="t" r="r" b="b"/>
            <a:pathLst>
              <a:path w="12191695" h="248613">
                <a:moveTo>
                  <a:pt x="0" y="169572"/>
                </a:moveTo>
                <a:lnTo>
                  <a:pt x="135463" y="187517"/>
                </a:lnTo>
                <a:lnTo>
                  <a:pt x="270926" y="204116"/>
                </a:lnTo>
                <a:lnTo>
                  <a:pt x="406389" y="218744"/>
                </a:lnTo>
                <a:lnTo>
                  <a:pt x="541853" y="230861"/>
                </a:lnTo>
                <a:lnTo>
                  <a:pt x="677316" y="240043"/>
                </a:lnTo>
                <a:lnTo>
                  <a:pt x="812779" y="246004"/>
                </a:lnTo>
                <a:lnTo>
                  <a:pt x="948242" y="248613"/>
                </a:lnTo>
                <a:lnTo>
                  <a:pt x="1083706" y="247896"/>
                </a:lnTo>
                <a:lnTo>
                  <a:pt x="1219169" y="244031"/>
                </a:lnTo>
                <a:lnTo>
                  <a:pt x="1354632" y="237338"/>
                </a:lnTo>
                <a:lnTo>
                  <a:pt x="1490096" y="228250"/>
                </a:lnTo>
                <a:lnTo>
                  <a:pt x="1625559" y="217286"/>
                </a:lnTo>
                <a:lnTo>
                  <a:pt x="1761022" y="205017"/>
                </a:lnTo>
                <a:lnTo>
                  <a:pt x="1896485" y="192024"/>
                </a:lnTo>
                <a:lnTo>
                  <a:pt x="2031949" y="178869"/>
                </a:lnTo>
                <a:lnTo>
                  <a:pt x="2167412" y="166053"/>
                </a:lnTo>
                <a:lnTo>
                  <a:pt x="2302875" y="153992"/>
                </a:lnTo>
                <a:lnTo>
                  <a:pt x="2438339" y="142992"/>
                </a:lnTo>
                <a:lnTo>
                  <a:pt x="2573802" y="133239"/>
                </a:lnTo>
                <a:lnTo>
                  <a:pt x="2709265" y="124790"/>
                </a:lnTo>
                <a:lnTo>
                  <a:pt x="2844728" y="117583"/>
                </a:lnTo>
                <a:lnTo>
                  <a:pt x="2980192" y="111449"/>
                </a:lnTo>
                <a:lnTo>
                  <a:pt x="3115655" y="106137"/>
                </a:lnTo>
                <a:lnTo>
                  <a:pt x="3251118" y="101335"/>
                </a:lnTo>
                <a:lnTo>
                  <a:pt x="3386582" y="96713"/>
                </a:lnTo>
                <a:lnTo>
                  <a:pt x="3522045" y="91945"/>
                </a:lnTo>
                <a:lnTo>
                  <a:pt x="3657508" y="86753"/>
                </a:lnTo>
                <a:lnTo>
                  <a:pt x="3792971" y="80928"/>
                </a:lnTo>
                <a:lnTo>
                  <a:pt x="3928435" y="74354"/>
                </a:lnTo>
                <a:lnTo>
                  <a:pt x="4063898" y="67031"/>
                </a:lnTo>
                <a:lnTo>
                  <a:pt x="4199361" y="59072"/>
                </a:lnTo>
                <a:lnTo>
                  <a:pt x="4334824" y="50711"/>
                </a:lnTo>
                <a:lnTo>
                  <a:pt x="4470288" y="42285"/>
                </a:lnTo>
                <a:lnTo>
                  <a:pt x="4605751" y="34213"/>
                </a:lnTo>
                <a:lnTo>
                  <a:pt x="4741214" y="26977"/>
                </a:lnTo>
                <a:lnTo>
                  <a:pt x="4876678" y="21080"/>
                </a:lnTo>
                <a:lnTo>
                  <a:pt x="5012141" y="17016"/>
                </a:lnTo>
                <a:lnTo>
                  <a:pt x="5147604" y="15233"/>
                </a:lnTo>
                <a:lnTo>
                  <a:pt x="5283067" y="16099"/>
                </a:lnTo>
                <a:lnTo>
                  <a:pt x="5418531" y="19870"/>
                </a:lnTo>
                <a:lnTo>
                  <a:pt x="5553994" y="26670"/>
                </a:lnTo>
                <a:lnTo>
                  <a:pt x="5689457" y="36475"/>
                </a:lnTo>
                <a:lnTo>
                  <a:pt x="5824921" y="49109"/>
                </a:lnTo>
                <a:lnTo>
                  <a:pt x="5960384" y="64247"/>
                </a:lnTo>
                <a:lnTo>
                  <a:pt x="6095847" y="81430"/>
                </a:lnTo>
                <a:lnTo>
                  <a:pt x="6231310" y="100088"/>
                </a:lnTo>
                <a:lnTo>
                  <a:pt x="6366774" y="119571"/>
                </a:lnTo>
                <a:lnTo>
                  <a:pt x="6502237" y="139187"/>
                </a:lnTo>
                <a:lnTo>
                  <a:pt x="6637700" y="158234"/>
                </a:lnTo>
                <a:lnTo>
                  <a:pt x="6773164" y="176047"/>
                </a:lnTo>
                <a:lnTo>
                  <a:pt x="6908627" y="192030"/>
                </a:lnTo>
                <a:lnTo>
                  <a:pt x="7044090" y="205690"/>
                </a:lnTo>
                <a:lnTo>
                  <a:pt x="7179553" y="216660"/>
                </a:lnTo>
                <a:lnTo>
                  <a:pt x="7315017" y="224721"/>
                </a:lnTo>
                <a:lnTo>
                  <a:pt x="7450480" y="229802"/>
                </a:lnTo>
                <a:lnTo>
                  <a:pt x="7585943" y="231983"/>
                </a:lnTo>
                <a:lnTo>
                  <a:pt x="7721406" y="231480"/>
                </a:lnTo>
                <a:lnTo>
                  <a:pt x="7856870" y="228626"/>
                </a:lnTo>
                <a:lnTo>
                  <a:pt x="7992333" y="223841"/>
                </a:lnTo>
                <a:lnTo>
                  <a:pt x="8127796" y="217601"/>
                </a:lnTo>
                <a:lnTo>
                  <a:pt x="8263260" y="210399"/>
                </a:lnTo>
                <a:lnTo>
                  <a:pt x="8398723" y="202714"/>
                </a:lnTo>
                <a:lnTo>
                  <a:pt x="8534186" y="194975"/>
                </a:lnTo>
                <a:lnTo>
                  <a:pt x="8669649" y="187531"/>
                </a:lnTo>
                <a:lnTo>
                  <a:pt x="8805113" y="180631"/>
                </a:lnTo>
                <a:lnTo>
                  <a:pt x="8940576" y="174414"/>
                </a:lnTo>
                <a:lnTo>
                  <a:pt x="9076039" y="168896"/>
                </a:lnTo>
                <a:lnTo>
                  <a:pt x="9211503" y="163983"/>
                </a:lnTo>
                <a:lnTo>
                  <a:pt x="9346966" y="159481"/>
                </a:lnTo>
                <a:lnTo>
                  <a:pt x="9482429" y="155122"/>
                </a:lnTo>
                <a:lnTo>
                  <a:pt x="9617892" y="150584"/>
                </a:lnTo>
                <a:lnTo>
                  <a:pt x="9753356" y="145531"/>
                </a:lnTo>
                <a:lnTo>
                  <a:pt x="9888819" y="139645"/>
                </a:lnTo>
                <a:lnTo>
                  <a:pt x="10024282" y="132654"/>
                </a:lnTo>
                <a:lnTo>
                  <a:pt x="10159746" y="124369"/>
                </a:lnTo>
                <a:lnTo>
                  <a:pt x="10295209" y="114699"/>
                </a:lnTo>
                <a:lnTo>
                  <a:pt x="10430672" y="103677"/>
                </a:lnTo>
                <a:lnTo>
                  <a:pt x="10566135" y="91461"/>
                </a:lnTo>
                <a:lnTo>
                  <a:pt x="10701599" y="78333"/>
                </a:lnTo>
                <a:lnTo>
                  <a:pt x="10837062" y="64691"/>
                </a:lnTo>
                <a:lnTo>
                  <a:pt x="10972525" y="51025"/>
                </a:lnTo>
                <a:lnTo>
                  <a:pt x="11107988" y="37893"/>
                </a:lnTo>
                <a:lnTo>
                  <a:pt x="11243452" y="25885"/>
                </a:lnTo>
                <a:lnTo>
                  <a:pt x="11378915" y="15588"/>
                </a:lnTo>
                <a:lnTo>
                  <a:pt x="11514378" y="7547"/>
                </a:lnTo>
                <a:lnTo>
                  <a:pt x="11649842" y="2231"/>
                </a:lnTo>
                <a:lnTo>
                  <a:pt x="11785305" y="0"/>
                </a:lnTo>
                <a:lnTo>
                  <a:pt x="11920768" y="1082"/>
                </a:lnTo>
                <a:lnTo>
                  <a:pt x="12056231" y="5551"/>
                </a:lnTo>
                <a:lnTo>
                  <a:pt x="12191695" y="13326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0" y="6533113"/>
            <a:ext cx="12191695" cy="246124"/>
          </a:xfrm>
          <a:custGeom>
            <a:avLst/>
            <a:gdLst/>
            <a:ahLst/>
            <a:cxnLst/>
            <a:rect l="l" t="t" r="r" b="b"/>
            <a:pathLst>
              <a:path w="12191695" h="246124">
                <a:moveTo>
                  <a:pt x="0" y="183172"/>
                </a:moveTo>
                <a:lnTo>
                  <a:pt x="135463" y="199432"/>
                </a:lnTo>
                <a:lnTo>
                  <a:pt x="270926" y="214077"/>
                </a:lnTo>
                <a:lnTo>
                  <a:pt x="406389" y="226514"/>
                </a:lnTo>
                <a:lnTo>
                  <a:pt x="541853" y="236236"/>
                </a:lnTo>
                <a:lnTo>
                  <a:pt x="677316" y="242855"/>
                </a:lnTo>
                <a:lnTo>
                  <a:pt x="812779" y="246124"/>
                </a:lnTo>
                <a:lnTo>
                  <a:pt x="948242" y="245951"/>
                </a:lnTo>
                <a:lnTo>
                  <a:pt x="1083706" y="242404"/>
                </a:lnTo>
                <a:lnTo>
                  <a:pt x="1219169" y="235707"/>
                </a:lnTo>
                <a:lnTo>
                  <a:pt x="1354632" y="226219"/>
                </a:lnTo>
                <a:lnTo>
                  <a:pt x="1490096" y="214417"/>
                </a:lnTo>
                <a:lnTo>
                  <a:pt x="1625559" y="200862"/>
                </a:lnTo>
                <a:lnTo>
                  <a:pt x="1761022" y="186161"/>
                </a:lnTo>
                <a:lnTo>
                  <a:pt x="1896485" y="170935"/>
                </a:lnTo>
                <a:lnTo>
                  <a:pt x="2031949" y="155777"/>
                </a:lnTo>
                <a:lnTo>
                  <a:pt x="2167412" y="141221"/>
                </a:lnTo>
                <a:lnTo>
                  <a:pt x="2302875" y="127707"/>
                </a:lnTo>
                <a:lnTo>
                  <a:pt x="2438339" y="115564"/>
                </a:lnTo>
                <a:lnTo>
                  <a:pt x="2573802" y="104994"/>
                </a:lnTo>
                <a:lnTo>
                  <a:pt x="2709265" y="96068"/>
                </a:lnTo>
                <a:lnTo>
                  <a:pt x="2844728" y="88731"/>
                </a:lnTo>
                <a:lnTo>
                  <a:pt x="2980192" y="82816"/>
                </a:lnTo>
                <a:lnTo>
                  <a:pt x="3115655" y="78067"/>
                </a:lnTo>
                <a:lnTo>
                  <a:pt x="3251118" y="74166"/>
                </a:lnTo>
                <a:lnTo>
                  <a:pt x="3386582" y="70766"/>
                </a:lnTo>
                <a:lnTo>
                  <a:pt x="3522045" y="67527"/>
                </a:lnTo>
                <a:lnTo>
                  <a:pt x="3657508" y="64145"/>
                </a:lnTo>
                <a:lnTo>
                  <a:pt x="3792971" y="60383"/>
                </a:lnTo>
                <a:lnTo>
                  <a:pt x="3928435" y="56096"/>
                </a:lnTo>
                <a:lnTo>
                  <a:pt x="4063898" y="51248"/>
                </a:lnTo>
                <a:lnTo>
                  <a:pt x="4199361" y="45917"/>
                </a:lnTo>
                <a:lnTo>
                  <a:pt x="4334824" y="40294"/>
                </a:lnTo>
                <a:lnTo>
                  <a:pt x="4470288" y="34675"/>
                </a:lnTo>
                <a:lnTo>
                  <a:pt x="4605751" y="29440"/>
                </a:lnTo>
                <a:lnTo>
                  <a:pt x="4741214" y="25025"/>
                </a:lnTo>
                <a:lnTo>
                  <a:pt x="4876678" y="21891"/>
                </a:lnTo>
                <a:lnTo>
                  <a:pt x="5012141" y="20491"/>
                </a:lnTo>
                <a:lnTo>
                  <a:pt x="5147604" y="21233"/>
                </a:lnTo>
                <a:lnTo>
                  <a:pt x="5283067" y="24445"/>
                </a:lnTo>
                <a:lnTo>
                  <a:pt x="5418531" y="30349"/>
                </a:lnTo>
                <a:lnTo>
                  <a:pt x="5553994" y="39037"/>
                </a:lnTo>
                <a:lnTo>
                  <a:pt x="5689457" y="50457"/>
                </a:lnTo>
                <a:lnTo>
                  <a:pt x="5824921" y="64407"/>
                </a:lnTo>
                <a:lnTo>
                  <a:pt x="5960384" y="80543"/>
                </a:lnTo>
                <a:lnTo>
                  <a:pt x="6095847" y="98390"/>
                </a:lnTo>
                <a:lnTo>
                  <a:pt x="6231310" y="117369"/>
                </a:lnTo>
                <a:lnTo>
                  <a:pt x="6366774" y="136826"/>
                </a:lnTo>
                <a:lnTo>
                  <a:pt x="6502237" y="156066"/>
                </a:lnTo>
                <a:lnTo>
                  <a:pt x="6637700" y="174397"/>
                </a:lnTo>
                <a:lnTo>
                  <a:pt x="6773164" y="191162"/>
                </a:lnTo>
                <a:lnTo>
                  <a:pt x="6908627" y="205782"/>
                </a:lnTo>
                <a:lnTo>
                  <a:pt x="7044090" y="217784"/>
                </a:lnTo>
                <a:lnTo>
                  <a:pt x="7179553" y="226827"/>
                </a:lnTo>
                <a:lnTo>
                  <a:pt x="7315017" y="232720"/>
                </a:lnTo>
                <a:lnTo>
                  <a:pt x="7450480" y="235424"/>
                </a:lnTo>
                <a:lnTo>
                  <a:pt x="7585943" y="235057"/>
                </a:lnTo>
                <a:lnTo>
                  <a:pt x="7721406" y="231872"/>
                </a:lnTo>
                <a:lnTo>
                  <a:pt x="7856870" y="226244"/>
                </a:lnTo>
                <a:lnTo>
                  <a:pt x="7992333" y="218632"/>
                </a:lnTo>
                <a:lnTo>
                  <a:pt x="8127796" y="209557"/>
                </a:lnTo>
                <a:lnTo>
                  <a:pt x="8263260" y="199555"/>
                </a:lnTo>
                <a:lnTo>
                  <a:pt x="8398723" y="189147"/>
                </a:lnTo>
                <a:lnTo>
                  <a:pt x="8534186" y="178801"/>
                </a:lnTo>
                <a:lnTo>
                  <a:pt x="8669649" y="168908"/>
                </a:lnTo>
                <a:lnTo>
                  <a:pt x="8805113" y="159754"/>
                </a:lnTo>
                <a:lnTo>
                  <a:pt x="8940576" y="151510"/>
                </a:lnTo>
                <a:lnTo>
                  <a:pt x="9076039" y="144224"/>
                </a:lnTo>
                <a:lnTo>
                  <a:pt x="9211503" y="137828"/>
                </a:lnTo>
                <a:lnTo>
                  <a:pt x="9346966" y="132152"/>
                </a:lnTo>
                <a:lnTo>
                  <a:pt x="9482429" y="126943"/>
                </a:lnTo>
                <a:lnTo>
                  <a:pt x="9617892" y="121894"/>
                </a:lnTo>
                <a:lnTo>
                  <a:pt x="9753356" y="116677"/>
                </a:lnTo>
                <a:lnTo>
                  <a:pt x="9888819" y="110975"/>
                </a:lnTo>
                <a:lnTo>
                  <a:pt x="10024282" y="104513"/>
                </a:lnTo>
                <a:lnTo>
                  <a:pt x="10159746" y="97095"/>
                </a:lnTo>
                <a:lnTo>
                  <a:pt x="10295209" y="88617"/>
                </a:lnTo>
                <a:lnTo>
                  <a:pt x="10430672" y="79094"/>
                </a:lnTo>
                <a:lnTo>
                  <a:pt x="10566135" y="68661"/>
                </a:lnTo>
                <a:lnTo>
                  <a:pt x="10701599" y="57573"/>
                </a:lnTo>
                <a:lnTo>
                  <a:pt x="10837062" y="46197"/>
                </a:lnTo>
                <a:lnTo>
                  <a:pt x="10972525" y="34990"/>
                </a:lnTo>
                <a:lnTo>
                  <a:pt x="11107988" y="24471"/>
                </a:lnTo>
                <a:lnTo>
                  <a:pt x="11243452" y="15192"/>
                </a:lnTo>
                <a:lnTo>
                  <a:pt x="11378915" y="7698"/>
                </a:lnTo>
                <a:lnTo>
                  <a:pt x="11514378" y="2492"/>
                </a:lnTo>
                <a:lnTo>
                  <a:pt x="11649842" y="0"/>
                </a:lnTo>
                <a:lnTo>
                  <a:pt x="11785305" y="541"/>
                </a:lnTo>
                <a:lnTo>
                  <a:pt x="11920768" y="4298"/>
                </a:lnTo>
                <a:lnTo>
                  <a:pt x="12056231" y="11307"/>
                </a:lnTo>
                <a:lnTo>
                  <a:pt x="12191695" y="21447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0" y="6600998"/>
            <a:ext cx="12191695" cy="238322"/>
          </a:xfrm>
          <a:custGeom>
            <a:avLst/>
            <a:gdLst/>
            <a:ahLst/>
            <a:cxnLst/>
            <a:rect l="l" t="t" r="r" b="b"/>
            <a:pathLst>
              <a:path w="12191695" h="238322">
                <a:moveTo>
                  <a:pt x="0" y="190722"/>
                </a:moveTo>
                <a:lnTo>
                  <a:pt x="135463" y="204821"/>
                </a:lnTo>
                <a:lnTo>
                  <a:pt x="270926" y="217096"/>
                </a:lnTo>
                <a:lnTo>
                  <a:pt x="406389" y="226989"/>
                </a:lnTo>
                <a:lnTo>
                  <a:pt x="541853" y="234032"/>
                </a:lnTo>
                <a:lnTo>
                  <a:pt x="677316" y="237878"/>
                </a:lnTo>
                <a:lnTo>
                  <a:pt x="812779" y="238322"/>
                </a:lnTo>
                <a:lnTo>
                  <a:pt x="948242" y="235314"/>
                </a:lnTo>
                <a:lnTo>
                  <a:pt x="1083706" y="228966"/>
                </a:lnTo>
                <a:lnTo>
                  <a:pt x="1219169" y="219541"/>
                </a:lnTo>
                <a:lnTo>
                  <a:pt x="1354632" y="207444"/>
                </a:lnTo>
                <a:lnTo>
                  <a:pt x="1490096" y="193188"/>
                </a:lnTo>
                <a:lnTo>
                  <a:pt x="1625559" y="177371"/>
                </a:lnTo>
                <a:lnTo>
                  <a:pt x="1761022" y="160636"/>
                </a:lnTo>
                <a:lnTo>
                  <a:pt x="1896485" y="143634"/>
                </a:lnTo>
                <a:lnTo>
                  <a:pt x="2031949" y="126985"/>
                </a:lnTo>
                <a:lnTo>
                  <a:pt x="2167412" y="111244"/>
                </a:lnTo>
                <a:lnTo>
                  <a:pt x="2302875" y="96871"/>
                </a:lnTo>
                <a:lnTo>
                  <a:pt x="2438339" y="84207"/>
                </a:lnTo>
                <a:lnTo>
                  <a:pt x="2573802" y="73462"/>
                </a:lnTo>
                <a:lnTo>
                  <a:pt x="2709265" y="64709"/>
                </a:lnTo>
                <a:lnTo>
                  <a:pt x="2844728" y="57891"/>
                </a:lnTo>
                <a:lnTo>
                  <a:pt x="2980192" y="52834"/>
                </a:lnTo>
                <a:lnTo>
                  <a:pt x="3115655" y="49267"/>
                </a:lnTo>
                <a:lnTo>
                  <a:pt x="3251118" y="46856"/>
                </a:lnTo>
                <a:lnTo>
                  <a:pt x="3386582" y="45231"/>
                </a:lnTo>
                <a:lnTo>
                  <a:pt x="3522045" y="44024"/>
                </a:lnTo>
                <a:lnTo>
                  <a:pt x="3657508" y="42902"/>
                </a:lnTo>
                <a:lnTo>
                  <a:pt x="3792971" y="41593"/>
                </a:lnTo>
                <a:lnTo>
                  <a:pt x="3928435" y="39916"/>
                </a:lnTo>
                <a:lnTo>
                  <a:pt x="4063898" y="37794"/>
                </a:lnTo>
                <a:lnTo>
                  <a:pt x="4199361" y="35264"/>
                </a:lnTo>
                <a:lnTo>
                  <a:pt x="4334824" y="32476"/>
                </a:lnTo>
                <a:lnTo>
                  <a:pt x="4470288" y="29683"/>
                </a:lnTo>
                <a:lnTo>
                  <a:pt x="4605751" y="27220"/>
                </a:lnTo>
                <a:lnTo>
                  <a:pt x="4741214" y="25484"/>
                </a:lnTo>
                <a:lnTo>
                  <a:pt x="4876678" y="24895"/>
                </a:lnTo>
                <a:lnTo>
                  <a:pt x="5012141" y="25867"/>
                </a:lnTo>
                <a:lnTo>
                  <a:pt x="5147604" y="28771"/>
                </a:lnTo>
                <a:lnTo>
                  <a:pt x="5283067" y="33905"/>
                </a:lnTo>
                <a:lnTo>
                  <a:pt x="5418531" y="41460"/>
                </a:lnTo>
                <a:lnTo>
                  <a:pt x="5553994" y="51504"/>
                </a:lnTo>
                <a:lnTo>
                  <a:pt x="5689457" y="63964"/>
                </a:lnTo>
                <a:lnTo>
                  <a:pt x="5824921" y="78622"/>
                </a:lnTo>
                <a:lnTo>
                  <a:pt x="5960384" y="95124"/>
                </a:lnTo>
                <a:lnTo>
                  <a:pt x="6095847" y="112989"/>
                </a:lnTo>
                <a:lnTo>
                  <a:pt x="6231310" y="131639"/>
                </a:lnTo>
                <a:lnTo>
                  <a:pt x="6366774" y="150423"/>
                </a:lnTo>
                <a:lnTo>
                  <a:pt x="6502237" y="168658"/>
                </a:lnTo>
                <a:lnTo>
                  <a:pt x="6637700" y="185665"/>
                </a:lnTo>
                <a:lnTo>
                  <a:pt x="6773164" y="200809"/>
                </a:lnTo>
                <a:lnTo>
                  <a:pt x="6908627" y="213535"/>
                </a:lnTo>
                <a:lnTo>
                  <a:pt x="7044090" y="223398"/>
                </a:lnTo>
                <a:lnTo>
                  <a:pt x="7179553" y="230090"/>
                </a:lnTo>
                <a:lnTo>
                  <a:pt x="7315017" y="233454"/>
                </a:lnTo>
                <a:lnTo>
                  <a:pt x="7450480" y="233492"/>
                </a:lnTo>
                <a:lnTo>
                  <a:pt x="7585943" y="230359"/>
                </a:lnTo>
                <a:lnTo>
                  <a:pt x="7721406" y="224353"/>
                </a:lnTo>
                <a:lnTo>
                  <a:pt x="7856870" y="215888"/>
                </a:lnTo>
                <a:lnTo>
                  <a:pt x="7992333" y="205470"/>
                </a:lnTo>
                <a:lnTo>
                  <a:pt x="8127796" y="193658"/>
                </a:lnTo>
                <a:lnTo>
                  <a:pt x="8263260" y="181033"/>
                </a:lnTo>
                <a:lnTo>
                  <a:pt x="8398723" y="168153"/>
                </a:lnTo>
                <a:lnTo>
                  <a:pt x="8534186" y="155526"/>
                </a:lnTo>
                <a:lnTo>
                  <a:pt x="8669649" y="143575"/>
                </a:lnTo>
                <a:lnTo>
                  <a:pt x="8805113" y="132618"/>
                </a:lnTo>
                <a:lnTo>
                  <a:pt x="8940576" y="122852"/>
                </a:lnTo>
                <a:lnTo>
                  <a:pt x="9076039" y="114351"/>
                </a:lnTo>
                <a:lnTo>
                  <a:pt x="9211503" y="107063"/>
                </a:lnTo>
                <a:lnTo>
                  <a:pt x="9346966" y="100832"/>
                </a:lnTo>
                <a:lnTo>
                  <a:pt x="9482429" y="95413"/>
                </a:lnTo>
                <a:lnTo>
                  <a:pt x="9617892" y="90502"/>
                </a:lnTo>
                <a:lnTo>
                  <a:pt x="9753356" y="85770"/>
                </a:lnTo>
                <a:lnTo>
                  <a:pt x="9888819" y="80892"/>
                </a:lnTo>
                <a:lnTo>
                  <a:pt x="10024282" y="75582"/>
                </a:lnTo>
                <a:lnTo>
                  <a:pt x="10159746" y="69623"/>
                </a:lnTo>
                <a:lnTo>
                  <a:pt x="10295209" y="62893"/>
                </a:lnTo>
                <a:lnTo>
                  <a:pt x="10430672" y="55378"/>
                </a:lnTo>
                <a:lnTo>
                  <a:pt x="10566135" y="47183"/>
                </a:lnTo>
                <a:lnTo>
                  <a:pt x="10701599" y="38531"/>
                </a:lnTo>
                <a:lnTo>
                  <a:pt x="10837062" y="29751"/>
                </a:lnTo>
                <a:lnTo>
                  <a:pt x="10972525" y="21260"/>
                </a:lnTo>
                <a:lnTo>
                  <a:pt x="11107988" y="13537"/>
                </a:lnTo>
                <a:lnTo>
                  <a:pt x="11243452" y="7091"/>
                </a:lnTo>
                <a:lnTo>
                  <a:pt x="11378915" y="2425"/>
                </a:lnTo>
                <a:lnTo>
                  <a:pt x="11514378" y="0"/>
                </a:lnTo>
                <a:lnTo>
                  <a:pt x="11649842" y="198"/>
                </a:lnTo>
                <a:lnTo>
                  <a:pt x="11785305" y="3299"/>
                </a:lnTo>
                <a:lnTo>
                  <a:pt x="11920768" y="9446"/>
                </a:lnTo>
                <a:lnTo>
                  <a:pt x="12056231" y="18641"/>
                </a:lnTo>
                <a:lnTo>
                  <a:pt x="12191695" y="30728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46304"/>
            <a:ext cx="11283696" cy="44805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企业语义基础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722376"/>
            <a:ext cx="585216" cy="41148"/>
          </a:xfrm>
          <a:prstGeom prst="rect">
            <a:avLst/>
          </a:prstGeom>
          <a:solidFill>
            <a:srgbClr val="EE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649224"/>
            <a:ext cx="10469880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2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连接业务语言、权威定义与物理实现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292608"/>
            <a:ext cx="896112" cy="20116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HiAgent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6647688"/>
            <a:ext cx="10241280" cy="1280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7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企业数据智能体建设规划  /  规划视图  /  2026.10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629400"/>
            <a:ext cx="585216" cy="17373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" y="1005840"/>
            <a:ext cx="11155680" cy="539496"/>
          </a:xfrm>
          <a:prstGeom prst="roundRect">
            <a:avLst>
              <a:gd name="adj" fmla="val 3500"/>
            </a:avLst>
          </a:prstGeom>
          <a:solidFill>
            <a:srgbClr val="08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037844"/>
            <a:ext cx="10972800" cy="4754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业务表达：客户 / 机构 / 月度存款 / 客群变化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9904" y="1591056"/>
            <a:ext cx="0" cy="265175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6054058" y="1797765"/>
            <a:ext cx="35846" cy="58466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089904" y="1797765"/>
            <a:ext cx="35845" cy="58466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34924" y="1924812"/>
            <a:ext cx="3364992" cy="1545336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2064" y="1892807"/>
            <a:ext cx="3364992" cy="154533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708" y="2462570"/>
            <a:ext cx="469087" cy="8339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664860" y="2321844"/>
            <a:ext cx="479511" cy="201395"/>
          </a:xfrm>
          <a:custGeom>
            <a:avLst/>
            <a:gdLst/>
            <a:ahLst/>
            <a:cxnLst/>
            <a:rect l="l" t="t" r="r" b="b"/>
            <a:pathLst>
              <a:path w="479511" h="201395">
                <a:moveTo>
                  <a:pt x="0" y="100697"/>
                </a:moveTo>
                <a:lnTo>
                  <a:pt x="239755" y="0"/>
                </a:lnTo>
                <a:lnTo>
                  <a:pt x="479511" y="100697"/>
                </a:lnTo>
                <a:lnTo>
                  <a:pt x="239755" y="201395"/>
                </a:lnTo>
                <a:close/>
              </a:path>
            </a:pathLst>
          </a:custGeom>
          <a:solidFill>
            <a:srgbClr val="B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664860" y="2422541"/>
            <a:ext cx="239755" cy="145000"/>
          </a:xfrm>
          <a:custGeom>
            <a:avLst/>
            <a:gdLst/>
            <a:ahLst/>
            <a:cxnLst/>
            <a:rect l="l" t="t" r="r" b="b"/>
            <a:pathLst>
              <a:path w="239755" h="145000">
                <a:moveTo>
                  <a:pt x="0" y="0"/>
                </a:moveTo>
                <a:lnTo>
                  <a:pt x="239755" y="100698"/>
                </a:lnTo>
                <a:lnTo>
                  <a:pt x="239755" y="145000"/>
                </a:lnTo>
                <a:lnTo>
                  <a:pt x="0" y="44303"/>
                </a:lnTo>
                <a:close/>
              </a:path>
            </a:pathLst>
          </a:custGeom>
          <a:solidFill>
            <a:srgbClr val="6D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904615" y="2422541"/>
            <a:ext cx="239756" cy="145000"/>
          </a:xfrm>
          <a:custGeom>
            <a:avLst/>
            <a:gdLst/>
            <a:ahLst/>
            <a:cxnLst/>
            <a:rect l="l" t="t" r="r" b="b"/>
            <a:pathLst>
              <a:path w="239756" h="145000">
                <a:moveTo>
                  <a:pt x="0" y="100698"/>
                </a:moveTo>
                <a:lnTo>
                  <a:pt x="239756" y="0"/>
                </a:lnTo>
                <a:lnTo>
                  <a:pt x="239756" y="44303"/>
                </a:lnTo>
                <a:lnTo>
                  <a:pt x="0" y="145000"/>
                </a:lnTo>
                <a:close/>
              </a:path>
            </a:pathLst>
          </a:custGeom>
          <a:solidFill>
            <a:srgbClr val="30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706556" y="2222814"/>
            <a:ext cx="396118" cy="166370"/>
          </a:xfrm>
          <a:custGeom>
            <a:avLst/>
            <a:gdLst/>
            <a:ahLst/>
            <a:cxnLst/>
            <a:rect l="l" t="t" r="r" b="b"/>
            <a:pathLst>
              <a:path w="396118" h="166370">
                <a:moveTo>
                  <a:pt x="0" y="83185"/>
                </a:moveTo>
                <a:lnTo>
                  <a:pt x="198059" y="0"/>
                </a:lnTo>
                <a:lnTo>
                  <a:pt x="396118" y="83185"/>
                </a:lnTo>
                <a:lnTo>
                  <a:pt x="198059" y="166370"/>
                </a:lnTo>
                <a:close/>
              </a:path>
            </a:pathLst>
          </a:custGeom>
          <a:solidFill>
            <a:srgbClr val="94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706556" y="2305999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0"/>
                </a:moveTo>
                <a:lnTo>
                  <a:pt x="198059" y="83185"/>
                </a:lnTo>
                <a:lnTo>
                  <a:pt x="198059" y="127488"/>
                </a:lnTo>
                <a:lnTo>
                  <a:pt x="0" y="44303"/>
                </a:lnTo>
                <a:close/>
              </a:path>
            </a:pathLst>
          </a:custGeom>
          <a:solidFill>
            <a:srgbClr val="3F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04615" y="2305999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83185"/>
                </a:moveTo>
                <a:lnTo>
                  <a:pt x="198059" y="0"/>
                </a:lnTo>
                <a:lnTo>
                  <a:pt x="198059" y="44303"/>
                </a:lnTo>
                <a:lnTo>
                  <a:pt x="0" y="127488"/>
                </a:lnTo>
                <a:close/>
              </a:path>
            </a:pathLst>
          </a:custGeom>
          <a:solidFill>
            <a:srgbClr val="197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753465" y="2123785"/>
            <a:ext cx="302301" cy="126966"/>
          </a:xfrm>
          <a:custGeom>
            <a:avLst/>
            <a:gdLst/>
            <a:ahLst/>
            <a:cxnLst/>
            <a:rect l="l" t="t" r="r" b="b"/>
            <a:pathLst>
              <a:path w="302301" h="126966">
                <a:moveTo>
                  <a:pt x="0" y="63483"/>
                </a:moveTo>
                <a:lnTo>
                  <a:pt x="151150" y="0"/>
                </a:lnTo>
                <a:lnTo>
                  <a:pt x="302301" y="63483"/>
                </a:lnTo>
                <a:lnTo>
                  <a:pt x="151150" y="126966"/>
                </a:lnTo>
                <a:close/>
              </a:path>
            </a:pathLst>
          </a:custGeom>
          <a:solidFill>
            <a:srgbClr val="57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753465" y="2187268"/>
            <a:ext cx="151150" cy="107786"/>
          </a:xfrm>
          <a:custGeom>
            <a:avLst/>
            <a:gdLst/>
            <a:ahLst/>
            <a:cxnLst/>
            <a:rect l="l" t="t" r="r" b="b"/>
            <a:pathLst>
              <a:path w="151150" h="107786">
                <a:moveTo>
                  <a:pt x="0" y="0"/>
                </a:moveTo>
                <a:lnTo>
                  <a:pt x="151150" y="63483"/>
                </a:lnTo>
                <a:lnTo>
                  <a:pt x="151150" y="107786"/>
                </a:lnTo>
                <a:lnTo>
                  <a:pt x="0" y="44303"/>
                </a:lnTo>
                <a:close/>
              </a:path>
            </a:pathLst>
          </a:custGeom>
          <a:solidFill>
            <a:srgbClr val="148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904615" y="2187268"/>
            <a:ext cx="151151" cy="107786"/>
          </a:xfrm>
          <a:custGeom>
            <a:avLst/>
            <a:gdLst/>
            <a:ahLst/>
            <a:cxnLst/>
            <a:rect l="l" t="t" r="r" b="b"/>
            <a:pathLst>
              <a:path w="151151" h="107786">
                <a:moveTo>
                  <a:pt x="0" y="63483"/>
                </a:moveTo>
                <a:lnTo>
                  <a:pt x="151151" y="0"/>
                </a:lnTo>
                <a:lnTo>
                  <a:pt x="151151" y="44303"/>
                </a:lnTo>
                <a:lnTo>
                  <a:pt x="0" y="107786"/>
                </a:lnTo>
                <a:close/>
              </a:path>
            </a:pathLst>
          </a:custGeom>
          <a:solidFill>
            <a:srgbClr val="0A5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826434" y="2102937"/>
            <a:ext cx="99030" cy="45553"/>
          </a:xfrm>
          <a:custGeom>
            <a:avLst/>
            <a:gdLst/>
            <a:ahLst/>
            <a:cxnLst/>
            <a:rect l="l" t="t" r="r" b="b"/>
            <a:pathLst>
              <a:path w="99030" h="45553">
                <a:moveTo>
                  <a:pt x="0" y="22776"/>
                </a:moveTo>
                <a:lnTo>
                  <a:pt x="49515" y="0"/>
                </a:lnTo>
                <a:lnTo>
                  <a:pt x="99030" y="22776"/>
                </a:lnTo>
                <a:lnTo>
                  <a:pt x="49515" y="45553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826434" y="2125713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70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875949" y="2125713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70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956736" y="2149845"/>
            <a:ext cx="99030" cy="45554"/>
          </a:xfrm>
          <a:custGeom>
            <a:avLst/>
            <a:gdLst/>
            <a:ahLst/>
            <a:cxnLst/>
            <a:rect l="l" t="t" r="r" b="b"/>
            <a:pathLst>
              <a:path w="99030" h="45554">
                <a:moveTo>
                  <a:pt x="0" y="22777"/>
                </a:moveTo>
                <a:lnTo>
                  <a:pt x="49515" y="0"/>
                </a:lnTo>
                <a:lnTo>
                  <a:pt x="99030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956736" y="2172622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1006251" y="2172622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873343" y="2212390"/>
            <a:ext cx="99029" cy="45554"/>
          </a:xfrm>
          <a:custGeom>
            <a:avLst/>
            <a:gdLst/>
            <a:ahLst/>
            <a:cxnLst/>
            <a:rect l="l" t="t" r="r" b="b"/>
            <a:pathLst>
              <a:path w="99029" h="45554">
                <a:moveTo>
                  <a:pt x="0" y="22777"/>
                </a:moveTo>
                <a:lnTo>
                  <a:pt x="49515" y="0"/>
                </a:lnTo>
                <a:lnTo>
                  <a:pt x="99029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873343" y="2235167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922858" y="2235167"/>
            <a:ext cx="49514" cy="95746"/>
          </a:xfrm>
          <a:custGeom>
            <a:avLst/>
            <a:gdLst/>
            <a:ahLst/>
            <a:cxnLst/>
            <a:rect l="l" t="t" r="r" b="b"/>
            <a:pathLst>
              <a:path w="49514" h="95746">
                <a:moveTo>
                  <a:pt x="0" y="22777"/>
                </a:moveTo>
                <a:lnTo>
                  <a:pt x="49514" y="0"/>
                </a:lnTo>
                <a:lnTo>
                  <a:pt x="49514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9304" y="2066543"/>
            <a:ext cx="2432304" cy="3931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业务含义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376" y="2798063"/>
            <a:ext cx="2944368" cy="566928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术语 / 同义词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指标定义 / 适用维度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30268" y="1924812"/>
            <a:ext cx="3364992" cy="1545336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407408" y="1892807"/>
            <a:ext cx="3364992" cy="154533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581052" y="2462570"/>
            <a:ext cx="469087" cy="8339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4560204" y="2321844"/>
            <a:ext cx="479511" cy="201395"/>
          </a:xfrm>
          <a:custGeom>
            <a:avLst/>
            <a:gdLst/>
            <a:ahLst/>
            <a:cxnLst/>
            <a:rect l="l" t="t" r="r" b="b"/>
            <a:pathLst>
              <a:path w="479511" h="201395">
                <a:moveTo>
                  <a:pt x="0" y="100697"/>
                </a:moveTo>
                <a:lnTo>
                  <a:pt x="239755" y="0"/>
                </a:lnTo>
                <a:lnTo>
                  <a:pt x="479511" y="100697"/>
                </a:lnTo>
                <a:lnTo>
                  <a:pt x="239755" y="201395"/>
                </a:lnTo>
                <a:close/>
              </a:path>
            </a:pathLst>
          </a:custGeom>
          <a:solidFill>
            <a:srgbClr val="B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4560204" y="2422541"/>
            <a:ext cx="239755" cy="145000"/>
          </a:xfrm>
          <a:custGeom>
            <a:avLst/>
            <a:gdLst/>
            <a:ahLst/>
            <a:cxnLst/>
            <a:rect l="l" t="t" r="r" b="b"/>
            <a:pathLst>
              <a:path w="239755" h="145000">
                <a:moveTo>
                  <a:pt x="0" y="0"/>
                </a:moveTo>
                <a:lnTo>
                  <a:pt x="239755" y="100698"/>
                </a:lnTo>
                <a:lnTo>
                  <a:pt x="239755" y="145000"/>
                </a:lnTo>
                <a:lnTo>
                  <a:pt x="0" y="44303"/>
                </a:lnTo>
                <a:close/>
              </a:path>
            </a:pathLst>
          </a:custGeom>
          <a:solidFill>
            <a:srgbClr val="6D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4799959" y="2422541"/>
            <a:ext cx="239756" cy="145000"/>
          </a:xfrm>
          <a:custGeom>
            <a:avLst/>
            <a:gdLst/>
            <a:ahLst/>
            <a:cxnLst/>
            <a:rect l="l" t="t" r="r" b="b"/>
            <a:pathLst>
              <a:path w="239756" h="145000">
                <a:moveTo>
                  <a:pt x="0" y="100698"/>
                </a:moveTo>
                <a:lnTo>
                  <a:pt x="239756" y="0"/>
                </a:lnTo>
                <a:lnTo>
                  <a:pt x="239756" y="44303"/>
                </a:lnTo>
                <a:lnTo>
                  <a:pt x="0" y="145000"/>
                </a:lnTo>
                <a:close/>
              </a:path>
            </a:pathLst>
          </a:custGeom>
          <a:solidFill>
            <a:srgbClr val="30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4601900" y="2222814"/>
            <a:ext cx="396118" cy="166370"/>
          </a:xfrm>
          <a:custGeom>
            <a:avLst/>
            <a:gdLst/>
            <a:ahLst/>
            <a:cxnLst/>
            <a:rect l="l" t="t" r="r" b="b"/>
            <a:pathLst>
              <a:path w="396118" h="166370">
                <a:moveTo>
                  <a:pt x="0" y="83185"/>
                </a:moveTo>
                <a:lnTo>
                  <a:pt x="198059" y="0"/>
                </a:lnTo>
                <a:lnTo>
                  <a:pt x="396118" y="83185"/>
                </a:lnTo>
                <a:lnTo>
                  <a:pt x="198059" y="166370"/>
                </a:lnTo>
                <a:close/>
              </a:path>
            </a:pathLst>
          </a:custGeom>
          <a:solidFill>
            <a:srgbClr val="94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4601900" y="2305999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0"/>
                </a:moveTo>
                <a:lnTo>
                  <a:pt x="198059" y="83185"/>
                </a:lnTo>
                <a:lnTo>
                  <a:pt x="198059" y="127488"/>
                </a:lnTo>
                <a:lnTo>
                  <a:pt x="0" y="44303"/>
                </a:lnTo>
                <a:close/>
              </a:path>
            </a:pathLst>
          </a:custGeom>
          <a:solidFill>
            <a:srgbClr val="3F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4799959" y="2305999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83185"/>
                </a:moveTo>
                <a:lnTo>
                  <a:pt x="198059" y="0"/>
                </a:lnTo>
                <a:lnTo>
                  <a:pt x="198059" y="44303"/>
                </a:lnTo>
                <a:lnTo>
                  <a:pt x="0" y="127488"/>
                </a:lnTo>
                <a:close/>
              </a:path>
            </a:pathLst>
          </a:custGeom>
          <a:solidFill>
            <a:srgbClr val="197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4648809" y="2123785"/>
            <a:ext cx="302301" cy="126966"/>
          </a:xfrm>
          <a:custGeom>
            <a:avLst/>
            <a:gdLst/>
            <a:ahLst/>
            <a:cxnLst/>
            <a:rect l="l" t="t" r="r" b="b"/>
            <a:pathLst>
              <a:path w="302301" h="126966">
                <a:moveTo>
                  <a:pt x="0" y="63483"/>
                </a:moveTo>
                <a:lnTo>
                  <a:pt x="151150" y="0"/>
                </a:lnTo>
                <a:lnTo>
                  <a:pt x="302301" y="63483"/>
                </a:lnTo>
                <a:lnTo>
                  <a:pt x="151150" y="126966"/>
                </a:lnTo>
                <a:close/>
              </a:path>
            </a:pathLst>
          </a:custGeom>
          <a:solidFill>
            <a:srgbClr val="57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4648809" y="2187268"/>
            <a:ext cx="151150" cy="107786"/>
          </a:xfrm>
          <a:custGeom>
            <a:avLst/>
            <a:gdLst/>
            <a:ahLst/>
            <a:cxnLst/>
            <a:rect l="l" t="t" r="r" b="b"/>
            <a:pathLst>
              <a:path w="151150" h="107786">
                <a:moveTo>
                  <a:pt x="0" y="0"/>
                </a:moveTo>
                <a:lnTo>
                  <a:pt x="151150" y="63483"/>
                </a:lnTo>
                <a:lnTo>
                  <a:pt x="151150" y="107786"/>
                </a:lnTo>
                <a:lnTo>
                  <a:pt x="0" y="44303"/>
                </a:lnTo>
                <a:close/>
              </a:path>
            </a:pathLst>
          </a:custGeom>
          <a:solidFill>
            <a:srgbClr val="148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4799959" y="2187268"/>
            <a:ext cx="151151" cy="107786"/>
          </a:xfrm>
          <a:custGeom>
            <a:avLst/>
            <a:gdLst/>
            <a:ahLst/>
            <a:cxnLst/>
            <a:rect l="l" t="t" r="r" b="b"/>
            <a:pathLst>
              <a:path w="151151" h="107786">
                <a:moveTo>
                  <a:pt x="0" y="63483"/>
                </a:moveTo>
                <a:lnTo>
                  <a:pt x="151151" y="0"/>
                </a:lnTo>
                <a:lnTo>
                  <a:pt x="151151" y="44303"/>
                </a:lnTo>
                <a:lnTo>
                  <a:pt x="0" y="107786"/>
                </a:lnTo>
                <a:close/>
              </a:path>
            </a:pathLst>
          </a:custGeom>
          <a:solidFill>
            <a:srgbClr val="0A5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4721778" y="2102937"/>
            <a:ext cx="99030" cy="45553"/>
          </a:xfrm>
          <a:custGeom>
            <a:avLst/>
            <a:gdLst/>
            <a:ahLst/>
            <a:cxnLst/>
            <a:rect l="l" t="t" r="r" b="b"/>
            <a:pathLst>
              <a:path w="99030" h="45553">
                <a:moveTo>
                  <a:pt x="0" y="22776"/>
                </a:moveTo>
                <a:lnTo>
                  <a:pt x="49515" y="0"/>
                </a:lnTo>
                <a:lnTo>
                  <a:pt x="99030" y="22776"/>
                </a:lnTo>
                <a:lnTo>
                  <a:pt x="49515" y="45553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4721778" y="2125713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70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4771293" y="2125713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70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4852080" y="2149845"/>
            <a:ext cx="99030" cy="45554"/>
          </a:xfrm>
          <a:custGeom>
            <a:avLst/>
            <a:gdLst/>
            <a:ahLst/>
            <a:cxnLst/>
            <a:rect l="l" t="t" r="r" b="b"/>
            <a:pathLst>
              <a:path w="99030" h="45554">
                <a:moveTo>
                  <a:pt x="0" y="22777"/>
                </a:moveTo>
                <a:lnTo>
                  <a:pt x="49515" y="0"/>
                </a:lnTo>
                <a:lnTo>
                  <a:pt x="99030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4852080" y="2172622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4901595" y="2172622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4768687" y="2212390"/>
            <a:ext cx="99029" cy="45554"/>
          </a:xfrm>
          <a:custGeom>
            <a:avLst/>
            <a:gdLst/>
            <a:ahLst/>
            <a:cxnLst/>
            <a:rect l="l" t="t" r="r" b="b"/>
            <a:pathLst>
              <a:path w="99029" h="45554">
                <a:moveTo>
                  <a:pt x="0" y="22777"/>
                </a:moveTo>
                <a:lnTo>
                  <a:pt x="49515" y="0"/>
                </a:lnTo>
                <a:lnTo>
                  <a:pt x="99029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4768687" y="2235167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4818202" y="2235167"/>
            <a:ext cx="49514" cy="95746"/>
          </a:xfrm>
          <a:custGeom>
            <a:avLst/>
            <a:gdLst/>
            <a:ahLst/>
            <a:cxnLst/>
            <a:rect l="l" t="t" r="r" b="b"/>
            <a:pathLst>
              <a:path w="49514" h="95746">
                <a:moveTo>
                  <a:pt x="0" y="22777"/>
                </a:moveTo>
                <a:lnTo>
                  <a:pt x="49514" y="0"/>
                </a:lnTo>
                <a:lnTo>
                  <a:pt x="49514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84648" y="2066543"/>
            <a:ext cx="2432304" cy="3931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模型与关联约束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17720" y="2798063"/>
            <a:ext cx="2944368" cy="566928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粒度 / 键 / 基数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时间有效期 / 去重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325612" y="1924812"/>
            <a:ext cx="3364992" cy="1545336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8302752" y="1892807"/>
            <a:ext cx="3364992" cy="154533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476396" y="2462570"/>
            <a:ext cx="469087" cy="8339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643183" y="2082088"/>
            <a:ext cx="125089" cy="125089"/>
          </a:xfrm>
          <a:prstGeom prst="ellipse">
            <a:avLst/>
          </a:prstGeom>
          <a:solidFill>
            <a:srgbClr val="3BA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8580638" y="2201966"/>
            <a:ext cx="255392" cy="229332"/>
          </a:xfrm>
          <a:custGeom>
            <a:avLst/>
            <a:gdLst/>
            <a:ahLst/>
            <a:cxnLst/>
            <a:rect l="l" t="t" r="r" b="b"/>
            <a:pathLst>
              <a:path w="255392" h="229332">
                <a:moveTo>
                  <a:pt x="0" y="67757"/>
                </a:moveTo>
                <a:lnTo>
                  <a:pt x="125090" y="0"/>
                </a:lnTo>
                <a:lnTo>
                  <a:pt x="255392" y="72969"/>
                </a:lnTo>
                <a:lnTo>
                  <a:pt x="255392" y="229332"/>
                </a:lnTo>
                <a:lnTo>
                  <a:pt x="0" y="229332"/>
                </a:lnTo>
                <a:close/>
              </a:path>
            </a:pathLst>
          </a:custGeom>
          <a:solidFill>
            <a:srgbClr val="1E8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79992" y="2066543"/>
            <a:ext cx="2432304" cy="3931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责任与有效版本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13064" y="2798063"/>
            <a:ext cx="2944368" cy="566928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责任归属 / 审核状态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来源 / 生效期 / 时效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12064" y="3776472"/>
            <a:ext cx="11155680" cy="530352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03504" y="3808476"/>
            <a:ext cx="10972800" cy="46634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逻辑映射：业务对象与指标 → 已审核服务、SQL或实际表字段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2194560" y="3474720"/>
            <a:ext cx="0" cy="265176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 flipV="1">
            <a:off x="2158714" y="3681429"/>
            <a:ext cx="35846" cy="58467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2194560" y="3681429"/>
            <a:ext cx="35845" cy="58467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6089904" y="3474720"/>
            <a:ext cx="0" cy="265176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 flipV="1">
            <a:off x="6054058" y="3681429"/>
            <a:ext cx="35846" cy="58467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6089904" y="3681429"/>
            <a:ext cx="35845" cy="58467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9985248" y="3474720"/>
            <a:ext cx="0" cy="265176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H="1" flipV="1">
            <a:off x="9949402" y="3681429"/>
            <a:ext cx="35846" cy="58467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9985248" y="3681429"/>
            <a:ext cx="35845" cy="58467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534924" y="4677156"/>
            <a:ext cx="3364992" cy="102412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512064" y="4645152"/>
            <a:ext cx="3364992" cy="10241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58368" y="4791456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68096" y="4727448"/>
            <a:ext cx="2971800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资产与指标平台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94944" y="5202936"/>
            <a:ext cx="2999232" cy="36576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定义与实现归属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430268" y="4677156"/>
            <a:ext cx="3364992" cy="102412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4407408" y="4645152"/>
            <a:ext cx="3364992" cy="10241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553712" y="4791456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663440" y="4727448"/>
            <a:ext cx="2971800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数仓与计算引擎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590288" y="5202936"/>
            <a:ext cx="2999232" cy="36576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真实表字段与计算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325612" y="4677156"/>
            <a:ext cx="3364992" cy="102412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8302752" y="4645152"/>
            <a:ext cx="3364992" cy="10241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49056" y="4791456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558784" y="4727448"/>
            <a:ext cx="2971800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业务系统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485632" y="5202936"/>
            <a:ext cx="2999232" cy="36576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业务记录与约束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2194560" y="4343400"/>
            <a:ext cx="0" cy="265176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 flipV="1">
            <a:off x="2158714" y="4550109"/>
            <a:ext cx="35846" cy="58467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2194560" y="4550109"/>
            <a:ext cx="35845" cy="58467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6089904" y="4343400"/>
            <a:ext cx="0" cy="265176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 flipV="1">
            <a:off x="6054058" y="4550109"/>
            <a:ext cx="35846" cy="58467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089904" y="4550109"/>
            <a:ext cx="35845" cy="58467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985248" y="4343400"/>
            <a:ext cx="0" cy="265176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 flipV="1">
            <a:off x="9949402" y="4550109"/>
            <a:ext cx="35846" cy="58467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9985248" y="4550109"/>
            <a:ext cx="35845" cy="58467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461772" y="6112764"/>
            <a:ext cx="11247120" cy="33832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438912" y="6080760"/>
            <a:ext cx="11247120" cy="338328"/>
          </a:xfrm>
          <a:prstGeom prst="roundRect">
            <a:avLst>
              <a:gd name="adj" fmla="val 5500"/>
            </a:avLst>
          </a:prstGeom>
          <a:solidFill>
            <a:srgbClr val="EEF7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85216" y="6117336"/>
            <a:ext cx="10954512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优先在存量之上建立语义映射；物理改造不作为智能体建设前提，质量与性能仍由平台治理。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6346471"/>
            <a:ext cx="12191695" cy="235953"/>
          </a:xfrm>
          <a:custGeom>
            <a:avLst/>
            <a:gdLst/>
            <a:ahLst/>
            <a:cxnLst/>
            <a:rect l="l" t="t" r="r" b="b"/>
            <a:pathLst>
              <a:path w="12191695" h="235953">
                <a:moveTo>
                  <a:pt x="0" y="127481"/>
                </a:moveTo>
                <a:lnTo>
                  <a:pt x="135463" y="147046"/>
                </a:lnTo>
                <a:lnTo>
                  <a:pt x="270926" y="165914"/>
                </a:lnTo>
                <a:lnTo>
                  <a:pt x="406389" y="183426"/>
                </a:lnTo>
                <a:lnTo>
                  <a:pt x="541853" y="199000"/>
                </a:lnTo>
                <a:lnTo>
                  <a:pt x="677316" y="212159"/>
                </a:lnTo>
                <a:lnTo>
                  <a:pt x="812779" y="222557"/>
                </a:lnTo>
                <a:lnTo>
                  <a:pt x="948242" y="229995"/>
                </a:lnTo>
                <a:lnTo>
                  <a:pt x="1083706" y="234426"/>
                </a:lnTo>
                <a:lnTo>
                  <a:pt x="1219169" y="235953"/>
                </a:lnTo>
                <a:lnTo>
                  <a:pt x="1354632" y="234812"/>
                </a:lnTo>
                <a:lnTo>
                  <a:pt x="1490096" y="231352"/>
                </a:lnTo>
                <a:lnTo>
                  <a:pt x="1625559" y="226009"/>
                </a:lnTo>
                <a:lnTo>
                  <a:pt x="1761022" y="219267"/>
                </a:lnTo>
                <a:lnTo>
                  <a:pt x="1896485" y="211626"/>
                </a:lnTo>
                <a:lnTo>
                  <a:pt x="2031949" y="203564"/>
                </a:lnTo>
                <a:lnTo>
                  <a:pt x="2167412" y="195508"/>
                </a:lnTo>
                <a:lnTo>
                  <a:pt x="2302875" y="187800"/>
                </a:lnTo>
                <a:lnTo>
                  <a:pt x="2438339" y="180682"/>
                </a:lnTo>
                <a:lnTo>
                  <a:pt x="2573802" y="174280"/>
                </a:lnTo>
                <a:lnTo>
                  <a:pt x="2709265" y="168601"/>
                </a:lnTo>
                <a:lnTo>
                  <a:pt x="2844728" y="163541"/>
                </a:lnTo>
                <a:lnTo>
                  <a:pt x="2980192" y="158900"/>
                </a:lnTo>
                <a:lnTo>
                  <a:pt x="3115655" y="154402"/>
                </a:lnTo>
                <a:lnTo>
                  <a:pt x="3251118" y="149724"/>
                </a:lnTo>
                <a:lnTo>
                  <a:pt x="3386582" y="144534"/>
                </a:lnTo>
                <a:lnTo>
                  <a:pt x="3522045" y="138515"/>
                </a:lnTo>
                <a:lnTo>
                  <a:pt x="3657508" y="131408"/>
                </a:lnTo>
                <a:lnTo>
                  <a:pt x="3792971" y="123031"/>
                </a:lnTo>
                <a:lnTo>
                  <a:pt x="3928435" y="113309"/>
                </a:lnTo>
                <a:lnTo>
                  <a:pt x="4063898" y="102287"/>
                </a:lnTo>
                <a:lnTo>
                  <a:pt x="4199361" y="90138"/>
                </a:lnTo>
                <a:lnTo>
                  <a:pt x="4334824" y="77155"/>
                </a:lnTo>
                <a:lnTo>
                  <a:pt x="4470288" y="63745"/>
                </a:lnTo>
                <a:lnTo>
                  <a:pt x="4605751" y="50406"/>
                </a:lnTo>
                <a:lnTo>
                  <a:pt x="4741214" y="37696"/>
                </a:lnTo>
                <a:lnTo>
                  <a:pt x="4876678" y="26202"/>
                </a:lnTo>
                <a:lnTo>
                  <a:pt x="5012141" y="16503"/>
                </a:lnTo>
                <a:lnTo>
                  <a:pt x="5147604" y="9131"/>
                </a:lnTo>
                <a:lnTo>
                  <a:pt x="5283067" y="4538"/>
                </a:lnTo>
                <a:lnTo>
                  <a:pt x="5418531" y="3064"/>
                </a:lnTo>
                <a:lnTo>
                  <a:pt x="5553994" y="4912"/>
                </a:lnTo>
                <a:lnTo>
                  <a:pt x="5689457" y="10132"/>
                </a:lnTo>
                <a:lnTo>
                  <a:pt x="5824921" y="18617"/>
                </a:lnTo>
                <a:lnTo>
                  <a:pt x="5960384" y="30106"/>
                </a:lnTo>
                <a:lnTo>
                  <a:pt x="6095847" y="44193"/>
                </a:lnTo>
                <a:lnTo>
                  <a:pt x="6231310" y="60357"/>
                </a:lnTo>
                <a:lnTo>
                  <a:pt x="6366774" y="77984"/>
                </a:lnTo>
                <a:lnTo>
                  <a:pt x="6502237" y="96410"/>
                </a:lnTo>
                <a:lnTo>
                  <a:pt x="6637700" y="114953"/>
                </a:lnTo>
                <a:lnTo>
                  <a:pt x="6773164" y="132954"/>
                </a:lnTo>
                <a:lnTo>
                  <a:pt x="6908627" y="149814"/>
                </a:lnTo>
                <a:lnTo>
                  <a:pt x="7044090" y="165027"/>
                </a:lnTo>
                <a:lnTo>
                  <a:pt x="7179553" y="178204"/>
                </a:lnTo>
                <a:lnTo>
                  <a:pt x="7315017" y="189090"/>
                </a:lnTo>
                <a:lnTo>
                  <a:pt x="7450480" y="197574"/>
                </a:lnTo>
                <a:lnTo>
                  <a:pt x="7585943" y="203682"/>
                </a:lnTo>
                <a:lnTo>
                  <a:pt x="7721406" y="207573"/>
                </a:lnTo>
                <a:lnTo>
                  <a:pt x="7856870" y="209512"/>
                </a:lnTo>
                <a:lnTo>
                  <a:pt x="7992333" y="209848"/>
                </a:lnTo>
                <a:lnTo>
                  <a:pt x="8127796" y="208978"/>
                </a:lnTo>
                <a:lnTo>
                  <a:pt x="8263260" y="207316"/>
                </a:lnTo>
                <a:lnTo>
                  <a:pt x="8398723" y="205256"/>
                </a:lnTo>
                <a:lnTo>
                  <a:pt x="8534186" y="203141"/>
                </a:lnTo>
                <a:lnTo>
                  <a:pt x="8669649" y="201238"/>
                </a:lnTo>
                <a:lnTo>
                  <a:pt x="8805113" y="199711"/>
                </a:lnTo>
                <a:lnTo>
                  <a:pt x="8940576" y="198616"/>
                </a:lnTo>
                <a:lnTo>
                  <a:pt x="9076039" y="197894"/>
                </a:lnTo>
                <a:lnTo>
                  <a:pt x="9211503" y="197378"/>
                </a:lnTo>
                <a:lnTo>
                  <a:pt x="9346966" y="196808"/>
                </a:lnTo>
                <a:lnTo>
                  <a:pt x="9482429" y="195855"/>
                </a:lnTo>
                <a:lnTo>
                  <a:pt x="9617892" y="194147"/>
                </a:lnTo>
                <a:lnTo>
                  <a:pt x="9753356" y="191305"/>
                </a:lnTo>
                <a:lnTo>
                  <a:pt x="9888819" y="186977"/>
                </a:lnTo>
                <a:lnTo>
                  <a:pt x="10024282" y="180869"/>
                </a:lnTo>
                <a:lnTo>
                  <a:pt x="10159746" y="172776"/>
                </a:lnTo>
                <a:lnTo>
                  <a:pt x="10295209" y="162608"/>
                </a:lnTo>
                <a:lnTo>
                  <a:pt x="10430672" y="150402"/>
                </a:lnTo>
                <a:lnTo>
                  <a:pt x="10566135" y="136335"/>
                </a:lnTo>
                <a:lnTo>
                  <a:pt x="10701599" y="120717"/>
                </a:lnTo>
                <a:lnTo>
                  <a:pt x="10837062" y="103984"/>
                </a:lnTo>
                <a:lnTo>
                  <a:pt x="10972525" y="86673"/>
                </a:lnTo>
                <a:lnTo>
                  <a:pt x="11107988" y="69396"/>
                </a:lnTo>
                <a:lnTo>
                  <a:pt x="11243452" y="52806"/>
                </a:lnTo>
                <a:lnTo>
                  <a:pt x="11378915" y="37558"/>
                </a:lnTo>
                <a:lnTo>
                  <a:pt x="11514378" y="24274"/>
                </a:lnTo>
                <a:lnTo>
                  <a:pt x="11649842" y="13501"/>
                </a:lnTo>
                <a:lnTo>
                  <a:pt x="11785305" y="5683"/>
                </a:lnTo>
                <a:lnTo>
                  <a:pt x="11920768" y="1129"/>
                </a:lnTo>
                <a:lnTo>
                  <a:pt x="12056231" y="0"/>
                </a:lnTo>
                <a:lnTo>
                  <a:pt x="12191695" y="2300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6405649"/>
            <a:ext cx="12191695" cy="245182"/>
          </a:xfrm>
          <a:custGeom>
            <a:avLst/>
            <a:gdLst/>
            <a:ahLst/>
            <a:cxnLst/>
            <a:rect l="l" t="t" r="r" b="b"/>
            <a:pathLst>
              <a:path w="12191695" h="245182">
                <a:moveTo>
                  <a:pt x="0" y="150669"/>
                </a:moveTo>
                <a:lnTo>
                  <a:pt x="135463" y="169737"/>
                </a:lnTo>
                <a:lnTo>
                  <a:pt x="270926" y="187768"/>
                </a:lnTo>
                <a:lnTo>
                  <a:pt x="406389" y="204118"/>
                </a:lnTo>
                <a:lnTo>
                  <a:pt x="541853" y="218220"/>
                </a:lnTo>
                <a:lnTo>
                  <a:pt x="677316" y="229621"/>
                </a:lnTo>
                <a:lnTo>
                  <a:pt x="812779" y="238002"/>
                </a:lnTo>
                <a:lnTo>
                  <a:pt x="948242" y="243193"/>
                </a:lnTo>
                <a:lnTo>
                  <a:pt x="1083706" y="245182"/>
                </a:lnTo>
                <a:lnTo>
                  <a:pt x="1219169" y="244108"/>
                </a:lnTo>
                <a:lnTo>
                  <a:pt x="1354632" y="240247"/>
                </a:lnTo>
                <a:lnTo>
                  <a:pt x="1490096" y="233989"/>
                </a:lnTo>
                <a:lnTo>
                  <a:pt x="1625559" y="225812"/>
                </a:lnTo>
                <a:lnTo>
                  <a:pt x="1761022" y="216243"/>
                </a:lnTo>
                <a:lnTo>
                  <a:pt x="1896485" y="205824"/>
                </a:lnTo>
                <a:lnTo>
                  <a:pt x="2031949" y="195076"/>
                </a:lnTo>
                <a:lnTo>
                  <a:pt x="2167412" y="184466"/>
                </a:lnTo>
                <a:lnTo>
                  <a:pt x="2302875" y="174375"/>
                </a:lnTo>
                <a:lnTo>
                  <a:pt x="2438339" y="165080"/>
                </a:lnTo>
                <a:lnTo>
                  <a:pt x="2573802" y="156740"/>
                </a:lnTo>
                <a:lnTo>
                  <a:pt x="2709265" y="149392"/>
                </a:lnTo>
                <a:lnTo>
                  <a:pt x="2844728" y="142958"/>
                </a:lnTo>
                <a:lnTo>
                  <a:pt x="2980192" y="137257"/>
                </a:lnTo>
                <a:lnTo>
                  <a:pt x="3115655" y="132030"/>
                </a:lnTo>
                <a:lnTo>
                  <a:pt x="3251118" y="126965"/>
                </a:lnTo>
                <a:lnTo>
                  <a:pt x="3386582" y="121734"/>
                </a:lnTo>
                <a:lnTo>
                  <a:pt x="3522045" y="116024"/>
                </a:lnTo>
                <a:lnTo>
                  <a:pt x="3657508" y="109568"/>
                </a:lnTo>
                <a:lnTo>
                  <a:pt x="3792971" y="102177"/>
                </a:lnTo>
                <a:lnTo>
                  <a:pt x="3928435" y="93759"/>
                </a:lnTo>
                <a:lnTo>
                  <a:pt x="4063898" y="84341"/>
                </a:lnTo>
                <a:lnTo>
                  <a:pt x="4199361" y="74069"/>
                </a:lnTo>
                <a:lnTo>
                  <a:pt x="4334824" y="63211"/>
                </a:lnTo>
                <a:lnTo>
                  <a:pt x="4470288" y="52141"/>
                </a:lnTo>
                <a:lnTo>
                  <a:pt x="4605751" y="41320"/>
                </a:lnTo>
                <a:lnTo>
                  <a:pt x="4741214" y="31269"/>
                </a:lnTo>
                <a:lnTo>
                  <a:pt x="4876678" y="22536"/>
                </a:lnTo>
                <a:lnTo>
                  <a:pt x="5012141" y="15656"/>
                </a:lnTo>
                <a:lnTo>
                  <a:pt x="5147604" y="11120"/>
                </a:lnTo>
                <a:lnTo>
                  <a:pt x="5283067" y="9338"/>
                </a:lnTo>
                <a:lnTo>
                  <a:pt x="5418531" y="10605"/>
                </a:lnTo>
                <a:lnTo>
                  <a:pt x="5553994" y="15085"/>
                </a:lnTo>
                <a:lnTo>
                  <a:pt x="5689457" y="22787"/>
                </a:lnTo>
                <a:lnTo>
                  <a:pt x="5824921" y="33567"/>
                </a:lnTo>
                <a:lnTo>
                  <a:pt x="5960384" y="47128"/>
                </a:lnTo>
                <a:lnTo>
                  <a:pt x="6095847" y="63035"/>
                </a:lnTo>
                <a:lnTo>
                  <a:pt x="6231310" y="80738"/>
                </a:lnTo>
                <a:lnTo>
                  <a:pt x="6366774" y="99601"/>
                </a:lnTo>
                <a:lnTo>
                  <a:pt x="6502237" y="118939"/>
                </a:lnTo>
                <a:lnTo>
                  <a:pt x="6637700" y="138058"/>
                </a:lnTo>
                <a:lnTo>
                  <a:pt x="6773164" y="156290"/>
                </a:lnTo>
                <a:lnTo>
                  <a:pt x="6908627" y="173034"/>
                </a:lnTo>
                <a:lnTo>
                  <a:pt x="7044090" y="187783"/>
                </a:lnTo>
                <a:lnTo>
                  <a:pt x="7179553" y="200156"/>
                </a:lnTo>
                <a:lnTo>
                  <a:pt x="7315017" y="209912"/>
                </a:lnTo>
                <a:lnTo>
                  <a:pt x="7450480" y="216953"/>
                </a:lnTo>
                <a:lnTo>
                  <a:pt x="7585943" y="221331"/>
                </a:lnTo>
                <a:lnTo>
                  <a:pt x="7721406" y="223229"/>
                </a:lnTo>
                <a:lnTo>
                  <a:pt x="7856870" y="222943"/>
                </a:lnTo>
                <a:lnTo>
                  <a:pt x="7992333" y="220854"/>
                </a:lnTo>
                <a:lnTo>
                  <a:pt x="8127796" y="217398"/>
                </a:lnTo>
                <a:lnTo>
                  <a:pt x="8263260" y="213025"/>
                </a:lnTo>
                <a:lnTo>
                  <a:pt x="8398723" y="208173"/>
                </a:lnTo>
                <a:lnTo>
                  <a:pt x="8534186" y="203226"/>
                </a:lnTo>
                <a:lnTo>
                  <a:pt x="8669649" y="198493"/>
                </a:lnTo>
                <a:lnTo>
                  <a:pt x="8805113" y="194182"/>
                </a:lnTo>
                <a:lnTo>
                  <a:pt x="8940576" y="190390"/>
                </a:lnTo>
                <a:lnTo>
                  <a:pt x="9076039" y="187099"/>
                </a:lnTo>
                <a:lnTo>
                  <a:pt x="9211503" y="184181"/>
                </a:lnTo>
                <a:lnTo>
                  <a:pt x="9346966" y="181412"/>
                </a:lnTo>
                <a:lnTo>
                  <a:pt x="9482429" y="178496"/>
                </a:lnTo>
                <a:lnTo>
                  <a:pt x="9617892" y="175092"/>
                </a:lnTo>
                <a:lnTo>
                  <a:pt x="9753356" y="170845"/>
                </a:lnTo>
                <a:lnTo>
                  <a:pt x="9888819" y="165425"/>
                </a:lnTo>
                <a:lnTo>
                  <a:pt x="10024282" y="158555"/>
                </a:lnTo>
                <a:lnTo>
                  <a:pt x="10159746" y="150040"/>
                </a:lnTo>
                <a:lnTo>
                  <a:pt x="10295209" y="139797"/>
                </a:lnTo>
                <a:lnTo>
                  <a:pt x="10430672" y="127865"/>
                </a:lnTo>
                <a:lnTo>
                  <a:pt x="10566135" y="114415"/>
                </a:lnTo>
                <a:lnTo>
                  <a:pt x="10701599" y="99751"/>
                </a:lnTo>
                <a:lnTo>
                  <a:pt x="10837062" y="84291"/>
                </a:lnTo>
                <a:lnTo>
                  <a:pt x="10972525" y="68554"/>
                </a:lnTo>
                <a:lnTo>
                  <a:pt x="11107988" y="53129"/>
                </a:lnTo>
                <a:lnTo>
                  <a:pt x="11243452" y="38641"/>
                </a:lnTo>
                <a:lnTo>
                  <a:pt x="11378915" y="25713"/>
                </a:lnTo>
                <a:lnTo>
                  <a:pt x="11514378" y="14931"/>
                </a:lnTo>
                <a:lnTo>
                  <a:pt x="11649842" y="6805"/>
                </a:lnTo>
                <a:lnTo>
                  <a:pt x="11785305" y="1738"/>
                </a:lnTo>
                <a:lnTo>
                  <a:pt x="11920768" y="0"/>
                </a:lnTo>
                <a:lnTo>
                  <a:pt x="12056231" y="1708"/>
                </a:lnTo>
                <a:lnTo>
                  <a:pt x="12191695" y="6822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6467906"/>
            <a:ext cx="12191695" cy="248613"/>
          </a:xfrm>
          <a:custGeom>
            <a:avLst/>
            <a:gdLst/>
            <a:ahLst/>
            <a:cxnLst/>
            <a:rect l="l" t="t" r="r" b="b"/>
            <a:pathLst>
              <a:path w="12191695" h="248613">
                <a:moveTo>
                  <a:pt x="0" y="169572"/>
                </a:moveTo>
                <a:lnTo>
                  <a:pt x="135463" y="187517"/>
                </a:lnTo>
                <a:lnTo>
                  <a:pt x="270926" y="204116"/>
                </a:lnTo>
                <a:lnTo>
                  <a:pt x="406389" y="218744"/>
                </a:lnTo>
                <a:lnTo>
                  <a:pt x="541853" y="230861"/>
                </a:lnTo>
                <a:lnTo>
                  <a:pt x="677316" y="240043"/>
                </a:lnTo>
                <a:lnTo>
                  <a:pt x="812779" y="246004"/>
                </a:lnTo>
                <a:lnTo>
                  <a:pt x="948242" y="248613"/>
                </a:lnTo>
                <a:lnTo>
                  <a:pt x="1083706" y="247896"/>
                </a:lnTo>
                <a:lnTo>
                  <a:pt x="1219169" y="244031"/>
                </a:lnTo>
                <a:lnTo>
                  <a:pt x="1354632" y="237338"/>
                </a:lnTo>
                <a:lnTo>
                  <a:pt x="1490096" y="228250"/>
                </a:lnTo>
                <a:lnTo>
                  <a:pt x="1625559" y="217286"/>
                </a:lnTo>
                <a:lnTo>
                  <a:pt x="1761022" y="205017"/>
                </a:lnTo>
                <a:lnTo>
                  <a:pt x="1896485" y="192024"/>
                </a:lnTo>
                <a:lnTo>
                  <a:pt x="2031949" y="178869"/>
                </a:lnTo>
                <a:lnTo>
                  <a:pt x="2167412" y="166053"/>
                </a:lnTo>
                <a:lnTo>
                  <a:pt x="2302875" y="153992"/>
                </a:lnTo>
                <a:lnTo>
                  <a:pt x="2438339" y="142992"/>
                </a:lnTo>
                <a:lnTo>
                  <a:pt x="2573802" y="133239"/>
                </a:lnTo>
                <a:lnTo>
                  <a:pt x="2709265" y="124790"/>
                </a:lnTo>
                <a:lnTo>
                  <a:pt x="2844728" y="117583"/>
                </a:lnTo>
                <a:lnTo>
                  <a:pt x="2980192" y="111449"/>
                </a:lnTo>
                <a:lnTo>
                  <a:pt x="3115655" y="106137"/>
                </a:lnTo>
                <a:lnTo>
                  <a:pt x="3251118" y="101335"/>
                </a:lnTo>
                <a:lnTo>
                  <a:pt x="3386582" y="96713"/>
                </a:lnTo>
                <a:lnTo>
                  <a:pt x="3522045" y="91945"/>
                </a:lnTo>
                <a:lnTo>
                  <a:pt x="3657508" y="86753"/>
                </a:lnTo>
                <a:lnTo>
                  <a:pt x="3792971" y="80928"/>
                </a:lnTo>
                <a:lnTo>
                  <a:pt x="3928435" y="74354"/>
                </a:lnTo>
                <a:lnTo>
                  <a:pt x="4063898" y="67031"/>
                </a:lnTo>
                <a:lnTo>
                  <a:pt x="4199361" y="59072"/>
                </a:lnTo>
                <a:lnTo>
                  <a:pt x="4334824" y="50711"/>
                </a:lnTo>
                <a:lnTo>
                  <a:pt x="4470288" y="42285"/>
                </a:lnTo>
                <a:lnTo>
                  <a:pt x="4605751" y="34213"/>
                </a:lnTo>
                <a:lnTo>
                  <a:pt x="4741214" y="26977"/>
                </a:lnTo>
                <a:lnTo>
                  <a:pt x="4876678" y="21080"/>
                </a:lnTo>
                <a:lnTo>
                  <a:pt x="5012141" y="17016"/>
                </a:lnTo>
                <a:lnTo>
                  <a:pt x="5147604" y="15233"/>
                </a:lnTo>
                <a:lnTo>
                  <a:pt x="5283067" y="16099"/>
                </a:lnTo>
                <a:lnTo>
                  <a:pt x="5418531" y="19870"/>
                </a:lnTo>
                <a:lnTo>
                  <a:pt x="5553994" y="26670"/>
                </a:lnTo>
                <a:lnTo>
                  <a:pt x="5689457" y="36475"/>
                </a:lnTo>
                <a:lnTo>
                  <a:pt x="5824921" y="49109"/>
                </a:lnTo>
                <a:lnTo>
                  <a:pt x="5960384" y="64247"/>
                </a:lnTo>
                <a:lnTo>
                  <a:pt x="6095847" y="81430"/>
                </a:lnTo>
                <a:lnTo>
                  <a:pt x="6231310" y="100088"/>
                </a:lnTo>
                <a:lnTo>
                  <a:pt x="6366774" y="119571"/>
                </a:lnTo>
                <a:lnTo>
                  <a:pt x="6502237" y="139187"/>
                </a:lnTo>
                <a:lnTo>
                  <a:pt x="6637700" y="158234"/>
                </a:lnTo>
                <a:lnTo>
                  <a:pt x="6773164" y="176047"/>
                </a:lnTo>
                <a:lnTo>
                  <a:pt x="6908627" y="192030"/>
                </a:lnTo>
                <a:lnTo>
                  <a:pt x="7044090" y="205690"/>
                </a:lnTo>
                <a:lnTo>
                  <a:pt x="7179553" y="216660"/>
                </a:lnTo>
                <a:lnTo>
                  <a:pt x="7315017" y="224721"/>
                </a:lnTo>
                <a:lnTo>
                  <a:pt x="7450480" y="229802"/>
                </a:lnTo>
                <a:lnTo>
                  <a:pt x="7585943" y="231983"/>
                </a:lnTo>
                <a:lnTo>
                  <a:pt x="7721406" y="231480"/>
                </a:lnTo>
                <a:lnTo>
                  <a:pt x="7856870" y="228626"/>
                </a:lnTo>
                <a:lnTo>
                  <a:pt x="7992333" y="223841"/>
                </a:lnTo>
                <a:lnTo>
                  <a:pt x="8127796" y="217601"/>
                </a:lnTo>
                <a:lnTo>
                  <a:pt x="8263260" y="210399"/>
                </a:lnTo>
                <a:lnTo>
                  <a:pt x="8398723" y="202714"/>
                </a:lnTo>
                <a:lnTo>
                  <a:pt x="8534186" y="194975"/>
                </a:lnTo>
                <a:lnTo>
                  <a:pt x="8669649" y="187531"/>
                </a:lnTo>
                <a:lnTo>
                  <a:pt x="8805113" y="180631"/>
                </a:lnTo>
                <a:lnTo>
                  <a:pt x="8940576" y="174414"/>
                </a:lnTo>
                <a:lnTo>
                  <a:pt x="9076039" y="168896"/>
                </a:lnTo>
                <a:lnTo>
                  <a:pt x="9211503" y="163983"/>
                </a:lnTo>
                <a:lnTo>
                  <a:pt x="9346966" y="159481"/>
                </a:lnTo>
                <a:lnTo>
                  <a:pt x="9482429" y="155122"/>
                </a:lnTo>
                <a:lnTo>
                  <a:pt x="9617892" y="150584"/>
                </a:lnTo>
                <a:lnTo>
                  <a:pt x="9753356" y="145531"/>
                </a:lnTo>
                <a:lnTo>
                  <a:pt x="9888819" y="139645"/>
                </a:lnTo>
                <a:lnTo>
                  <a:pt x="10024282" y="132654"/>
                </a:lnTo>
                <a:lnTo>
                  <a:pt x="10159746" y="124369"/>
                </a:lnTo>
                <a:lnTo>
                  <a:pt x="10295209" y="114699"/>
                </a:lnTo>
                <a:lnTo>
                  <a:pt x="10430672" y="103677"/>
                </a:lnTo>
                <a:lnTo>
                  <a:pt x="10566135" y="91461"/>
                </a:lnTo>
                <a:lnTo>
                  <a:pt x="10701599" y="78333"/>
                </a:lnTo>
                <a:lnTo>
                  <a:pt x="10837062" y="64691"/>
                </a:lnTo>
                <a:lnTo>
                  <a:pt x="10972525" y="51025"/>
                </a:lnTo>
                <a:lnTo>
                  <a:pt x="11107988" y="37893"/>
                </a:lnTo>
                <a:lnTo>
                  <a:pt x="11243452" y="25885"/>
                </a:lnTo>
                <a:lnTo>
                  <a:pt x="11378915" y="15588"/>
                </a:lnTo>
                <a:lnTo>
                  <a:pt x="11514378" y="7547"/>
                </a:lnTo>
                <a:lnTo>
                  <a:pt x="11649842" y="2231"/>
                </a:lnTo>
                <a:lnTo>
                  <a:pt x="11785305" y="0"/>
                </a:lnTo>
                <a:lnTo>
                  <a:pt x="11920768" y="1082"/>
                </a:lnTo>
                <a:lnTo>
                  <a:pt x="12056231" y="5551"/>
                </a:lnTo>
                <a:lnTo>
                  <a:pt x="12191695" y="13326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0" y="6533113"/>
            <a:ext cx="12191695" cy="246124"/>
          </a:xfrm>
          <a:custGeom>
            <a:avLst/>
            <a:gdLst/>
            <a:ahLst/>
            <a:cxnLst/>
            <a:rect l="l" t="t" r="r" b="b"/>
            <a:pathLst>
              <a:path w="12191695" h="246124">
                <a:moveTo>
                  <a:pt x="0" y="183172"/>
                </a:moveTo>
                <a:lnTo>
                  <a:pt x="135463" y="199432"/>
                </a:lnTo>
                <a:lnTo>
                  <a:pt x="270926" y="214077"/>
                </a:lnTo>
                <a:lnTo>
                  <a:pt x="406389" y="226514"/>
                </a:lnTo>
                <a:lnTo>
                  <a:pt x="541853" y="236236"/>
                </a:lnTo>
                <a:lnTo>
                  <a:pt x="677316" y="242855"/>
                </a:lnTo>
                <a:lnTo>
                  <a:pt x="812779" y="246124"/>
                </a:lnTo>
                <a:lnTo>
                  <a:pt x="948242" y="245951"/>
                </a:lnTo>
                <a:lnTo>
                  <a:pt x="1083706" y="242404"/>
                </a:lnTo>
                <a:lnTo>
                  <a:pt x="1219169" y="235707"/>
                </a:lnTo>
                <a:lnTo>
                  <a:pt x="1354632" y="226219"/>
                </a:lnTo>
                <a:lnTo>
                  <a:pt x="1490096" y="214417"/>
                </a:lnTo>
                <a:lnTo>
                  <a:pt x="1625559" y="200862"/>
                </a:lnTo>
                <a:lnTo>
                  <a:pt x="1761022" y="186161"/>
                </a:lnTo>
                <a:lnTo>
                  <a:pt x="1896485" y="170935"/>
                </a:lnTo>
                <a:lnTo>
                  <a:pt x="2031949" y="155777"/>
                </a:lnTo>
                <a:lnTo>
                  <a:pt x="2167412" y="141221"/>
                </a:lnTo>
                <a:lnTo>
                  <a:pt x="2302875" y="127707"/>
                </a:lnTo>
                <a:lnTo>
                  <a:pt x="2438339" y="115564"/>
                </a:lnTo>
                <a:lnTo>
                  <a:pt x="2573802" y="104994"/>
                </a:lnTo>
                <a:lnTo>
                  <a:pt x="2709265" y="96068"/>
                </a:lnTo>
                <a:lnTo>
                  <a:pt x="2844728" y="88731"/>
                </a:lnTo>
                <a:lnTo>
                  <a:pt x="2980192" y="82816"/>
                </a:lnTo>
                <a:lnTo>
                  <a:pt x="3115655" y="78067"/>
                </a:lnTo>
                <a:lnTo>
                  <a:pt x="3251118" y="74166"/>
                </a:lnTo>
                <a:lnTo>
                  <a:pt x="3386582" y="70766"/>
                </a:lnTo>
                <a:lnTo>
                  <a:pt x="3522045" y="67527"/>
                </a:lnTo>
                <a:lnTo>
                  <a:pt x="3657508" y="64145"/>
                </a:lnTo>
                <a:lnTo>
                  <a:pt x="3792971" y="60383"/>
                </a:lnTo>
                <a:lnTo>
                  <a:pt x="3928435" y="56096"/>
                </a:lnTo>
                <a:lnTo>
                  <a:pt x="4063898" y="51248"/>
                </a:lnTo>
                <a:lnTo>
                  <a:pt x="4199361" y="45917"/>
                </a:lnTo>
                <a:lnTo>
                  <a:pt x="4334824" y="40294"/>
                </a:lnTo>
                <a:lnTo>
                  <a:pt x="4470288" y="34675"/>
                </a:lnTo>
                <a:lnTo>
                  <a:pt x="4605751" y="29440"/>
                </a:lnTo>
                <a:lnTo>
                  <a:pt x="4741214" y="25025"/>
                </a:lnTo>
                <a:lnTo>
                  <a:pt x="4876678" y="21891"/>
                </a:lnTo>
                <a:lnTo>
                  <a:pt x="5012141" y="20491"/>
                </a:lnTo>
                <a:lnTo>
                  <a:pt x="5147604" y="21233"/>
                </a:lnTo>
                <a:lnTo>
                  <a:pt x="5283067" y="24445"/>
                </a:lnTo>
                <a:lnTo>
                  <a:pt x="5418531" y="30349"/>
                </a:lnTo>
                <a:lnTo>
                  <a:pt x="5553994" y="39037"/>
                </a:lnTo>
                <a:lnTo>
                  <a:pt x="5689457" y="50457"/>
                </a:lnTo>
                <a:lnTo>
                  <a:pt x="5824921" y="64407"/>
                </a:lnTo>
                <a:lnTo>
                  <a:pt x="5960384" y="80543"/>
                </a:lnTo>
                <a:lnTo>
                  <a:pt x="6095847" y="98390"/>
                </a:lnTo>
                <a:lnTo>
                  <a:pt x="6231310" y="117369"/>
                </a:lnTo>
                <a:lnTo>
                  <a:pt x="6366774" y="136826"/>
                </a:lnTo>
                <a:lnTo>
                  <a:pt x="6502237" y="156066"/>
                </a:lnTo>
                <a:lnTo>
                  <a:pt x="6637700" y="174397"/>
                </a:lnTo>
                <a:lnTo>
                  <a:pt x="6773164" y="191162"/>
                </a:lnTo>
                <a:lnTo>
                  <a:pt x="6908627" y="205782"/>
                </a:lnTo>
                <a:lnTo>
                  <a:pt x="7044090" y="217784"/>
                </a:lnTo>
                <a:lnTo>
                  <a:pt x="7179553" y="226827"/>
                </a:lnTo>
                <a:lnTo>
                  <a:pt x="7315017" y="232720"/>
                </a:lnTo>
                <a:lnTo>
                  <a:pt x="7450480" y="235424"/>
                </a:lnTo>
                <a:lnTo>
                  <a:pt x="7585943" y="235057"/>
                </a:lnTo>
                <a:lnTo>
                  <a:pt x="7721406" y="231872"/>
                </a:lnTo>
                <a:lnTo>
                  <a:pt x="7856870" y="226244"/>
                </a:lnTo>
                <a:lnTo>
                  <a:pt x="7992333" y="218632"/>
                </a:lnTo>
                <a:lnTo>
                  <a:pt x="8127796" y="209557"/>
                </a:lnTo>
                <a:lnTo>
                  <a:pt x="8263260" y="199555"/>
                </a:lnTo>
                <a:lnTo>
                  <a:pt x="8398723" y="189147"/>
                </a:lnTo>
                <a:lnTo>
                  <a:pt x="8534186" y="178801"/>
                </a:lnTo>
                <a:lnTo>
                  <a:pt x="8669649" y="168908"/>
                </a:lnTo>
                <a:lnTo>
                  <a:pt x="8805113" y="159754"/>
                </a:lnTo>
                <a:lnTo>
                  <a:pt x="8940576" y="151510"/>
                </a:lnTo>
                <a:lnTo>
                  <a:pt x="9076039" y="144224"/>
                </a:lnTo>
                <a:lnTo>
                  <a:pt x="9211503" y="137828"/>
                </a:lnTo>
                <a:lnTo>
                  <a:pt x="9346966" y="132152"/>
                </a:lnTo>
                <a:lnTo>
                  <a:pt x="9482429" y="126943"/>
                </a:lnTo>
                <a:lnTo>
                  <a:pt x="9617892" y="121894"/>
                </a:lnTo>
                <a:lnTo>
                  <a:pt x="9753356" y="116677"/>
                </a:lnTo>
                <a:lnTo>
                  <a:pt x="9888819" y="110975"/>
                </a:lnTo>
                <a:lnTo>
                  <a:pt x="10024282" y="104513"/>
                </a:lnTo>
                <a:lnTo>
                  <a:pt x="10159746" y="97095"/>
                </a:lnTo>
                <a:lnTo>
                  <a:pt x="10295209" y="88617"/>
                </a:lnTo>
                <a:lnTo>
                  <a:pt x="10430672" y="79094"/>
                </a:lnTo>
                <a:lnTo>
                  <a:pt x="10566135" y="68661"/>
                </a:lnTo>
                <a:lnTo>
                  <a:pt x="10701599" y="57573"/>
                </a:lnTo>
                <a:lnTo>
                  <a:pt x="10837062" y="46197"/>
                </a:lnTo>
                <a:lnTo>
                  <a:pt x="10972525" y="34990"/>
                </a:lnTo>
                <a:lnTo>
                  <a:pt x="11107988" y="24471"/>
                </a:lnTo>
                <a:lnTo>
                  <a:pt x="11243452" y="15192"/>
                </a:lnTo>
                <a:lnTo>
                  <a:pt x="11378915" y="7698"/>
                </a:lnTo>
                <a:lnTo>
                  <a:pt x="11514378" y="2492"/>
                </a:lnTo>
                <a:lnTo>
                  <a:pt x="11649842" y="0"/>
                </a:lnTo>
                <a:lnTo>
                  <a:pt x="11785305" y="541"/>
                </a:lnTo>
                <a:lnTo>
                  <a:pt x="11920768" y="4298"/>
                </a:lnTo>
                <a:lnTo>
                  <a:pt x="12056231" y="11307"/>
                </a:lnTo>
                <a:lnTo>
                  <a:pt x="12191695" y="21447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0" y="6600998"/>
            <a:ext cx="12191695" cy="238322"/>
          </a:xfrm>
          <a:custGeom>
            <a:avLst/>
            <a:gdLst/>
            <a:ahLst/>
            <a:cxnLst/>
            <a:rect l="l" t="t" r="r" b="b"/>
            <a:pathLst>
              <a:path w="12191695" h="238322">
                <a:moveTo>
                  <a:pt x="0" y="190722"/>
                </a:moveTo>
                <a:lnTo>
                  <a:pt x="135463" y="204821"/>
                </a:lnTo>
                <a:lnTo>
                  <a:pt x="270926" y="217096"/>
                </a:lnTo>
                <a:lnTo>
                  <a:pt x="406389" y="226989"/>
                </a:lnTo>
                <a:lnTo>
                  <a:pt x="541853" y="234032"/>
                </a:lnTo>
                <a:lnTo>
                  <a:pt x="677316" y="237878"/>
                </a:lnTo>
                <a:lnTo>
                  <a:pt x="812779" y="238322"/>
                </a:lnTo>
                <a:lnTo>
                  <a:pt x="948242" y="235314"/>
                </a:lnTo>
                <a:lnTo>
                  <a:pt x="1083706" y="228966"/>
                </a:lnTo>
                <a:lnTo>
                  <a:pt x="1219169" y="219541"/>
                </a:lnTo>
                <a:lnTo>
                  <a:pt x="1354632" y="207444"/>
                </a:lnTo>
                <a:lnTo>
                  <a:pt x="1490096" y="193188"/>
                </a:lnTo>
                <a:lnTo>
                  <a:pt x="1625559" y="177371"/>
                </a:lnTo>
                <a:lnTo>
                  <a:pt x="1761022" y="160636"/>
                </a:lnTo>
                <a:lnTo>
                  <a:pt x="1896485" y="143634"/>
                </a:lnTo>
                <a:lnTo>
                  <a:pt x="2031949" y="126985"/>
                </a:lnTo>
                <a:lnTo>
                  <a:pt x="2167412" y="111244"/>
                </a:lnTo>
                <a:lnTo>
                  <a:pt x="2302875" y="96871"/>
                </a:lnTo>
                <a:lnTo>
                  <a:pt x="2438339" y="84207"/>
                </a:lnTo>
                <a:lnTo>
                  <a:pt x="2573802" y="73462"/>
                </a:lnTo>
                <a:lnTo>
                  <a:pt x="2709265" y="64709"/>
                </a:lnTo>
                <a:lnTo>
                  <a:pt x="2844728" y="57891"/>
                </a:lnTo>
                <a:lnTo>
                  <a:pt x="2980192" y="52834"/>
                </a:lnTo>
                <a:lnTo>
                  <a:pt x="3115655" y="49267"/>
                </a:lnTo>
                <a:lnTo>
                  <a:pt x="3251118" y="46856"/>
                </a:lnTo>
                <a:lnTo>
                  <a:pt x="3386582" y="45231"/>
                </a:lnTo>
                <a:lnTo>
                  <a:pt x="3522045" y="44024"/>
                </a:lnTo>
                <a:lnTo>
                  <a:pt x="3657508" y="42902"/>
                </a:lnTo>
                <a:lnTo>
                  <a:pt x="3792971" y="41593"/>
                </a:lnTo>
                <a:lnTo>
                  <a:pt x="3928435" y="39916"/>
                </a:lnTo>
                <a:lnTo>
                  <a:pt x="4063898" y="37794"/>
                </a:lnTo>
                <a:lnTo>
                  <a:pt x="4199361" y="35264"/>
                </a:lnTo>
                <a:lnTo>
                  <a:pt x="4334824" y="32476"/>
                </a:lnTo>
                <a:lnTo>
                  <a:pt x="4470288" y="29683"/>
                </a:lnTo>
                <a:lnTo>
                  <a:pt x="4605751" y="27220"/>
                </a:lnTo>
                <a:lnTo>
                  <a:pt x="4741214" y="25484"/>
                </a:lnTo>
                <a:lnTo>
                  <a:pt x="4876678" y="24895"/>
                </a:lnTo>
                <a:lnTo>
                  <a:pt x="5012141" y="25867"/>
                </a:lnTo>
                <a:lnTo>
                  <a:pt x="5147604" y="28771"/>
                </a:lnTo>
                <a:lnTo>
                  <a:pt x="5283067" y="33905"/>
                </a:lnTo>
                <a:lnTo>
                  <a:pt x="5418531" y="41460"/>
                </a:lnTo>
                <a:lnTo>
                  <a:pt x="5553994" y="51504"/>
                </a:lnTo>
                <a:lnTo>
                  <a:pt x="5689457" y="63964"/>
                </a:lnTo>
                <a:lnTo>
                  <a:pt x="5824921" y="78622"/>
                </a:lnTo>
                <a:lnTo>
                  <a:pt x="5960384" y="95124"/>
                </a:lnTo>
                <a:lnTo>
                  <a:pt x="6095847" y="112989"/>
                </a:lnTo>
                <a:lnTo>
                  <a:pt x="6231310" y="131639"/>
                </a:lnTo>
                <a:lnTo>
                  <a:pt x="6366774" y="150423"/>
                </a:lnTo>
                <a:lnTo>
                  <a:pt x="6502237" y="168658"/>
                </a:lnTo>
                <a:lnTo>
                  <a:pt x="6637700" y="185665"/>
                </a:lnTo>
                <a:lnTo>
                  <a:pt x="6773164" y="200809"/>
                </a:lnTo>
                <a:lnTo>
                  <a:pt x="6908627" y="213535"/>
                </a:lnTo>
                <a:lnTo>
                  <a:pt x="7044090" y="223398"/>
                </a:lnTo>
                <a:lnTo>
                  <a:pt x="7179553" y="230090"/>
                </a:lnTo>
                <a:lnTo>
                  <a:pt x="7315017" y="233454"/>
                </a:lnTo>
                <a:lnTo>
                  <a:pt x="7450480" y="233492"/>
                </a:lnTo>
                <a:lnTo>
                  <a:pt x="7585943" y="230359"/>
                </a:lnTo>
                <a:lnTo>
                  <a:pt x="7721406" y="224353"/>
                </a:lnTo>
                <a:lnTo>
                  <a:pt x="7856870" y="215888"/>
                </a:lnTo>
                <a:lnTo>
                  <a:pt x="7992333" y="205470"/>
                </a:lnTo>
                <a:lnTo>
                  <a:pt x="8127796" y="193658"/>
                </a:lnTo>
                <a:lnTo>
                  <a:pt x="8263260" y="181033"/>
                </a:lnTo>
                <a:lnTo>
                  <a:pt x="8398723" y="168153"/>
                </a:lnTo>
                <a:lnTo>
                  <a:pt x="8534186" y="155526"/>
                </a:lnTo>
                <a:lnTo>
                  <a:pt x="8669649" y="143575"/>
                </a:lnTo>
                <a:lnTo>
                  <a:pt x="8805113" y="132618"/>
                </a:lnTo>
                <a:lnTo>
                  <a:pt x="8940576" y="122852"/>
                </a:lnTo>
                <a:lnTo>
                  <a:pt x="9076039" y="114351"/>
                </a:lnTo>
                <a:lnTo>
                  <a:pt x="9211503" y="107063"/>
                </a:lnTo>
                <a:lnTo>
                  <a:pt x="9346966" y="100832"/>
                </a:lnTo>
                <a:lnTo>
                  <a:pt x="9482429" y="95413"/>
                </a:lnTo>
                <a:lnTo>
                  <a:pt x="9617892" y="90502"/>
                </a:lnTo>
                <a:lnTo>
                  <a:pt x="9753356" y="85770"/>
                </a:lnTo>
                <a:lnTo>
                  <a:pt x="9888819" y="80892"/>
                </a:lnTo>
                <a:lnTo>
                  <a:pt x="10024282" y="75582"/>
                </a:lnTo>
                <a:lnTo>
                  <a:pt x="10159746" y="69623"/>
                </a:lnTo>
                <a:lnTo>
                  <a:pt x="10295209" y="62893"/>
                </a:lnTo>
                <a:lnTo>
                  <a:pt x="10430672" y="55378"/>
                </a:lnTo>
                <a:lnTo>
                  <a:pt x="10566135" y="47183"/>
                </a:lnTo>
                <a:lnTo>
                  <a:pt x="10701599" y="38531"/>
                </a:lnTo>
                <a:lnTo>
                  <a:pt x="10837062" y="29751"/>
                </a:lnTo>
                <a:lnTo>
                  <a:pt x="10972525" y="21260"/>
                </a:lnTo>
                <a:lnTo>
                  <a:pt x="11107988" y="13537"/>
                </a:lnTo>
                <a:lnTo>
                  <a:pt x="11243452" y="7091"/>
                </a:lnTo>
                <a:lnTo>
                  <a:pt x="11378915" y="2425"/>
                </a:lnTo>
                <a:lnTo>
                  <a:pt x="11514378" y="0"/>
                </a:lnTo>
                <a:lnTo>
                  <a:pt x="11649842" y="198"/>
                </a:lnTo>
                <a:lnTo>
                  <a:pt x="11785305" y="3299"/>
                </a:lnTo>
                <a:lnTo>
                  <a:pt x="11920768" y="9446"/>
                </a:lnTo>
                <a:lnTo>
                  <a:pt x="12056231" y="18641"/>
                </a:lnTo>
                <a:lnTo>
                  <a:pt x="12191695" y="30728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46304"/>
            <a:ext cx="11283696" cy="44805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指标建设价值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722376"/>
            <a:ext cx="585216" cy="41148"/>
          </a:xfrm>
          <a:prstGeom prst="rect">
            <a:avLst/>
          </a:prstGeom>
          <a:solidFill>
            <a:srgbClr val="EE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649224"/>
            <a:ext cx="10469880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2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把同名异义与重复取数转为统一消费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292608"/>
            <a:ext cx="896112" cy="20116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HiAgent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6647688"/>
            <a:ext cx="10241280" cy="1280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7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企业数据智能体建设规划  /  规划视图  /  2026.10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629400"/>
            <a:ext cx="585216" cy="17373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" y="1133856"/>
            <a:ext cx="11219688" cy="26517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7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示意：业务询问“本月存款表现”，先确认月末余额还是月日均余额。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" y="1732788"/>
            <a:ext cx="2798064" cy="4050791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1700784"/>
            <a:ext cx="2798064" cy="405079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1883664"/>
            <a:ext cx="2377440" cy="34747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缺少统一定义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2697480"/>
            <a:ext cx="2377440" cy="438912"/>
          </a:xfrm>
          <a:prstGeom prst="roundRect">
            <a:avLst>
              <a:gd name="adj" fmla="val 35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2729484"/>
            <a:ext cx="2194560" cy="37490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BD741F"/>
                </a:solidFill>
                <a:latin typeface="Noto Sans CJK SC"/>
                <a:ea typeface="Noto Sans CJK SC"/>
              </a:defRPr>
            </a:pPr>
            <a:r>
              <a:t>A报表：月末余额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310128"/>
            <a:ext cx="2377440" cy="438912"/>
          </a:xfrm>
          <a:prstGeom prst="roundRect">
            <a:avLst>
              <a:gd name="adj" fmla="val 35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342132"/>
            <a:ext cx="2194560" cy="37490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BD741F"/>
                </a:solidFill>
                <a:latin typeface="Noto Sans CJK SC"/>
                <a:ea typeface="Noto Sans CJK SC"/>
              </a:defRPr>
            </a:pPr>
            <a:r>
              <a:t>B取数：每日余额均值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922776"/>
            <a:ext cx="2377440" cy="438912"/>
          </a:xfrm>
          <a:prstGeom prst="roundRect">
            <a:avLst>
              <a:gd name="adj" fmla="val 35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954780"/>
            <a:ext cx="2194560" cy="37490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BD741F"/>
                </a:solidFill>
                <a:latin typeface="Noto Sans CJK SC"/>
                <a:ea typeface="Noto Sans CJK SC"/>
              </a:defRPr>
            </a:pPr>
            <a:r>
              <a:t>C分析：客户范围不同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800600"/>
            <a:ext cx="2377440" cy="5852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BD741F"/>
                </a:solidFill>
                <a:latin typeface="Noto Sans CJK SC"/>
                <a:ea typeface="Noto Sans CJK SC"/>
              </a:defRPr>
            </a:pPr>
            <a:r>
              <a:t>反复解释口径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BD741F"/>
                </a:solidFill>
                <a:latin typeface="Noto Sans CJK SC"/>
                <a:ea typeface="Noto Sans CJK SC"/>
              </a:defRPr>
            </a:pPr>
            <a:r>
              <a:t>争议、重复开发、结果难比较</a:t>
            </a:r>
          </a:p>
        </p:txBody>
      </p:sp>
      <p:sp>
        <p:nvSpPr>
          <p:cNvPr id="24" name="Oval 23"/>
          <p:cNvSpPr/>
          <p:nvPr/>
        </p:nvSpPr>
        <p:spPr>
          <a:xfrm>
            <a:off x="4203131" y="3790553"/>
            <a:ext cx="1958644" cy="34820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07809" y="2463027"/>
            <a:ext cx="1327525" cy="1262237"/>
          </a:xfrm>
          <a:prstGeom prst="rect">
            <a:avLst/>
          </a:prstGeom>
          <a:solidFill>
            <a:srgbClr val="168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07809" y="3551163"/>
            <a:ext cx="1327525" cy="435254"/>
          </a:xfrm>
          <a:prstGeom prst="ellipse">
            <a:avLst/>
          </a:prstGeom>
          <a:solidFill>
            <a:srgbClr val="096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07809" y="2245400"/>
            <a:ext cx="1327525" cy="435254"/>
          </a:xfrm>
          <a:prstGeom prst="ellipse">
            <a:avLst/>
          </a:prstGeom>
          <a:solidFill>
            <a:srgbClr val="76D8FF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07809" y="2745943"/>
            <a:ext cx="1327525" cy="435254"/>
          </a:xfrm>
          <a:prstGeom prst="ellipse">
            <a:avLst/>
          </a:prstGeom>
          <a:solidFill>
            <a:srgbClr val="3AB2F8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07809" y="3246485"/>
            <a:ext cx="1327525" cy="435254"/>
          </a:xfrm>
          <a:prstGeom prst="ellipse">
            <a:avLst/>
          </a:prstGeom>
          <a:solidFill>
            <a:srgbClr val="3AB2F8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38385" y="2506553"/>
            <a:ext cx="87050" cy="1153424"/>
          </a:xfrm>
          <a:prstGeom prst="rect">
            <a:avLst/>
          </a:prstGeom>
          <a:solidFill>
            <a:srgbClr val="76D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66744" y="4471416"/>
            <a:ext cx="2953512" cy="41148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一份受控指标契约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66744" y="5010912"/>
            <a:ext cx="2953512" cy="60350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8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定义 / 公式 / 粒度 / 维度 / 条件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8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来源映射 / 责任 / 生效期 / 版本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46704" y="3685032"/>
            <a:ext cx="420624" cy="0"/>
          </a:xfrm>
          <a:prstGeom prst="line">
            <a:avLst/>
          </a:prstGeom>
          <a:ln w="1524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3708861" y="3685032"/>
            <a:ext cx="58467" cy="35845"/>
          </a:xfrm>
          <a:prstGeom prst="line">
            <a:avLst/>
          </a:prstGeom>
          <a:ln w="1524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3708861" y="3649186"/>
            <a:ext cx="58467" cy="35846"/>
          </a:xfrm>
          <a:prstGeom prst="line">
            <a:avLst/>
          </a:prstGeom>
          <a:ln w="1524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338060" y="1732788"/>
            <a:ext cx="4361688" cy="1271016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0" y="1700784"/>
            <a:ext cx="4361688" cy="12710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543982" y="2536362"/>
            <a:ext cx="707745" cy="125821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7646212" y="1930847"/>
            <a:ext cx="503286" cy="133685"/>
          </a:xfrm>
          <a:custGeom>
            <a:avLst/>
            <a:gdLst/>
            <a:ahLst/>
            <a:cxnLst/>
            <a:rect l="l" t="t" r="r" b="b"/>
            <a:pathLst>
              <a:path w="503286" h="133685">
                <a:moveTo>
                  <a:pt x="0" y="55046"/>
                </a:moveTo>
                <a:lnTo>
                  <a:pt x="408920" y="0"/>
                </a:lnTo>
                <a:lnTo>
                  <a:pt x="503286" y="70774"/>
                </a:lnTo>
                <a:lnTo>
                  <a:pt x="94366" y="133685"/>
                </a:lnTo>
                <a:close/>
              </a:path>
            </a:pathLst>
          </a:custGeom>
          <a:solidFill>
            <a:srgbClr val="B1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8055132" y="1930847"/>
            <a:ext cx="94366" cy="558332"/>
          </a:xfrm>
          <a:custGeom>
            <a:avLst/>
            <a:gdLst/>
            <a:ahLst/>
            <a:cxnLst/>
            <a:rect l="l" t="t" r="r" b="b"/>
            <a:pathLst>
              <a:path w="94366" h="558332">
                <a:moveTo>
                  <a:pt x="0" y="0"/>
                </a:moveTo>
                <a:lnTo>
                  <a:pt x="94366" y="70774"/>
                </a:lnTo>
                <a:lnTo>
                  <a:pt x="94366" y="558332"/>
                </a:lnTo>
                <a:lnTo>
                  <a:pt x="0" y="503285"/>
                </a:lnTo>
                <a:close/>
              </a:path>
            </a:pathLst>
          </a:custGeom>
          <a:solidFill>
            <a:srgbClr val="147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646212" y="1930847"/>
            <a:ext cx="408920" cy="566196"/>
          </a:xfrm>
          <a:custGeom>
            <a:avLst/>
            <a:gdLst/>
            <a:ahLst/>
            <a:cxnLst/>
            <a:rect l="l" t="t" r="r" b="b"/>
            <a:pathLst>
              <a:path w="408920" h="566196">
                <a:moveTo>
                  <a:pt x="0" y="55046"/>
                </a:moveTo>
                <a:lnTo>
                  <a:pt x="408920" y="0"/>
                </a:lnTo>
                <a:lnTo>
                  <a:pt x="408920" y="503285"/>
                </a:lnTo>
                <a:lnTo>
                  <a:pt x="0" y="566196"/>
                </a:lnTo>
                <a:close/>
              </a:path>
            </a:pathLst>
          </a:custGeom>
          <a:solidFill>
            <a:srgbClr val="52B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7716987" y="2088123"/>
            <a:ext cx="259507" cy="3932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716987" y="2198217"/>
            <a:ext cx="259507" cy="39319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7716987" y="2308311"/>
            <a:ext cx="259507" cy="39319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522208" y="1883664"/>
            <a:ext cx="2926080" cy="33832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需求复用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22208" y="2432304"/>
            <a:ext cx="2926080" cy="30175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5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先确认已有口径，减少重复调研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419088" y="3685032"/>
            <a:ext cx="475488" cy="0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6894576" y="2340864"/>
            <a:ext cx="0" cy="1344168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894576" y="2340864"/>
            <a:ext cx="374904" cy="0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7211013" y="2340864"/>
            <a:ext cx="58467" cy="35845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 flipV="1">
            <a:off x="7211013" y="2305018"/>
            <a:ext cx="58467" cy="35846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7338060" y="3122676"/>
            <a:ext cx="4361688" cy="1271016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315200" y="3090672"/>
            <a:ext cx="4361688" cy="12710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543982" y="3926250"/>
            <a:ext cx="707745" cy="125821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7646212" y="3320735"/>
            <a:ext cx="503286" cy="133685"/>
          </a:xfrm>
          <a:custGeom>
            <a:avLst/>
            <a:gdLst/>
            <a:ahLst/>
            <a:cxnLst/>
            <a:rect l="l" t="t" r="r" b="b"/>
            <a:pathLst>
              <a:path w="503286" h="133685">
                <a:moveTo>
                  <a:pt x="0" y="55046"/>
                </a:moveTo>
                <a:lnTo>
                  <a:pt x="408920" y="0"/>
                </a:lnTo>
                <a:lnTo>
                  <a:pt x="503286" y="70774"/>
                </a:lnTo>
                <a:lnTo>
                  <a:pt x="94366" y="133685"/>
                </a:lnTo>
                <a:close/>
              </a:path>
            </a:pathLst>
          </a:custGeom>
          <a:solidFill>
            <a:srgbClr val="B1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8055132" y="3320735"/>
            <a:ext cx="94366" cy="558332"/>
          </a:xfrm>
          <a:custGeom>
            <a:avLst/>
            <a:gdLst/>
            <a:ahLst/>
            <a:cxnLst/>
            <a:rect l="l" t="t" r="r" b="b"/>
            <a:pathLst>
              <a:path w="94366" h="558332">
                <a:moveTo>
                  <a:pt x="0" y="0"/>
                </a:moveTo>
                <a:lnTo>
                  <a:pt x="94366" y="70774"/>
                </a:lnTo>
                <a:lnTo>
                  <a:pt x="94366" y="558332"/>
                </a:lnTo>
                <a:lnTo>
                  <a:pt x="0" y="503285"/>
                </a:lnTo>
                <a:close/>
              </a:path>
            </a:pathLst>
          </a:custGeom>
          <a:solidFill>
            <a:srgbClr val="147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7646212" y="3320735"/>
            <a:ext cx="408920" cy="566196"/>
          </a:xfrm>
          <a:custGeom>
            <a:avLst/>
            <a:gdLst/>
            <a:ahLst/>
            <a:cxnLst/>
            <a:rect l="l" t="t" r="r" b="b"/>
            <a:pathLst>
              <a:path w="408920" h="566196">
                <a:moveTo>
                  <a:pt x="0" y="55046"/>
                </a:moveTo>
                <a:lnTo>
                  <a:pt x="408920" y="0"/>
                </a:lnTo>
                <a:lnTo>
                  <a:pt x="408920" y="503285"/>
                </a:lnTo>
                <a:lnTo>
                  <a:pt x="0" y="566196"/>
                </a:lnTo>
                <a:close/>
              </a:path>
            </a:pathLst>
          </a:custGeom>
          <a:solidFill>
            <a:srgbClr val="52B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 flipV="1">
            <a:off x="7716987" y="3478011"/>
            <a:ext cx="259507" cy="3932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7716987" y="3588105"/>
            <a:ext cx="259507" cy="39319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7716987" y="3698199"/>
            <a:ext cx="259507" cy="39319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685531" y="3588105"/>
            <a:ext cx="338145" cy="16514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76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&lt;/&gt;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22208" y="3273552"/>
            <a:ext cx="2926080" cy="33832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研发复用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22208" y="3822191"/>
            <a:ext cx="2926080" cy="30175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5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引用审核实现，减少重复建设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419088" y="3685032"/>
            <a:ext cx="475488" cy="0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894576" y="3685032"/>
            <a:ext cx="0" cy="45720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6894576" y="3730752"/>
            <a:ext cx="374904" cy="0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7211013" y="3730752"/>
            <a:ext cx="58467" cy="35845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7211013" y="3694906"/>
            <a:ext cx="58467" cy="35846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7338060" y="4512564"/>
            <a:ext cx="4361688" cy="1271016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7315200" y="4480560"/>
            <a:ext cx="4361688" cy="127101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543982" y="5316138"/>
            <a:ext cx="707745" cy="125821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7551846" y="5206044"/>
            <a:ext cx="684154" cy="314711"/>
          </a:xfrm>
          <a:custGeom>
            <a:avLst/>
            <a:gdLst/>
            <a:ahLst/>
            <a:cxnLst/>
            <a:rect l="l" t="t" r="r" b="b"/>
            <a:pathLst>
              <a:path w="684154" h="314711">
                <a:moveTo>
                  <a:pt x="0" y="157356"/>
                </a:moveTo>
                <a:lnTo>
                  <a:pt x="342077" y="0"/>
                </a:lnTo>
                <a:lnTo>
                  <a:pt x="684154" y="157356"/>
                </a:lnTo>
                <a:lnTo>
                  <a:pt x="342077" y="314711"/>
                </a:lnTo>
                <a:close/>
              </a:path>
            </a:pathLst>
          </a:custGeom>
          <a:solidFill>
            <a:srgbClr val="B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7551846" y="5363400"/>
            <a:ext cx="342077" cy="188811"/>
          </a:xfrm>
          <a:custGeom>
            <a:avLst/>
            <a:gdLst/>
            <a:ahLst/>
            <a:cxnLst/>
            <a:rect l="l" t="t" r="r" b="b"/>
            <a:pathLst>
              <a:path w="342077" h="188811">
                <a:moveTo>
                  <a:pt x="0" y="0"/>
                </a:moveTo>
                <a:lnTo>
                  <a:pt x="342077" y="157355"/>
                </a:lnTo>
                <a:lnTo>
                  <a:pt x="342077" y="188811"/>
                </a:lnTo>
                <a:lnTo>
                  <a:pt x="0" y="31455"/>
                </a:lnTo>
                <a:close/>
              </a:path>
            </a:pathLst>
          </a:custGeom>
          <a:solidFill>
            <a:srgbClr val="7FC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7893923" y="5363400"/>
            <a:ext cx="342077" cy="188811"/>
          </a:xfrm>
          <a:custGeom>
            <a:avLst/>
            <a:gdLst/>
            <a:ahLst/>
            <a:cxnLst/>
            <a:rect l="l" t="t" r="r" b="b"/>
            <a:pathLst>
              <a:path w="342077" h="188811">
                <a:moveTo>
                  <a:pt x="0" y="157355"/>
                </a:moveTo>
                <a:lnTo>
                  <a:pt x="342077" y="0"/>
                </a:lnTo>
                <a:lnTo>
                  <a:pt x="342077" y="31455"/>
                </a:lnTo>
                <a:lnTo>
                  <a:pt x="0" y="188811"/>
                </a:lnTo>
                <a:close/>
              </a:path>
            </a:pathLst>
          </a:custGeom>
          <a:solidFill>
            <a:srgbClr val="5AA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7606893" y="5103815"/>
            <a:ext cx="149413" cy="62910"/>
          </a:xfrm>
          <a:custGeom>
            <a:avLst/>
            <a:gdLst/>
            <a:ahLst/>
            <a:cxnLst/>
            <a:rect l="l" t="t" r="r" b="b"/>
            <a:pathLst>
              <a:path w="149413" h="62910">
                <a:moveTo>
                  <a:pt x="0" y="31455"/>
                </a:moveTo>
                <a:lnTo>
                  <a:pt x="74707" y="0"/>
                </a:lnTo>
                <a:lnTo>
                  <a:pt x="149413" y="31455"/>
                </a:lnTo>
                <a:lnTo>
                  <a:pt x="74707" y="62910"/>
                </a:lnTo>
                <a:close/>
              </a:path>
            </a:pathLst>
          </a:custGeom>
          <a:solidFill>
            <a:srgbClr val="9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7606893" y="5135270"/>
            <a:ext cx="74707" cy="173004"/>
          </a:xfrm>
          <a:custGeom>
            <a:avLst/>
            <a:gdLst/>
            <a:ahLst/>
            <a:cxnLst/>
            <a:rect l="l" t="t" r="r" b="b"/>
            <a:pathLst>
              <a:path w="74707" h="173004">
                <a:moveTo>
                  <a:pt x="0" y="0"/>
                </a:moveTo>
                <a:lnTo>
                  <a:pt x="74707" y="31455"/>
                </a:lnTo>
                <a:lnTo>
                  <a:pt x="74707" y="173004"/>
                </a:lnTo>
                <a:lnTo>
                  <a:pt x="0" y="141549"/>
                </a:lnTo>
                <a:close/>
              </a:path>
            </a:pathLst>
          </a:custGeom>
          <a:solidFill>
            <a:srgbClr val="2AB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7681600" y="5135270"/>
            <a:ext cx="74706" cy="173004"/>
          </a:xfrm>
          <a:custGeom>
            <a:avLst/>
            <a:gdLst/>
            <a:ahLst/>
            <a:cxnLst/>
            <a:rect l="l" t="t" r="r" b="b"/>
            <a:pathLst>
              <a:path w="74706" h="173004">
                <a:moveTo>
                  <a:pt x="0" y="31455"/>
                </a:moveTo>
                <a:lnTo>
                  <a:pt x="74706" y="0"/>
                </a:lnTo>
                <a:lnTo>
                  <a:pt x="74706" y="141549"/>
                </a:lnTo>
                <a:lnTo>
                  <a:pt x="0" y="173004"/>
                </a:lnTo>
                <a:close/>
              </a:path>
            </a:pathLst>
          </a:custGeom>
          <a:solidFill>
            <a:srgbClr val="11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7795625" y="4954402"/>
            <a:ext cx="149413" cy="62910"/>
          </a:xfrm>
          <a:custGeom>
            <a:avLst/>
            <a:gdLst/>
            <a:ahLst/>
            <a:cxnLst/>
            <a:rect l="l" t="t" r="r" b="b"/>
            <a:pathLst>
              <a:path w="149413" h="62910">
                <a:moveTo>
                  <a:pt x="0" y="31455"/>
                </a:moveTo>
                <a:lnTo>
                  <a:pt x="74707" y="0"/>
                </a:lnTo>
                <a:lnTo>
                  <a:pt x="149413" y="31455"/>
                </a:lnTo>
                <a:lnTo>
                  <a:pt x="74707" y="62910"/>
                </a:lnTo>
                <a:close/>
              </a:path>
            </a:pathLst>
          </a:custGeom>
          <a:solidFill>
            <a:srgbClr val="9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7795625" y="4985857"/>
            <a:ext cx="74707" cy="322417"/>
          </a:xfrm>
          <a:custGeom>
            <a:avLst/>
            <a:gdLst/>
            <a:ahLst/>
            <a:cxnLst/>
            <a:rect l="l" t="t" r="r" b="b"/>
            <a:pathLst>
              <a:path w="74707" h="322417">
                <a:moveTo>
                  <a:pt x="0" y="0"/>
                </a:moveTo>
                <a:lnTo>
                  <a:pt x="74707" y="31455"/>
                </a:lnTo>
                <a:lnTo>
                  <a:pt x="74707" y="322417"/>
                </a:lnTo>
                <a:lnTo>
                  <a:pt x="0" y="290962"/>
                </a:lnTo>
                <a:close/>
              </a:path>
            </a:pathLst>
          </a:custGeom>
          <a:solidFill>
            <a:srgbClr val="2AB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7870332" y="4985857"/>
            <a:ext cx="74706" cy="322417"/>
          </a:xfrm>
          <a:custGeom>
            <a:avLst/>
            <a:gdLst/>
            <a:ahLst/>
            <a:cxnLst/>
            <a:rect l="l" t="t" r="r" b="b"/>
            <a:pathLst>
              <a:path w="74706" h="322417">
                <a:moveTo>
                  <a:pt x="0" y="31455"/>
                </a:moveTo>
                <a:lnTo>
                  <a:pt x="74706" y="0"/>
                </a:lnTo>
                <a:lnTo>
                  <a:pt x="74706" y="290962"/>
                </a:lnTo>
                <a:lnTo>
                  <a:pt x="0" y="322417"/>
                </a:lnTo>
                <a:close/>
              </a:path>
            </a:pathLst>
          </a:custGeom>
          <a:solidFill>
            <a:srgbClr val="11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7984357" y="4757806"/>
            <a:ext cx="149413" cy="62910"/>
          </a:xfrm>
          <a:custGeom>
            <a:avLst/>
            <a:gdLst/>
            <a:ahLst/>
            <a:cxnLst/>
            <a:rect l="l" t="t" r="r" b="b"/>
            <a:pathLst>
              <a:path w="149413" h="62910">
                <a:moveTo>
                  <a:pt x="0" y="31455"/>
                </a:moveTo>
                <a:lnTo>
                  <a:pt x="74707" y="0"/>
                </a:lnTo>
                <a:lnTo>
                  <a:pt x="149413" y="31455"/>
                </a:lnTo>
                <a:lnTo>
                  <a:pt x="74707" y="62910"/>
                </a:lnTo>
                <a:close/>
              </a:path>
            </a:pathLst>
          </a:custGeom>
          <a:solidFill>
            <a:srgbClr val="9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7984357" y="4789261"/>
            <a:ext cx="74707" cy="519013"/>
          </a:xfrm>
          <a:custGeom>
            <a:avLst/>
            <a:gdLst/>
            <a:ahLst/>
            <a:cxnLst/>
            <a:rect l="l" t="t" r="r" b="b"/>
            <a:pathLst>
              <a:path w="74707" h="519013">
                <a:moveTo>
                  <a:pt x="0" y="0"/>
                </a:moveTo>
                <a:lnTo>
                  <a:pt x="74707" y="31455"/>
                </a:lnTo>
                <a:lnTo>
                  <a:pt x="74707" y="519013"/>
                </a:lnTo>
                <a:lnTo>
                  <a:pt x="0" y="487558"/>
                </a:lnTo>
                <a:close/>
              </a:path>
            </a:pathLst>
          </a:custGeom>
          <a:solidFill>
            <a:srgbClr val="2AB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8059064" y="4789261"/>
            <a:ext cx="74706" cy="519013"/>
          </a:xfrm>
          <a:custGeom>
            <a:avLst/>
            <a:gdLst/>
            <a:ahLst/>
            <a:cxnLst/>
            <a:rect l="l" t="t" r="r" b="b"/>
            <a:pathLst>
              <a:path w="74706" h="519013">
                <a:moveTo>
                  <a:pt x="0" y="31455"/>
                </a:moveTo>
                <a:lnTo>
                  <a:pt x="74706" y="0"/>
                </a:lnTo>
                <a:lnTo>
                  <a:pt x="74706" y="487558"/>
                </a:lnTo>
                <a:lnTo>
                  <a:pt x="0" y="519013"/>
                </a:lnTo>
                <a:close/>
              </a:path>
            </a:pathLst>
          </a:custGeom>
          <a:solidFill>
            <a:srgbClr val="11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522208" y="4663440"/>
            <a:ext cx="2926080" cy="33832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分析复用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522208" y="5212080"/>
            <a:ext cx="2926080" cy="30175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5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在相同约束下计算，提高可比性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6419088" y="3685032"/>
            <a:ext cx="475488" cy="0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894576" y="3685032"/>
            <a:ext cx="0" cy="1435608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894576" y="5120640"/>
            <a:ext cx="374904" cy="0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H="1">
            <a:off x="7211013" y="5120640"/>
            <a:ext cx="58467" cy="35845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H="1" flipV="1">
            <a:off x="7211013" y="5084794"/>
            <a:ext cx="58467" cy="35846"/>
          </a:xfrm>
          <a:prstGeom prst="line">
            <a:avLst/>
          </a:prstGeom>
          <a:ln w="12065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90"/>
          <p:cNvSpPr/>
          <p:nvPr/>
        </p:nvSpPr>
        <p:spPr>
          <a:xfrm>
            <a:off x="461772" y="6112764"/>
            <a:ext cx="11247120" cy="33832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438912" y="6080760"/>
            <a:ext cx="11247120" cy="338328"/>
          </a:xfrm>
          <a:prstGeom prst="roundRect">
            <a:avLst>
              <a:gd name="adj" fmla="val 5500"/>
            </a:avLst>
          </a:prstGeom>
          <a:solidFill>
            <a:srgbClr val="EEF7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85216" y="6117336"/>
            <a:ext cx="10954512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指标库不仅是名称目录；定义、实现与消费同步统一，才能减少争议、重复开发并增强信任。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6346471"/>
            <a:ext cx="12191695" cy="235953"/>
          </a:xfrm>
          <a:custGeom>
            <a:avLst/>
            <a:gdLst/>
            <a:ahLst/>
            <a:cxnLst/>
            <a:rect l="l" t="t" r="r" b="b"/>
            <a:pathLst>
              <a:path w="12191695" h="235953">
                <a:moveTo>
                  <a:pt x="0" y="127481"/>
                </a:moveTo>
                <a:lnTo>
                  <a:pt x="135463" y="147046"/>
                </a:lnTo>
                <a:lnTo>
                  <a:pt x="270926" y="165914"/>
                </a:lnTo>
                <a:lnTo>
                  <a:pt x="406389" y="183426"/>
                </a:lnTo>
                <a:lnTo>
                  <a:pt x="541853" y="199000"/>
                </a:lnTo>
                <a:lnTo>
                  <a:pt x="677316" y="212159"/>
                </a:lnTo>
                <a:lnTo>
                  <a:pt x="812779" y="222557"/>
                </a:lnTo>
                <a:lnTo>
                  <a:pt x="948242" y="229995"/>
                </a:lnTo>
                <a:lnTo>
                  <a:pt x="1083706" y="234426"/>
                </a:lnTo>
                <a:lnTo>
                  <a:pt x="1219169" y="235953"/>
                </a:lnTo>
                <a:lnTo>
                  <a:pt x="1354632" y="234812"/>
                </a:lnTo>
                <a:lnTo>
                  <a:pt x="1490096" y="231352"/>
                </a:lnTo>
                <a:lnTo>
                  <a:pt x="1625559" y="226009"/>
                </a:lnTo>
                <a:lnTo>
                  <a:pt x="1761022" y="219267"/>
                </a:lnTo>
                <a:lnTo>
                  <a:pt x="1896485" y="211626"/>
                </a:lnTo>
                <a:lnTo>
                  <a:pt x="2031949" y="203564"/>
                </a:lnTo>
                <a:lnTo>
                  <a:pt x="2167412" y="195508"/>
                </a:lnTo>
                <a:lnTo>
                  <a:pt x="2302875" y="187800"/>
                </a:lnTo>
                <a:lnTo>
                  <a:pt x="2438339" y="180682"/>
                </a:lnTo>
                <a:lnTo>
                  <a:pt x="2573802" y="174280"/>
                </a:lnTo>
                <a:lnTo>
                  <a:pt x="2709265" y="168601"/>
                </a:lnTo>
                <a:lnTo>
                  <a:pt x="2844728" y="163541"/>
                </a:lnTo>
                <a:lnTo>
                  <a:pt x="2980192" y="158900"/>
                </a:lnTo>
                <a:lnTo>
                  <a:pt x="3115655" y="154402"/>
                </a:lnTo>
                <a:lnTo>
                  <a:pt x="3251118" y="149724"/>
                </a:lnTo>
                <a:lnTo>
                  <a:pt x="3386582" y="144534"/>
                </a:lnTo>
                <a:lnTo>
                  <a:pt x="3522045" y="138515"/>
                </a:lnTo>
                <a:lnTo>
                  <a:pt x="3657508" y="131408"/>
                </a:lnTo>
                <a:lnTo>
                  <a:pt x="3792971" y="123031"/>
                </a:lnTo>
                <a:lnTo>
                  <a:pt x="3928435" y="113309"/>
                </a:lnTo>
                <a:lnTo>
                  <a:pt x="4063898" y="102287"/>
                </a:lnTo>
                <a:lnTo>
                  <a:pt x="4199361" y="90138"/>
                </a:lnTo>
                <a:lnTo>
                  <a:pt x="4334824" y="77155"/>
                </a:lnTo>
                <a:lnTo>
                  <a:pt x="4470288" y="63745"/>
                </a:lnTo>
                <a:lnTo>
                  <a:pt x="4605751" y="50406"/>
                </a:lnTo>
                <a:lnTo>
                  <a:pt x="4741214" y="37696"/>
                </a:lnTo>
                <a:lnTo>
                  <a:pt x="4876678" y="26202"/>
                </a:lnTo>
                <a:lnTo>
                  <a:pt x="5012141" y="16503"/>
                </a:lnTo>
                <a:lnTo>
                  <a:pt x="5147604" y="9131"/>
                </a:lnTo>
                <a:lnTo>
                  <a:pt x="5283067" y="4538"/>
                </a:lnTo>
                <a:lnTo>
                  <a:pt x="5418531" y="3064"/>
                </a:lnTo>
                <a:lnTo>
                  <a:pt x="5553994" y="4912"/>
                </a:lnTo>
                <a:lnTo>
                  <a:pt x="5689457" y="10132"/>
                </a:lnTo>
                <a:lnTo>
                  <a:pt x="5824921" y="18617"/>
                </a:lnTo>
                <a:lnTo>
                  <a:pt x="5960384" y="30106"/>
                </a:lnTo>
                <a:lnTo>
                  <a:pt x="6095847" y="44193"/>
                </a:lnTo>
                <a:lnTo>
                  <a:pt x="6231310" y="60357"/>
                </a:lnTo>
                <a:lnTo>
                  <a:pt x="6366774" y="77984"/>
                </a:lnTo>
                <a:lnTo>
                  <a:pt x="6502237" y="96410"/>
                </a:lnTo>
                <a:lnTo>
                  <a:pt x="6637700" y="114953"/>
                </a:lnTo>
                <a:lnTo>
                  <a:pt x="6773164" y="132954"/>
                </a:lnTo>
                <a:lnTo>
                  <a:pt x="6908627" y="149814"/>
                </a:lnTo>
                <a:lnTo>
                  <a:pt x="7044090" y="165027"/>
                </a:lnTo>
                <a:lnTo>
                  <a:pt x="7179553" y="178204"/>
                </a:lnTo>
                <a:lnTo>
                  <a:pt x="7315017" y="189090"/>
                </a:lnTo>
                <a:lnTo>
                  <a:pt x="7450480" y="197574"/>
                </a:lnTo>
                <a:lnTo>
                  <a:pt x="7585943" y="203682"/>
                </a:lnTo>
                <a:lnTo>
                  <a:pt x="7721406" y="207573"/>
                </a:lnTo>
                <a:lnTo>
                  <a:pt x="7856870" y="209512"/>
                </a:lnTo>
                <a:lnTo>
                  <a:pt x="7992333" y="209848"/>
                </a:lnTo>
                <a:lnTo>
                  <a:pt x="8127796" y="208978"/>
                </a:lnTo>
                <a:lnTo>
                  <a:pt x="8263260" y="207316"/>
                </a:lnTo>
                <a:lnTo>
                  <a:pt x="8398723" y="205256"/>
                </a:lnTo>
                <a:lnTo>
                  <a:pt x="8534186" y="203141"/>
                </a:lnTo>
                <a:lnTo>
                  <a:pt x="8669649" y="201238"/>
                </a:lnTo>
                <a:lnTo>
                  <a:pt x="8805113" y="199711"/>
                </a:lnTo>
                <a:lnTo>
                  <a:pt x="8940576" y="198616"/>
                </a:lnTo>
                <a:lnTo>
                  <a:pt x="9076039" y="197894"/>
                </a:lnTo>
                <a:lnTo>
                  <a:pt x="9211503" y="197378"/>
                </a:lnTo>
                <a:lnTo>
                  <a:pt x="9346966" y="196808"/>
                </a:lnTo>
                <a:lnTo>
                  <a:pt x="9482429" y="195855"/>
                </a:lnTo>
                <a:lnTo>
                  <a:pt x="9617892" y="194147"/>
                </a:lnTo>
                <a:lnTo>
                  <a:pt x="9753356" y="191305"/>
                </a:lnTo>
                <a:lnTo>
                  <a:pt x="9888819" y="186977"/>
                </a:lnTo>
                <a:lnTo>
                  <a:pt x="10024282" y="180869"/>
                </a:lnTo>
                <a:lnTo>
                  <a:pt x="10159746" y="172776"/>
                </a:lnTo>
                <a:lnTo>
                  <a:pt x="10295209" y="162608"/>
                </a:lnTo>
                <a:lnTo>
                  <a:pt x="10430672" y="150402"/>
                </a:lnTo>
                <a:lnTo>
                  <a:pt x="10566135" y="136335"/>
                </a:lnTo>
                <a:lnTo>
                  <a:pt x="10701599" y="120717"/>
                </a:lnTo>
                <a:lnTo>
                  <a:pt x="10837062" y="103984"/>
                </a:lnTo>
                <a:lnTo>
                  <a:pt x="10972525" y="86673"/>
                </a:lnTo>
                <a:lnTo>
                  <a:pt x="11107988" y="69396"/>
                </a:lnTo>
                <a:lnTo>
                  <a:pt x="11243452" y="52806"/>
                </a:lnTo>
                <a:lnTo>
                  <a:pt x="11378915" y="37558"/>
                </a:lnTo>
                <a:lnTo>
                  <a:pt x="11514378" y="24274"/>
                </a:lnTo>
                <a:lnTo>
                  <a:pt x="11649842" y="13501"/>
                </a:lnTo>
                <a:lnTo>
                  <a:pt x="11785305" y="5683"/>
                </a:lnTo>
                <a:lnTo>
                  <a:pt x="11920768" y="1129"/>
                </a:lnTo>
                <a:lnTo>
                  <a:pt x="12056231" y="0"/>
                </a:lnTo>
                <a:lnTo>
                  <a:pt x="12191695" y="2300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6405649"/>
            <a:ext cx="12191695" cy="245182"/>
          </a:xfrm>
          <a:custGeom>
            <a:avLst/>
            <a:gdLst/>
            <a:ahLst/>
            <a:cxnLst/>
            <a:rect l="l" t="t" r="r" b="b"/>
            <a:pathLst>
              <a:path w="12191695" h="245182">
                <a:moveTo>
                  <a:pt x="0" y="150669"/>
                </a:moveTo>
                <a:lnTo>
                  <a:pt x="135463" y="169737"/>
                </a:lnTo>
                <a:lnTo>
                  <a:pt x="270926" y="187768"/>
                </a:lnTo>
                <a:lnTo>
                  <a:pt x="406389" y="204118"/>
                </a:lnTo>
                <a:lnTo>
                  <a:pt x="541853" y="218220"/>
                </a:lnTo>
                <a:lnTo>
                  <a:pt x="677316" y="229621"/>
                </a:lnTo>
                <a:lnTo>
                  <a:pt x="812779" y="238002"/>
                </a:lnTo>
                <a:lnTo>
                  <a:pt x="948242" y="243193"/>
                </a:lnTo>
                <a:lnTo>
                  <a:pt x="1083706" y="245182"/>
                </a:lnTo>
                <a:lnTo>
                  <a:pt x="1219169" y="244108"/>
                </a:lnTo>
                <a:lnTo>
                  <a:pt x="1354632" y="240247"/>
                </a:lnTo>
                <a:lnTo>
                  <a:pt x="1490096" y="233989"/>
                </a:lnTo>
                <a:lnTo>
                  <a:pt x="1625559" y="225812"/>
                </a:lnTo>
                <a:lnTo>
                  <a:pt x="1761022" y="216243"/>
                </a:lnTo>
                <a:lnTo>
                  <a:pt x="1896485" y="205824"/>
                </a:lnTo>
                <a:lnTo>
                  <a:pt x="2031949" y="195076"/>
                </a:lnTo>
                <a:lnTo>
                  <a:pt x="2167412" y="184466"/>
                </a:lnTo>
                <a:lnTo>
                  <a:pt x="2302875" y="174375"/>
                </a:lnTo>
                <a:lnTo>
                  <a:pt x="2438339" y="165080"/>
                </a:lnTo>
                <a:lnTo>
                  <a:pt x="2573802" y="156740"/>
                </a:lnTo>
                <a:lnTo>
                  <a:pt x="2709265" y="149392"/>
                </a:lnTo>
                <a:lnTo>
                  <a:pt x="2844728" y="142958"/>
                </a:lnTo>
                <a:lnTo>
                  <a:pt x="2980192" y="137257"/>
                </a:lnTo>
                <a:lnTo>
                  <a:pt x="3115655" y="132030"/>
                </a:lnTo>
                <a:lnTo>
                  <a:pt x="3251118" y="126965"/>
                </a:lnTo>
                <a:lnTo>
                  <a:pt x="3386582" y="121734"/>
                </a:lnTo>
                <a:lnTo>
                  <a:pt x="3522045" y="116024"/>
                </a:lnTo>
                <a:lnTo>
                  <a:pt x="3657508" y="109568"/>
                </a:lnTo>
                <a:lnTo>
                  <a:pt x="3792971" y="102177"/>
                </a:lnTo>
                <a:lnTo>
                  <a:pt x="3928435" y="93759"/>
                </a:lnTo>
                <a:lnTo>
                  <a:pt x="4063898" y="84341"/>
                </a:lnTo>
                <a:lnTo>
                  <a:pt x="4199361" y="74069"/>
                </a:lnTo>
                <a:lnTo>
                  <a:pt x="4334824" y="63211"/>
                </a:lnTo>
                <a:lnTo>
                  <a:pt x="4470288" y="52141"/>
                </a:lnTo>
                <a:lnTo>
                  <a:pt x="4605751" y="41320"/>
                </a:lnTo>
                <a:lnTo>
                  <a:pt x="4741214" y="31269"/>
                </a:lnTo>
                <a:lnTo>
                  <a:pt x="4876678" y="22536"/>
                </a:lnTo>
                <a:lnTo>
                  <a:pt x="5012141" y="15656"/>
                </a:lnTo>
                <a:lnTo>
                  <a:pt x="5147604" y="11120"/>
                </a:lnTo>
                <a:lnTo>
                  <a:pt x="5283067" y="9338"/>
                </a:lnTo>
                <a:lnTo>
                  <a:pt x="5418531" y="10605"/>
                </a:lnTo>
                <a:lnTo>
                  <a:pt x="5553994" y="15085"/>
                </a:lnTo>
                <a:lnTo>
                  <a:pt x="5689457" y="22787"/>
                </a:lnTo>
                <a:lnTo>
                  <a:pt x="5824921" y="33567"/>
                </a:lnTo>
                <a:lnTo>
                  <a:pt x="5960384" y="47128"/>
                </a:lnTo>
                <a:lnTo>
                  <a:pt x="6095847" y="63035"/>
                </a:lnTo>
                <a:lnTo>
                  <a:pt x="6231310" y="80738"/>
                </a:lnTo>
                <a:lnTo>
                  <a:pt x="6366774" y="99601"/>
                </a:lnTo>
                <a:lnTo>
                  <a:pt x="6502237" y="118939"/>
                </a:lnTo>
                <a:lnTo>
                  <a:pt x="6637700" y="138058"/>
                </a:lnTo>
                <a:lnTo>
                  <a:pt x="6773164" y="156290"/>
                </a:lnTo>
                <a:lnTo>
                  <a:pt x="6908627" y="173034"/>
                </a:lnTo>
                <a:lnTo>
                  <a:pt x="7044090" y="187783"/>
                </a:lnTo>
                <a:lnTo>
                  <a:pt x="7179553" y="200156"/>
                </a:lnTo>
                <a:lnTo>
                  <a:pt x="7315017" y="209912"/>
                </a:lnTo>
                <a:lnTo>
                  <a:pt x="7450480" y="216953"/>
                </a:lnTo>
                <a:lnTo>
                  <a:pt x="7585943" y="221331"/>
                </a:lnTo>
                <a:lnTo>
                  <a:pt x="7721406" y="223229"/>
                </a:lnTo>
                <a:lnTo>
                  <a:pt x="7856870" y="222943"/>
                </a:lnTo>
                <a:lnTo>
                  <a:pt x="7992333" y="220854"/>
                </a:lnTo>
                <a:lnTo>
                  <a:pt x="8127796" y="217398"/>
                </a:lnTo>
                <a:lnTo>
                  <a:pt x="8263260" y="213025"/>
                </a:lnTo>
                <a:lnTo>
                  <a:pt x="8398723" y="208173"/>
                </a:lnTo>
                <a:lnTo>
                  <a:pt x="8534186" y="203226"/>
                </a:lnTo>
                <a:lnTo>
                  <a:pt x="8669649" y="198493"/>
                </a:lnTo>
                <a:lnTo>
                  <a:pt x="8805113" y="194182"/>
                </a:lnTo>
                <a:lnTo>
                  <a:pt x="8940576" y="190390"/>
                </a:lnTo>
                <a:lnTo>
                  <a:pt x="9076039" y="187099"/>
                </a:lnTo>
                <a:lnTo>
                  <a:pt x="9211503" y="184181"/>
                </a:lnTo>
                <a:lnTo>
                  <a:pt x="9346966" y="181412"/>
                </a:lnTo>
                <a:lnTo>
                  <a:pt x="9482429" y="178496"/>
                </a:lnTo>
                <a:lnTo>
                  <a:pt x="9617892" y="175092"/>
                </a:lnTo>
                <a:lnTo>
                  <a:pt x="9753356" y="170845"/>
                </a:lnTo>
                <a:lnTo>
                  <a:pt x="9888819" y="165425"/>
                </a:lnTo>
                <a:lnTo>
                  <a:pt x="10024282" y="158555"/>
                </a:lnTo>
                <a:lnTo>
                  <a:pt x="10159746" y="150040"/>
                </a:lnTo>
                <a:lnTo>
                  <a:pt x="10295209" y="139797"/>
                </a:lnTo>
                <a:lnTo>
                  <a:pt x="10430672" y="127865"/>
                </a:lnTo>
                <a:lnTo>
                  <a:pt x="10566135" y="114415"/>
                </a:lnTo>
                <a:lnTo>
                  <a:pt x="10701599" y="99751"/>
                </a:lnTo>
                <a:lnTo>
                  <a:pt x="10837062" y="84291"/>
                </a:lnTo>
                <a:lnTo>
                  <a:pt x="10972525" y="68554"/>
                </a:lnTo>
                <a:lnTo>
                  <a:pt x="11107988" y="53129"/>
                </a:lnTo>
                <a:lnTo>
                  <a:pt x="11243452" y="38641"/>
                </a:lnTo>
                <a:lnTo>
                  <a:pt x="11378915" y="25713"/>
                </a:lnTo>
                <a:lnTo>
                  <a:pt x="11514378" y="14931"/>
                </a:lnTo>
                <a:lnTo>
                  <a:pt x="11649842" y="6805"/>
                </a:lnTo>
                <a:lnTo>
                  <a:pt x="11785305" y="1738"/>
                </a:lnTo>
                <a:lnTo>
                  <a:pt x="11920768" y="0"/>
                </a:lnTo>
                <a:lnTo>
                  <a:pt x="12056231" y="1708"/>
                </a:lnTo>
                <a:lnTo>
                  <a:pt x="12191695" y="6822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6467906"/>
            <a:ext cx="12191695" cy="248613"/>
          </a:xfrm>
          <a:custGeom>
            <a:avLst/>
            <a:gdLst/>
            <a:ahLst/>
            <a:cxnLst/>
            <a:rect l="l" t="t" r="r" b="b"/>
            <a:pathLst>
              <a:path w="12191695" h="248613">
                <a:moveTo>
                  <a:pt x="0" y="169572"/>
                </a:moveTo>
                <a:lnTo>
                  <a:pt x="135463" y="187517"/>
                </a:lnTo>
                <a:lnTo>
                  <a:pt x="270926" y="204116"/>
                </a:lnTo>
                <a:lnTo>
                  <a:pt x="406389" y="218744"/>
                </a:lnTo>
                <a:lnTo>
                  <a:pt x="541853" y="230861"/>
                </a:lnTo>
                <a:lnTo>
                  <a:pt x="677316" y="240043"/>
                </a:lnTo>
                <a:lnTo>
                  <a:pt x="812779" y="246004"/>
                </a:lnTo>
                <a:lnTo>
                  <a:pt x="948242" y="248613"/>
                </a:lnTo>
                <a:lnTo>
                  <a:pt x="1083706" y="247896"/>
                </a:lnTo>
                <a:lnTo>
                  <a:pt x="1219169" y="244031"/>
                </a:lnTo>
                <a:lnTo>
                  <a:pt x="1354632" y="237338"/>
                </a:lnTo>
                <a:lnTo>
                  <a:pt x="1490096" y="228250"/>
                </a:lnTo>
                <a:lnTo>
                  <a:pt x="1625559" y="217286"/>
                </a:lnTo>
                <a:lnTo>
                  <a:pt x="1761022" y="205017"/>
                </a:lnTo>
                <a:lnTo>
                  <a:pt x="1896485" y="192024"/>
                </a:lnTo>
                <a:lnTo>
                  <a:pt x="2031949" y="178869"/>
                </a:lnTo>
                <a:lnTo>
                  <a:pt x="2167412" y="166053"/>
                </a:lnTo>
                <a:lnTo>
                  <a:pt x="2302875" y="153992"/>
                </a:lnTo>
                <a:lnTo>
                  <a:pt x="2438339" y="142992"/>
                </a:lnTo>
                <a:lnTo>
                  <a:pt x="2573802" y="133239"/>
                </a:lnTo>
                <a:lnTo>
                  <a:pt x="2709265" y="124790"/>
                </a:lnTo>
                <a:lnTo>
                  <a:pt x="2844728" y="117583"/>
                </a:lnTo>
                <a:lnTo>
                  <a:pt x="2980192" y="111449"/>
                </a:lnTo>
                <a:lnTo>
                  <a:pt x="3115655" y="106137"/>
                </a:lnTo>
                <a:lnTo>
                  <a:pt x="3251118" y="101335"/>
                </a:lnTo>
                <a:lnTo>
                  <a:pt x="3386582" y="96713"/>
                </a:lnTo>
                <a:lnTo>
                  <a:pt x="3522045" y="91945"/>
                </a:lnTo>
                <a:lnTo>
                  <a:pt x="3657508" y="86753"/>
                </a:lnTo>
                <a:lnTo>
                  <a:pt x="3792971" y="80928"/>
                </a:lnTo>
                <a:lnTo>
                  <a:pt x="3928435" y="74354"/>
                </a:lnTo>
                <a:lnTo>
                  <a:pt x="4063898" y="67031"/>
                </a:lnTo>
                <a:lnTo>
                  <a:pt x="4199361" y="59072"/>
                </a:lnTo>
                <a:lnTo>
                  <a:pt x="4334824" y="50711"/>
                </a:lnTo>
                <a:lnTo>
                  <a:pt x="4470288" y="42285"/>
                </a:lnTo>
                <a:lnTo>
                  <a:pt x="4605751" y="34213"/>
                </a:lnTo>
                <a:lnTo>
                  <a:pt x="4741214" y="26977"/>
                </a:lnTo>
                <a:lnTo>
                  <a:pt x="4876678" y="21080"/>
                </a:lnTo>
                <a:lnTo>
                  <a:pt x="5012141" y="17016"/>
                </a:lnTo>
                <a:lnTo>
                  <a:pt x="5147604" y="15233"/>
                </a:lnTo>
                <a:lnTo>
                  <a:pt x="5283067" y="16099"/>
                </a:lnTo>
                <a:lnTo>
                  <a:pt x="5418531" y="19870"/>
                </a:lnTo>
                <a:lnTo>
                  <a:pt x="5553994" y="26670"/>
                </a:lnTo>
                <a:lnTo>
                  <a:pt x="5689457" y="36475"/>
                </a:lnTo>
                <a:lnTo>
                  <a:pt x="5824921" y="49109"/>
                </a:lnTo>
                <a:lnTo>
                  <a:pt x="5960384" y="64247"/>
                </a:lnTo>
                <a:lnTo>
                  <a:pt x="6095847" y="81430"/>
                </a:lnTo>
                <a:lnTo>
                  <a:pt x="6231310" y="100088"/>
                </a:lnTo>
                <a:lnTo>
                  <a:pt x="6366774" y="119571"/>
                </a:lnTo>
                <a:lnTo>
                  <a:pt x="6502237" y="139187"/>
                </a:lnTo>
                <a:lnTo>
                  <a:pt x="6637700" y="158234"/>
                </a:lnTo>
                <a:lnTo>
                  <a:pt x="6773164" y="176047"/>
                </a:lnTo>
                <a:lnTo>
                  <a:pt x="6908627" y="192030"/>
                </a:lnTo>
                <a:lnTo>
                  <a:pt x="7044090" y="205690"/>
                </a:lnTo>
                <a:lnTo>
                  <a:pt x="7179553" y="216660"/>
                </a:lnTo>
                <a:lnTo>
                  <a:pt x="7315017" y="224721"/>
                </a:lnTo>
                <a:lnTo>
                  <a:pt x="7450480" y="229802"/>
                </a:lnTo>
                <a:lnTo>
                  <a:pt x="7585943" y="231983"/>
                </a:lnTo>
                <a:lnTo>
                  <a:pt x="7721406" y="231480"/>
                </a:lnTo>
                <a:lnTo>
                  <a:pt x="7856870" y="228626"/>
                </a:lnTo>
                <a:lnTo>
                  <a:pt x="7992333" y="223841"/>
                </a:lnTo>
                <a:lnTo>
                  <a:pt x="8127796" y="217601"/>
                </a:lnTo>
                <a:lnTo>
                  <a:pt x="8263260" y="210399"/>
                </a:lnTo>
                <a:lnTo>
                  <a:pt x="8398723" y="202714"/>
                </a:lnTo>
                <a:lnTo>
                  <a:pt x="8534186" y="194975"/>
                </a:lnTo>
                <a:lnTo>
                  <a:pt x="8669649" y="187531"/>
                </a:lnTo>
                <a:lnTo>
                  <a:pt x="8805113" y="180631"/>
                </a:lnTo>
                <a:lnTo>
                  <a:pt x="8940576" y="174414"/>
                </a:lnTo>
                <a:lnTo>
                  <a:pt x="9076039" y="168896"/>
                </a:lnTo>
                <a:lnTo>
                  <a:pt x="9211503" y="163983"/>
                </a:lnTo>
                <a:lnTo>
                  <a:pt x="9346966" y="159481"/>
                </a:lnTo>
                <a:lnTo>
                  <a:pt x="9482429" y="155122"/>
                </a:lnTo>
                <a:lnTo>
                  <a:pt x="9617892" y="150584"/>
                </a:lnTo>
                <a:lnTo>
                  <a:pt x="9753356" y="145531"/>
                </a:lnTo>
                <a:lnTo>
                  <a:pt x="9888819" y="139645"/>
                </a:lnTo>
                <a:lnTo>
                  <a:pt x="10024282" y="132654"/>
                </a:lnTo>
                <a:lnTo>
                  <a:pt x="10159746" y="124369"/>
                </a:lnTo>
                <a:lnTo>
                  <a:pt x="10295209" y="114699"/>
                </a:lnTo>
                <a:lnTo>
                  <a:pt x="10430672" y="103677"/>
                </a:lnTo>
                <a:lnTo>
                  <a:pt x="10566135" y="91461"/>
                </a:lnTo>
                <a:lnTo>
                  <a:pt x="10701599" y="78333"/>
                </a:lnTo>
                <a:lnTo>
                  <a:pt x="10837062" y="64691"/>
                </a:lnTo>
                <a:lnTo>
                  <a:pt x="10972525" y="51025"/>
                </a:lnTo>
                <a:lnTo>
                  <a:pt x="11107988" y="37893"/>
                </a:lnTo>
                <a:lnTo>
                  <a:pt x="11243452" y="25885"/>
                </a:lnTo>
                <a:lnTo>
                  <a:pt x="11378915" y="15588"/>
                </a:lnTo>
                <a:lnTo>
                  <a:pt x="11514378" y="7547"/>
                </a:lnTo>
                <a:lnTo>
                  <a:pt x="11649842" y="2231"/>
                </a:lnTo>
                <a:lnTo>
                  <a:pt x="11785305" y="0"/>
                </a:lnTo>
                <a:lnTo>
                  <a:pt x="11920768" y="1082"/>
                </a:lnTo>
                <a:lnTo>
                  <a:pt x="12056231" y="5551"/>
                </a:lnTo>
                <a:lnTo>
                  <a:pt x="12191695" y="13326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0" y="6533113"/>
            <a:ext cx="12191695" cy="246124"/>
          </a:xfrm>
          <a:custGeom>
            <a:avLst/>
            <a:gdLst/>
            <a:ahLst/>
            <a:cxnLst/>
            <a:rect l="l" t="t" r="r" b="b"/>
            <a:pathLst>
              <a:path w="12191695" h="246124">
                <a:moveTo>
                  <a:pt x="0" y="183172"/>
                </a:moveTo>
                <a:lnTo>
                  <a:pt x="135463" y="199432"/>
                </a:lnTo>
                <a:lnTo>
                  <a:pt x="270926" y="214077"/>
                </a:lnTo>
                <a:lnTo>
                  <a:pt x="406389" y="226514"/>
                </a:lnTo>
                <a:lnTo>
                  <a:pt x="541853" y="236236"/>
                </a:lnTo>
                <a:lnTo>
                  <a:pt x="677316" y="242855"/>
                </a:lnTo>
                <a:lnTo>
                  <a:pt x="812779" y="246124"/>
                </a:lnTo>
                <a:lnTo>
                  <a:pt x="948242" y="245951"/>
                </a:lnTo>
                <a:lnTo>
                  <a:pt x="1083706" y="242404"/>
                </a:lnTo>
                <a:lnTo>
                  <a:pt x="1219169" y="235707"/>
                </a:lnTo>
                <a:lnTo>
                  <a:pt x="1354632" y="226219"/>
                </a:lnTo>
                <a:lnTo>
                  <a:pt x="1490096" y="214417"/>
                </a:lnTo>
                <a:lnTo>
                  <a:pt x="1625559" y="200862"/>
                </a:lnTo>
                <a:lnTo>
                  <a:pt x="1761022" y="186161"/>
                </a:lnTo>
                <a:lnTo>
                  <a:pt x="1896485" y="170935"/>
                </a:lnTo>
                <a:lnTo>
                  <a:pt x="2031949" y="155777"/>
                </a:lnTo>
                <a:lnTo>
                  <a:pt x="2167412" y="141221"/>
                </a:lnTo>
                <a:lnTo>
                  <a:pt x="2302875" y="127707"/>
                </a:lnTo>
                <a:lnTo>
                  <a:pt x="2438339" y="115564"/>
                </a:lnTo>
                <a:lnTo>
                  <a:pt x="2573802" y="104994"/>
                </a:lnTo>
                <a:lnTo>
                  <a:pt x="2709265" y="96068"/>
                </a:lnTo>
                <a:lnTo>
                  <a:pt x="2844728" y="88731"/>
                </a:lnTo>
                <a:lnTo>
                  <a:pt x="2980192" y="82816"/>
                </a:lnTo>
                <a:lnTo>
                  <a:pt x="3115655" y="78067"/>
                </a:lnTo>
                <a:lnTo>
                  <a:pt x="3251118" y="74166"/>
                </a:lnTo>
                <a:lnTo>
                  <a:pt x="3386582" y="70766"/>
                </a:lnTo>
                <a:lnTo>
                  <a:pt x="3522045" y="67527"/>
                </a:lnTo>
                <a:lnTo>
                  <a:pt x="3657508" y="64145"/>
                </a:lnTo>
                <a:lnTo>
                  <a:pt x="3792971" y="60383"/>
                </a:lnTo>
                <a:lnTo>
                  <a:pt x="3928435" y="56096"/>
                </a:lnTo>
                <a:lnTo>
                  <a:pt x="4063898" y="51248"/>
                </a:lnTo>
                <a:lnTo>
                  <a:pt x="4199361" y="45917"/>
                </a:lnTo>
                <a:lnTo>
                  <a:pt x="4334824" y="40294"/>
                </a:lnTo>
                <a:lnTo>
                  <a:pt x="4470288" y="34675"/>
                </a:lnTo>
                <a:lnTo>
                  <a:pt x="4605751" y="29440"/>
                </a:lnTo>
                <a:lnTo>
                  <a:pt x="4741214" y="25025"/>
                </a:lnTo>
                <a:lnTo>
                  <a:pt x="4876678" y="21891"/>
                </a:lnTo>
                <a:lnTo>
                  <a:pt x="5012141" y="20491"/>
                </a:lnTo>
                <a:lnTo>
                  <a:pt x="5147604" y="21233"/>
                </a:lnTo>
                <a:lnTo>
                  <a:pt x="5283067" y="24445"/>
                </a:lnTo>
                <a:lnTo>
                  <a:pt x="5418531" y="30349"/>
                </a:lnTo>
                <a:lnTo>
                  <a:pt x="5553994" y="39037"/>
                </a:lnTo>
                <a:lnTo>
                  <a:pt x="5689457" y="50457"/>
                </a:lnTo>
                <a:lnTo>
                  <a:pt x="5824921" y="64407"/>
                </a:lnTo>
                <a:lnTo>
                  <a:pt x="5960384" y="80543"/>
                </a:lnTo>
                <a:lnTo>
                  <a:pt x="6095847" y="98390"/>
                </a:lnTo>
                <a:lnTo>
                  <a:pt x="6231310" y="117369"/>
                </a:lnTo>
                <a:lnTo>
                  <a:pt x="6366774" y="136826"/>
                </a:lnTo>
                <a:lnTo>
                  <a:pt x="6502237" y="156066"/>
                </a:lnTo>
                <a:lnTo>
                  <a:pt x="6637700" y="174397"/>
                </a:lnTo>
                <a:lnTo>
                  <a:pt x="6773164" y="191162"/>
                </a:lnTo>
                <a:lnTo>
                  <a:pt x="6908627" y="205782"/>
                </a:lnTo>
                <a:lnTo>
                  <a:pt x="7044090" y="217784"/>
                </a:lnTo>
                <a:lnTo>
                  <a:pt x="7179553" y="226827"/>
                </a:lnTo>
                <a:lnTo>
                  <a:pt x="7315017" y="232720"/>
                </a:lnTo>
                <a:lnTo>
                  <a:pt x="7450480" y="235424"/>
                </a:lnTo>
                <a:lnTo>
                  <a:pt x="7585943" y="235057"/>
                </a:lnTo>
                <a:lnTo>
                  <a:pt x="7721406" y="231872"/>
                </a:lnTo>
                <a:lnTo>
                  <a:pt x="7856870" y="226244"/>
                </a:lnTo>
                <a:lnTo>
                  <a:pt x="7992333" y="218632"/>
                </a:lnTo>
                <a:lnTo>
                  <a:pt x="8127796" y="209557"/>
                </a:lnTo>
                <a:lnTo>
                  <a:pt x="8263260" y="199555"/>
                </a:lnTo>
                <a:lnTo>
                  <a:pt x="8398723" y="189147"/>
                </a:lnTo>
                <a:lnTo>
                  <a:pt x="8534186" y="178801"/>
                </a:lnTo>
                <a:lnTo>
                  <a:pt x="8669649" y="168908"/>
                </a:lnTo>
                <a:lnTo>
                  <a:pt x="8805113" y="159754"/>
                </a:lnTo>
                <a:lnTo>
                  <a:pt x="8940576" y="151510"/>
                </a:lnTo>
                <a:lnTo>
                  <a:pt x="9076039" y="144224"/>
                </a:lnTo>
                <a:lnTo>
                  <a:pt x="9211503" y="137828"/>
                </a:lnTo>
                <a:lnTo>
                  <a:pt x="9346966" y="132152"/>
                </a:lnTo>
                <a:lnTo>
                  <a:pt x="9482429" y="126943"/>
                </a:lnTo>
                <a:lnTo>
                  <a:pt x="9617892" y="121894"/>
                </a:lnTo>
                <a:lnTo>
                  <a:pt x="9753356" y="116677"/>
                </a:lnTo>
                <a:lnTo>
                  <a:pt x="9888819" y="110975"/>
                </a:lnTo>
                <a:lnTo>
                  <a:pt x="10024282" y="104513"/>
                </a:lnTo>
                <a:lnTo>
                  <a:pt x="10159746" y="97095"/>
                </a:lnTo>
                <a:lnTo>
                  <a:pt x="10295209" y="88617"/>
                </a:lnTo>
                <a:lnTo>
                  <a:pt x="10430672" y="79094"/>
                </a:lnTo>
                <a:lnTo>
                  <a:pt x="10566135" y="68661"/>
                </a:lnTo>
                <a:lnTo>
                  <a:pt x="10701599" y="57573"/>
                </a:lnTo>
                <a:lnTo>
                  <a:pt x="10837062" y="46197"/>
                </a:lnTo>
                <a:lnTo>
                  <a:pt x="10972525" y="34990"/>
                </a:lnTo>
                <a:lnTo>
                  <a:pt x="11107988" y="24471"/>
                </a:lnTo>
                <a:lnTo>
                  <a:pt x="11243452" y="15192"/>
                </a:lnTo>
                <a:lnTo>
                  <a:pt x="11378915" y="7698"/>
                </a:lnTo>
                <a:lnTo>
                  <a:pt x="11514378" y="2492"/>
                </a:lnTo>
                <a:lnTo>
                  <a:pt x="11649842" y="0"/>
                </a:lnTo>
                <a:lnTo>
                  <a:pt x="11785305" y="541"/>
                </a:lnTo>
                <a:lnTo>
                  <a:pt x="11920768" y="4298"/>
                </a:lnTo>
                <a:lnTo>
                  <a:pt x="12056231" y="11307"/>
                </a:lnTo>
                <a:lnTo>
                  <a:pt x="12191695" y="21447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0" y="6600998"/>
            <a:ext cx="12191695" cy="238322"/>
          </a:xfrm>
          <a:custGeom>
            <a:avLst/>
            <a:gdLst/>
            <a:ahLst/>
            <a:cxnLst/>
            <a:rect l="l" t="t" r="r" b="b"/>
            <a:pathLst>
              <a:path w="12191695" h="238322">
                <a:moveTo>
                  <a:pt x="0" y="190722"/>
                </a:moveTo>
                <a:lnTo>
                  <a:pt x="135463" y="204821"/>
                </a:lnTo>
                <a:lnTo>
                  <a:pt x="270926" y="217096"/>
                </a:lnTo>
                <a:lnTo>
                  <a:pt x="406389" y="226989"/>
                </a:lnTo>
                <a:lnTo>
                  <a:pt x="541853" y="234032"/>
                </a:lnTo>
                <a:lnTo>
                  <a:pt x="677316" y="237878"/>
                </a:lnTo>
                <a:lnTo>
                  <a:pt x="812779" y="238322"/>
                </a:lnTo>
                <a:lnTo>
                  <a:pt x="948242" y="235314"/>
                </a:lnTo>
                <a:lnTo>
                  <a:pt x="1083706" y="228966"/>
                </a:lnTo>
                <a:lnTo>
                  <a:pt x="1219169" y="219541"/>
                </a:lnTo>
                <a:lnTo>
                  <a:pt x="1354632" y="207444"/>
                </a:lnTo>
                <a:lnTo>
                  <a:pt x="1490096" y="193188"/>
                </a:lnTo>
                <a:lnTo>
                  <a:pt x="1625559" y="177371"/>
                </a:lnTo>
                <a:lnTo>
                  <a:pt x="1761022" y="160636"/>
                </a:lnTo>
                <a:lnTo>
                  <a:pt x="1896485" y="143634"/>
                </a:lnTo>
                <a:lnTo>
                  <a:pt x="2031949" y="126985"/>
                </a:lnTo>
                <a:lnTo>
                  <a:pt x="2167412" y="111244"/>
                </a:lnTo>
                <a:lnTo>
                  <a:pt x="2302875" y="96871"/>
                </a:lnTo>
                <a:lnTo>
                  <a:pt x="2438339" y="84207"/>
                </a:lnTo>
                <a:lnTo>
                  <a:pt x="2573802" y="73462"/>
                </a:lnTo>
                <a:lnTo>
                  <a:pt x="2709265" y="64709"/>
                </a:lnTo>
                <a:lnTo>
                  <a:pt x="2844728" y="57891"/>
                </a:lnTo>
                <a:lnTo>
                  <a:pt x="2980192" y="52834"/>
                </a:lnTo>
                <a:lnTo>
                  <a:pt x="3115655" y="49267"/>
                </a:lnTo>
                <a:lnTo>
                  <a:pt x="3251118" y="46856"/>
                </a:lnTo>
                <a:lnTo>
                  <a:pt x="3386582" y="45231"/>
                </a:lnTo>
                <a:lnTo>
                  <a:pt x="3522045" y="44024"/>
                </a:lnTo>
                <a:lnTo>
                  <a:pt x="3657508" y="42902"/>
                </a:lnTo>
                <a:lnTo>
                  <a:pt x="3792971" y="41593"/>
                </a:lnTo>
                <a:lnTo>
                  <a:pt x="3928435" y="39916"/>
                </a:lnTo>
                <a:lnTo>
                  <a:pt x="4063898" y="37794"/>
                </a:lnTo>
                <a:lnTo>
                  <a:pt x="4199361" y="35264"/>
                </a:lnTo>
                <a:lnTo>
                  <a:pt x="4334824" y="32476"/>
                </a:lnTo>
                <a:lnTo>
                  <a:pt x="4470288" y="29683"/>
                </a:lnTo>
                <a:lnTo>
                  <a:pt x="4605751" y="27220"/>
                </a:lnTo>
                <a:lnTo>
                  <a:pt x="4741214" y="25484"/>
                </a:lnTo>
                <a:lnTo>
                  <a:pt x="4876678" y="24895"/>
                </a:lnTo>
                <a:lnTo>
                  <a:pt x="5012141" y="25867"/>
                </a:lnTo>
                <a:lnTo>
                  <a:pt x="5147604" y="28771"/>
                </a:lnTo>
                <a:lnTo>
                  <a:pt x="5283067" y="33905"/>
                </a:lnTo>
                <a:lnTo>
                  <a:pt x="5418531" y="41460"/>
                </a:lnTo>
                <a:lnTo>
                  <a:pt x="5553994" y="51504"/>
                </a:lnTo>
                <a:lnTo>
                  <a:pt x="5689457" y="63964"/>
                </a:lnTo>
                <a:lnTo>
                  <a:pt x="5824921" y="78622"/>
                </a:lnTo>
                <a:lnTo>
                  <a:pt x="5960384" y="95124"/>
                </a:lnTo>
                <a:lnTo>
                  <a:pt x="6095847" y="112989"/>
                </a:lnTo>
                <a:lnTo>
                  <a:pt x="6231310" y="131639"/>
                </a:lnTo>
                <a:lnTo>
                  <a:pt x="6366774" y="150423"/>
                </a:lnTo>
                <a:lnTo>
                  <a:pt x="6502237" y="168658"/>
                </a:lnTo>
                <a:lnTo>
                  <a:pt x="6637700" y="185665"/>
                </a:lnTo>
                <a:lnTo>
                  <a:pt x="6773164" y="200809"/>
                </a:lnTo>
                <a:lnTo>
                  <a:pt x="6908627" y="213535"/>
                </a:lnTo>
                <a:lnTo>
                  <a:pt x="7044090" y="223398"/>
                </a:lnTo>
                <a:lnTo>
                  <a:pt x="7179553" y="230090"/>
                </a:lnTo>
                <a:lnTo>
                  <a:pt x="7315017" y="233454"/>
                </a:lnTo>
                <a:lnTo>
                  <a:pt x="7450480" y="233492"/>
                </a:lnTo>
                <a:lnTo>
                  <a:pt x="7585943" y="230359"/>
                </a:lnTo>
                <a:lnTo>
                  <a:pt x="7721406" y="224353"/>
                </a:lnTo>
                <a:lnTo>
                  <a:pt x="7856870" y="215888"/>
                </a:lnTo>
                <a:lnTo>
                  <a:pt x="7992333" y="205470"/>
                </a:lnTo>
                <a:lnTo>
                  <a:pt x="8127796" y="193658"/>
                </a:lnTo>
                <a:lnTo>
                  <a:pt x="8263260" y="181033"/>
                </a:lnTo>
                <a:lnTo>
                  <a:pt x="8398723" y="168153"/>
                </a:lnTo>
                <a:lnTo>
                  <a:pt x="8534186" y="155526"/>
                </a:lnTo>
                <a:lnTo>
                  <a:pt x="8669649" y="143575"/>
                </a:lnTo>
                <a:lnTo>
                  <a:pt x="8805113" y="132618"/>
                </a:lnTo>
                <a:lnTo>
                  <a:pt x="8940576" y="122852"/>
                </a:lnTo>
                <a:lnTo>
                  <a:pt x="9076039" y="114351"/>
                </a:lnTo>
                <a:lnTo>
                  <a:pt x="9211503" y="107063"/>
                </a:lnTo>
                <a:lnTo>
                  <a:pt x="9346966" y="100832"/>
                </a:lnTo>
                <a:lnTo>
                  <a:pt x="9482429" y="95413"/>
                </a:lnTo>
                <a:lnTo>
                  <a:pt x="9617892" y="90502"/>
                </a:lnTo>
                <a:lnTo>
                  <a:pt x="9753356" y="85770"/>
                </a:lnTo>
                <a:lnTo>
                  <a:pt x="9888819" y="80892"/>
                </a:lnTo>
                <a:lnTo>
                  <a:pt x="10024282" y="75582"/>
                </a:lnTo>
                <a:lnTo>
                  <a:pt x="10159746" y="69623"/>
                </a:lnTo>
                <a:lnTo>
                  <a:pt x="10295209" y="62893"/>
                </a:lnTo>
                <a:lnTo>
                  <a:pt x="10430672" y="55378"/>
                </a:lnTo>
                <a:lnTo>
                  <a:pt x="10566135" y="47183"/>
                </a:lnTo>
                <a:lnTo>
                  <a:pt x="10701599" y="38531"/>
                </a:lnTo>
                <a:lnTo>
                  <a:pt x="10837062" y="29751"/>
                </a:lnTo>
                <a:lnTo>
                  <a:pt x="10972525" y="21260"/>
                </a:lnTo>
                <a:lnTo>
                  <a:pt x="11107988" y="13537"/>
                </a:lnTo>
                <a:lnTo>
                  <a:pt x="11243452" y="7091"/>
                </a:lnTo>
                <a:lnTo>
                  <a:pt x="11378915" y="2425"/>
                </a:lnTo>
                <a:lnTo>
                  <a:pt x="11514378" y="0"/>
                </a:lnTo>
                <a:lnTo>
                  <a:pt x="11649842" y="198"/>
                </a:lnTo>
                <a:lnTo>
                  <a:pt x="11785305" y="3299"/>
                </a:lnTo>
                <a:lnTo>
                  <a:pt x="11920768" y="9446"/>
                </a:lnTo>
                <a:lnTo>
                  <a:pt x="12056231" y="18641"/>
                </a:lnTo>
                <a:lnTo>
                  <a:pt x="12191695" y="30728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46304"/>
            <a:ext cx="11283696" cy="44805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指标服务架构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722376"/>
            <a:ext cx="585216" cy="41148"/>
          </a:xfrm>
          <a:prstGeom prst="rect">
            <a:avLst/>
          </a:prstGeom>
          <a:solidFill>
            <a:srgbClr val="EE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649224"/>
            <a:ext cx="10469880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2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管理定义、验证实现、统一消费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292608"/>
            <a:ext cx="896112" cy="20116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HiAgent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6647688"/>
            <a:ext cx="10241280" cy="1280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7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企业数据智能体建设规划  /  规划视图  /  2026.10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629400"/>
            <a:ext cx="585216" cy="17373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005840"/>
            <a:ext cx="11183112" cy="530352"/>
          </a:xfrm>
          <a:prstGeom prst="roundRect">
            <a:avLst>
              <a:gd name="adj" fmla="val 3500"/>
            </a:avLst>
          </a:prstGeom>
          <a:solidFill>
            <a:srgbClr val="08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037844"/>
            <a:ext cx="11000232" cy="46634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消费侧：需求Agent / 开发Agent / 分析Agent / 报表与业务应用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9048" y="1581912"/>
            <a:ext cx="0" cy="274319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6063202" y="1797765"/>
            <a:ext cx="35846" cy="58466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099048" y="1797765"/>
            <a:ext cx="35845" cy="58466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02920" y="1892807"/>
            <a:ext cx="11183112" cy="1865376"/>
          </a:xfrm>
          <a:prstGeom prst="rect">
            <a:avLst/>
          </a:prstGeom>
          <a:solidFill>
            <a:srgbClr val="F5FA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08660" y="2135124"/>
            <a:ext cx="3355848" cy="1444752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2103120"/>
            <a:ext cx="3355848" cy="14447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9444" y="2672882"/>
            <a:ext cx="469087" cy="8339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838596" y="2532156"/>
            <a:ext cx="479511" cy="201395"/>
          </a:xfrm>
          <a:custGeom>
            <a:avLst/>
            <a:gdLst/>
            <a:ahLst/>
            <a:cxnLst/>
            <a:rect l="l" t="t" r="r" b="b"/>
            <a:pathLst>
              <a:path w="479511" h="201395">
                <a:moveTo>
                  <a:pt x="0" y="100697"/>
                </a:moveTo>
                <a:lnTo>
                  <a:pt x="239755" y="0"/>
                </a:lnTo>
                <a:lnTo>
                  <a:pt x="479511" y="100697"/>
                </a:lnTo>
                <a:lnTo>
                  <a:pt x="239755" y="201395"/>
                </a:lnTo>
                <a:close/>
              </a:path>
            </a:pathLst>
          </a:custGeom>
          <a:solidFill>
            <a:srgbClr val="B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838596" y="2632853"/>
            <a:ext cx="239755" cy="145000"/>
          </a:xfrm>
          <a:custGeom>
            <a:avLst/>
            <a:gdLst/>
            <a:ahLst/>
            <a:cxnLst/>
            <a:rect l="l" t="t" r="r" b="b"/>
            <a:pathLst>
              <a:path w="239755" h="145000">
                <a:moveTo>
                  <a:pt x="0" y="0"/>
                </a:moveTo>
                <a:lnTo>
                  <a:pt x="239755" y="100698"/>
                </a:lnTo>
                <a:lnTo>
                  <a:pt x="239755" y="145000"/>
                </a:lnTo>
                <a:lnTo>
                  <a:pt x="0" y="44303"/>
                </a:lnTo>
                <a:close/>
              </a:path>
            </a:pathLst>
          </a:custGeom>
          <a:solidFill>
            <a:srgbClr val="6D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078351" y="2632853"/>
            <a:ext cx="239756" cy="145000"/>
          </a:xfrm>
          <a:custGeom>
            <a:avLst/>
            <a:gdLst/>
            <a:ahLst/>
            <a:cxnLst/>
            <a:rect l="l" t="t" r="r" b="b"/>
            <a:pathLst>
              <a:path w="239756" h="145000">
                <a:moveTo>
                  <a:pt x="0" y="100698"/>
                </a:moveTo>
                <a:lnTo>
                  <a:pt x="239756" y="0"/>
                </a:lnTo>
                <a:lnTo>
                  <a:pt x="239756" y="44303"/>
                </a:lnTo>
                <a:lnTo>
                  <a:pt x="0" y="145000"/>
                </a:lnTo>
                <a:close/>
              </a:path>
            </a:pathLst>
          </a:custGeom>
          <a:solidFill>
            <a:srgbClr val="30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880292" y="2433126"/>
            <a:ext cx="396118" cy="166370"/>
          </a:xfrm>
          <a:custGeom>
            <a:avLst/>
            <a:gdLst/>
            <a:ahLst/>
            <a:cxnLst/>
            <a:rect l="l" t="t" r="r" b="b"/>
            <a:pathLst>
              <a:path w="396118" h="166370">
                <a:moveTo>
                  <a:pt x="0" y="83185"/>
                </a:moveTo>
                <a:lnTo>
                  <a:pt x="198059" y="0"/>
                </a:lnTo>
                <a:lnTo>
                  <a:pt x="396118" y="83185"/>
                </a:lnTo>
                <a:lnTo>
                  <a:pt x="198059" y="166370"/>
                </a:lnTo>
                <a:close/>
              </a:path>
            </a:pathLst>
          </a:custGeom>
          <a:solidFill>
            <a:srgbClr val="94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880292" y="2516311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0"/>
                </a:moveTo>
                <a:lnTo>
                  <a:pt x="198059" y="83185"/>
                </a:lnTo>
                <a:lnTo>
                  <a:pt x="198059" y="127488"/>
                </a:lnTo>
                <a:lnTo>
                  <a:pt x="0" y="44303"/>
                </a:lnTo>
                <a:close/>
              </a:path>
            </a:pathLst>
          </a:custGeom>
          <a:solidFill>
            <a:srgbClr val="3F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1078351" y="2516311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83185"/>
                </a:moveTo>
                <a:lnTo>
                  <a:pt x="198059" y="0"/>
                </a:lnTo>
                <a:lnTo>
                  <a:pt x="198059" y="44303"/>
                </a:lnTo>
                <a:lnTo>
                  <a:pt x="0" y="127488"/>
                </a:lnTo>
                <a:close/>
              </a:path>
            </a:pathLst>
          </a:custGeom>
          <a:solidFill>
            <a:srgbClr val="197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927201" y="2334097"/>
            <a:ext cx="302301" cy="126966"/>
          </a:xfrm>
          <a:custGeom>
            <a:avLst/>
            <a:gdLst/>
            <a:ahLst/>
            <a:cxnLst/>
            <a:rect l="l" t="t" r="r" b="b"/>
            <a:pathLst>
              <a:path w="302301" h="126966">
                <a:moveTo>
                  <a:pt x="0" y="63483"/>
                </a:moveTo>
                <a:lnTo>
                  <a:pt x="151150" y="0"/>
                </a:lnTo>
                <a:lnTo>
                  <a:pt x="302301" y="63483"/>
                </a:lnTo>
                <a:lnTo>
                  <a:pt x="151150" y="126966"/>
                </a:lnTo>
                <a:close/>
              </a:path>
            </a:pathLst>
          </a:custGeom>
          <a:solidFill>
            <a:srgbClr val="57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927201" y="2397580"/>
            <a:ext cx="151150" cy="107786"/>
          </a:xfrm>
          <a:custGeom>
            <a:avLst/>
            <a:gdLst/>
            <a:ahLst/>
            <a:cxnLst/>
            <a:rect l="l" t="t" r="r" b="b"/>
            <a:pathLst>
              <a:path w="151150" h="107786">
                <a:moveTo>
                  <a:pt x="0" y="0"/>
                </a:moveTo>
                <a:lnTo>
                  <a:pt x="151150" y="63483"/>
                </a:lnTo>
                <a:lnTo>
                  <a:pt x="151150" y="107786"/>
                </a:lnTo>
                <a:lnTo>
                  <a:pt x="0" y="44303"/>
                </a:lnTo>
                <a:close/>
              </a:path>
            </a:pathLst>
          </a:custGeom>
          <a:solidFill>
            <a:srgbClr val="148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1078351" y="2397580"/>
            <a:ext cx="151151" cy="107786"/>
          </a:xfrm>
          <a:custGeom>
            <a:avLst/>
            <a:gdLst/>
            <a:ahLst/>
            <a:cxnLst/>
            <a:rect l="l" t="t" r="r" b="b"/>
            <a:pathLst>
              <a:path w="151151" h="107786">
                <a:moveTo>
                  <a:pt x="0" y="63483"/>
                </a:moveTo>
                <a:lnTo>
                  <a:pt x="151151" y="0"/>
                </a:lnTo>
                <a:lnTo>
                  <a:pt x="151151" y="44303"/>
                </a:lnTo>
                <a:lnTo>
                  <a:pt x="0" y="107786"/>
                </a:lnTo>
                <a:close/>
              </a:path>
            </a:pathLst>
          </a:custGeom>
          <a:solidFill>
            <a:srgbClr val="0A5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000170" y="2313249"/>
            <a:ext cx="99030" cy="45553"/>
          </a:xfrm>
          <a:custGeom>
            <a:avLst/>
            <a:gdLst/>
            <a:ahLst/>
            <a:cxnLst/>
            <a:rect l="l" t="t" r="r" b="b"/>
            <a:pathLst>
              <a:path w="99030" h="45553">
                <a:moveTo>
                  <a:pt x="0" y="22776"/>
                </a:moveTo>
                <a:lnTo>
                  <a:pt x="49515" y="0"/>
                </a:lnTo>
                <a:lnTo>
                  <a:pt x="99030" y="22776"/>
                </a:lnTo>
                <a:lnTo>
                  <a:pt x="49515" y="45553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000170" y="2336025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70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049685" y="2336025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70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1130472" y="2360157"/>
            <a:ext cx="99030" cy="45554"/>
          </a:xfrm>
          <a:custGeom>
            <a:avLst/>
            <a:gdLst/>
            <a:ahLst/>
            <a:cxnLst/>
            <a:rect l="l" t="t" r="r" b="b"/>
            <a:pathLst>
              <a:path w="99030" h="45554">
                <a:moveTo>
                  <a:pt x="0" y="22777"/>
                </a:moveTo>
                <a:lnTo>
                  <a:pt x="49515" y="0"/>
                </a:lnTo>
                <a:lnTo>
                  <a:pt x="99030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1130472" y="2382934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1179987" y="2382934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047079" y="2422702"/>
            <a:ext cx="99029" cy="45554"/>
          </a:xfrm>
          <a:custGeom>
            <a:avLst/>
            <a:gdLst/>
            <a:ahLst/>
            <a:cxnLst/>
            <a:rect l="l" t="t" r="r" b="b"/>
            <a:pathLst>
              <a:path w="99029" h="45554">
                <a:moveTo>
                  <a:pt x="0" y="22777"/>
                </a:moveTo>
                <a:lnTo>
                  <a:pt x="49515" y="0"/>
                </a:lnTo>
                <a:lnTo>
                  <a:pt x="99029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047079" y="2445479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1096594" y="2445479"/>
            <a:ext cx="49514" cy="95746"/>
          </a:xfrm>
          <a:custGeom>
            <a:avLst/>
            <a:gdLst/>
            <a:ahLst/>
            <a:cxnLst/>
            <a:rect l="l" t="t" r="r" b="b"/>
            <a:pathLst>
              <a:path w="49514" h="95746">
                <a:moveTo>
                  <a:pt x="0" y="22777"/>
                </a:moveTo>
                <a:lnTo>
                  <a:pt x="49514" y="0"/>
                </a:lnTo>
                <a:lnTo>
                  <a:pt x="49514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63040" y="2276856"/>
            <a:ext cx="2423160" cy="3931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定义管理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" y="2907791"/>
            <a:ext cx="2935224" cy="566928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标识 / 口径 / 维度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责任 / 版本 / 审核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39412" y="2135124"/>
            <a:ext cx="3355848" cy="1444752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416552" y="2103120"/>
            <a:ext cx="3355848" cy="14447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590196" y="2672882"/>
            <a:ext cx="469087" cy="8339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4569348" y="2532156"/>
            <a:ext cx="479511" cy="201395"/>
          </a:xfrm>
          <a:custGeom>
            <a:avLst/>
            <a:gdLst/>
            <a:ahLst/>
            <a:cxnLst/>
            <a:rect l="l" t="t" r="r" b="b"/>
            <a:pathLst>
              <a:path w="479511" h="201395">
                <a:moveTo>
                  <a:pt x="0" y="100697"/>
                </a:moveTo>
                <a:lnTo>
                  <a:pt x="239755" y="0"/>
                </a:lnTo>
                <a:lnTo>
                  <a:pt x="479511" y="100697"/>
                </a:lnTo>
                <a:lnTo>
                  <a:pt x="239755" y="201395"/>
                </a:lnTo>
                <a:close/>
              </a:path>
            </a:pathLst>
          </a:custGeom>
          <a:solidFill>
            <a:srgbClr val="B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4569348" y="2632853"/>
            <a:ext cx="239755" cy="145000"/>
          </a:xfrm>
          <a:custGeom>
            <a:avLst/>
            <a:gdLst/>
            <a:ahLst/>
            <a:cxnLst/>
            <a:rect l="l" t="t" r="r" b="b"/>
            <a:pathLst>
              <a:path w="239755" h="145000">
                <a:moveTo>
                  <a:pt x="0" y="0"/>
                </a:moveTo>
                <a:lnTo>
                  <a:pt x="239755" y="100698"/>
                </a:lnTo>
                <a:lnTo>
                  <a:pt x="239755" y="145000"/>
                </a:lnTo>
                <a:lnTo>
                  <a:pt x="0" y="44303"/>
                </a:lnTo>
                <a:close/>
              </a:path>
            </a:pathLst>
          </a:custGeom>
          <a:solidFill>
            <a:srgbClr val="6D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4809103" y="2632853"/>
            <a:ext cx="239756" cy="145000"/>
          </a:xfrm>
          <a:custGeom>
            <a:avLst/>
            <a:gdLst/>
            <a:ahLst/>
            <a:cxnLst/>
            <a:rect l="l" t="t" r="r" b="b"/>
            <a:pathLst>
              <a:path w="239756" h="145000">
                <a:moveTo>
                  <a:pt x="0" y="100698"/>
                </a:moveTo>
                <a:lnTo>
                  <a:pt x="239756" y="0"/>
                </a:lnTo>
                <a:lnTo>
                  <a:pt x="239756" y="44303"/>
                </a:lnTo>
                <a:lnTo>
                  <a:pt x="0" y="145000"/>
                </a:lnTo>
                <a:close/>
              </a:path>
            </a:pathLst>
          </a:custGeom>
          <a:solidFill>
            <a:srgbClr val="30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4611044" y="2433126"/>
            <a:ext cx="396118" cy="166370"/>
          </a:xfrm>
          <a:custGeom>
            <a:avLst/>
            <a:gdLst/>
            <a:ahLst/>
            <a:cxnLst/>
            <a:rect l="l" t="t" r="r" b="b"/>
            <a:pathLst>
              <a:path w="396118" h="166370">
                <a:moveTo>
                  <a:pt x="0" y="83185"/>
                </a:moveTo>
                <a:lnTo>
                  <a:pt x="198059" y="0"/>
                </a:lnTo>
                <a:lnTo>
                  <a:pt x="396118" y="83185"/>
                </a:lnTo>
                <a:lnTo>
                  <a:pt x="198059" y="166370"/>
                </a:lnTo>
                <a:close/>
              </a:path>
            </a:pathLst>
          </a:custGeom>
          <a:solidFill>
            <a:srgbClr val="94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4611044" y="2516311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0"/>
                </a:moveTo>
                <a:lnTo>
                  <a:pt x="198059" y="83185"/>
                </a:lnTo>
                <a:lnTo>
                  <a:pt x="198059" y="127488"/>
                </a:lnTo>
                <a:lnTo>
                  <a:pt x="0" y="44303"/>
                </a:lnTo>
                <a:close/>
              </a:path>
            </a:pathLst>
          </a:custGeom>
          <a:solidFill>
            <a:srgbClr val="3F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4809103" y="2516311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83185"/>
                </a:moveTo>
                <a:lnTo>
                  <a:pt x="198059" y="0"/>
                </a:lnTo>
                <a:lnTo>
                  <a:pt x="198059" y="44303"/>
                </a:lnTo>
                <a:lnTo>
                  <a:pt x="0" y="127488"/>
                </a:lnTo>
                <a:close/>
              </a:path>
            </a:pathLst>
          </a:custGeom>
          <a:solidFill>
            <a:srgbClr val="197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4657953" y="2334097"/>
            <a:ext cx="302301" cy="126966"/>
          </a:xfrm>
          <a:custGeom>
            <a:avLst/>
            <a:gdLst/>
            <a:ahLst/>
            <a:cxnLst/>
            <a:rect l="l" t="t" r="r" b="b"/>
            <a:pathLst>
              <a:path w="302301" h="126966">
                <a:moveTo>
                  <a:pt x="0" y="63483"/>
                </a:moveTo>
                <a:lnTo>
                  <a:pt x="151150" y="0"/>
                </a:lnTo>
                <a:lnTo>
                  <a:pt x="302301" y="63483"/>
                </a:lnTo>
                <a:lnTo>
                  <a:pt x="151150" y="126966"/>
                </a:lnTo>
                <a:close/>
              </a:path>
            </a:pathLst>
          </a:custGeom>
          <a:solidFill>
            <a:srgbClr val="57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4657953" y="2397580"/>
            <a:ext cx="151150" cy="107786"/>
          </a:xfrm>
          <a:custGeom>
            <a:avLst/>
            <a:gdLst/>
            <a:ahLst/>
            <a:cxnLst/>
            <a:rect l="l" t="t" r="r" b="b"/>
            <a:pathLst>
              <a:path w="151150" h="107786">
                <a:moveTo>
                  <a:pt x="0" y="0"/>
                </a:moveTo>
                <a:lnTo>
                  <a:pt x="151150" y="63483"/>
                </a:lnTo>
                <a:lnTo>
                  <a:pt x="151150" y="107786"/>
                </a:lnTo>
                <a:lnTo>
                  <a:pt x="0" y="44303"/>
                </a:lnTo>
                <a:close/>
              </a:path>
            </a:pathLst>
          </a:custGeom>
          <a:solidFill>
            <a:srgbClr val="148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4809103" y="2397580"/>
            <a:ext cx="151151" cy="107786"/>
          </a:xfrm>
          <a:custGeom>
            <a:avLst/>
            <a:gdLst/>
            <a:ahLst/>
            <a:cxnLst/>
            <a:rect l="l" t="t" r="r" b="b"/>
            <a:pathLst>
              <a:path w="151151" h="107786">
                <a:moveTo>
                  <a:pt x="0" y="63483"/>
                </a:moveTo>
                <a:lnTo>
                  <a:pt x="151151" y="0"/>
                </a:lnTo>
                <a:lnTo>
                  <a:pt x="151151" y="44303"/>
                </a:lnTo>
                <a:lnTo>
                  <a:pt x="0" y="107786"/>
                </a:lnTo>
                <a:close/>
              </a:path>
            </a:pathLst>
          </a:custGeom>
          <a:solidFill>
            <a:srgbClr val="0A5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4730922" y="2313249"/>
            <a:ext cx="99030" cy="45553"/>
          </a:xfrm>
          <a:custGeom>
            <a:avLst/>
            <a:gdLst/>
            <a:ahLst/>
            <a:cxnLst/>
            <a:rect l="l" t="t" r="r" b="b"/>
            <a:pathLst>
              <a:path w="99030" h="45553">
                <a:moveTo>
                  <a:pt x="0" y="22776"/>
                </a:moveTo>
                <a:lnTo>
                  <a:pt x="49515" y="0"/>
                </a:lnTo>
                <a:lnTo>
                  <a:pt x="99030" y="22776"/>
                </a:lnTo>
                <a:lnTo>
                  <a:pt x="49515" y="45553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4730922" y="2336025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70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4780437" y="2336025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70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4861224" y="2360157"/>
            <a:ext cx="99030" cy="45554"/>
          </a:xfrm>
          <a:custGeom>
            <a:avLst/>
            <a:gdLst/>
            <a:ahLst/>
            <a:cxnLst/>
            <a:rect l="l" t="t" r="r" b="b"/>
            <a:pathLst>
              <a:path w="99030" h="45554">
                <a:moveTo>
                  <a:pt x="0" y="22777"/>
                </a:moveTo>
                <a:lnTo>
                  <a:pt x="49515" y="0"/>
                </a:lnTo>
                <a:lnTo>
                  <a:pt x="99030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4861224" y="2382934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4910739" y="2382934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4777831" y="2422702"/>
            <a:ext cx="99029" cy="45554"/>
          </a:xfrm>
          <a:custGeom>
            <a:avLst/>
            <a:gdLst/>
            <a:ahLst/>
            <a:cxnLst/>
            <a:rect l="l" t="t" r="r" b="b"/>
            <a:pathLst>
              <a:path w="99029" h="45554">
                <a:moveTo>
                  <a:pt x="0" y="22777"/>
                </a:moveTo>
                <a:lnTo>
                  <a:pt x="49515" y="0"/>
                </a:lnTo>
                <a:lnTo>
                  <a:pt x="99029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4777831" y="2445479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4827346" y="2445479"/>
            <a:ext cx="49514" cy="95746"/>
          </a:xfrm>
          <a:custGeom>
            <a:avLst/>
            <a:gdLst/>
            <a:ahLst/>
            <a:cxnLst/>
            <a:rect l="l" t="t" r="r" b="b"/>
            <a:pathLst>
              <a:path w="49514" h="95746">
                <a:moveTo>
                  <a:pt x="0" y="22777"/>
                </a:moveTo>
                <a:lnTo>
                  <a:pt x="49514" y="0"/>
                </a:lnTo>
                <a:lnTo>
                  <a:pt x="49514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93792" y="2276856"/>
            <a:ext cx="2423160" cy="3931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实现管理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26864" y="2907791"/>
            <a:ext cx="2935224" cy="566928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来源映射 / SQL模板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已有指标API / 对账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170164" y="2135124"/>
            <a:ext cx="3355848" cy="1444752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147304" y="2103120"/>
            <a:ext cx="3355848" cy="14447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320948" y="2672882"/>
            <a:ext cx="469087" cy="8339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8300100" y="2532156"/>
            <a:ext cx="479511" cy="201395"/>
          </a:xfrm>
          <a:custGeom>
            <a:avLst/>
            <a:gdLst/>
            <a:ahLst/>
            <a:cxnLst/>
            <a:rect l="l" t="t" r="r" b="b"/>
            <a:pathLst>
              <a:path w="479511" h="201395">
                <a:moveTo>
                  <a:pt x="0" y="100697"/>
                </a:moveTo>
                <a:lnTo>
                  <a:pt x="239755" y="0"/>
                </a:lnTo>
                <a:lnTo>
                  <a:pt x="479511" y="100697"/>
                </a:lnTo>
                <a:lnTo>
                  <a:pt x="239755" y="201395"/>
                </a:lnTo>
                <a:close/>
              </a:path>
            </a:pathLst>
          </a:custGeom>
          <a:solidFill>
            <a:srgbClr val="B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8300100" y="2632853"/>
            <a:ext cx="239755" cy="145000"/>
          </a:xfrm>
          <a:custGeom>
            <a:avLst/>
            <a:gdLst/>
            <a:ahLst/>
            <a:cxnLst/>
            <a:rect l="l" t="t" r="r" b="b"/>
            <a:pathLst>
              <a:path w="239755" h="145000">
                <a:moveTo>
                  <a:pt x="0" y="0"/>
                </a:moveTo>
                <a:lnTo>
                  <a:pt x="239755" y="100698"/>
                </a:lnTo>
                <a:lnTo>
                  <a:pt x="239755" y="145000"/>
                </a:lnTo>
                <a:lnTo>
                  <a:pt x="0" y="44303"/>
                </a:lnTo>
                <a:close/>
              </a:path>
            </a:pathLst>
          </a:custGeom>
          <a:solidFill>
            <a:srgbClr val="6D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8539855" y="2632853"/>
            <a:ext cx="239756" cy="145000"/>
          </a:xfrm>
          <a:custGeom>
            <a:avLst/>
            <a:gdLst/>
            <a:ahLst/>
            <a:cxnLst/>
            <a:rect l="l" t="t" r="r" b="b"/>
            <a:pathLst>
              <a:path w="239756" h="145000">
                <a:moveTo>
                  <a:pt x="0" y="100698"/>
                </a:moveTo>
                <a:lnTo>
                  <a:pt x="239756" y="0"/>
                </a:lnTo>
                <a:lnTo>
                  <a:pt x="239756" y="44303"/>
                </a:lnTo>
                <a:lnTo>
                  <a:pt x="0" y="145000"/>
                </a:lnTo>
                <a:close/>
              </a:path>
            </a:pathLst>
          </a:custGeom>
          <a:solidFill>
            <a:srgbClr val="30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8341796" y="2433126"/>
            <a:ext cx="396118" cy="166370"/>
          </a:xfrm>
          <a:custGeom>
            <a:avLst/>
            <a:gdLst/>
            <a:ahLst/>
            <a:cxnLst/>
            <a:rect l="l" t="t" r="r" b="b"/>
            <a:pathLst>
              <a:path w="396118" h="166370">
                <a:moveTo>
                  <a:pt x="0" y="83185"/>
                </a:moveTo>
                <a:lnTo>
                  <a:pt x="198059" y="0"/>
                </a:lnTo>
                <a:lnTo>
                  <a:pt x="396118" y="83185"/>
                </a:lnTo>
                <a:lnTo>
                  <a:pt x="198059" y="166370"/>
                </a:lnTo>
                <a:close/>
              </a:path>
            </a:pathLst>
          </a:custGeom>
          <a:solidFill>
            <a:srgbClr val="94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8341796" y="2516311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0"/>
                </a:moveTo>
                <a:lnTo>
                  <a:pt x="198059" y="83185"/>
                </a:lnTo>
                <a:lnTo>
                  <a:pt x="198059" y="127488"/>
                </a:lnTo>
                <a:lnTo>
                  <a:pt x="0" y="44303"/>
                </a:lnTo>
                <a:close/>
              </a:path>
            </a:pathLst>
          </a:custGeom>
          <a:solidFill>
            <a:srgbClr val="3F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8539855" y="2516311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83185"/>
                </a:moveTo>
                <a:lnTo>
                  <a:pt x="198059" y="0"/>
                </a:lnTo>
                <a:lnTo>
                  <a:pt x="198059" y="44303"/>
                </a:lnTo>
                <a:lnTo>
                  <a:pt x="0" y="127488"/>
                </a:lnTo>
                <a:close/>
              </a:path>
            </a:pathLst>
          </a:custGeom>
          <a:solidFill>
            <a:srgbClr val="197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8388705" y="2334097"/>
            <a:ext cx="302301" cy="126966"/>
          </a:xfrm>
          <a:custGeom>
            <a:avLst/>
            <a:gdLst/>
            <a:ahLst/>
            <a:cxnLst/>
            <a:rect l="l" t="t" r="r" b="b"/>
            <a:pathLst>
              <a:path w="302301" h="126966">
                <a:moveTo>
                  <a:pt x="0" y="63483"/>
                </a:moveTo>
                <a:lnTo>
                  <a:pt x="151150" y="0"/>
                </a:lnTo>
                <a:lnTo>
                  <a:pt x="302301" y="63483"/>
                </a:lnTo>
                <a:lnTo>
                  <a:pt x="151150" y="126966"/>
                </a:lnTo>
                <a:close/>
              </a:path>
            </a:pathLst>
          </a:custGeom>
          <a:solidFill>
            <a:srgbClr val="57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8388705" y="2397580"/>
            <a:ext cx="151150" cy="107786"/>
          </a:xfrm>
          <a:custGeom>
            <a:avLst/>
            <a:gdLst/>
            <a:ahLst/>
            <a:cxnLst/>
            <a:rect l="l" t="t" r="r" b="b"/>
            <a:pathLst>
              <a:path w="151150" h="107786">
                <a:moveTo>
                  <a:pt x="0" y="0"/>
                </a:moveTo>
                <a:lnTo>
                  <a:pt x="151150" y="63483"/>
                </a:lnTo>
                <a:lnTo>
                  <a:pt x="151150" y="107786"/>
                </a:lnTo>
                <a:lnTo>
                  <a:pt x="0" y="44303"/>
                </a:lnTo>
                <a:close/>
              </a:path>
            </a:pathLst>
          </a:custGeom>
          <a:solidFill>
            <a:srgbClr val="148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8539855" y="2397580"/>
            <a:ext cx="151151" cy="107786"/>
          </a:xfrm>
          <a:custGeom>
            <a:avLst/>
            <a:gdLst/>
            <a:ahLst/>
            <a:cxnLst/>
            <a:rect l="l" t="t" r="r" b="b"/>
            <a:pathLst>
              <a:path w="151151" h="107786">
                <a:moveTo>
                  <a:pt x="0" y="63483"/>
                </a:moveTo>
                <a:lnTo>
                  <a:pt x="151151" y="0"/>
                </a:lnTo>
                <a:lnTo>
                  <a:pt x="151151" y="44303"/>
                </a:lnTo>
                <a:lnTo>
                  <a:pt x="0" y="107786"/>
                </a:lnTo>
                <a:close/>
              </a:path>
            </a:pathLst>
          </a:custGeom>
          <a:solidFill>
            <a:srgbClr val="0A5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8461674" y="2313249"/>
            <a:ext cx="99030" cy="45553"/>
          </a:xfrm>
          <a:custGeom>
            <a:avLst/>
            <a:gdLst/>
            <a:ahLst/>
            <a:cxnLst/>
            <a:rect l="l" t="t" r="r" b="b"/>
            <a:pathLst>
              <a:path w="99030" h="45553">
                <a:moveTo>
                  <a:pt x="0" y="22776"/>
                </a:moveTo>
                <a:lnTo>
                  <a:pt x="49515" y="0"/>
                </a:lnTo>
                <a:lnTo>
                  <a:pt x="99030" y="22776"/>
                </a:lnTo>
                <a:lnTo>
                  <a:pt x="49515" y="45553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8461674" y="2336025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70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8511189" y="2336025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70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8591976" y="2360157"/>
            <a:ext cx="99030" cy="45554"/>
          </a:xfrm>
          <a:custGeom>
            <a:avLst/>
            <a:gdLst/>
            <a:ahLst/>
            <a:cxnLst/>
            <a:rect l="l" t="t" r="r" b="b"/>
            <a:pathLst>
              <a:path w="99030" h="45554">
                <a:moveTo>
                  <a:pt x="0" y="22777"/>
                </a:moveTo>
                <a:lnTo>
                  <a:pt x="49515" y="0"/>
                </a:lnTo>
                <a:lnTo>
                  <a:pt x="99030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8591976" y="2382934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8641491" y="2382934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8508583" y="2422702"/>
            <a:ext cx="99029" cy="45554"/>
          </a:xfrm>
          <a:custGeom>
            <a:avLst/>
            <a:gdLst/>
            <a:ahLst/>
            <a:cxnLst/>
            <a:rect l="l" t="t" r="r" b="b"/>
            <a:pathLst>
              <a:path w="99029" h="45554">
                <a:moveTo>
                  <a:pt x="0" y="22777"/>
                </a:moveTo>
                <a:lnTo>
                  <a:pt x="49515" y="0"/>
                </a:lnTo>
                <a:lnTo>
                  <a:pt x="99029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8508583" y="2445479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8558098" y="2445479"/>
            <a:ext cx="49514" cy="95746"/>
          </a:xfrm>
          <a:custGeom>
            <a:avLst/>
            <a:gdLst/>
            <a:ahLst/>
            <a:cxnLst/>
            <a:rect l="l" t="t" r="r" b="b"/>
            <a:pathLst>
              <a:path w="49514" h="95746">
                <a:moveTo>
                  <a:pt x="0" y="22777"/>
                </a:moveTo>
                <a:lnTo>
                  <a:pt x="49514" y="0"/>
                </a:lnTo>
                <a:lnTo>
                  <a:pt x="49514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924544" y="2276856"/>
            <a:ext cx="2423160" cy="3931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统一服务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357616" y="2907791"/>
            <a:ext cx="2935224" cy="566928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检索 / 消歧 / 授权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查询参数 / 结果溯源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02920" y="3904487"/>
            <a:ext cx="11183112" cy="30175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1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优先由现有资产 / 指标平台承载，按缺口补强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25780" y="4613148"/>
            <a:ext cx="3483864" cy="105156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502920" y="4581144"/>
            <a:ext cx="3483864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49224" y="4727448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58952" y="4663440"/>
            <a:ext cx="3090672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已有指标API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85800" y="5138928"/>
            <a:ext cx="3118104" cy="393191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复用已审核指标服务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375404" y="4613148"/>
            <a:ext cx="3483864" cy="105156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4352544" y="4581144"/>
            <a:ext cx="3483864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498848" y="4727448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608576" y="4663440"/>
            <a:ext cx="3090672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受控SQL与计算引擎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35424" y="5138928"/>
            <a:ext cx="3118104" cy="393191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校验后执行，返回真实结果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225028" y="4613148"/>
            <a:ext cx="3483864" cy="105156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8202168" y="4581144"/>
            <a:ext cx="3483864" cy="1051560"/>
          </a:xfrm>
          <a:prstGeom prst="roundRect">
            <a:avLst>
              <a:gd name="adj" fmla="val 5500"/>
            </a:avLst>
          </a:prstGeom>
          <a:solidFill>
            <a:srgbClr val="FFF6E9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348472" y="4727448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458200" y="4663440"/>
            <a:ext cx="3090672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后续语义计算能力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385048" y="5138928"/>
            <a:ext cx="3118104" cy="393191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平台具备时再扩展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2240280" y="4233672"/>
            <a:ext cx="0" cy="310896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2204434" y="4486101"/>
            <a:ext cx="35846" cy="58467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2240280" y="4486101"/>
            <a:ext cx="35845" cy="58467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6089904" y="4233672"/>
            <a:ext cx="0" cy="310896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H="1" flipV="1">
            <a:off x="6054058" y="4486101"/>
            <a:ext cx="35846" cy="58467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6089904" y="4486101"/>
            <a:ext cx="35845" cy="58467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9939528" y="4233672"/>
            <a:ext cx="0" cy="310896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H="1" flipV="1">
            <a:off x="9903682" y="4486101"/>
            <a:ext cx="35846" cy="58467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9939528" y="4486101"/>
            <a:ext cx="35845" cy="58467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Rounded Rectangle 112"/>
          <p:cNvSpPr/>
          <p:nvPr/>
        </p:nvSpPr>
        <p:spPr>
          <a:xfrm>
            <a:off x="461772" y="6112764"/>
            <a:ext cx="11247120" cy="33832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438912" y="6080760"/>
            <a:ext cx="11247120" cy="338328"/>
          </a:xfrm>
          <a:prstGeom prst="roundRect">
            <a:avLst>
              <a:gd name="adj" fmla="val 5500"/>
            </a:avLst>
          </a:prstGeom>
          <a:solidFill>
            <a:srgbClr val="EEF7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85216" y="6117336"/>
            <a:ext cx="10954512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先完善定义与实现映射，再按条件扩展计算服务；不强制新建独立指标平台或MQL引擎。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6346471"/>
            <a:ext cx="12191695" cy="235953"/>
          </a:xfrm>
          <a:custGeom>
            <a:avLst/>
            <a:gdLst/>
            <a:ahLst/>
            <a:cxnLst/>
            <a:rect l="l" t="t" r="r" b="b"/>
            <a:pathLst>
              <a:path w="12191695" h="235953">
                <a:moveTo>
                  <a:pt x="0" y="127481"/>
                </a:moveTo>
                <a:lnTo>
                  <a:pt x="135463" y="147046"/>
                </a:lnTo>
                <a:lnTo>
                  <a:pt x="270926" y="165914"/>
                </a:lnTo>
                <a:lnTo>
                  <a:pt x="406389" y="183426"/>
                </a:lnTo>
                <a:lnTo>
                  <a:pt x="541853" y="199000"/>
                </a:lnTo>
                <a:lnTo>
                  <a:pt x="677316" y="212159"/>
                </a:lnTo>
                <a:lnTo>
                  <a:pt x="812779" y="222557"/>
                </a:lnTo>
                <a:lnTo>
                  <a:pt x="948242" y="229995"/>
                </a:lnTo>
                <a:lnTo>
                  <a:pt x="1083706" y="234426"/>
                </a:lnTo>
                <a:lnTo>
                  <a:pt x="1219169" y="235953"/>
                </a:lnTo>
                <a:lnTo>
                  <a:pt x="1354632" y="234812"/>
                </a:lnTo>
                <a:lnTo>
                  <a:pt x="1490096" y="231352"/>
                </a:lnTo>
                <a:lnTo>
                  <a:pt x="1625559" y="226009"/>
                </a:lnTo>
                <a:lnTo>
                  <a:pt x="1761022" y="219267"/>
                </a:lnTo>
                <a:lnTo>
                  <a:pt x="1896485" y="211626"/>
                </a:lnTo>
                <a:lnTo>
                  <a:pt x="2031949" y="203564"/>
                </a:lnTo>
                <a:lnTo>
                  <a:pt x="2167412" y="195508"/>
                </a:lnTo>
                <a:lnTo>
                  <a:pt x="2302875" y="187800"/>
                </a:lnTo>
                <a:lnTo>
                  <a:pt x="2438339" y="180682"/>
                </a:lnTo>
                <a:lnTo>
                  <a:pt x="2573802" y="174280"/>
                </a:lnTo>
                <a:lnTo>
                  <a:pt x="2709265" y="168601"/>
                </a:lnTo>
                <a:lnTo>
                  <a:pt x="2844728" y="163541"/>
                </a:lnTo>
                <a:lnTo>
                  <a:pt x="2980192" y="158900"/>
                </a:lnTo>
                <a:lnTo>
                  <a:pt x="3115655" y="154402"/>
                </a:lnTo>
                <a:lnTo>
                  <a:pt x="3251118" y="149724"/>
                </a:lnTo>
                <a:lnTo>
                  <a:pt x="3386582" y="144534"/>
                </a:lnTo>
                <a:lnTo>
                  <a:pt x="3522045" y="138515"/>
                </a:lnTo>
                <a:lnTo>
                  <a:pt x="3657508" y="131408"/>
                </a:lnTo>
                <a:lnTo>
                  <a:pt x="3792971" y="123031"/>
                </a:lnTo>
                <a:lnTo>
                  <a:pt x="3928435" y="113309"/>
                </a:lnTo>
                <a:lnTo>
                  <a:pt x="4063898" y="102287"/>
                </a:lnTo>
                <a:lnTo>
                  <a:pt x="4199361" y="90138"/>
                </a:lnTo>
                <a:lnTo>
                  <a:pt x="4334824" y="77155"/>
                </a:lnTo>
                <a:lnTo>
                  <a:pt x="4470288" y="63745"/>
                </a:lnTo>
                <a:lnTo>
                  <a:pt x="4605751" y="50406"/>
                </a:lnTo>
                <a:lnTo>
                  <a:pt x="4741214" y="37696"/>
                </a:lnTo>
                <a:lnTo>
                  <a:pt x="4876678" y="26202"/>
                </a:lnTo>
                <a:lnTo>
                  <a:pt x="5012141" y="16503"/>
                </a:lnTo>
                <a:lnTo>
                  <a:pt x="5147604" y="9131"/>
                </a:lnTo>
                <a:lnTo>
                  <a:pt x="5283067" y="4538"/>
                </a:lnTo>
                <a:lnTo>
                  <a:pt x="5418531" y="3064"/>
                </a:lnTo>
                <a:lnTo>
                  <a:pt x="5553994" y="4912"/>
                </a:lnTo>
                <a:lnTo>
                  <a:pt x="5689457" y="10132"/>
                </a:lnTo>
                <a:lnTo>
                  <a:pt x="5824921" y="18617"/>
                </a:lnTo>
                <a:lnTo>
                  <a:pt x="5960384" y="30106"/>
                </a:lnTo>
                <a:lnTo>
                  <a:pt x="6095847" y="44193"/>
                </a:lnTo>
                <a:lnTo>
                  <a:pt x="6231310" y="60357"/>
                </a:lnTo>
                <a:lnTo>
                  <a:pt x="6366774" y="77984"/>
                </a:lnTo>
                <a:lnTo>
                  <a:pt x="6502237" y="96410"/>
                </a:lnTo>
                <a:lnTo>
                  <a:pt x="6637700" y="114953"/>
                </a:lnTo>
                <a:lnTo>
                  <a:pt x="6773164" y="132954"/>
                </a:lnTo>
                <a:lnTo>
                  <a:pt x="6908627" y="149814"/>
                </a:lnTo>
                <a:lnTo>
                  <a:pt x="7044090" y="165027"/>
                </a:lnTo>
                <a:lnTo>
                  <a:pt x="7179553" y="178204"/>
                </a:lnTo>
                <a:lnTo>
                  <a:pt x="7315017" y="189090"/>
                </a:lnTo>
                <a:lnTo>
                  <a:pt x="7450480" y="197574"/>
                </a:lnTo>
                <a:lnTo>
                  <a:pt x="7585943" y="203682"/>
                </a:lnTo>
                <a:lnTo>
                  <a:pt x="7721406" y="207573"/>
                </a:lnTo>
                <a:lnTo>
                  <a:pt x="7856870" y="209512"/>
                </a:lnTo>
                <a:lnTo>
                  <a:pt x="7992333" y="209848"/>
                </a:lnTo>
                <a:lnTo>
                  <a:pt x="8127796" y="208978"/>
                </a:lnTo>
                <a:lnTo>
                  <a:pt x="8263260" y="207316"/>
                </a:lnTo>
                <a:lnTo>
                  <a:pt x="8398723" y="205256"/>
                </a:lnTo>
                <a:lnTo>
                  <a:pt x="8534186" y="203141"/>
                </a:lnTo>
                <a:lnTo>
                  <a:pt x="8669649" y="201238"/>
                </a:lnTo>
                <a:lnTo>
                  <a:pt x="8805113" y="199711"/>
                </a:lnTo>
                <a:lnTo>
                  <a:pt x="8940576" y="198616"/>
                </a:lnTo>
                <a:lnTo>
                  <a:pt x="9076039" y="197894"/>
                </a:lnTo>
                <a:lnTo>
                  <a:pt x="9211503" y="197378"/>
                </a:lnTo>
                <a:lnTo>
                  <a:pt x="9346966" y="196808"/>
                </a:lnTo>
                <a:lnTo>
                  <a:pt x="9482429" y="195855"/>
                </a:lnTo>
                <a:lnTo>
                  <a:pt x="9617892" y="194147"/>
                </a:lnTo>
                <a:lnTo>
                  <a:pt x="9753356" y="191305"/>
                </a:lnTo>
                <a:lnTo>
                  <a:pt x="9888819" y="186977"/>
                </a:lnTo>
                <a:lnTo>
                  <a:pt x="10024282" y="180869"/>
                </a:lnTo>
                <a:lnTo>
                  <a:pt x="10159746" y="172776"/>
                </a:lnTo>
                <a:lnTo>
                  <a:pt x="10295209" y="162608"/>
                </a:lnTo>
                <a:lnTo>
                  <a:pt x="10430672" y="150402"/>
                </a:lnTo>
                <a:lnTo>
                  <a:pt x="10566135" y="136335"/>
                </a:lnTo>
                <a:lnTo>
                  <a:pt x="10701599" y="120717"/>
                </a:lnTo>
                <a:lnTo>
                  <a:pt x="10837062" y="103984"/>
                </a:lnTo>
                <a:lnTo>
                  <a:pt x="10972525" y="86673"/>
                </a:lnTo>
                <a:lnTo>
                  <a:pt x="11107988" y="69396"/>
                </a:lnTo>
                <a:lnTo>
                  <a:pt x="11243452" y="52806"/>
                </a:lnTo>
                <a:lnTo>
                  <a:pt x="11378915" y="37558"/>
                </a:lnTo>
                <a:lnTo>
                  <a:pt x="11514378" y="24274"/>
                </a:lnTo>
                <a:lnTo>
                  <a:pt x="11649842" y="13501"/>
                </a:lnTo>
                <a:lnTo>
                  <a:pt x="11785305" y="5683"/>
                </a:lnTo>
                <a:lnTo>
                  <a:pt x="11920768" y="1129"/>
                </a:lnTo>
                <a:lnTo>
                  <a:pt x="12056231" y="0"/>
                </a:lnTo>
                <a:lnTo>
                  <a:pt x="12191695" y="2300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6405649"/>
            <a:ext cx="12191695" cy="245182"/>
          </a:xfrm>
          <a:custGeom>
            <a:avLst/>
            <a:gdLst/>
            <a:ahLst/>
            <a:cxnLst/>
            <a:rect l="l" t="t" r="r" b="b"/>
            <a:pathLst>
              <a:path w="12191695" h="245182">
                <a:moveTo>
                  <a:pt x="0" y="150669"/>
                </a:moveTo>
                <a:lnTo>
                  <a:pt x="135463" y="169737"/>
                </a:lnTo>
                <a:lnTo>
                  <a:pt x="270926" y="187768"/>
                </a:lnTo>
                <a:lnTo>
                  <a:pt x="406389" y="204118"/>
                </a:lnTo>
                <a:lnTo>
                  <a:pt x="541853" y="218220"/>
                </a:lnTo>
                <a:lnTo>
                  <a:pt x="677316" y="229621"/>
                </a:lnTo>
                <a:lnTo>
                  <a:pt x="812779" y="238002"/>
                </a:lnTo>
                <a:lnTo>
                  <a:pt x="948242" y="243193"/>
                </a:lnTo>
                <a:lnTo>
                  <a:pt x="1083706" y="245182"/>
                </a:lnTo>
                <a:lnTo>
                  <a:pt x="1219169" y="244108"/>
                </a:lnTo>
                <a:lnTo>
                  <a:pt x="1354632" y="240247"/>
                </a:lnTo>
                <a:lnTo>
                  <a:pt x="1490096" y="233989"/>
                </a:lnTo>
                <a:lnTo>
                  <a:pt x="1625559" y="225812"/>
                </a:lnTo>
                <a:lnTo>
                  <a:pt x="1761022" y="216243"/>
                </a:lnTo>
                <a:lnTo>
                  <a:pt x="1896485" y="205824"/>
                </a:lnTo>
                <a:lnTo>
                  <a:pt x="2031949" y="195076"/>
                </a:lnTo>
                <a:lnTo>
                  <a:pt x="2167412" y="184466"/>
                </a:lnTo>
                <a:lnTo>
                  <a:pt x="2302875" y="174375"/>
                </a:lnTo>
                <a:lnTo>
                  <a:pt x="2438339" y="165080"/>
                </a:lnTo>
                <a:lnTo>
                  <a:pt x="2573802" y="156740"/>
                </a:lnTo>
                <a:lnTo>
                  <a:pt x="2709265" y="149392"/>
                </a:lnTo>
                <a:lnTo>
                  <a:pt x="2844728" y="142958"/>
                </a:lnTo>
                <a:lnTo>
                  <a:pt x="2980192" y="137257"/>
                </a:lnTo>
                <a:lnTo>
                  <a:pt x="3115655" y="132030"/>
                </a:lnTo>
                <a:lnTo>
                  <a:pt x="3251118" y="126965"/>
                </a:lnTo>
                <a:lnTo>
                  <a:pt x="3386582" y="121734"/>
                </a:lnTo>
                <a:lnTo>
                  <a:pt x="3522045" y="116024"/>
                </a:lnTo>
                <a:lnTo>
                  <a:pt x="3657508" y="109568"/>
                </a:lnTo>
                <a:lnTo>
                  <a:pt x="3792971" y="102177"/>
                </a:lnTo>
                <a:lnTo>
                  <a:pt x="3928435" y="93759"/>
                </a:lnTo>
                <a:lnTo>
                  <a:pt x="4063898" y="84341"/>
                </a:lnTo>
                <a:lnTo>
                  <a:pt x="4199361" y="74069"/>
                </a:lnTo>
                <a:lnTo>
                  <a:pt x="4334824" y="63211"/>
                </a:lnTo>
                <a:lnTo>
                  <a:pt x="4470288" y="52141"/>
                </a:lnTo>
                <a:lnTo>
                  <a:pt x="4605751" y="41320"/>
                </a:lnTo>
                <a:lnTo>
                  <a:pt x="4741214" y="31269"/>
                </a:lnTo>
                <a:lnTo>
                  <a:pt x="4876678" y="22536"/>
                </a:lnTo>
                <a:lnTo>
                  <a:pt x="5012141" y="15656"/>
                </a:lnTo>
                <a:lnTo>
                  <a:pt x="5147604" y="11120"/>
                </a:lnTo>
                <a:lnTo>
                  <a:pt x="5283067" y="9338"/>
                </a:lnTo>
                <a:lnTo>
                  <a:pt x="5418531" y="10605"/>
                </a:lnTo>
                <a:lnTo>
                  <a:pt x="5553994" y="15085"/>
                </a:lnTo>
                <a:lnTo>
                  <a:pt x="5689457" y="22787"/>
                </a:lnTo>
                <a:lnTo>
                  <a:pt x="5824921" y="33567"/>
                </a:lnTo>
                <a:lnTo>
                  <a:pt x="5960384" y="47128"/>
                </a:lnTo>
                <a:lnTo>
                  <a:pt x="6095847" y="63035"/>
                </a:lnTo>
                <a:lnTo>
                  <a:pt x="6231310" y="80738"/>
                </a:lnTo>
                <a:lnTo>
                  <a:pt x="6366774" y="99601"/>
                </a:lnTo>
                <a:lnTo>
                  <a:pt x="6502237" y="118939"/>
                </a:lnTo>
                <a:lnTo>
                  <a:pt x="6637700" y="138058"/>
                </a:lnTo>
                <a:lnTo>
                  <a:pt x="6773164" y="156290"/>
                </a:lnTo>
                <a:lnTo>
                  <a:pt x="6908627" y="173034"/>
                </a:lnTo>
                <a:lnTo>
                  <a:pt x="7044090" y="187783"/>
                </a:lnTo>
                <a:lnTo>
                  <a:pt x="7179553" y="200156"/>
                </a:lnTo>
                <a:lnTo>
                  <a:pt x="7315017" y="209912"/>
                </a:lnTo>
                <a:lnTo>
                  <a:pt x="7450480" y="216953"/>
                </a:lnTo>
                <a:lnTo>
                  <a:pt x="7585943" y="221331"/>
                </a:lnTo>
                <a:lnTo>
                  <a:pt x="7721406" y="223229"/>
                </a:lnTo>
                <a:lnTo>
                  <a:pt x="7856870" y="222943"/>
                </a:lnTo>
                <a:lnTo>
                  <a:pt x="7992333" y="220854"/>
                </a:lnTo>
                <a:lnTo>
                  <a:pt x="8127796" y="217398"/>
                </a:lnTo>
                <a:lnTo>
                  <a:pt x="8263260" y="213025"/>
                </a:lnTo>
                <a:lnTo>
                  <a:pt x="8398723" y="208173"/>
                </a:lnTo>
                <a:lnTo>
                  <a:pt x="8534186" y="203226"/>
                </a:lnTo>
                <a:lnTo>
                  <a:pt x="8669649" y="198493"/>
                </a:lnTo>
                <a:lnTo>
                  <a:pt x="8805113" y="194182"/>
                </a:lnTo>
                <a:lnTo>
                  <a:pt x="8940576" y="190390"/>
                </a:lnTo>
                <a:lnTo>
                  <a:pt x="9076039" y="187099"/>
                </a:lnTo>
                <a:lnTo>
                  <a:pt x="9211503" y="184181"/>
                </a:lnTo>
                <a:lnTo>
                  <a:pt x="9346966" y="181412"/>
                </a:lnTo>
                <a:lnTo>
                  <a:pt x="9482429" y="178496"/>
                </a:lnTo>
                <a:lnTo>
                  <a:pt x="9617892" y="175092"/>
                </a:lnTo>
                <a:lnTo>
                  <a:pt x="9753356" y="170845"/>
                </a:lnTo>
                <a:lnTo>
                  <a:pt x="9888819" y="165425"/>
                </a:lnTo>
                <a:lnTo>
                  <a:pt x="10024282" y="158555"/>
                </a:lnTo>
                <a:lnTo>
                  <a:pt x="10159746" y="150040"/>
                </a:lnTo>
                <a:lnTo>
                  <a:pt x="10295209" y="139797"/>
                </a:lnTo>
                <a:lnTo>
                  <a:pt x="10430672" y="127865"/>
                </a:lnTo>
                <a:lnTo>
                  <a:pt x="10566135" y="114415"/>
                </a:lnTo>
                <a:lnTo>
                  <a:pt x="10701599" y="99751"/>
                </a:lnTo>
                <a:lnTo>
                  <a:pt x="10837062" y="84291"/>
                </a:lnTo>
                <a:lnTo>
                  <a:pt x="10972525" y="68554"/>
                </a:lnTo>
                <a:lnTo>
                  <a:pt x="11107988" y="53129"/>
                </a:lnTo>
                <a:lnTo>
                  <a:pt x="11243452" y="38641"/>
                </a:lnTo>
                <a:lnTo>
                  <a:pt x="11378915" y="25713"/>
                </a:lnTo>
                <a:lnTo>
                  <a:pt x="11514378" y="14931"/>
                </a:lnTo>
                <a:lnTo>
                  <a:pt x="11649842" y="6805"/>
                </a:lnTo>
                <a:lnTo>
                  <a:pt x="11785305" y="1738"/>
                </a:lnTo>
                <a:lnTo>
                  <a:pt x="11920768" y="0"/>
                </a:lnTo>
                <a:lnTo>
                  <a:pt x="12056231" y="1708"/>
                </a:lnTo>
                <a:lnTo>
                  <a:pt x="12191695" y="6822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6467906"/>
            <a:ext cx="12191695" cy="248613"/>
          </a:xfrm>
          <a:custGeom>
            <a:avLst/>
            <a:gdLst/>
            <a:ahLst/>
            <a:cxnLst/>
            <a:rect l="l" t="t" r="r" b="b"/>
            <a:pathLst>
              <a:path w="12191695" h="248613">
                <a:moveTo>
                  <a:pt x="0" y="169572"/>
                </a:moveTo>
                <a:lnTo>
                  <a:pt x="135463" y="187517"/>
                </a:lnTo>
                <a:lnTo>
                  <a:pt x="270926" y="204116"/>
                </a:lnTo>
                <a:lnTo>
                  <a:pt x="406389" y="218744"/>
                </a:lnTo>
                <a:lnTo>
                  <a:pt x="541853" y="230861"/>
                </a:lnTo>
                <a:lnTo>
                  <a:pt x="677316" y="240043"/>
                </a:lnTo>
                <a:lnTo>
                  <a:pt x="812779" y="246004"/>
                </a:lnTo>
                <a:lnTo>
                  <a:pt x="948242" y="248613"/>
                </a:lnTo>
                <a:lnTo>
                  <a:pt x="1083706" y="247896"/>
                </a:lnTo>
                <a:lnTo>
                  <a:pt x="1219169" y="244031"/>
                </a:lnTo>
                <a:lnTo>
                  <a:pt x="1354632" y="237338"/>
                </a:lnTo>
                <a:lnTo>
                  <a:pt x="1490096" y="228250"/>
                </a:lnTo>
                <a:lnTo>
                  <a:pt x="1625559" y="217286"/>
                </a:lnTo>
                <a:lnTo>
                  <a:pt x="1761022" y="205017"/>
                </a:lnTo>
                <a:lnTo>
                  <a:pt x="1896485" y="192024"/>
                </a:lnTo>
                <a:lnTo>
                  <a:pt x="2031949" y="178869"/>
                </a:lnTo>
                <a:lnTo>
                  <a:pt x="2167412" y="166053"/>
                </a:lnTo>
                <a:lnTo>
                  <a:pt x="2302875" y="153992"/>
                </a:lnTo>
                <a:lnTo>
                  <a:pt x="2438339" y="142992"/>
                </a:lnTo>
                <a:lnTo>
                  <a:pt x="2573802" y="133239"/>
                </a:lnTo>
                <a:lnTo>
                  <a:pt x="2709265" y="124790"/>
                </a:lnTo>
                <a:lnTo>
                  <a:pt x="2844728" y="117583"/>
                </a:lnTo>
                <a:lnTo>
                  <a:pt x="2980192" y="111449"/>
                </a:lnTo>
                <a:lnTo>
                  <a:pt x="3115655" y="106137"/>
                </a:lnTo>
                <a:lnTo>
                  <a:pt x="3251118" y="101335"/>
                </a:lnTo>
                <a:lnTo>
                  <a:pt x="3386582" y="96713"/>
                </a:lnTo>
                <a:lnTo>
                  <a:pt x="3522045" y="91945"/>
                </a:lnTo>
                <a:lnTo>
                  <a:pt x="3657508" y="86753"/>
                </a:lnTo>
                <a:lnTo>
                  <a:pt x="3792971" y="80928"/>
                </a:lnTo>
                <a:lnTo>
                  <a:pt x="3928435" y="74354"/>
                </a:lnTo>
                <a:lnTo>
                  <a:pt x="4063898" y="67031"/>
                </a:lnTo>
                <a:lnTo>
                  <a:pt x="4199361" y="59072"/>
                </a:lnTo>
                <a:lnTo>
                  <a:pt x="4334824" y="50711"/>
                </a:lnTo>
                <a:lnTo>
                  <a:pt x="4470288" y="42285"/>
                </a:lnTo>
                <a:lnTo>
                  <a:pt x="4605751" y="34213"/>
                </a:lnTo>
                <a:lnTo>
                  <a:pt x="4741214" y="26977"/>
                </a:lnTo>
                <a:lnTo>
                  <a:pt x="4876678" y="21080"/>
                </a:lnTo>
                <a:lnTo>
                  <a:pt x="5012141" y="17016"/>
                </a:lnTo>
                <a:lnTo>
                  <a:pt x="5147604" y="15233"/>
                </a:lnTo>
                <a:lnTo>
                  <a:pt x="5283067" y="16099"/>
                </a:lnTo>
                <a:lnTo>
                  <a:pt x="5418531" y="19870"/>
                </a:lnTo>
                <a:lnTo>
                  <a:pt x="5553994" y="26670"/>
                </a:lnTo>
                <a:lnTo>
                  <a:pt x="5689457" y="36475"/>
                </a:lnTo>
                <a:lnTo>
                  <a:pt x="5824921" y="49109"/>
                </a:lnTo>
                <a:lnTo>
                  <a:pt x="5960384" y="64247"/>
                </a:lnTo>
                <a:lnTo>
                  <a:pt x="6095847" y="81430"/>
                </a:lnTo>
                <a:lnTo>
                  <a:pt x="6231310" y="100088"/>
                </a:lnTo>
                <a:lnTo>
                  <a:pt x="6366774" y="119571"/>
                </a:lnTo>
                <a:lnTo>
                  <a:pt x="6502237" y="139187"/>
                </a:lnTo>
                <a:lnTo>
                  <a:pt x="6637700" y="158234"/>
                </a:lnTo>
                <a:lnTo>
                  <a:pt x="6773164" y="176047"/>
                </a:lnTo>
                <a:lnTo>
                  <a:pt x="6908627" y="192030"/>
                </a:lnTo>
                <a:lnTo>
                  <a:pt x="7044090" y="205690"/>
                </a:lnTo>
                <a:lnTo>
                  <a:pt x="7179553" y="216660"/>
                </a:lnTo>
                <a:lnTo>
                  <a:pt x="7315017" y="224721"/>
                </a:lnTo>
                <a:lnTo>
                  <a:pt x="7450480" y="229802"/>
                </a:lnTo>
                <a:lnTo>
                  <a:pt x="7585943" y="231983"/>
                </a:lnTo>
                <a:lnTo>
                  <a:pt x="7721406" y="231480"/>
                </a:lnTo>
                <a:lnTo>
                  <a:pt x="7856870" y="228626"/>
                </a:lnTo>
                <a:lnTo>
                  <a:pt x="7992333" y="223841"/>
                </a:lnTo>
                <a:lnTo>
                  <a:pt x="8127796" y="217601"/>
                </a:lnTo>
                <a:lnTo>
                  <a:pt x="8263260" y="210399"/>
                </a:lnTo>
                <a:lnTo>
                  <a:pt x="8398723" y="202714"/>
                </a:lnTo>
                <a:lnTo>
                  <a:pt x="8534186" y="194975"/>
                </a:lnTo>
                <a:lnTo>
                  <a:pt x="8669649" y="187531"/>
                </a:lnTo>
                <a:lnTo>
                  <a:pt x="8805113" y="180631"/>
                </a:lnTo>
                <a:lnTo>
                  <a:pt x="8940576" y="174414"/>
                </a:lnTo>
                <a:lnTo>
                  <a:pt x="9076039" y="168896"/>
                </a:lnTo>
                <a:lnTo>
                  <a:pt x="9211503" y="163983"/>
                </a:lnTo>
                <a:lnTo>
                  <a:pt x="9346966" y="159481"/>
                </a:lnTo>
                <a:lnTo>
                  <a:pt x="9482429" y="155122"/>
                </a:lnTo>
                <a:lnTo>
                  <a:pt x="9617892" y="150584"/>
                </a:lnTo>
                <a:lnTo>
                  <a:pt x="9753356" y="145531"/>
                </a:lnTo>
                <a:lnTo>
                  <a:pt x="9888819" y="139645"/>
                </a:lnTo>
                <a:lnTo>
                  <a:pt x="10024282" y="132654"/>
                </a:lnTo>
                <a:lnTo>
                  <a:pt x="10159746" y="124369"/>
                </a:lnTo>
                <a:lnTo>
                  <a:pt x="10295209" y="114699"/>
                </a:lnTo>
                <a:lnTo>
                  <a:pt x="10430672" y="103677"/>
                </a:lnTo>
                <a:lnTo>
                  <a:pt x="10566135" y="91461"/>
                </a:lnTo>
                <a:lnTo>
                  <a:pt x="10701599" y="78333"/>
                </a:lnTo>
                <a:lnTo>
                  <a:pt x="10837062" y="64691"/>
                </a:lnTo>
                <a:lnTo>
                  <a:pt x="10972525" y="51025"/>
                </a:lnTo>
                <a:lnTo>
                  <a:pt x="11107988" y="37893"/>
                </a:lnTo>
                <a:lnTo>
                  <a:pt x="11243452" y="25885"/>
                </a:lnTo>
                <a:lnTo>
                  <a:pt x="11378915" y="15588"/>
                </a:lnTo>
                <a:lnTo>
                  <a:pt x="11514378" y="7547"/>
                </a:lnTo>
                <a:lnTo>
                  <a:pt x="11649842" y="2231"/>
                </a:lnTo>
                <a:lnTo>
                  <a:pt x="11785305" y="0"/>
                </a:lnTo>
                <a:lnTo>
                  <a:pt x="11920768" y="1082"/>
                </a:lnTo>
                <a:lnTo>
                  <a:pt x="12056231" y="5551"/>
                </a:lnTo>
                <a:lnTo>
                  <a:pt x="12191695" y="13326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0" y="6533113"/>
            <a:ext cx="12191695" cy="246124"/>
          </a:xfrm>
          <a:custGeom>
            <a:avLst/>
            <a:gdLst/>
            <a:ahLst/>
            <a:cxnLst/>
            <a:rect l="l" t="t" r="r" b="b"/>
            <a:pathLst>
              <a:path w="12191695" h="246124">
                <a:moveTo>
                  <a:pt x="0" y="183172"/>
                </a:moveTo>
                <a:lnTo>
                  <a:pt x="135463" y="199432"/>
                </a:lnTo>
                <a:lnTo>
                  <a:pt x="270926" y="214077"/>
                </a:lnTo>
                <a:lnTo>
                  <a:pt x="406389" y="226514"/>
                </a:lnTo>
                <a:lnTo>
                  <a:pt x="541853" y="236236"/>
                </a:lnTo>
                <a:lnTo>
                  <a:pt x="677316" y="242855"/>
                </a:lnTo>
                <a:lnTo>
                  <a:pt x="812779" y="246124"/>
                </a:lnTo>
                <a:lnTo>
                  <a:pt x="948242" y="245951"/>
                </a:lnTo>
                <a:lnTo>
                  <a:pt x="1083706" y="242404"/>
                </a:lnTo>
                <a:lnTo>
                  <a:pt x="1219169" y="235707"/>
                </a:lnTo>
                <a:lnTo>
                  <a:pt x="1354632" y="226219"/>
                </a:lnTo>
                <a:lnTo>
                  <a:pt x="1490096" y="214417"/>
                </a:lnTo>
                <a:lnTo>
                  <a:pt x="1625559" y="200862"/>
                </a:lnTo>
                <a:lnTo>
                  <a:pt x="1761022" y="186161"/>
                </a:lnTo>
                <a:lnTo>
                  <a:pt x="1896485" y="170935"/>
                </a:lnTo>
                <a:lnTo>
                  <a:pt x="2031949" y="155777"/>
                </a:lnTo>
                <a:lnTo>
                  <a:pt x="2167412" y="141221"/>
                </a:lnTo>
                <a:lnTo>
                  <a:pt x="2302875" y="127707"/>
                </a:lnTo>
                <a:lnTo>
                  <a:pt x="2438339" y="115564"/>
                </a:lnTo>
                <a:lnTo>
                  <a:pt x="2573802" y="104994"/>
                </a:lnTo>
                <a:lnTo>
                  <a:pt x="2709265" y="96068"/>
                </a:lnTo>
                <a:lnTo>
                  <a:pt x="2844728" y="88731"/>
                </a:lnTo>
                <a:lnTo>
                  <a:pt x="2980192" y="82816"/>
                </a:lnTo>
                <a:lnTo>
                  <a:pt x="3115655" y="78067"/>
                </a:lnTo>
                <a:lnTo>
                  <a:pt x="3251118" y="74166"/>
                </a:lnTo>
                <a:lnTo>
                  <a:pt x="3386582" y="70766"/>
                </a:lnTo>
                <a:lnTo>
                  <a:pt x="3522045" y="67527"/>
                </a:lnTo>
                <a:lnTo>
                  <a:pt x="3657508" y="64145"/>
                </a:lnTo>
                <a:lnTo>
                  <a:pt x="3792971" y="60383"/>
                </a:lnTo>
                <a:lnTo>
                  <a:pt x="3928435" y="56096"/>
                </a:lnTo>
                <a:lnTo>
                  <a:pt x="4063898" y="51248"/>
                </a:lnTo>
                <a:lnTo>
                  <a:pt x="4199361" y="45917"/>
                </a:lnTo>
                <a:lnTo>
                  <a:pt x="4334824" y="40294"/>
                </a:lnTo>
                <a:lnTo>
                  <a:pt x="4470288" y="34675"/>
                </a:lnTo>
                <a:lnTo>
                  <a:pt x="4605751" y="29440"/>
                </a:lnTo>
                <a:lnTo>
                  <a:pt x="4741214" y="25025"/>
                </a:lnTo>
                <a:lnTo>
                  <a:pt x="4876678" y="21891"/>
                </a:lnTo>
                <a:lnTo>
                  <a:pt x="5012141" y="20491"/>
                </a:lnTo>
                <a:lnTo>
                  <a:pt x="5147604" y="21233"/>
                </a:lnTo>
                <a:lnTo>
                  <a:pt x="5283067" y="24445"/>
                </a:lnTo>
                <a:lnTo>
                  <a:pt x="5418531" y="30349"/>
                </a:lnTo>
                <a:lnTo>
                  <a:pt x="5553994" y="39037"/>
                </a:lnTo>
                <a:lnTo>
                  <a:pt x="5689457" y="50457"/>
                </a:lnTo>
                <a:lnTo>
                  <a:pt x="5824921" y="64407"/>
                </a:lnTo>
                <a:lnTo>
                  <a:pt x="5960384" y="80543"/>
                </a:lnTo>
                <a:lnTo>
                  <a:pt x="6095847" y="98390"/>
                </a:lnTo>
                <a:lnTo>
                  <a:pt x="6231310" y="117369"/>
                </a:lnTo>
                <a:lnTo>
                  <a:pt x="6366774" y="136826"/>
                </a:lnTo>
                <a:lnTo>
                  <a:pt x="6502237" y="156066"/>
                </a:lnTo>
                <a:lnTo>
                  <a:pt x="6637700" y="174397"/>
                </a:lnTo>
                <a:lnTo>
                  <a:pt x="6773164" y="191162"/>
                </a:lnTo>
                <a:lnTo>
                  <a:pt x="6908627" y="205782"/>
                </a:lnTo>
                <a:lnTo>
                  <a:pt x="7044090" y="217784"/>
                </a:lnTo>
                <a:lnTo>
                  <a:pt x="7179553" y="226827"/>
                </a:lnTo>
                <a:lnTo>
                  <a:pt x="7315017" y="232720"/>
                </a:lnTo>
                <a:lnTo>
                  <a:pt x="7450480" y="235424"/>
                </a:lnTo>
                <a:lnTo>
                  <a:pt x="7585943" y="235057"/>
                </a:lnTo>
                <a:lnTo>
                  <a:pt x="7721406" y="231872"/>
                </a:lnTo>
                <a:lnTo>
                  <a:pt x="7856870" y="226244"/>
                </a:lnTo>
                <a:lnTo>
                  <a:pt x="7992333" y="218632"/>
                </a:lnTo>
                <a:lnTo>
                  <a:pt x="8127796" y="209557"/>
                </a:lnTo>
                <a:lnTo>
                  <a:pt x="8263260" y="199555"/>
                </a:lnTo>
                <a:lnTo>
                  <a:pt x="8398723" y="189147"/>
                </a:lnTo>
                <a:lnTo>
                  <a:pt x="8534186" y="178801"/>
                </a:lnTo>
                <a:lnTo>
                  <a:pt x="8669649" y="168908"/>
                </a:lnTo>
                <a:lnTo>
                  <a:pt x="8805113" y="159754"/>
                </a:lnTo>
                <a:lnTo>
                  <a:pt x="8940576" y="151510"/>
                </a:lnTo>
                <a:lnTo>
                  <a:pt x="9076039" y="144224"/>
                </a:lnTo>
                <a:lnTo>
                  <a:pt x="9211503" y="137828"/>
                </a:lnTo>
                <a:lnTo>
                  <a:pt x="9346966" y="132152"/>
                </a:lnTo>
                <a:lnTo>
                  <a:pt x="9482429" y="126943"/>
                </a:lnTo>
                <a:lnTo>
                  <a:pt x="9617892" y="121894"/>
                </a:lnTo>
                <a:lnTo>
                  <a:pt x="9753356" y="116677"/>
                </a:lnTo>
                <a:lnTo>
                  <a:pt x="9888819" y="110975"/>
                </a:lnTo>
                <a:lnTo>
                  <a:pt x="10024282" y="104513"/>
                </a:lnTo>
                <a:lnTo>
                  <a:pt x="10159746" y="97095"/>
                </a:lnTo>
                <a:lnTo>
                  <a:pt x="10295209" y="88617"/>
                </a:lnTo>
                <a:lnTo>
                  <a:pt x="10430672" y="79094"/>
                </a:lnTo>
                <a:lnTo>
                  <a:pt x="10566135" y="68661"/>
                </a:lnTo>
                <a:lnTo>
                  <a:pt x="10701599" y="57573"/>
                </a:lnTo>
                <a:lnTo>
                  <a:pt x="10837062" y="46197"/>
                </a:lnTo>
                <a:lnTo>
                  <a:pt x="10972525" y="34990"/>
                </a:lnTo>
                <a:lnTo>
                  <a:pt x="11107988" y="24471"/>
                </a:lnTo>
                <a:lnTo>
                  <a:pt x="11243452" y="15192"/>
                </a:lnTo>
                <a:lnTo>
                  <a:pt x="11378915" y="7698"/>
                </a:lnTo>
                <a:lnTo>
                  <a:pt x="11514378" y="2492"/>
                </a:lnTo>
                <a:lnTo>
                  <a:pt x="11649842" y="0"/>
                </a:lnTo>
                <a:lnTo>
                  <a:pt x="11785305" y="541"/>
                </a:lnTo>
                <a:lnTo>
                  <a:pt x="11920768" y="4298"/>
                </a:lnTo>
                <a:lnTo>
                  <a:pt x="12056231" y="11307"/>
                </a:lnTo>
                <a:lnTo>
                  <a:pt x="12191695" y="21447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0" y="6600998"/>
            <a:ext cx="12191695" cy="238322"/>
          </a:xfrm>
          <a:custGeom>
            <a:avLst/>
            <a:gdLst/>
            <a:ahLst/>
            <a:cxnLst/>
            <a:rect l="l" t="t" r="r" b="b"/>
            <a:pathLst>
              <a:path w="12191695" h="238322">
                <a:moveTo>
                  <a:pt x="0" y="190722"/>
                </a:moveTo>
                <a:lnTo>
                  <a:pt x="135463" y="204821"/>
                </a:lnTo>
                <a:lnTo>
                  <a:pt x="270926" y="217096"/>
                </a:lnTo>
                <a:lnTo>
                  <a:pt x="406389" y="226989"/>
                </a:lnTo>
                <a:lnTo>
                  <a:pt x="541853" y="234032"/>
                </a:lnTo>
                <a:lnTo>
                  <a:pt x="677316" y="237878"/>
                </a:lnTo>
                <a:lnTo>
                  <a:pt x="812779" y="238322"/>
                </a:lnTo>
                <a:lnTo>
                  <a:pt x="948242" y="235314"/>
                </a:lnTo>
                <a:lnTo>
                  <a:pt x="1083706" y="228966"/>
                </a:lnTo>
                <a:lnTo>
                  <a:pt x="1219169" y="219541"/>
                </a:lnTo>
                <a:lnTo>
                  <a:pt x="1354632" y="207444"/>
                </a:lnTo>
                <a:lnTo>
                  <a:pt x="1490096" y="193188"/>
                </a:lnTo>
                <a:lnTo>
                  <a:pt x="1625559" y="177371"/>
                </a:lnTo>
                <a:lnTo>
                  <a:pt x="1761022" y="160636"/>
                </a:lnTo>
                <a:lnTo>
                  <a:pt x="1896485" y="143634"/>
                </a:lnTo>
                <a:lnTo>
                  <a:pt x="2031949" y="126985"/>
                </a:lnTo>
                <a:lnTo>
                  <a:pt x="2167412" y="111244"/>
                </a:lnTo>
                <a:lnTo>
                  <a:pt x="2302875" y="96871"/>
                </a:lnTo>
                <a:lnTo>
                  <a:pt x="2438339" y="84207"/>
                </a:lnTo>
                <a:lnTo>
                  <a:pt x="2573802" y="73462"/>
                </a:lnTo>
                <a:lnTo>
                  <a:pt x="2709265" y="64709"/>
                </a:lnTo>
                <a:lnTo>
                  <a:pt x="2844728" y="57891"/>
                </a:lnTo>
                <a:lnTo>
                  <a:pt x="2980192" y="52834"/>
                </a:lnTo>
                <a:lnTo>
                  <a:pt x="3115655" y="49267"/>
                </a:lnTo>
                <a:lnTo>
                  <a:pt x="3251118" y="46856"/>
                </a:lnTo>
                <a:lnTo>
                  <a:pt x="3386582" y="45231"/>
                </a:lnTo>
                <a:lnTo>
                  <a:pt x="3522045" y="44024"/>
                </a:lnTo>
                <a:lnTo>
                  <a:pt x="3657508" y="42902"/>
                </a:lnTo>
                <a:lnTo>
                  <a:pt x="3792971" y="41593"/>
                </a:lnTo>
                <a:lnTo>
                  <a:pt x="3928435" y="39916"/>
                </a:lnTo>
                <a:lnTo>
                  <a:pt x="4063898" y="37794"/>
                </a:lnTo>
                <a:lnTo>
                  <a:pt x="4199361" y="35264"/>
                </a:lnTo>
                <a:lnTo>
                  <a:pt x="4334824" y="32476"/>
                </a:lnTo>
                <a:lnTo>
                  <a:pt x="4470288" y="29683"/>
                </a:lnTo>
                <a:lnTo>
                  <a:pt x="4605751" y="27220"/>
                </a:lnTo>
                <a:lnTo>
                  <a:pt x="4741214" y="25484"/>
                </a:lnTo>
                <a:lnTo>
                  <a:pt x="4876678" y="24895"/>
                </a:lnTo>
                <a:lnTo>
                  <a:pt x="5012141" y="25867"/>
                </a:lnTo>
                <a:lnTo>
                  <a:pt x="5147604" y="28771"/>
                </a:lnTo>
                <a:lnTo>
                  <a:pt x="5283067" y="33905"/>
                </a:lnTo>
                <a:lnTo>
                  <a:pt x="5418531" y="41460"/>
                </a:lnTo>
                <a:lnTo>
                  <a:pt x="5553994" y="51504"/>
                </a:lnTo>
                <a:lnTo>
                  <a:pt x="5689457" y="63964"/>
                </a:lnTo>
                <a:lnTo>
                  <a:pt x="5824921" y="78622"/>
                </a:lnTo>
                <a:lnTo>
                  <a:pt x="5960384" y="95124"/>
                </a:lnTo>
                <a:lnTo>
                  <a:pt x="6095847" y="112989"/>
                </a:lnTo>
                <a:lnTo>
                  <a:pt x="6231310" y="131639"/>
                </a:lnTo>
                <a:lnTo>
                  <a:pt x="6366774" y="150423"/>
                </a:lnTo>
                <a:lnTo>
                  <a:pt x="6502237" y="168658"/>
                </a:lnTo>
                <a:lnTo>
                  <a:pt x="6637700" y="185665"/>
                </a:lnTo>
                <a:lnTo>
                  <a:pt x="6773164" y="200809"/>
                </a:lnTo>
                <a:lnTo>
                  <a:pt x="6908627" y="213535"/>
                </a:lnTo>
                <a:lnTo>
                  <a:pt x="7044090" y="223398"/>
                </a:lnTo>
                <a:lnTo>
                  <a:pt x="7179553" y="230090"/>
                </a:lnTo>
                <a:lnTo>
                  <a:pt x="7315017" y="233454"/>
                </a:lnTo>
                <a:lnTo>
                  <a:pt x="7450480" y="233492"/>
                </a:lnTo>
                <a:lnTo>
                  <a:pt x="7585943" y="230359"/>
                </a:lnTo>
                <a:lnTo>
                  <a:pt x="7721406" y="224353"/>
                </a:lnTo>
                <a:lnTo>
                  <a:pt x="7856870" y="215888"/>
                </a:lnTo>
                <a:lnTo>
                  <a:pt x="7992333" y="205470"/>
                </a:lnTo>
                <a:lnTo>
                  <a:pt x="8127796" y="193658"/>
                </a:lnTo>
                <a:lnTo>
                  <a:pt x="8263260" y="181033"/>
                </a:lnTo>
                <a:lnTo>
                  <a:pt x="8398723" y="168153"/>
                </a:lnTo>
                <a:lnTo>
                  <a:pt x="8534186" y="155526"/>
                </a:lnTo>
                <a:lnTo>
                  <a:pt x="8669649" y="143575"/>
                </a:lnTo>
                <a:lnTo>
                  <a:pt x="8805113" y="132618"/>
                </a:lnTo>
                <a:lnTo>
                  <a:pt x="8940576" y="122852"/>
                </a:lnTo>
                <a:lnTo>
                  <a:pt x="9076039" y="114351"/>
                </a:lnTo>
                <a:lnTo>
                  <a:pt x="9211503" y="107063"/>
                </a:lnTo>
                <a:lnTo>
                  <a:pt x="9346966" y="100832"/>
                </a:lnTo>
                <a:lnTo>
                  <a:pt x="9482429" y="95413"/>
                </a:lnTo>
                <a:lnTo>
                  <a:pt x="9617892" y="90502"/>
                </a:lnTo>
                <a:lnTo>
                  <a:pt x="9753356" y="85770"/>
                </a:lnTo>
                <a:lnTo>
                  <a:pt x="9888819" y="80892"/>
                </a:lnTo>
                <a:lnTo>
                  <a:pt x="10024282" y="75582"/>
                </a:lnTo>
                <a:lnTo>
                  <a:pt x="10159746" y="69623"/>
                </a:lnTo>
                <a:lnTo>
                  <a:pt x="10295209" y="62893"/>
                </a:lnTo>
                <a:lnTo>
                  <a:pt x="10430672" y="55378"/>
                </a:lnTo>
                <a:lnTo>
                  <a:pt x="10566135" y="47183"/>
                </a:lnTo>
                <a:lnTo>
                  <a:pt x="10701599" y="38531"/>
                </a:lnTo>
                <a:lnTo>
                  <a:pt x="10837062" y="29751"/>
                </a:lnTo>
                <a:lnTo>
                  <a:pt x="10972525" y="21260"/>
                </a:lnTo>
                <a:lnTo>
                  <a:pt x="11107988" y="13537"/>
                </a:lnTo>
                <a:lnTo>
                  <a:pt x="11243452" y="7091"/>
                </a:lnTo>
                <a:lnTo>
                  <a:pt x="11378915" y="2425"/>
                </a:lnTo>
                <a:lnTo>
                  <a:pt x="11514378" y="0"/>
                </a:lnTo>
                <a:lnTo>
                  <a:pt x="11649842" y="198"/>
                </a:lnTo>
                <a:lnTo>
                  <a:pt x="11785305" y="3299"/>
                </a:lnTo>
                <a:lnTo>
                  <a:pt x="11920768" y="9446"/>
                </a:lnTo>
                <a:lnTo>
                  <a:pt x="12056231" y="18641"/>
                </a:lnTo>
                <a:lnTo>
                  <a:pt x="12191695" y="30728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46304"/>
            <a:ext cx="11283696" cy="44805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治理闭环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722376"/>
            <a:ext cx="585216" cy="41148"/>
          </a:xfrm>
          <a:prstGeom prst="rect">
            <a:avLst/>
          </a:prstGeom>
          <a:solidFill>
            <a:srgbClr val="EE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649224"/>
            <a:ext cx="10469880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2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消费发现问题，责任确认后更新可信内容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292608"/>
            <a:ext cx="896112" cy="20116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HiAgent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6647688"/>
            <a:ext cx="10241280" cy="1280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7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企业数据智能体建设规划  /  规划视图  /  2026.10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629400"/>
            <a:ext cx="585216" cy="17373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13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" y="1220724"/>
            <a:ext cx="3383280" cy="134416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1188720"/>
            <a:ext cx="3383280" cy="13441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8004" y="1758482"/>
            <a:ext cx="469087" cy="8339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835761" y="1357152"/>
            <a:ext cx="333573" cy="88605"/>
          </a:xfrm>
          <a:custGeom>
            <a:avLst/>
            <a:gdLst/>
            <a:ahLst/>
            <a:cxnLst/>
            <a:rect l="l" t="t" r="r" b="b"/>
            <a:pathLst>
              <a:path w="333573" h="88605">
                <a:moveTo>
                  <a:pt x="0" y="36485"/>
                </a:moveTo>
                <a:lnTo>
                  <a:pt x="271028" y="0"/>
                </a:lnTo>
                <a:lnTo>
                  <a:pt x="333573" y="46909"/>
                </a:lnTo>
                <a:lnTo>
                  <a:pt x="62545" y="88605"/>
                </a:lnTo>
                <a:close/>
              </a:path>
            </a:pathLst>
          </a:custGeom>
          <a:solidFill>
            <a:srgbClr val="B1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06789" y="1357152"/>
            <a:ext cx="62545" cy="370058"/>
          </a:xfrm>
          <a:custGeom>
            <a:avLst/>
            <a:gdLst/>
            <a:ahLst/>
            <a:cxnLst/>
            <a:rect l="l" t="t" r="r" b="b"/>
            <a:pathLst>
              <a:path w="62545" h="370058">
                <a:moveTo>
                  <a:pt x="0" y="0"/>
                </a:moveTo>
                <a:lnTo>
                  <a:pt x="62545" y="46909"/>
                </a:lnTo>
                <a:lnTo>
                  <a:pt x="62545" y="370058"/>
                </a:lnTo>
                <a:lnTo>
                  <a:pt x="0" y="333573"/>
                </a:lnTo>
                <a:close/>
              </a:path>
            </a:pathLst>
          </a:custGeom>
          <a:solidFill>
            <a:srgbClr val="147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835761" y="1357152"/>
            <a:ext cx="271028" cy="375270"/>
          </a:xfrm>
          <a:custGeom>
            <a:avLst/>
            <a:gdLst/>
            <a:ahLst/>
            <a:cxnLst/>
            <a:rect l="l" t="t" r="r" b="b"/>
            <a:pathLst>
              <a:path w="271028" h="375270">
                <a:moveTo>
                  <a:pt x="0" y="36485"/>
                </a:moveTo>
                <a:lnTo>
                  <a:pt x="271028" y="0"/>
                </a:lnTo>
                <a:lnTo>
                  <a:pt x="271028" y="333573"/>
                </a:lnTo>
                <a:lnTo>
                  <a:pt x="0" y="375270"/>
                </a:lnTo>
                <a:close/>
              </a:path>
            </a:pathLst>
          </a:custGeom>
          <a:solidFill>
            <a:srgbClr val="52B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V="1">
            <a:off x="882670" y="1461394"/>
            <a:ext cx="171998" cy="2606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82670" y="1534363"/>
            <a:ext cx="171998" cy="2606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82670" y="1607332"/>
            <a:ext cx="171998" cy="2606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371600" y="1362456"/>
            <a:ext cx="2450592" cy="3931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发现问题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1993392"/>
            <a:ext cx="2962656" cy="466344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查询失败 / 冲突 / 用户反馈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平台检查与关键资产盘点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34172" y="1220724"/>
            <a:ext cx="3383280" cy="134416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11312" y="1188720"/>
            <a:ext cx="3383280" cy="13441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84956" y="1758482"/>
            <a:ext cx="469087" cy="8339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8364108" y="1617756"/>
            <a:ext cx="479511" cy="201395"/>
          </a:xfrm>
          <a:custGeom>
            <a:avLst/>
            <a:gdLst/>
            <a:ahLst/>
            <a:cxnLst/>
            <a:rect l="l" t="t" r="r" b="b"/>
            <a:pathLst>
              <a:path w="479511" h="201395">
                <a:moveTo>
                  <a:pt x="0" y="100697"/>
                </a:moveTo>
                <a:lnTo>
                  <a:pt x="239755" y="0"/>
                </a:lnTo>
                <a:lnTo>
                  <a:pt x="479511" y="100697"/>
                </a:lnTo>
                <a:lnTo>
                  <a:pt x="239755" y="201395"/>
                </a:lnTo>
                <a:close/>
              </a:path>
            </a:pathLst>
          </a:custGeom>
          <a:solidFill>
            <a:srgbClr val="B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8364108" y="1718453"/>
            <a:ext cx="239755" cy="145000"/>
          </a:xfrm>
          <a:custGeom>
            <a:avLst/>
            <a:gdLst/>
            <a:ahLst/>
            <a:cxnLst/>
            <a:rect l="l" t="t" r="r" b="b"/>
            <a:pathLst>
              <a:path w="239755" h="145000">
                <a:moveTo>
                  <a:pt x="0" y="0"/>
                </a:moveTo>
                <a:lnTo>
                  <a:pt x="239755" y="100698"/>
                </a:lnTo>
                <a:lnTo>
                  <a:pt x="239755" y="145000"/>
                </a:lnTo>
                <a:lnTo>
                  <a:pt x="0" y="44303"/>
                </a:lnTo>
                <a:close/>
              </a:path>
            </a:pathLst>
          </a:custGeom>
          <a:solidFill>
            <a:srgbClr val="6D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8603863" y="1718453"/>
            <a:ext cx="239756" cy="145000"/>
          </a:xfrm>
          <a:custGeom>
            <a:avLst/>
            <a:gdLst/>
            <a:ahLst/>
            <a:cxnLst/>
            <a:rect l="l" t="t" r="r" b="b"/>
            <a:pathLst>
              <a:path w="239756" h="145000">
                <a:moveTo>
                  <a:pt x="0" y="100698"/>
                </a:moveTo>
                <a:lnTo>
                  <a:pt x="239756" y="0"/>
                </a:lnTo>
                <a:lnTo>
                  <a:pt x="239756" y="44303"/>
                </a:lnTo>
                <a:lnTo>
                  <a:pt x="0" y="145000"/>
                </a:lnTo>
                <a:close/>
              </a:path>
            </a:pathLst>
          </a:custGeom>
          <a:solidFill>
            <a:srgbClr val="30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8405804" y="1518726"/>
            <a:ext cx="396118" cy="166370"/>
          </a:xfrm>
          <a:custGeom>
            <a:avLst/>
            <a:gdLst/>
            <a:ahLst/>
            <a:cxnLst/>
            <a:rect l="l" t="t" r="r" b="b"/>
            <a:pathLst>
              <a:path w="396118" h="166370">
                <a:moveTo>
                  <a:pt x="0" y="83185"/>
                </a:moveTo>
                <a:lnTo>
                  <a:pt x="198059" y="0"/>
                </a:lnTo>
                <a:lnTo>
                  <a:pt x="396118" y="83185"/>
                </a:lnTo>
                <a:lnTo>
                  <a:pt x="198059" y="166370"/>
                </a:lnTo>
                <a:close/>
              </a:path>
            </a:pathLst>
          </a:custGeom>
          <a:solidFill>
            <a:srgbClr val="94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8405804" y="1601911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0"/>
                </a:moveTo>
                <a:lnTo>
                  <a:pt x="198059" y="83185"/>
                </a:lnTo>
                <a:lnTo>
                  <a:pt x="198059" y="127488"/>
                </a:lnTo>
                <a:lnTo>
                  <a:pt x="0" y="44303"/>
                </a:lnTo>
                <a:close/>
              </a:path>
            </a:pathLst>
          </a:custGeom>
          <a:solidFill>
            <a:srgbClr val="3F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8603863" y="1601911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83185"/>
                </a:moveTo>
                <a:lnTo>
                  <a:pt x="198059" y="0"/>
                </a:lnTo>
                <a:lnTo>
                  <a:pt x="198059" y="44303"/>
                </a:lnTo>
                <a:lnTo>
                  <a:pt x="0" y="127488"/>
                </a:lnTo>
                <a:close/>
              </a:path>
            </a:pathLst>
          </a:custGeom>
          <a:solidFill>
            <a:srgbClr val="197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8452713" y="1419697"/>
            <a:ext cx="302301" cy="126966"/>
          </a:xfrm>
          <a:custGeom>
            <a:avLst/>
            <a:gdLst/>
            <a:ahLst/>
            <a:cxnLst/>
            <a:rect l="l" t="t" r="r" b="b"/>
            <a:pathLst>
              <a:path w="302301" h="126966">
                <a:moveTo>
                  <a:pt x="0" y="63483"/>
                </a:moveTo>
                <a:lnTo>
                  <a:pt x="151150" y="0"/>
                </a:lnTo>
                <a:lnTo>
                  <a:pt x="302301" y="63483"/>
                </a:lnTo>
                <a:lnTo>
                  <a:pt x="151150" y="126966"/>
                </a:lnTo>
                <a:close/>
              </a:path>
            </a:pathLst>
          </a:custGeom>
          <a:solidFill>
            <a:srgbClr val="57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8452713" y="1483180"/>
            <a:ext cx="151150" cy="107786"/>
          </a:xfrm>
          <a:custGeom>
            <a:avLst/>
            <a:gdLst/>
            <a:ahLst/>
            <a:cxnLst/>
            <a:rect l="l" t="t" r="r" b="b"/>
            <a:pathLst>
              <a:path w="151150" h="107786">
                <a:moveTo>
                  <a:pt x="0" y="0"/>
                </a:moveTo>
                <a:lnTo>
                  <a:pt x="151150" y="63483"/>
                </a:lnTo>
                <a:lnTo>
                  <a:pt x="151150" y="107786"/>
                </a:lnTo>
                <a:lnTo>
                  <a:pt x="0" y="44303"/>
                </a:lnTo>
                <a:close/>
              </a:path>
            </a:pathLst>
          </a:custGeom>
          <a:solidFill>
            <a:srgbClr val="148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8603863" y="1483180"/>
            <a:ext cx="151151" cy="107786"/>
          </a:xfrm>
          <a:custGeom>
            <a:avLst/>
            <a:gdLst/>
            <a:ahLst/>
            <a:cxnLst/>
            <a:rect l="l" t="t" r="r" b="b"/>
            <a:pathLst>
              <a:path w="151151" h="107786">
                <a:moveTo>
                  <a:pt x="0" y="63483"/>
                </a:moveTo>
                <a:lnTo>
                  <a:pt x="151151" y="0"/>
                </a:lnTo>
                <a:lnTo>
                  <a:pt x="151151" y="44303"/>
                </a:lnTo>
                <a:lnTo>
                  <a:pt x="0" y="107786"/>
                </a:lnTo>
                <a:close/>
              </a:path>
            </a:pathLst>
          </a:custGeom>
          <a:solidFill>
            <a:srgbClr val="0A5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8525682" y="1398849"/>
            <a:ext cx="99030" cy="45553"/>
          </a:xfrm>
          <a:custGeom>
            <a:avLst/>
            <a:gdLst/>
            <a:ahLst/>
            <a:cxnLst/>
            <a:rect l="l" t="t" r="r" b="b"/>
            <a:pathLst>
              <a:path w="99030" h="45553">
                <a:moveTo>
                  <a:pt x="0" y="22776"/>
                </a:moveTo>
                <a:lnTo>
                  <a:pt x="49515" y="0"/>
                </a:lnTo>
                <a:lnTo>
                  <a:pt x="99030" y="22776"/>
                </a:lnTo>
                <a:lnTo>
                  <a:pt x="49515" y="45553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8525682" y="1421625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70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8575197" y="1421625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70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8655984" y="1445757"/>
            <a:ext cx="99030" cy="45554"/>
          </a:xfrm>
          <a:custGeom>
            <a:avLst/>
            <a:gdLst/>
            <a:ahLst/>
            <a:cxnLst/>
            <a:rect l="l" t="t" r="r" b="b"/>
            <a:pathLst>
              <a:path w="99030" h="45554">
                <a:moveTo>
                  <a:pt x="0" y="22777"/>
                </a:moveTo>
                <a:lnTo>
                  <a:pt x="49515" y="0"/>
                </a:lnTo>
                <a:lnTo>
                  <a:pt x="99030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8655984" y="1468534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8705499" y="1468534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8572591" y="1508302"/>
            <a:ext cx="99029" cy="45554"/>
          </a:xfrm>
          <a:custGeom>
            <a:avLst/>
            <a:gdLst/>
            <a:ahLst/>
            <a:cxnLst/>
            <a:rect l="l" t="t" r="r" b="b"/>
            <a:pathLst>
              <a:path w="99029" h="45554">
                <a:moveTo>
                  <a:pt x="0" y="22777"/>
                </a:moveTo>
                <a:lnTo>
                  <a:pt x="49515" y="0"/>
                </a:lnTo>
                <a:lnTo>
                  <a:pt x="99029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8572591" y="1531079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8622106" y="1531079"/>
            <a:ext cx="49514" cy="95746"/>
          </a:xfrm>
          <a:custGeom>
            <a:avLst/>
            <a:gdLst/>
            <a:ahLst/>
            <a:cxnLst/>
            <a:rect l="l" t="t" r="r" b="b"/>
            <a:pathLst>
              <a:path w="49514" h="95746">
                <a:moveTo>
                  <a:pt x="0" y="22777"/>
                </a:moveTo>
                <a:lnTo>
                  <a:pt x="49514" y="0"/>
                </a:lnTo>
                <a:lnTo>
                  <a:pt x="49514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88552" y="1362456"/>
            <a:ext cx="2450592" cy="3931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分级与定位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1993392"/>
            <a:ext cx="2962656" cy="466344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使用需求 × 影响范围 × 风险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确认责任域与权威来源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34172" y="4238244"/>
            <a:ext cx="3383280" cy="134416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211312" y="4206240"/>
            <a:ext cx="3383280" cy="13441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384956" y="4776002"/>
            <a:ext cx="469087" cy="8339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452713" y="4374672"/>
            <a:ext cx="333573" cy="88605"/>
          </a:xfrm>
          <a:custGeom>
            <a:avLst/>
            <a:gdLst/>
            <a:ahLst/>
            <a:cxnLst/>
            <a:rect l="l" t="t" r="r" b="b"/>
            <a:pathLst>
              <a:path w="333573" h="88605">
                <a:moveTo>
                  <a:pt x="0" y="36485"/>
                </a:moveTo>
                <a:lnTo>
                  <a:pt x="271028" y="0"/>
                </a:lnTo>
                <a:lnTo>
                  <a:pt x="333573" y="46909"/>
                </a:lnTo>
                <a:lnTo>
                  <a:pt x="62545" y="88605"/>
                </a:lnTo>
                <a:close/>
              </a:path>
            </a:pathLst>
          </a:custGeom>
          <a:solidFill>
            <a:srgbClr val="B1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723741" y="4374672"/>
            <a:ext cx="62545" cy="370058"/>
          </a:xfrm>
          <a:custGeom>
            <a:avLst/>
            <a:gdLst/>
            <a:ahLst/>
            <a:cxnLst/>
            <a:rect l="l" t="t" r="r" b="b"/>
            <a:pathLst>
              <a:path w="62545" h="370058">
                <a:moveTo>
                  <a:pt x="0" y="0"/>
                </a:moveTo>
                <a:lnTo>
                  <a:pt x="62545" y="46909"/>
                </a:lnTo>
                <a:lnTo>
                  <a:pt x="62545" y="370058"/>
                </a:lnTo>
                <a:lnTo>
                  <a:pt x="0" y="333573"/>
                </a:lnTo>
                <a:close/>
              </a:path>
            </a:pathLst>
          </a:custGeom>
          <a:solidFill>
            <a:srgbClr val="147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8452713" y="4374672"/>
            <a:ext cx="271028" cy="375270"/>
          </a:xfrm>
          <a:custGeom>
            <a:avLst/>
            <a:gdLst/>
            <a:ahLst/>
            <a:cxnLst/>
            <a:rect l="l" t="t" r="r" b="b"/>
            <a:pathLst>
              <a:path w="271028" h="375270">
                <a:moveTo>
                  <a:pt x="0" y="36485"/>
                </a:moveTo>
                <a:lnTo>
                  <a:pt x="271028" y="0"/>
                </a:lnTo>
                <a:lnTo>
                  <a:pt x="271028" y="333573"/>
                </a:lnTo>
                <a:lnTo>
                  <a:pt x="0" y="375270"/>
                </a:lnTo>
                <a:close/>
              </a:path>
            </a:pathLst>
          </a:custGeom>
          <a:solidFill>
            <a:srgbClr val="52B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 flipV="1">
            <a:off x="8499622" y="4478914"/>
            <a:ext cx="171998" cy="2606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8499622" y="4551883"/>
            <a:ext cx="171998" cy="2606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499622" y="4624852"/>
            <a:ext cx="171998" cy="2606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525682" y="4588367"/>
            <a:ext cx="52121" cy="52121"/>
          </a:xfrm>
          <a:prstGeom prst="line">
            <a:avLst/>
          </a:prstGeom>
          <a:ln w="254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8577803" y="4515398"/>
            <a:ext cx="104242" cy="125090"/>
          </a:xfrm>
          <a:prstGeom prst="line">
            <a:avLst/>
          </a:prstGeom>
          <a:ln w="254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988552" y="4379976"/>
            <a:ext cx="2450592" cy="3931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补全与审核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21624" y="5010912"/>
            <a:ext cx="2962656" cy="466344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语义 / 口径 / 映射 / 规则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AI建议，责任人确认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7220" y="4238244"/>
            <a:ext cx="3383280" cy="134416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94360" y="4206240"/>
            <a:ext cx="3383280" cy="13441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68004" y="4776002"/>
            <a:ext cx="469087" cy="8339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835761" y="4374672"/>
            <a:ext cx="333573" cy="88605"/>
          </a:xfrm>
          <a:custGeom>
            <a:avLst/>
            <a:gdLst/>
            <a:ahLst/>
            <a:cxnLst/>
            <a:rect l="l" t="t" r="r" b="b"/>
            <a:pathLst>
              <a:path w="333573" h="88605">
                <a:moveTo>
                  <a:pt x="0" y="36485"/>
                </a:moveTo>
                <a:lnTo>
                  <a:pt x="271028" y="0"/>
                </a:lnTo>
                <a:lnTo>
                  <a:pt x="333573" y="46909"/>
                </a:lnTo>
                <a:lnTo>
                  <a:pt x="62545" y="88605"/>
                </a:lnTo>
                <a:close/>
              </a:path>
            </a:pathLst>
          </a:custGeom>
          <a:solidFill>
            <a:srgbClr val="B1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106789" y="4374672"/>
            <a:ext cx="62545" cy="370058"/>
          </a:xfrm>
          <a:custGeom>
            <a:avLst/>
            <a:gdLst/>
            <a:ahLst/>
            <a:cxnLst/>
            <a:rect l="l" t="t" r="r" b="b"/>
            <a:pathLst>
              <a:path w="62545" h="370058">
                <a:moveTo>
                  <a:pt x="0" y="0"/>
                </a:moveTo>
                <a:lnTo>
                  <a:pt x="62545" y="46909"/>
                </a:lnTo>
                <a:lnTo>
                  <a:pt x="62545" y="370058"/>
                </a:lnTo>
                <a:lnTo>
                  <a:pt x="0" y="333573"/>
                </a:lnTo>
                <a:close/>
              </a:path>
            </a:pathLst>
          </a:custGeom>
          <a:solidFill>
            <a:srgbClr val="147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835761" y="4374672"/>
            <a:ext cx="271028" cy="375270"/>
          </a:xfrm>
          <a:custGeom>
            <a:avLst/>
            <a:gdLst/>
            <a:ahLst/>
            <a:cxnLst/>
            <a:rect l="l" t="t" r="r" b="b"/>
            <a:pathLst>
              <a:path w="271028" h="375270">
                <a:moveTo>
                  <a:pt x="0" y="36485"/>
                </a:moveTo>
                <a:lnTo>
                  <a:pt x="271028" y="0"/>
                </a:lnTo>
                <a:lnTo>
                  <a:pt x="271028" y="333573"/>
                </a:lnTo>
                <a:lnTo>
                  <a:pt x="0" y="375270"/>
                </a:lnTo>
                <a:close/>
              </a:path>
            </a:pathLst>
          </a:custGeom>
          <a:solidFill>
            <a:srgbClr val="52B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 flipV="1">
            <a:off x="882670" y="4478914"/>
            <a:ext cx="171998" cy="2606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882670" y="4551883"/>
            <a:ext cx="171998" cy="2606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882670" y="4624852"/>
            <a:ext cx="171998" cy="2606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08730" y="4588367"/>
            <a:ext cx="52121" cy="52121"/>
          </a:xfrm>
          <a:prstGeom prst="line">
            <a:avLst/>
          </a:prstGeom>
          <a:ln w="254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960851" y="4515398"/>
            <a:ext cx="104242" cy="125090"/>
          </a:xfrm>
          <a:prstGeom prst="line">
            <a:avLst/>
          </a:prstGeom>
          <a:ln w="254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1371600" y="4379976"/>
            <a:ext cx="2450592" cy="3931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发布与验证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" y="5010912"/>
            <a:ext cx="2962656" cy="466344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更新平台定义、索引和查询数据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回归真实问题与失败样本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430268" y="2583180"/>
            <a:ext cx="3364992" cy="1380744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4407408" y="2551176"/>
            <a:ext cx="3364992" cy="1380744"/>
          </a:xfrm>
          <a:prstGeom prst="roundRect">
            <a:avLst>
              <a:gd name="adj" fmla="val 5500"/>
            </a:avLst>
          </a:prstGeom>
          <a:solidFill>
            <a:srgbClr val="EAF9FA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581052" y="3120938"/>
            <a:ext cx="469087" cy="8339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654021" y="2803001"/>
            <a:ext cx="317936" cy="302300"/>
          </a:xfrm>
          <a:prstGeom prst="rect">
            <a:avLst/>
          </a:prstGeom>
          <a:solidFill>
            <a:srgbClr val="168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654021" y="3063605"/>
            <a:ext cx="317936" cy="104241"/>
          </a:xfrm>
          <a:prstGeom prst="ellipse">
            <a:avLst/>
          </a:prstGeom>
          <a:solidFill>
            <a:srgbClr val="096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654021" y="2750880"/>
            <a:ext cx="317936" cy="104241"/>
          </a:xfrm>
          <a:prstGeom prst="ellipse">
            <a:avLst/>
          </a:prstGeom>
          <a:solidFill>
            <a:srgbClr val="76D8FF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654021" y="2870758"/>
            <a:ext cx="317936" cy="104241"/>
          </a:xfrm>
          <a:prstGeom prst="ellipse">
            <a:avLst/>
          </a:prstGeom>
          <a:solidFill>
            <a:srgbClr val="3AB2F8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654021" y="2990636"/>
            <a:ext cx="317936" cy="104241"/>
          </a:xfrm>
          <a:prstGeom prst="ellipse">
            <a:avLst/>
          </a:prstGeom>
          <a:solidFill>
            <a:srgbClr val="3AB2F8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685294" y="2813425"/>
            <a:ext cx="20848" cy="276240"/>
          </a:xfrm>
          <a:prstGeom prst="rect">
            <a:avLst/>
          </a:prstGeom>
          <a:solidFill>
            <a:srgbClr val="76D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184648" y="2724912"/>
            <a:ext cx="2432304" cy="3931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持续治理资产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617720" y="3355848"/>
            <a:ext cx="2944368" cy="50292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表字段 / 字典码值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指标与语义 / 来源版本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4014215" y="1856231"/>
            <a:ext cx="4160521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8116269" y="1856231"/>
            <a:ext cx="58467" cy="3584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 flipV="1">
            <a:off x="8116269" y="1820386"/>
            <a:ext cx="58467" cy="35845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5065776" y="1572768"/>
            <a:ext cx="20116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084064" y="1581912"/>
            <a:ext cx="1975104" cy="26517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问题与影响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9902952" y="2569464"/>
            <a:ext cx="0" cy="1600199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H="1" flipV="1">
            <a:off x="9867106" y="4111197"/>
            <a:ext cx="35846" cy="5846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9902952" y="4111197"/>
            <a:ext cx="35845" cy="5846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91"/>
          <p:cNvSpPr/>
          <p:nvPr/>
        </p:nvSpPr>
        <p:spPr>
          <a:xfrm>
            <a:off x="10049256" y="3054096"/>
            <a:ext cx="149047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067544" y="3063239"/>
            <a:ext cx="1453895" cy="54864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形成治理任务</a:t>
            </a:r>
          </a:p>
        </p:txBody>
      </p:sp>
      <p:cxnSp>
        <p:nvCxnSpPr>
          <p:cNvPr id="94" name="Connector 93"/>
          <p:cNvCxnSpPr/>
          <p:nvPr/>
        </p:nvCxnSpPr>
        <p:spPr>
          <a:xfrm flipH="1">
            <a:off x="4014215" y="4873752"/>
            <a:ext cx="4160521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4014215" y="4837906"/>
            <a:ext cx="58467" cy="3584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4014215" y="4873752"/>
            <a:ext cx="58467" cy="35845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 96"/>
          <p:cNvSpPr/>
          <p:nvPr/>
        </p:nvSpPr>
        <p:spPr>
          <a:xfrm>
            <a:off x="5020056" y="4572000"/>
            <a:ext cx="210312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038344" y="4581144"/>
            <a:ext cx="2066543" cy="26517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审核后修订</a:t>
            </a:r>
          </a:p>
        </p:txBody>
      </p:sp>
      <p:cxnSp>
        <p:nvCxnSpPr>
          <p:cNvPr id="99" name="Connector 98"/>
          <p:cNvCxnSpPr/>
          <p:nvPr/>
        </p:nvCxnSpPr>
        <p:spPr>
          <a:xfrm flipV="1">
            <a:off x="2286000" y="2569464"/>
            <a:ext cx="0" cy="1600199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2286000" y="2569464"/>
            <a:ext cx="35845" cy="5846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2250154" y="2569464"/>
            <a:ext cx="35846" cy="5846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01"/>
          <p:cNvSpPr/>
          <p:nvPr/>
        </p:nvSpPr>
        <p:spPr>
          <a:xfrm>
            <a:off x="658368" y="3099816"/>
            <a:ext cx="141732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76656" y="3108960"/>
            <a:ext cx="1380744" cy="26517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反馈消费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61772" y="6112764"/>
            <a:ext cx="11247120" cy="33832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438912" y="6080760"/>
            <a:ext cx="11247120" cy="338328"/>
          </a:xfrm>
          <a:prstGeom prst="roundRect">
            <a:avLst>
              <a:gd name="adj" fmla="val 5500"/>
            </a:avLst>
          </a:prstGeom>
          <a:solidFill>
            <a:srgbClr val="EEF7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85216" y="6117336"/>
            <a:ext cx="10954512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治理按高频、高影响、高风险综合排序；关键口径、敏感标记与冲突不只依赖随机抽样。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6346471"/>
            <a:ext cx="12191695" cy="235953"/>
          </a:xfrm>
          <a:custGeom>
            <a:avLst/>
            <a:gdLst/>
            <a:ahLst/>
            <a:cxnLst/>
            <a:rect l="l" t="t" r="r" b="b"/>
            <a:pathLst>
              <a:path w="12191695" h="235953">
                <a:moveTo>
                  <a:pt x="0" y="127481"/>
                </a:moveTo>
                <a:lnTo>
                  <a:pt x="135463" y="147046"/>
                </a:lnTo>
                <a:lnTo>
                  <a:pt x="270926" y="165914"/>
                </a:lnTo>
                <a:lnTo>
                  <a:pt x="406389" y="183426"/>
                </a:lnTo>
                <a:lnTo>
                  <a:pt x="541853" y="199000"/>
                </a:lnTo>
                <a:lnTo>
                  <a:pt x="677316" y="212159"/>
                </a:lnTo>
                <a:lnTo>
                  <a:pt x="812779" y="222557"/>
                </a:lnTo>
                <a:lnTo>
                  <a:pt x="948242" y="229995"/>
                </a:lnTo>
                <a:lnTo>
                  <a:pt x="1083706" y="234426"/>
                </a:lnTo>
                <a:lnTo>
                  <a:pt x="1219169" y="235953"/>
                </a:lnTo>
                <a:lnTo>
                  <a:pt x="1354632" y="234812"/>
                </a:lnTo>
                <a:lnTo>
                  <a:pt x="1490096" y="231352"/>
                </a:lnTo>
                <a:lnTo>
                  <a:pt x="1625559" y="226009"/>
                </a:lnTo>
                <a:lnTo>
                  <a:pt x="1761022" y="219267"/>
                </a:lnTo>
                <a:lnTo>
                  <a:pt x="1896485" y="211626"/>
                </a:lnTo>
                <a:lnTo>
                  <a:pt x="2031949" y="203564"/>
                </a:lnTo>
                <a:lnTo>
                  <a:pt x="2167412" y="195508"/>
                </a:lnTo>
                <a:lnTo>
                  <a:pt x="2302875" y="187800"/>
                </a:lnTo>
                <a:lnTo>
                  <a:pt x="2438339" y="180682"/>
                </a:lnTo>
                <a:lnTo>
                  <a:pt x="2573802" y="174280"/>
                </a:lnTo>
                <a:lnTo>
                  <a:pt x="2709265" y="168601"/>
                </a:lnTo>
                <a:lnTo>
                  <a:pt x="2844728" y="163541"/>
                </a:lnTo>
                <a:lnTo>
                  <a:pt x="2980192" y="158900"/>
                </a:lnTo>
                <a:lnTo>
                  <a:pt x="3115655" y="154402"/>
                </a:lnTo>
                <a:lnTo>
                  <a:pt x="3251118" y="149724"/>
                </a:lnTo>
                <a:lnTo>
                  <a:pt x="3386582" y="144534"/>
                </a:lnTo>
                <a:lnTo>
                  <a:pt x="3522045" y="138515"/>
                </a:lnTo>
                <a:lnTo>
                  <a:pt x="3657508" y="131408"/>
                </a:lnTo>
                <a:lnTo>
                  <a:pt x="3792971" y="123031"/>
                </a:lnTo>
                <a:lnTo>
                  <a:pt x="3928435" y="113309"/>
                </a:lnTo>
                <a:lnTo>
                  <a:pt x="4063898" y="102287"/>
                </a:lnTo>
                <a:lnTo>
                  <a:pt x="4199361" y="90138"/>
                </a:lnTo>
                <a:lnTo>
                  <a:pt x="4334824" y="77155"/>
                </a:lnTo>
                <a:lnTo>
                  <a:pt x="4470288" y="63745"/>
                </a:lnTo>
                <a:lnTo>
                  <a:pt x="4605751" y="50406"/>
                </a:lnTo>
                <a:lnTo>
                  <a:pt x="4741214" y="37696"/>
                </a:lnTo>
                <a:lnTo>
                  <a:pt x="4876678" y="26202"/>
                </a:lnTo>
                <a:lnTo>
                  <a:pt x="5012141" y="16503"/>
                </a:lnTo>
                <a:lnTo>
                  <a:pt x="5147604" y="9131"/>
                </a:lnTo>
                <a:lnTo>
                  <a:pt x="5283067" y="4538"/>
                </a:lnTo>
                <a:lnTo>
                  <a:pt x="5418531" y="3064"/>
                </a:lnTo>
                <a:lnTo>
                  <a:pt x="5553994" y="4912"/>
                </a:lnTo>
                <a:lnTo>
                  <a:pt x="5689457" y="10132"/>
                </a:lnTo>
                <a:lnTo>
                  <a:pt x="5824921" y="18617"/>
                </a:lnTo>
                <a:lnTo>
                  <a:pt x="5960384" y="30106"/>
                </a:lnTo>
                <a:lnTo>
                  <a:pt x="6095847" y="44193"/>
                </a:lnTo>
                <a:lnTo>
                  <a:pt x="6231310" y="60357"/>
                </a:lnTo>
                <a:lnTo>
                  <a:pt x="6366774" y="77984"/>
                </a:lnTo>
                <a:lnTo>
                  <a:pt x="6502237" y="96410"/>
                </a:lnTo>
                <a:lnTo>
                  <a:pt x="6637700" y="114953"/>
                </a:lnTo>
                <a:lnTo>
                  <a:pt x="6773164" y="132954"/>
                </a:lnTo>
                <a:lnTo>
                  <a:pt x="6908627" y="149814"/>
                </a:lnTo>
                <a:lnTo>
                  <a:pt x="7044090" y="165027"/>
                </a:lnTo>
                <a:lnTo>
                  <a:pt x="7179553" y="178204"/>
                </a:lnTo>
                <a:lnTo>
                  <a:pt x="7315017" y="189090"/>
                </a:lnTo>
                <a:lnTo>
                  <a:pt x="7450480" y="197574"/>
                </a:lnTo>
                <a:lnTo>
                  <a:pt x="7585943" y="203682"/>
                </a:lnTo>
                <a:lnTo>
                  <a:pt x="7721406" y="207573"/>
                </a:lnTo>
                <a:lnTo>
                  <a:pt x="7856870" y="209512"/>
                </a:lnTo>
                <a:lnTo>
                  <a:pt x="7992333" y="209848"/>
                </a:lnTo>
                <a:lnTo>
                  <a:pt x="8127796" y="208978"/>
                </a:lnTo>
                <a:lnTo>
                  <a:pt x="8263260" y="207316"/>
                </a:lnTo>
                <a:lnTo>
                  <a:pt x="8398723" y="205256"/>
                </a:lnTo>
                <a:lnTo>
                  <a:pt x="8534186" y="203141"/>
                </a:lnTo>
                <a:lnTo>
                  <a:pt x="8669649" y="201238"/>
                </a:lnTo>
                <a:lnTo>
                  <a:pt x="8805113" y="199711"/>
                </a:lnTo>
                <a:lnTo>
                  <a:pt x="8940576" y="198616"/>
                </a:lnTo>
                <a:lnTo>
                  <a:pt x="9076039" y="197894"/>
                </a:lnTo>
                <a:lnTo>
                  <a:pt x="9211503" y="197378"/>
                </a:lnTo>
                <a:lnTo>
                  <a:pt x="9346966" y="196808"/>
                </a:lnTo>
                <a:lnTo>
                  <a:pt x="9482429" y="195855"/>
                </a:lnTo>
                <a:lnTo>
                  <a:pt x="9617892" y="194147"/>
                </a:lnTo>
                <a:lnTo>
                  <a:pt x="9753356" y="191305"/>
                </a:lnTo>
                <a:lnTo>
                  <a:pt x="9888819" y="186977"/>
                </a:lnTo>
                <a:lnTo>
                  <a:pt x="10024282" y="180869"/>
                </a:lnTo>
                <a:lnTo>
                  <a:pt x="10159746" y="172776"/>
                </a:lnTo>
                <a:lnTo>
                  <a:pt x="10295209" y="162608"/>
                </a:lnTo>
                <a:lnTo>
                  <a:pt x="10430672" y="150402"/>
                </a:lnTo>
                <a:lnTo>
                  <a:pt x="10566135" y="136335"/>
                </a:lnTo>
                <a:lnTo>
                  <a:pt x="10701599" y="120717"/>
                </a:lnTo>
                <a:lnTo>
                  <a:pt x="10837062" y="103984"/>
                </a:lnTo>
                <a:lnTo>
                  <a:pt x="10972525" y="86673"/>
                </a:lnTo>
                <a:lnTo>
                  <a:pt x="11107988" y="69396"/>
                </a:lnTo>
                <a:lnTo>
                  <a:pt x="11243452" y="52806"/>
                </a:lnTo>
                <a:lnTo>
                  <a:pt x="11378915" y="37558"/>
                </a:lnTo>
                <a:lnTo>
                  <a:pt x="11514378" y="24274"/>
                </a:lnTo>
                <a:lnTo>
                  <a:pt x="11649842" y="13501"/>
                </a:lnTo>
                <a:lnTo>
                  <a:pt x="11785305" y="5683"/>
                </a:lnTo>
                <a:lnTo>
                  <a:pt x="11920768" y="1129"/>
                </a:lnTo>
                <a:lnTo>
                  <a:pt x="12056231" y="0"/>
                </a:lnTo>
                <a:lnTo>
                  <a:pt x="12191695" y="2300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6405649"/>
            <a:ext cx="12191695" cy="245182"/>
          </a:xfrm>
          <a:custGeom>
            <a:avLst/>
            <a:gdLst/>
            <a:ahLst/>
            <a:cxnLst/>
            <a:rect l="l" t="t" r="r" b="b"/>
            <a:pathLst>
              <a:path w="12191695" h="245182">
                <a:moveTo>
                  <a:pt x="0" y="150669"/>
                </a:moveTo>
                <a:lnTo>
                  <a:pt x="135463" y="169737"/>
                </a:lnTo>
                <a:lnTo>
                  <a:pt x="270926" y="187768"/>
                </a:lnTo>
                <a:lnTo>
                  <a:pt x="406389" y="204118"/>
                </a:lnTo>
                <a:lnTo>
                  <a:pt x="541853" y="218220"/>
                </a:lnTo>
                <a:lnTo>
                  <a:pt x="677316" y="229621"/>
                </a:lnTo>
                <a:lnTo>
                  <a:pt x="812779" y="238002"/>
                </a:lnTo>
                <a:lnTo>
                  <a:pt x="948242" y="243193"/>
                </a:lnTo>
                <a:lnTo>
                  <a:pt x="1083706" y="245182"/>
                </a:lnTo>
                <a:lnTo>
                  <a:pt x="1219169" y="244108"/>
                </a:lnTo>
                <a:lnTo>
                  <a:pt x="1354632" y="240247"/>
                </a:lnTo>
                <a:lnTo>
                  <a:pt x="1490096" y="233989"/>
                </a:lnTo>
                <a:lnTo>
                  <a:pt x="1625559" y="225812"/>
                </a:lnTo>
                <a:lnTo>
                  <a:pt x="1761022" y="216243"/>
                </a:lnTo>
                <a:lnTo>
                  <a:pt x="1896485" y="205824"/>
                </a:lnTo>
                <a:lnTo>
                  <a:pt x="2031949" y="195076"/>
                </a:lnTo>
                <a:lnTo>
                  <a:pt x="2167412" y="184466"/>
                </a:lnTo>
                <a:lnTo>
                  <a:pt x="2302875" y="174375"/>
                </a:lnTo>
                <a:lnTo>
                  <a:pt x="2438339" y="165080"/>
                </a:lnTo>
                <a:lnTo>
                  <a:pt x="2573802" y="156740"/>
                </a:lnTo>
                <a:lnTo>
                  <a:pt x="2709265" y="149392"/>
                </a:lnTo>
                <a:lnTo>
                  <a:pt x="2844728" y="142958"/>
                </a:lnTo>
                <a:lnTo>
                  <a:pt x="2980192" y="137257"/>
                </a:lnTo>
                <a:lnTo>
                  <a:pt x="3115655" y="132030"/>
                </a:lnTo>
                <a:lnTo>
                  <a:pt x="3251118" y="126965"/>
                </a:lnTo>
                <a:lnTo>
                  <a:pt x="3386582" y="121734"/>
                </a:lnTo>
                <a:lnTo>
                  <a:pt x="3522045" y="116024"/>
                </a:lnTo>
                <a:lnTo>
                  <a:pt x="3657508" y="109568"/>
                </a:lnTo>
                <a:lnTo>
                  <a:pt x="3792971" y="102177"/>
                </a:lnTo>
                <a:lnTo>
                  <a:pt x="3928435" y="93759"/>
                </a:lnTo>
                <a:lnTo>
                  <a:pt x="4063898" y="84341"/>
                </a:lnTo>
                <a:lnTo>
                  <a:pt x="4199361" y="74069"/>
                </a:lnTo>
                <a:lnTo>
                  <a:pt x="4334824" y="63211"/>
                </a:lnTo>
                <a:lnTo>
                  <a:pt x="4470288" y="52141"/>
                </a:lnTo>
                <a:lnTo>
                  <a:pt x="4605751" y="41320"/>
                </a:lnTo>
                <a:lnTo>
                  <a:pt x="4741214" y="31269"/>
                </a:lnTo>
                <a:lnTo>
                  <a:pt x="4876678" y="22536"/>
                </a:lnTo>
                <a:lnTo>
                  <a:pt x="5012141" y="15656"/>
                </a:lnTo>
                <a:lnTo>
                  <a:pt x="5147604" y="11120"/>
                </a:lnTo>
                <a:lnTo>
                  <a:pt x="5283067" y="9338"/>
                </a:lnTo>
                <a:lnTo>
                  <a:pt x="5418531" y="10605"/>
                </a:lnTo>
                <a:lnTo>
                  <a:pt x="5553994" y="15085"/>
                </a:lnTo>
                <a:lnTo>
                  <a:pt x="5689457" y="22787"/>
                </a:lnTo>
                <a:lnTo>
                  <a:pt x="5824921" y="33567"/>
                </a:lnTo>
                <a:lnTo>
                  <a:pt x="5960384" y="47128"/>
                </a:lnTo>
                <a:lnTo>
                  <a:pt x="6095847" y="63035"/>
                </a:lnTo>
                <a:lnTo>
                  <a:pt x="6231310" y="80738"/>
                </a:lnTo>
                <a:lnTo>
                  <a:pt x="6366774" y="99601"/>
                </a:lnTo>
                <a:lnTo>
                  <a:pt x="6502237" y="118939"/>
                </a:lnTo>
                <a:lnTo>
                  <a:pt x="6637700" y="138058"/>
                </a:lnTo>
                <a:lnTo>
                  <a:pt x="6773164" y="156290"/>
                </a:lnTo>
                <a:lnTo>
                  <a:pt x="6908627" y="173034"/>
                </a:lnTo>
                <a:lnTo>
                  <a:pt x="7044090" y="187783"/>
                </a:lnTo>
                <a:lnTo>
                  <a:pt x="7179553" y="200156"/>
                </a:lnTo>
                <a:lnTo>
                  <a:pt x="7315017" y="209912"/>
                </a:lnTo>
                <a:lnTo>
                  <a:pt x="7450480" y="216953"/>
                </a:lnTo>
                <a:lnTo>
                  <a:pt x="7585943" y="221331"/>
                </a:lnTo>
                <a:lnTo>
                  <a:pt x="7721406" y="223229"/>
                </a:lnTo>
                <a:lnTo>
                  <a:pt x="7856870" y="222943"/>
                </a:lnTo>
                <a:lnTo>
                  <a:pt x="7992333" y="220854"/>
                </a:lnTo>
                <a:lnTo>
                  <a:pt x="8127796" y="217398"/>
                </a:lnTo>
                <a:lnTo>
                  <a:pt x="8263260" y="213025"/>
                </a:lnTo>
                <a:lnTo>
                  <a:pt x="8398723" y="208173"/>
                </a:lnTo>
                <a:lnTo>
                  <a:pt x="8534186" y="203226"/>
                </a:lnTo>
                <a:lnTo>
                  <a:pt x="8669649" y="198493"/>
                </a:lnTo>
                <a:lnTo>
                  <a:pt x="8805113" y="194182"/>
                </a:lnTo>
                <a:lnTo>
                  <a:pt x="8940576" y="190390"/>
                </a:lnTo>
                <a:lnTo>
                  <a:pt x="9076039" y="187099"/>
                </a:lnTo>
                <a:lnTo>
                  <a:pt x="9211503" y="184181"/>
                </a:lnTo>
                <a:lnTo>
                  <a:pt x="9346966" y="181412"/>
                </a:lnTo>
                <a:lnTo>
                  <a:pt x="9482429" y="178496"/>
                </a:lnTo>
                <a:lnTo>
                  <a:pt x="9617892" y="175092"/>
                </a:lnTo>
                <a:lnTo>
                  <a:pt x="9753356" y="170845"/>
                </a:lnTo>
                <a:lnTo>
                  <a:pt x="9888819" y="165425"/>
                </a:lnTo>
                <a:lnTo>
                  <a:pt x="10024282" y="158555"/>
                </a:lnTo>
                <a:lnTo>
                  <a:pt x="10159746" y="150040"/>
                </a:lnTo>
                <a:lnTo>
                  <a:pt x="10295209" y="139797"/>
                </a:lnTo>
                <a:lnTo>
                  <a:pt x="10430672" y="127865"/>
                </a:lnTo>
                <a:lnTo>
                  <a:pt x="10566135" y="114415"/>
                </a:lnTo>
                <a:lnTo>
                  <a:pt x="10701599" y="99751"/>
                </a:lnTo>
                <a:lnTo>
                  <a:pt x="10837062" y="84291"/>
                </a:lnTo>
                <a:lnTo>
                  <a:pt x="10972525" y="68554"/>
                </a:lnTo>
                <a:lnTo>
                  <a:pt x="11107988" y="53129"/>
                </a:lnTo>
                <a:lnTo>
                  <a:pt x="11243452" y="38641"/>
                </a:lnTo>
                <a:lnTo>
                  <a:pt x="11378915" y="25713"/>
                </a:lnTo>
                <a:lnTo>
                  <a:pt x="11514378" y="14931"/>
                </a:lnTo>
                <a:lnTo>
                  <a:pt x="11649842" y="6805"/>
                </a:lnTo>
                <a:lnTo>
                  <a:pt x="11785305" y="1738"/>
                </a:lnTo>
                <a:lnTo>
                  <a:pt x="11920768" y="0"/>
                </a:lnTo>
                <a:lnTo>
                  <a:pt x="12056231" y="1708"/>
                </a:lnTo>
                <a:lnTo>
                  <a:pt x="12191695" y="6822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6467906"/>
            <a:ext cx="12191695" cy="248613"/>
          </a:xfrm>
          <a:custGeom>
            <a:avLst/>
            <a:gdLst/>
            <a:ahLst/>
            <a:cxnLst/>
            <a:rect l="l" t="t" r="r" b="b"/>
            <a:pathLst>
              <a:path w="12191695" h="248613">
                <a:moveTo>
                  <a:pt x="0" y="169572"/>
                </a:moveTo>
                <a:lnTo>
                  <a:pt x="135463" y="187517"/>
                </a:lnTo>
                <a:lnTo>
                  <a:pt x="270926" y="204116"/>
                </a:lnTo>
                <a:lnTo>
                  <a:pt x="406389" y="218744"/>
                </a:lnTo>
                <a:lnTo>
                  <a:pt x="541853" y="230861"/>
                </a:lnTo>
                <a:lnTo>
                  <a:pt x="677316" y="240043"/>
                </a:lnTo>
                <a:lnTo>
                  <a:pt x="812779" y="246004"/>
                </a:lnTo>
                <a:lnTo>
                  <a:pt x="948242" y="248613"/>
                </a:lnTo>
                <a:lnTo>
                  <a:pt x="1083706" y="247896"/>
                </a:lnTo>
                <a:lnTo>
                  <a:pt x="1219169" y="244031"/>
                </a:lnTo>
                <a:lnTo>
                  <a:pt x="1354632" y="237338"/>
                </a:lnTo>
                <a:lnTo>
                  <a:pt x="1490096" y="228250"/>
                </a:lnTo>
                <a:lnTo>
                  <a:pt x="1625559" y="217286"/>
                </a:lnTo>
                <a:lnTo>
                  <a:pt x="1761022" y="205017"/>
                </a:lnTo>
                <a:lnTo>
                  <a:pt x="1896485" y="192024"/>
                </a:lnTo>
                <a:lnTo>
                  <a:pt x="2031949" y="178869"/>
                </a:lnTo>
                <a:lnTo>
                  <a:pt x="2167412" y="166053"/>
                </a:lnTo>
                <a:lnTo>
                  <a:pt x="2302875" y="153992"/>
                </a:lnTo>
                <a:lnTo>
                  <a:pt x="2438339" y="142992"/>
                </a:lnTo>
                <a:lnTo>
                  <a:pt x="2573802" y="133239"/>
                </a:lnTo>
                <a:lnTo>
                  <a:pt x="2709265" y="124790"/>
                </a:lnTo>
                <a:lnTo>
                  <a:pt x="2844728" y="117583"/>
                </a:lnTo>
                <a:lnTo>
                  <a:pt x="2980192" y="111449"/>
                </a:lnTo>
                <a:lnTo>
                  <a:pt x="3115655" y="106137"/>
                </a:lnTo>
                <a:lnTo>
                  <a:pt x="3251118" y="101335"/>
                </a:lnTo>
                <a:lnTo>
                  <a:pt x="3386582" y="96713"/>
                </a:lnTo>
                <a:lnTo>
                  <a:pt x="3522045" y="91945"/>
                </a:lnTo>
                <a:lnTo>
                  <a:pt x="3657508" y="86753"/>
                </a:lnTo>
                <a:lnTo>
                  <a:pt x="3792971" y="80928"/>
                </a:lnTo>
                <a:lnTo>
                  <a:pt x="3928435" y="74354"/>
                </a:lnTo>
                <a:lnTo>
                  <a:pt x="4063898" y="67031"/>
                </a:lnTo>
                <a:lnTo>
                  <a:pt x="4199361" y="59072"/>
                </a:lnTo>
                <a:lnTo>
                  <a:pt x="4334824" y="50711"/>
                </a:lnTo>
                <a:lnTo>
                  <a:pt x="4470288" y="42285"/>
                </a:lnTo>
                <a:lnTo>
                  <a:pt x="4605751" y="34213"/>
                </a:lnTo>
                <a:lnTo>
                  <a:pt x="4741214" y="26977"/>
                </a:lnTo>
                <a:lnTo>
                  <a:pt x="4876678" y="21080"/>
                </a:lnTo>
                <a:lnTo>
                  <a:pt x="5012141" y="17016"/>
                </a:lnTo>
                <a:lnTo>
                  <a:pt x="5147604" y="15233"/>
                </a:lnTo>
                <a:lnTo>
                  <a:pt x="5283067" y="16099"/>
                </a:lnTo>
                <a:lnTo>
                  <a:pt x="5418531" y="19870"/>
                </a:lnTo>
                <a:lnTo>
                  <a:pt x="5553994" y="26670"/>
                </a:lnTo>
                <a:lnTo>
                  <a:pt x="5689457" y="36475"/>
                </a:lnTo>
                <a:lnTo>
                  <a:pt x="5824921" y="49109"/>
                </a:lnTo>
                <a:lnTo>
                  <a:pt x="5960384" y="64247"/>
                </a:lnTo>
                <a:lnTo>
                  <a:pt x="6095847" y="81430"/>
                </a:lnTo>
                <a:lnTo>
                  <a:pt x="6231310" y="100088"/>
                </a:lnTo>
                <a:lnTo>
                  <a:pt x="6366774" y="119571"/>
                </a:lnTo>
                <a:lnTo>
                  <a:pt x="6502237" y="139187"/>
                </a:lnTo>
                <a:lnTo>
                  <a:pt x="6637700" y="158234"/>
                </a:lnTo>
                <a:lnTo>
                  <a:pt x="6773164" y="176047"/>
                </a:lnTo>
                <a:lnTo>
                  <a:pt x="6908627" y="192030"/>
                </a:lnTo>
                <a:lnTo>
                  <a:pt x="7044090" y="205690"/>
                </a:lnTo>
                <a:lnTo>
                  <a:pt x="7179553" y="216660"/>
                </a:lnTo>
                <a:lnTo>
                  <a:pt x="7315017" y="224721"/>
                </a:lnTo>
                <a:lnTo>
                  <a:pt x="7450480" y="229802"/>
                </a:lnTo>
                <a:lnTo>
                  <a:pt x="7585943" y="231983"/>
                </a:lnTo>
                <a:lnTo>
                  <a:pt x="7721406" y="231480"/>
                </a:lnTo>
                <a:lnTo>
                  <a:pt x="7856870" y="228626"/>
                </a:lnTo>
                <a:lnTo>
                  <a:pt x="7992333" y="223841"/>
                </a:lnTo>
                <a:lnTo>
                  <a:pt x="8127796" y="217601"/>
                </a:lnTo>
                <a:lnTo>
                  <a:pt x="8263260" y="210399"/>
                </a:lnTo>
                <a:lnTo>
                  <a:pt x="8398723" y="202714"/>
                </a:lnTo>
                <a:lnTo>
                  <a:pt x="8534186" y="194975"/>
                </a:lnTo>
                <a:lnTo>
                  <a:pt x="8669649" y="187531"/>
                </a:lnTo>
                <a:lnTo>
                  <a:pt x="8805113" y="180631"/>
                </a:lnTo>
                <a:lnTo>
                  <a:pt x="8940576" y="174414"/>
                </a:lnTo>
                <a:lnTo>
                  <a:pt x="9076039" y="168896"/>
                </a:lnTo>
                <a:lnTo>
                  <a:pt x="9211503" y="163983"/>
                </a:lnTo>
                <a:lnTo>
                  <a:pt x="9346966" y="159481"/>
                </a:lnTo>
                <a:lnTo>
                  <a:pt x="9482429" y="155122"/>
                </a:lnTo>
                <a:lnTo>
                  <a:pt x="9617892" y="150584"/>
                </a:lnTo>
                <a:lnTo>
                  <a:pt x="9753356" y="145531"/>
                </a:lnTo>
                <a:lnTo>
                  <a:pt x="9888819" y="139645"/>
                </a:lnTo>
                <a:lnTo>
                  <a:pt x="10024282" y="132654"/>
                </a:lnTo>
                <a:lnTo>
                  <a:pt x="10159746" y="124369"/>
                </a:lnTo>
                <a:lnTo>
                  <a:pt x="10295209" y="114699"/>
                </a:lnTo>
                <a:lnTo>
                  <a:pt x="10430672" y="103677"/>
                </a:lnTo>
                <a:lnTo>
                  <a:pt x="10566135" y="91461"/>
                </a:lnTo>
                <a:lnTo>
                  <a:pt x="10701599" y="78333"/>
                </a:lnTo>
                <a:lnTo>
                  <a:pt x="10837062" y="64691"/>
                </a:lnTo>
                <a:lnTo>
                  <a:pt x="10972525" y="51025"/>
                </a:lnTo>
                <a:lnTo>
                  <a:pt x="11107988" y="37893"/>
                </a:lnTo>
                <a:lnTo>
                  <a:pt x="11243452" y="25885"/>
                </a:lnTo>
                <a:lnTo>
                  <a:pt x="11378915" y="15588"/>
                </a:lnTo>
                <a:lnTo>
                  <a:pt x="11514378" y="7547"/>
                </a:lnTo>
                <a:lnTo>
                  <a:pt x="11649842" y="2231"/>
                </a:lnTo>
                <a:lnTo>
                  <a:pt x="11785305" y="0"/>
                </a:lnTo>
                <a:lnTo>
                  <a:pt x="11920768" y="1082"/>
                </a:lnTo>
                <a:lnTo>
                  <a:pt x="12056231" y="5551"/>
                </a:lnTo>
                <a:lnTo>
                  <a:pt x="12191695" y="13326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0" y="6533113"/>
            <a:ext cx="12191695" cy="246124"/>
          </a:xfrm>
          <a:custGeom>
            <a:avLst/>
            <a:gdLst/>
            <a:ahLst/>
            <a:cxnLst/>
            <a:rect l="l" t="t" r="r" b="b"/>
            <a:pathLst>
              <a:path w="12191695" h="246124">
                <a:moveTo>
                  <a:pt x="0" y="183172"/>
                </a:moveTo>
                <a:lnTo>
                  <a:pt x="135463" y="199432"/>
                </a:lnTo>
                <a:lnTo>
                  <a:pt x="270926" y="214077"/>
                </a:lnTo>
                <a:lnTo>
                  <a:pt x="406389" y="226514"/>
                </a:lnTo>
                <a:lnTo>
                  <a:pt x="541853" y="236236"/>
                </a:lnTo>
                <a:lnTo>
                  <a:pt x="677316" y="242855"/>
                </a:lnTo>
                <a:lnTo>
                  <a:pt x="812779" y="246124"/>
                </a:lnTo>
                <a:lnTo>
                  <a:pt x="948242" y="245951"/>
                </a:lnTo>
                <a:lnTo>
                  <a:pt x="1083706" y="242404"/>
                </a:lnTo>
                <a:lnTo>
                  <a:pt x="1219169" y="235707"/>
                </a:lnTo>
                <a:lnTo>
                  <a:pt x="1354632" y="226219"/>
                </a:lnTo>
                <a:lnTo>
                  <a:pt x="1490096" y="214417"/>
                </a:lnTo>
                <a:lnTo>
                  <a:pt x="1625559" y="200862"/>
                </a:lnTo>
                <a:lnTo>
                  <a:pt x="1761022" y="186161"/>
                </a:lnTo>
                <a:lnTo>
                  <a:pt x="1896485" y="170935"/>
                </a:lnTo>
                <a:lnTo>
                  <a:pt x="2031949" y="155777"/>
                </a:lnTo>
                <a:lnTo>
                  <a:pt x="2167412" y="141221"/>
                </a:lnTo>
                <a:lnTo>
                  <a:pt x="2302875" y="127707"/>
                </a:lnTo>
                <a:lnTo>
                  <a:pt x="2438339" y="115564"/>
                </a:lnTo>
                <a:lnTo>
                  <a:pt x="2573802" y="104994"/>
                </a:lnTo>
                <a:lnTo>
                  <a:pt x="2709265" y="96068"/>
                </a:lnTo>
                <a:lnTo>
                  <a:pt x="2844728" y="88731"/>
                </a:lnTo>
                <a:lnTo>
                  <a:pt x="2980192" y="82816"/>
                </a:lnTo>
                <a:lnTo>
                  <a:pt x="3115655" y="78067"/>
                </a:lnTo>
                <a:lnTo>
                  <a:pt x="3251118" y="74166"/>
                </a:lnTo>
                <a:lnTo>
                  <a:pt x="3386582" y="70766"/>
                </a:lnTo>
                <a:lnTo>
                  <a:pt x="3522045" y="67527"/>
                </a:lnTo>
                <a:lnTo>
                  <a:pt x="3657508" y="64145"/>
                </a:lnTo>
                <a:lnTo>
                  <a:pt x="3792971" y="60383"/>
                </a:lnTo>
                <a:lnTo>
                  <a:pt x="3928435" y="56096"/>
                </a:lnTo>
                <a:lnTo>
                  <a:pt x="4063898" y="51248"/>
                </a:lnTo>
                <a:lnTo>
                  <a:pt x="4199361" y="45917"/>
                </a:lnTo>
                <a:lnTo>
                  <a:pt x="4334824" y="40294"/>
                </a:lnTo>
                <a:lnTo>
                  <a:pt x="4470288" y="34675"/>
                </a:lnTo>
                <a:lnTo>
                  <a:pt x="4605751" y="29440"/>
                </a:lnTo>
                <a:lnTo>
                  <a:pt x="4741214" y="25025"/>
                </a:lnTo>
                <a:lnTo>
                  <a:pt x="4876678" y="21891"/>
                </a:lnTo>
                <a:lnTo>
                  <a:pt x="5012141" y="20491"/>
                </a:lnTo>
                <a:lnTo>
                  <a:pt x="5147604" y="21233"/>
                </a:lnTo>
                <a:lnTo>
                  <a:pt x="5283067" y="24445"/>
                </a:lnTo>
                <a:lnTo>
                  <a:pt x="5418531" y="30349"/>
                </a:lnTo>
                <a:lnTo>
                  <a:pt x="5553994" y="39037"/>
                </a:lnTo>
                <a:lnTo>
                  <a:pt x="5689457" y="50457"/>
                </a:lnTo>
                <a:lnTo>
                  <a:pt x="5824921" y="64407"/>
                </a:lnTo>
                <a:lnTo>
                  <a:pt x="5960384" y="80543"/>
                </a:lnTo>
                <a:lnTo>
                  <a:pt x="6095847" y="98390"/>
                </a:lnTo>
                <a:lnTo>
                  <a:pt x="6231310" y="117369"/>
                </a:lnTo>
                <a:lnTo>
                  <a:pt x="6366774" y="136826"/>
                </a:lnTo>
                <a:lnTo>
                  <a:pt x="6502237" y="156066"/>
                </a:lnTo>
                <a:lnTo>
                  <a:pt x="6637700" y="174397"/>
                </a:lnTo>
                <a:lnTo>
                  <a:pt x="6773164" y="191162"/>
                </a:lnTo>
                <a:lnTo>
                  <a:pt x="6908627" y="205782"/>
                </a:lnTo>
                <a:lnTo>
                  <a:pt x="7044090" y="217784"/>
                </a:lnTo>
                <a:lnTo>
                  <a:pt x="7179553" y="226827"/>
                </a:lnTo>
                <a:lnTo>
                  <a:pt x="7315017" y="232720"/>
                </a:lnTo>
                <a:lnTo>
                  <a:pt x="7450480" y="235424"/>
                </a:lnTo>
                <a:lnTo>
                  <a:pt x="7585943" y="235057"/>
                </a:lnTo>
                <a:lnTo>
                  <a:pt x="7721406" y="231872"/>
                </a:lnTo>
                <a:lnTo>
                  <a:pt x="7856870" y="226244"/>
                </a:lnTo>
                <a:lnTo>
                  <a:pt x="7992333" y="218632"/>
                </a:lnTo>
                <a:lnTo>
                  <a:pt x="8127796" y="209557"/>
                </a:lnTo>
                <a:lnTo>
                  <a:pt x="8263260" y="199555"/>
                </a:lnTo>
                <a:lnTo>
                  <a:pt x="8398723" y="189147"/>
                </a:lnTo>
                <a:lnTo>
                  <a:pt x="8534186" y="178801"/>
                </a:lnTo>
                <a:lnTo>
                  <a:pt x="8669649" y="168908"/>
                </a:lnTo>
                <a:lnTo>
                  <a:pt x="8805113" y="159754"/>
                </a:lnTo>
                <a:lnTo>
                  <a:pt x="8940576" y="151510"/>
                </a:lnTo>
                <a:lnTo>
                  <a:pt x="9076039" y="144224"/>
                </a:lnTo>
                <a:lnTo>
                  <a:pt x="9211503" y="137828"/>
                </a:lnTo>
                <a:lnTo>
                  <a:pt x="9346966" y="132152"/>
                </a:lnTo>
                <a:lnTo>
                  <a:pt x="9482429" y="126943"/>
                </a:lnTo>
                <a:lnTo>
                  <a:pt x="9617892" y="121894"/>
                </a:lnTo>
                <a:lnTo>
                  <a:pt x="9753356" y="116677"/>
                </a:lnTo>
                <a:lnTo>
                  <a:pt x="9888819" y="110975"/>
                </a:lnTo>
                <a:lnTo>
                  <a:pt x="10024282" y="104513"/>
                </a:lnTo>
                <a:lnTo>
                  <a:pt x="10159746" y="97095"/>
                </a:lnTo>
                <a:lnTo>
                  <a:pt x="10295209" y="88617"/>
                </a:lnTo>
                <a:lnTo>
                  <a:pt x="10430672" y="79094"/>
                </a:lnTo>
                <a:lnTo>
                  <a:pt x="10566135" y="68661"/>
                </a:lnTo>
                <a:lnTo>
                  <a:pt x="10701599" y="57573"/>
                </a:lnTo>
                <a:lnTo>
                  <a:pt x="10837062" y="46197"/>
                </a:lnTo>
                <a:lnTo>
                  <a:pt x="10972525" y="34990"/>
                </a:lnTo>
                <a:lnTo>
                  <a:pt x="11107988" y="24471"/>
                </a:lnTo>
                <a:lnTo>
                  <a:pt x="11243452" y="15192"/>
                </a:lnTo>
                <a:lnTo>
                  <a:pt x="11378915" y="7698"/>
                </a:lnTo>
                <a:lnTo>
                  <a:pt x="11514378" y="2492"/>
                </a:lnTo>
                <a:lnTo>
                  <a:pt x="11649842" y="0"/>
                </a:lnTo>
                <a:lnTo>
                  <a:pt x="11785305" y="541"/>
                </a:lnTo>
                <a:lnTo>
                  <a:pt x="11920768" y="4298"/>
                </a:lnTo>
                <a:lnTo>
                  <a:pt x="12056231" y="11307"/>
                </a:lnTo>
                <a:lnTo>
                  <a:pt x="12191695" y="21447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0" y="6600998"/>
            <a:ext cx="12191695" cy="238322"/>
          </a:xfrm>
          <a:custGeom>
            <a:avLst/>
            <a:gdLst/>
            <a:ahLst/>
            <a:cxnLst/>
            <a:rect l="l" t="t" r="r" b="b"/>
            <a:pathLst>
              <a:path w="12191695" h="238322">
                <a:moveTo>
                  <a:pt x="0" y="190722"/>
                </a:moveTo>
                <a:lnTo>
                  <a:pt x="135463" y="204821"/>
                </a:lnTo>
                <a:lnTo>
                  <a:pt x="270926" y="217096"/>
                </a:lnTo>
                <a:lnTo>
                  <a:pt x="406389" y="226989"/>
                </a:lnTo>
                <a:lnTo>
                  <a:pt x="541853" y="234032"/>
                </a:lnTo>
                <a:lnTo>
                  <a:pt x="677316" y="237878"/>
                </a:lnTo>
                <a:lnTo>
                  <a:pt x="812779" y="238322"/>
                </a:lnTo>
                <a:lnTo>
                  <a:pt x="948242" y="235314"/>
                </a:lnTo>
                <a:lnTo>
                  <a:pt x="1083706" y="228966"/>
                </a:lnTo>
                <a:lnTo>
                  <a:pt x="1219169" y="219541"/>
                </a:lnTo>
                <a:lnTo>
                  <a:pt x="1354632" y="207444"/>
                </a:lnTo>
                <a:lnTo>
                  <a:pt x="1490096" y="193188"/>
                </a:lnTo>
                <a:lnTo>
                  <a:pt x="1625559" y="177371"/>
                </a:lnTo>
                <a:lnTo>
                  <a:pt x="1761022" y="160636"/>
                </a:lnTo>
                <a:lnTo>
                  <a:pt x="1896485" y="143634"/>
                </a:lnTo>
                <a:lnTo>
                  <a:pt x="2031949" y="126985"/>
                </a:lnTo>
                <a:lnTo>
                  <a:pt x="2167412" y="111244"/>
                </a:lnTo>
                <a:lnTo>
                  <a:pt x="2302875" y="96871"/>
                </a:lnTo>
                <a:lnTo>
                  <a:pt x="2438339" y="84207"/>
                </a:lnTo>
                <a:lnTo>
                  <a:pt x="2573802" y="73462"/>
                </a:lnTo>
                <a:lnTo>
                  <a:pt x="2709265" y="64709"/>
                </a:lnTo>
                <a:lnTo>
                  <a:pt x="2844728" y="57891"/>
                </a:lnTo>
                <a:lnTo>
                  <a:pt x="2980192" y="52834"/>
                </a:lnTo>
                <a:lnTo>
                  <a:pt x="3115655" y="49267"/>
                </a:lnTo>
                <a:lnTo>
                  <a:pt x="3251118" y="46856"/>
                </a:lnTo>
                <a:lnTo>
                  <a:pt x="3386582" y="45231"/>
                </a:lnTo>
                <a:lnTo>
                  <a:pt x="3522045" y="44024"/>
                </a:lnTo>
                <a:lnTo>
                  <a:pt x="3657508" y="42902"/>
                </a:lnTo>
                <a:lnTo>
                  <a:pt x="3792971" y="41593"/>
                </a:lnTo>
                <a:lnTo>
                  <a:pt x="3928435" y="39916"/>
                </a:lnTo>
                <a:lnTo>
                  <a:pt x="4063898" y="37794"/>
                </a:lnTo>
                <a:lnTo>
                  <a:pt x="4199361" y="35264"/>
                </a:lnTo>
                <a:lnTo>
                  <a:pt x="4334824" y="32476"/>
                </a:lnTo>
                <a:lnTo>
                  <a:pt x="4470288" y="29683"/>
                </a:lnTo>
                <a:lnTo>
                  <a:pt x="4605751" y="27220"/>
                </a:lnTo>
                <a:lnTo>
                  <a:pt x="4741214" y="25484"/>
                </a:lnTo>
                <a:lnTo>
                  <a:pt x="4876678" y="24895"/>
                </a:lnTo>
                <a:lnTo>
                  <a:pt x="5012141" y="25867"/>
                </a:lnTo>
                <a:lnTo>
                  <a:pt x="5147604" y="28771"/>
                </a:lnTo>
                <a:lnTo>
                  <a:pt x="5283067" y="33905"/>
                </a:lnTo>
                <a:lnTo>
                  <a:pt x="5418531" y="41460"/>
                </a:lnTo>
                <a:lnTo>
                  <a:pt x="5553994" y="51504"/>
                </a:lnTo>
                <a:lnTo>
                  <a:pt x="5689457" y="63964"/>
                </a:lnTo>
                <a:lnTo>
                  <a:pt x="5824921" y="78622"/>
                </a:lnTo>
                <a:lnTo>
                  <a:pt x="5960384" y="95124"/>
                </a:lnTo>
                <a:lnTo>
                  <a:pt x="6095847" y="112989"/>
                </a:lnTo>
                <a:lnTo>
                  <a:pt x="6231310" y="131639"/>
                </a:lnTo>
                <a:lnTo>
                  <a:pt x="6366774" y="150423"/>
                </a:lnTo>
                <a:lnTo>
                  <a:pt x="6502237" y="168658"/>
                </a:lnTo>
                <a:lnTo>
                  <a:pt x="6637700" y="185665"/>
                </a:lnTo>
                <a:lnTo>
                  <a:pt x="6773164" y="200809"/>
                </a:lnTo>
                <a:lnTo>
                  <a:pt x="6908627" y="213535"/>
                </a:lnTo>
                <a:lnTo>
                  <a:pt x="7044090" y="223398"/>
                </a:lnTo>
                <a:lnTo>
                  <a:pt x="7179553" y="230090"/>
                </a:lnTo>
                <a:lnTo>
                  <a:pt x="7315017" y="233454"/>
                </a:lnTo>
                <a:lnTo>
                  <a:pt x="7450480" y="233492"/>
                </a:lnTo>
                <a:lnTo>
                  <a:pt x="7585943" y="230359"/>
                </a:lnTo>
                <a:lnTo>
                  <a:pt x="7721406" y="224353"/>
                </a:lnTo>
                <a:lnTo>
                  <a:pt x="7856870" y="215888"/>
                </a:lnTo>
                <a:lnTo>
                  <a:pt x="7992333" y="205470"/>
                </a:lnTo>
                <a:lnTo>
                  <a:pt x="8127796" y="193658"/>
                </a:lnTo>
                <a:lnTo>
                  <a:pt x="8263260" y="181033"/>
                </a:lnTo>
                <a:lnTo>
                  <a:pt x="8398723" y="168153"/>
                </a:lnTo>
                <a:lnTo>
                  <a:pt x="8534186" y="155526"/>
                </a:lnTo>
                <a:lnTo>
                  <a:pt x="8669649" y="143575"/>
                </a:lnTo>
                <a:lnTo>
                  <a:pt x="8805113" y="132618"/>
                </a:lnTo>
                <a:lnTo>
                  <a:pt x="8940576" y="122852"/>
                </a:lnTo>
                <a:lnTo>
                  <a:pt x="9076039" y="114351"/>
                </a:lnTo>
                <a:lnTo>
                  <a:pt x="9211503" y="107063"/>
                </a:lnTo>
                <a:lnTo>
                  <a:pt x="9346966" y="100832"/>
                </a:lnTo>
                <a:lnTo>
                  <a:pt x="9482429" y="95413"/>
                </a:lnTo>
                <a:lnTo>
                  <a:pt x="9617892" y="90502"/>
                </a:lnTo>
                <a:lnTo>
                  <a:pt x="9753356" y="85770"/>
                </a:lnTo>
                <a:lnTo>
                  <a:pt x="9888819" y="80892"/>
                </a:lnTo>
                <a:lnTo>
                  <a:pt x="10024282" y="75582"/>
                </a:lnTo>
                <a:lnTo>
                  <a:pt x="10159746" y="69623"/>
                </a:lnTo>
                <a:lnTo>
                  <a:pt x="10295209" y="62893"/>
                </a:lnTo>
                <a:lnTo>
                  <a:pt x="10430672" y="55378"/>
                </a:lnTo>
                <a:lnTo>
                  <a:pt x="10566135" y="47183"/>
                </a:lnTo>
                <a:lnTo>
                  <a:pt x="10701599" y="38531"/>
                </a:lnTo>
                <a:lnTo>
                  <a:pt x="10837062" y="29751"/>
                </a:lnTo>
                <a:lnTo>
                  <a:pt x="10972525" y="21260"/>
                </a:lnTo>
                <a:lnTo>
                  <a:pt x="11107988" y="13537"/>
                </a:lnTo>
                <a:lnTo>
                  <a:pt x="11243452" y="7091"/>
                </a:lnTo>
                <a:lnTo>
                  <a:pt x="11378915" y="2425"/>
                </a:lnTo>
                <a:lnTo>
                  <a:pt x="11514378" y="0"/>
                </a:lnTo>
                <a:lnTo>
                  <a:pt x="11649842" y="198"/>
                </a:lnTo>
                <a:lnTo>
                  <a:pt x="11785305" y="3299"/>
                </a:lnTo>
                <a:lnTo>
                  <a:pt x="11920768" y="9446"/>
                </a:lnTo>
                <a:lnTo>
                  <a:pt x="12056231" y="18641"/>
                </a:lnTo>
                <a:lnTo>
                  <a:pt x="12191695" y="30728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46304"/>
            <a:ext cx="11283696" cy="44805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规则与方法资产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722376"/>
            <a:ext cx="585216" cy="41148"/>
          </a:xfrm>
          <a:prstGeom prst="rect">
            <a:avLst/>
          </a:prstGeom>
          <a:solidFill>
            <a:srgbClr val="EE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649224"/>
            <a:ext cx="10469880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2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让企业经验进入每一步专业工作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292608"/>
            <a:ext cx="896112" cy="20116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HiAgent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6647688"/>
            <a:ext cx="10241280" cy="1280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7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企业数据智能体建设规划  /  规划视图  /  2026.10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629400"/>
            <a:ext cx="585216" cy="17373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14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" y="2308860"/>
            <a:ext cx="2496312" cy="1947672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2276856"/>
            <a:ext cx="2496312" cy="19476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6564" y="2846618"/>
            <a:ext cx="469087" cy="8339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655716" y="2705892"/>
            <a:ext cx="479511" cy="201395"/>
          </a:xfrm>
          <a:custGeom>
            <a:avLst/>
            <a:gdLst/>
            <a:ahLst/>
            <a:cxnLst/>
            <a:rect l="l" t="t" r="r" b="b"/>
            <a:pathLst>
              <a:path w="479511" h="201395">
                <a:moveTo>
                  <a:pt x="0" y="100697"/>
                </a:moveTo>
                <a:lnTo>
                  <a:pt x="239755" y="0"/>
                </a:lnTo>
                <a:lnTo>
                  <a:pt x="479511" y="100697"/>
                </a:lnTo>
                <a:lnTo>
                  <a:pt x="239755" y="201395"/>
                </a:lnTo>
                <a:close/>
              </a:path>
            </a:pathLst>
          </a:custGeom>
          <a:solidFill>
            <a:srgbClr val="B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655716" y="2806589"/>
            <a:ext cx="239755" cy="145000"/>
          </a:xfrm>
          <a:custGeom>
            <a:avLst/>
            <a:gdLst/>
            <a:ahLst/>
            <a:cxnLst/>
            <a:rect l="l" t="t" r="r" b="b"/>
            <a:pathLst>
              <a:path w="239755" h="145000">
                <a:moveTo>
                  <a:pt x="0" y="0"/>
                </a:moveTo>
                <a:lnTo>
                  <a:pt x="239755" y="100698"/>
                </a:lnTo>
                <a:lnTo>
                  <a:pt x="239755" y="145000"/>
                </a:lnTo>
                <a:lnTo>
                  <a:pt x="0" y="44303"/>
                </a:lnTo>
                <a:close/>
              </a:path>
            </a:pathLst>
          </a:custGeom>
          <a:solidFill>
            <a:srgbClr val="6D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895471" y="2806589"/>
            <a:ext cx="239756" cy="145000"/>
          </a:xfrm>
          <a:custGeom>
            <a:avLst/>
            <a:gdLst/>
            <a:ahLst/>
            <a:cxnLst/>
            <a:rect l="l" t="t" r="r" b="b"/>
            <a:pathLst>
              <a:path w="239756" h="145000">
                <a:moveTo>
                  <a:pt x="0" y="100698"/>
                </a:moveTo>
                <a:lnTo>
                  <a:pt x="239756" y="0"/>
                </a:lnTo>
                <a:lnTo>
                  <a:pt x="239756" y="44303"/>
                </a:lnTo>
                <a:lnTo>
                  <a:pt x="0" y="145000"/>
                </a:lnTo>
                <a:close/>
              </a:path>
            </a:pathLst>
          </a:custGeom>
          <a:solidFill>
            <a:srgbClr val="30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697412" y="2606862"/>
            <a:ext cx="396118" cy="166370"/>
          </a:xfrm>
          <a:custGeom>
            <a:avLst/>
            <a:gdLst/>
            <a:ahLst/>
            <a:cxnLst/>
            <a:rect l="l" t="t" r="r" b="b"/>
            <a:pathLst>
              <a:path w="396118" h="166370">
                <a:moveTo>
                  <a:pt x="0" y="83185"/>
                </a:moveTo>
                <a:lnTo>
                  <a:pt x="198059" y="0"/>
                </a:lnTo>
                <a:lnTo>
                  <a:pt x="396118" y="83185"/>
                </a:lnTo>
                <a:lnTo>
                  <a:pt x="198059" y="166370"/>
                </a:lnTo>
                <a:close/>
              </a:path>
            </a:pathLst>
          </a:custGeom>
          <a:solidFill>
            <a:srgbClr val="94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697412" y="2690047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0"/>
                </a:moveTo>
                <a:lnTo>
                  <a:pt x="198059" y="83185"/>
                </a:lnTo>
                <a:lnTo>
                  <a:pt x="198059" y="127488"/>
                </a:lnTo>
                <a:lnTo>
                  <a:pt x="0" y="44303"/>
                </a:lnTo>
                <a:close/>
              </a:path>
            </a:pathLst>
          </a:custGeom>
          <a:solidFill>
            <a:srgbClr val="3F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895471" y="2690047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83185"/>
                </a:moveTo>
                <a:lnTo>
                  <a:pt x="198059" y="0"/>
                </a:lnTo>
                <a:lnTo>
                  <a:pt x="198059" y="44303"/>
                </a:lnTo>
                <a:lnTo>
                  <a:pt x="0" y="127488"/>
                </a:lnTo>
                <a:close/>
              </a:path>
            </a:pathLst>
          </a:custGeom>
          <a:solidFill>
            <a:srgbClr val="197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744321" y="2507833"/>
            <a:ext cx="302301" cy="126966"/>
          </a:xfrm>
          <a:custGeom>
            <a:avLst/>
            <a:gdLst/>
            <a:ahLst/>
            <a:cxnLst/>
            <a:rect l="l" t="t" r="r" b="b"/>
            <a:pathLst>
              <a:path w="302301" h="126966">
                <a:moveTo>
                  <a:pt x="0" y="63483"/>
                </a:moveTo>
                <a:lnTo>
                  <a:pt x="151150" y="0"/>
                </a:lnTo>
                <a:lnTo>
                  <a:pt x="302301" y="63483"/>
                </a:lnTo>
                <a:lnTo>
                  <a:pt x="151150" y="126966"/>
                </a:lnTo>
                <a:close/>
              </a:path>
            </a:pathLst>
          </a:custGeom>
          <a:solidFill>
            <a:srgbClr val="57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744321" y="2571316"/>
            <a:ext cx="151150" cy="107786"/>
          </a:xfrm>
          <a:custGeom>
            <a:avLst/>
            <a:gdLst/>
            <a:ahLst/>
            <a:cxnLst/>
            <a:rect l="l" t="t" r="r" b="b"/>
            <a:pathLst>
              <a:path w="151150" h="107786">
                <a:moveTo>
                  <a:pt x="0" y="0"/>
                </a:moveTo>
                <a:lnTo>
                  <a:pt x="151150" y="63483"/>
                </a:lnTo>
                <a:lnTo>
                  <a:pt x="151150" y="107786"/>
                </a:lnTo>
                <a:lnTo>
                  <a:pt x="0" y="44303"/>
                </a:lnTo>
                <a:close/>
              </a:path>
            </a:pathLst>
          </a:custGeom>
          <a:solidFill>
            <a:srgbClr val="148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895471" y="2571316"/>
            <a:ext cx="151151" cy="107786"/>
          </a:xfrm>
          <a:custGeom>
            <a:avLst/>
            <a:gdLst/>
            <a:ahLst/>
            <a:cxnLst/>
            <a:rect l="l" t="t" r="r" b="b"/>
            <a:pathLst>
              <a:path w="151151" h="107786">
                <a:moveTo>
                  <a:pt x="0" y="63483"/>
                </a:moveTo>
                <a:lnTo>
                  <a:pt x="151151" y="0"/>
                </a:lnTo>
                <a:lnTo>
                  <a:pt x="151151" y="44303"/>
                </a:lnTo>
                <a:lnTo>
                  <a:pt x="0" y="107786"/>
                </a:lnTo>
                <a:close/>
              </a:path>
            </a:pathLst>
          </a:custGeom>
          <a:solidFill>
            <a:srgbClr val="0A5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817290" y="2486985"/>
            <a:ext cx="99030" cy="45553"/>
          </a:xfrm>
          <a:custGeom>
            <a:avLst/>
            <a:gdLst/>
            <a:ahLst/>
            <a:cxnLst/>
            <a:rect l="l" t="t" r="r" b="b"/>
            <a:pathLst>
              <a:path w="99030" h="45553">
                <a:moveTo>
                  <a:pt x="0" y="22776"/>
                </a:moveTo>
                <a:lnTo>
                  <a:pt x="49515" y="0"/>
                </a:lnTo>
                <a:lnTo>
                  <a:pt x="99030" y="22776"/>
                </a:lnTo>
                <a:lnTo>
                  <a:pt x="49515" y="45553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817290" y="2509761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70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866805" y="2509761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70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947592" y="2533893"/>
            <a:ext cx="99030" cy="45554"/>
          </a:xfrm>
          <a:custGeom>
            <a:avLst/>
            <a:gdLst/>
            <a:ahLst/>
            <a:cxnLst/>
            <a:rect l="l" t="t" r="r" b="b"/>
            <a:pathLst>
              <a:path w="99030" h="45554">
                <a:moveTo>
                  <a:pt x="0" y="22777"/>
                </a:moveTo>
                <a:lnTo>
                  <a:pt x="49515" y="0"/>
                </a:lnTo>
                <a:lnTo>
                  <a:pt x="99030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947592" y="2556670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997107" y="2556670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864199" y="2596438"/>
            <a:ext cx="99029" cy="45554"/>
          </a:xfrm>
          <a:custGeom>
            <a:avLst/>
            <a:gdLst/>
            <a:ahLst/>
            <a:cxnLst/>
            <a:rect l="l" t="t" r="r" b="b"/>
            <a:pathLst>
              <a:path w="99029" h="45554">
                <a:moveTo>
                  <a:pt x="0" y="22777"/>
                </a:moveTo>
                <a:lnTo>
                  <a:pt x="49515" y="0"/>
                </a:lnTo>
                <a:lnTo>
                  <a:pt x="99029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864199" y="2619215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913714" y="2619215"/>
            <a:ext cx="49514" cy="95746"/>
          </a:xfrm>
          <a:custGeom>
            <a:avLst/>
            <a:gdLst/>
            <a:ahLst/>
            <a:cxnLst/>
            <a:rect l="l" t="t" r="r" b="b"/>
            <a:pathLst>
              <a:path w="49514" h="95746">
                <a:moveTo>
                  <a:pt x="0" y="22777"/>
                </a:moveTo>
                <a:lnTo>
                  <a:pt x="49514" y="0"/>
                </a:lnTo>
                <a:lnTo>
                  <a:pt x="49514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0160" y="2450592"/>
            <a:ext cx="1563624" cy="3931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企业经验来源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3182112"/>
            <a:ext cx="2075688" cy="96926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业务制度 / 研发规范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专家经验 / 历史成果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753612" y="1175004"/>
            <a:ext cx="4617720" cy="1179576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730752" y="1143000"/>
            <a:ext cx="4617720" cy="117957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77056" y="1289304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86784" y="1225296"/>
            <a:ext cx="4224528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结构化规范与规则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13632" y="1700784"/>
            <a:ext cx="4251959" cy="52120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命名 / 引用 / 必填 / 检查条件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753612" y="2866644"/>
            <a:ext cx="4617720" cy="1179576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730752" y="2834640"/>
            <a:ext cx="4617720" cy="117957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877056" y="2980944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86784" y="2916936"/>
            <a:ext cx="4224528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模板与专业SKILL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13632" y="3392424"/>
            <a:ext cx="4251959" cy="52120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任务步骤 / 成果格式 / 证据要求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753612" y="4558284"/>
            <a:ext cx="4617720" cy="1179576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730752" y="4526280"/>
            <a:ext cx="4617720" cy="117957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877056" y="4672584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86784" y="4608576"/>
            <a:ext cx="4224528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人工判断清单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13632" y="5084064"/>
            <a:ext cx="4251959" cy="52120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业务合理性 / 模型取舍 / 风险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035808" y="3246120"/>
            <a:ext cx="329184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364992" y="1737360"/>
            <a:ext cx="0" cy="150876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364992" y="1737360"/>
            <a:ext cx="329184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3635709" y="1737360"/>
            <a:ext cx="58467" cy="35845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 flipV="1">
            <a:off x="3635709" y="1701514"/>
            <a:ext cx="58467" cy="3584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035808" y="3246120"/>
            <a:ext cx="329184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364992" y="3246120"/>
            <a:ext cx="0" cy="18288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364992" y="3429000"/>
            <a:ext cx="329184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3635709" y="3429000"/>
            <a:ext cx="58467" cy="35845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 flipV="1">
            <a:off x="3635709" y="3393154"/>
            <a:ext cx="58467" cy="3584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035808" y="3246120"/>
            <a:ext cx="329184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364992" y="3246120"/>
            <a:ext cx="0" cy="187452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364992" y="5120640"/>
            <a:ext cx="329184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3635709" y="5120640"/>
            <a:ext cx="58467" cy="35845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3635709" y="5084794"/>
            <a:ext cx="58467" cy="3584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9102852" y="1175004"/>
            <a:ext cx="2606040" cy="1179576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9079992" y="1143000"/>
            <a:ext cx="2606040" cy="117957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226296" y="1289304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36024" y="1225296"/>
            <a:ext cx="2212848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规则工具执行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62872" y="1700784"/>
            <a:ext cx="2240280" cy="52120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确定性检查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385048" y="1737360"/>
            <a:ext cx="658368" cy="0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8984949" y="1737360"/>
            <a:ext cx="58467" cy="35845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 flipV="1">
            <a:off x="8984949" y="1701514"/>
            <a:ext cx="58467" cy="35846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9102852" y="2866644"/>
            <a:ext cx="2606040" cy="1179576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9079992" y="2834640"/>
            <a:ext cx="2606040" cy="117957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226296" y="2980944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336024" y="2916936"/>
            <a:ext cx="2212848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Agent组织任务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262872" y="3392424"/>
            <a:ext cx="2240280" cy="52120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按步骤调用与核验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8385048" y="3429000"/>
            <a:ext cx="658368" cy="0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H="1">
            <a:off x="8984949" y="3429000"/>
            <a:ext cx="58467" cy="35845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H="1" flipV="1">
            <a:off x="8984949" y="3393154"/>
            <a:ext cx="58467" cy="35846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9102852" y="4558284"/>
            <a:ext cx="2606040" cy="1179576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9079992" y="4526280"/>
            <a:ext cx="2606040" cy="117957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226296" y="4672584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336024" y="4608576"/>
            <a:ext cx="2212848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责任人确认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262872" y="5084064"/>
            <a:ext cx="2240280" cy="52120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关键决策与发布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8385048" y="5120640"/>
            <a:ext cx="658368" cy="0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8984949" y="5120640"/>
            <a:ext cx="58467" cy="35845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H="1" flipV="1">
            <a:off x="8984949" y="5084794"/>
            <a:ext cx="58467" cy="35846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461772" y="6112764"/>
            <a:ext cx="11247120" cy="33832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438912" y="6080760"/>
            <a:ext cx="11247120" cy="338328"/>
          </a:xfrm>
          <a:prstGeom prst="roundRect">
            <a:avLst>
              <a:gd name="adj" fmla="val 5500"/>
            </a:avLst>
          </a:prstGeom>
          <a:solidFill>
            <a:srgbClr val="EEF7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85216" y="6117336"/>
            <a:ext cx="10954512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建设收益：减少规范遗漏、成果差异与经验流失；方法约束、工具校验与人工判断共同生效。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6346471"/>
            <a:ext cx="12191695" cy="235953"/>
          </a:xfrm>
          <a:custGeom>
            <a:avLst/>
            <a:gdLst/>
            <a:ahLst/>
            <a:cxnLst/>
            <a:rect l="l" t="t" r="r" b="b"/>
            <a:pathLst>
              <a:path w="12191695" h="235953">
                <a:moveTo>
                  <a:pt x="0" y="127481"/>
                </a:moveTo>
                <a:lnTo>
                  <a:pt x="135463" y="147046"/>
                </a:lnTo>
                <a:lnTo>
                  <a:pt x="270926" y="165914"/>
                </a:lnTo>
                <a:lnTo>
                  <a:pt x="406389" y="183426"/>
                </a:lnTo>
                <a:lnTo>
                  <a:pt x="541853" y="199000"/>
                </a:lnTo>
                <a:lnTo>
                  <a:pt x="677316" y="212159"/>
                </a:lnTo>
                <a:lnTo>
                  <a:pt x="812779" y="222557"/>
                </a:lnTo>
                <a:lnTo>
                  <a:pt x="948242" y="229995"/>
                </a:lnTo>
                <a:lnTo>
                  <a:pt x="1083706" y="234426"/>
                </a:lnTo>
                <a:lnTo>
                  <a:pt x="1219169" y="235953"/>
                </a:lnTo>
                <a:lnTo>
                  <a:pt x="1354632" y="234812"/>
                </a:lnTo>
                <a:lnTo>
                  <a:pt x="1490096" y="231352"/>
                </a:lnTo>
                <a:lnTo>
                  <a:pt x="1625559" y="226009"/>
                </a:lnTo>
                <a:lnTo>
                  <a:pt x="1761022" y="219267"/>
                </a:lnTo>
                <a:lnTo>
                  <a:pt x="1896485" y="211626"/>
                </a:lnTo>
                <a:lnTo>
                  <a:pt x="2031949" y="203564"/>
                </a:lnTo>
                <a:lnTo>
                  <a:pt x="2167412" y="195508"/>
                </a:lnTo>
                <a:lnTo>
                  <a:pt x="2302875" y="187800"/>
                </a:lnTo>
                <a:lnTo>
                  <a:pt x="2438339" y="180682"/>
                </a:lnTo>
                <a:lnTo>
                  <a:pt x="2573802" y="174280"/>
                </a:lnTo>
                <a:lnTo>
                  <a:pt x="2709265" y="168601"/>
                </a:lnTo>
                <a:lnTo>
                  <a:pt x="2844728" y="163541"/>
                </a:lnTo>
                <a:lnTo>
                  <a:pt x="2980192" y="158900"/>
                </a:lnTo>
                <a:lnTo>
                  <a:pt x="3115655" y="154402"/>
                </a:lnTo>
                <a:lnTo>
                  <a:pt x="3251118" y="149724"/>
                </a:lnTo>
                <a:lnTo>
                  <a:pt x="3386582" y="144534"/>
                </a:lnTo>
                <a:lnTo>
                  <a:pt x="3522045" y="138515"/>
                </a:lnTo>
                <a:lnTo>
                  <a:pt x="3657508" y="131408"/>
                </a:lnTo>
                <a:lnTo>
                  <a:pt x="3792971" y="123031"/>
                </a:lnTo>
                <a:lnTo>
                  <a:pt x="3928435" y="113309"/>
                </a:lnTo>
                <a:lnTo>
                  <a:pt x="4063898" y="102287"/>
                </a:lnTo>
                <a:lnTo>
                  <a:pt x="4199361" y="90138"/>
                </a:lnTo>
                <a:lnTo>
                  <a:pt x="4334824" y="77155"/>
                </a:lnTo>
                <a:lnTo>
                  <a:pt x="4470288" y="63745"/>
                </a:lnTo>
                <a:lnTo>
                  <a:pt x="4605751" y="50406"/>
                </a:lnTo>
                <a:lnTo>
                  <a:pt x="4741214" y="37696"/>
                </a:lnTo>
                <a:lnTo>
                  <a:pt x="4876678" y="26202"/>
                </a:lnTo>
                <a:lnTo>
                  <a:pt x="5012141" y="16503"/>
                </a:lnTo>
                <a:lnTo>
                  <a:pt x="5147604" y="9131"/>
                </a:lnTo>
                <a:lnTo>
                  <a:pt x="5283067" y="4538"/>
                </a:lnTo>
                <a:lnTo>
                  <a:pt x="5418531" y="3064"/>
                </a:lnTo>
                <a:lnTo>
                  <a:pt x="5553994" y="4912"/>
                </a:lnTo>
                <a:lnTo>
                  <a:pt x="5689457" y="10132"/>
                </a:lnTo>
                <a:lnTo>
                  <a:pt x="5824921" y="18617"/>
                </a:lnTo>
                <a:lnTo>
                  <a:pt x="5960384" y="30106"/>
                </a:lnTo>
                <a:lnTo>
                  <a:pt x="6095847" y="44193"/>
                </a:lnTo>
                <a:lnTo>
                  <a:pt x="6231310" y="60357"/>
                </a:lnTo>
                <a:lnTo>
                  <a:pt x="6366774" y="77984"/>
                </a:lnTo>
                <a:lnTo>
                  <a:pt x="6502237" y="96410"/>
                </a:lnTo>
                <a:lnTo>
                  <a:pt x="6637700" y="114953"/>
                </a:lnTo>
                <a:lnTo>
                  <a:pt x="6773164" y="132954"/>
                </a:lnTo>
                <a:lnTo>
                  <a:pt x="6908627" y="149814"/>
                </a:lnTo>
                <a:lnTo>
                  <a:pt x="7044090" y="165027"/>
                </a:lnTo>
                <a:lnTo>
                  <a:pt x="7179553" y="178204"/>
                </a:lnTo>
                <a:lnTo>
                  <a:pt x="7315017" y="189090"/>
                </a:lnTo>
                <a:lnTo>
                  <a:pt x="7450480" y="197574"/>
                </a:lnTo>
                <a:lnTo>
                  <a:pt x="7585943" y="203682"/>
                </a:lnTo>
                <a:lnTo>
                  <a:pt x="7721406" y="207573"/>
                </a:lnTo>
                <a:lnTo>
                  <a:pt x="7856870" y="209512"/>
                </a:lnTo>
                <a:lnTo>
                  <a:pt x="7992333" y="209848"/>
                </a:lnTo>
                <a:lnTo>
                  <a:pt x="8127796" y="208978"/>
                </a:lnTo>
                <a:lnTo>
                  <a:pt x="8263260" y="207316"/>
                </a:lnTo>
                <a:lnTo>
                  <a:pt x="8398723" y="205256"/>
                </a:lnTo>
                <a:lnTo>
                  <a:pt x="8534186" y="203141"/>
                </a:lnTo>
                <a:lnTo>
                  <a:pt x="8669649" y="201238"/>
                </a:lnTo>
                <a:lnTo>
                  <a:pt x="8805113" y="199711"/>
                </a:lnTo>
                <a:lnTo>
                  <a:pt x="8940576" y="198616"/>
                </a:lnTo>
                <a:lnTo>
                  <a:pt x="9076039" y="197894"/>
                </a:lnTo>
                <a:lnTo>
                  <a:pt x="9211503" y="197378"/>
                </a:lnTo>
                <a:lnTo>
                  <a:pt x="9346966" y="196808"/>
                </a:lnTo>
                <a:lnTo>
                  <a:pt x="9482429" y="195855"/>
                </a:lnTo>
                <a:lnTo>
                  <a:pt x="9617892" y="194147"/>
                </a:lnTo>
                <a:lnTo>
                  <a:pt x="9753356" y="191305"/>
                </a:lnTo>
                <a:lnTo>
                  <a:pt x="9888819" y="186977"/>
                </a:lnTo>
                <a:lnTo>
                  <a:pt x="10024282" y="180869"/>
                </a:lnTo>
                <a:lnTo>
                  <a:pt x="10159746" y="172776"/>
                </a:lnTo>
                <a:lnTo>
                  <a:pt x="10295209" y="162608"/>
                </a:lnTo>
                <a:lnTo>
                  <a:pt x="10430672" y="150402"/>
                </a:lnTo>
                <a:lnTo>
                  <a:pt x="10566135" y="136335"/>
                </a:lnTo>
                <a:lnTo>
                  <a:pt x="10701599" y="120717"/>
                </a:lnTo>
                <a:lnTo>
                  <a:pt x="10837062" y="103984"/>
                </a:lnTo>
                <a:lnTo>
                  <a:pt x="10972525" y="86673"/>
                </a:lnTo>
                <a:lnTo>
                  <a:pt x="11107988" y="69396"/>
                </a:lnTo>
                <a:lnTo>
                  <a:pt x="11243452" y="52806"/>
                </a:lnTo>
                <a:lnTo>
                  <a:pt x="11378915" y="37558"/>
                </a:lnTo>
                <a:lnTo>
                  <a:pt x="11514378" y="24274"/>
                </a:lnTo>
                <a:lnTo>
                  <a:pt x="11649842" y="13501"/>
                </a:lnTo>
                <a:lnTo>
                  <a:pt x="11785305" y="5683"/>
                </a:lnTo>
                <a:lnTo>
                  <a:pt x="11920768" y="1129"/>
                </a:lnTo>
                <a:lnTo>
                  <a:pt x="12056231" y="0"/>
                </a:lnTo>
                <a:lnTo>
                  <a:pt x="12191695" y="2300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6405649"/>
            <a:ext cx="12191695" cy="245182"/>
          </a:xfrm>
          <a:custGeom>
            <a:avLst/>
            <a:gdLst/>
            <a:ahLst/>
            <a:cxnLst/>
            <a:rect l="l" t="t" r="r" b="b"/>
            <a:pathLst>
              <a:path w="12191695" h="245182">
                <a:moveTo>
                  <a:pt x="0" y="150669"/>
                </a:moveTo>
                <a:lnTo>
                  <a:pt x="135463" y="169737"/>
                </a:lnTo>
                <a:lnTo>
                  <a:pt x="270926" y="187768"/>
                </a:lnTo>
                <a:lnTo>
                  <a:pt x="406389" y="204118"/>
                </a:lnTo>
                <a:lnTo>
                  <a:pt x="541853" y="218220"/>
                </a:lnTo>
                <a:lnTo>
                  <a:pt x="677316" y="229621"/>
                </a:lnTo>
                <a:lnTo>
                  <a:pt x="812779" y="238002"/>
                </a:lnTo>
                <a:lnTo>
                  <a:pt x="948242" y="243193"/>
                </a:lnTo>
                <a:lnTo>
                  <a:pt x="1083706" y="245182"/>
                </a:lnTo>
                <a:lnTo>
                  <a:pt x="1219169" y="244108"/>
                </a:lnTo>
                <a:lnTo>
                  <a:pt x="1354632" y="240247"/>
                </a:lnTo>
                <a:lnTo>
                  <a:pt x="1490096" y="233989"/>
                </a:lnTo>
                <a:lnTo>
                  <a:pt x="1625559" y="225812"/>
                </a:lnTo>
                <a:lnTo>
                  <a:pt x="1761022" y="216243"/>
                </a:lnTo>
                <a:lnTo>
                  <a:pt x="1896485" y="205824"/>
                </a:lnTo>
                <a:lnTo>
                  <a:pt x="2031949" y="195076"/>
                </a:lnTo>
                <a:lnTo>
                  <a:pt x="2167412" y="184466"/>
                </a:lnTo>
                <a:lnTo>
                  <a:pt x="2302875" y="174375"/>
                </a:lnTo>
                <a:lnTo>
                  <a:pt x="2438339" y="165080"/>
                </a:lnTo>
                <a:lnTo>
                  <a:pt x="2573802" y="156740"/>
                </a:lnTo>
                <a:lnTo>
                  <a:pt x="2709265" y="149392"/>
                </a:lnTo>
                <a:lnTo>
                  <a:pt x="2844728" y="142958"/>
                </a:lnTo>
                <a:lnTo>
                  <a:pt x="2980192" y="137257"/>
                </a:lnTo>
                <a:lnTo>
                  <a:pt x="3115655" y="132030"/>
                </a:lnTo>
                <a:lnTo>
                  <a:pt x="3251118" y="126965"/>
                </a:lnTo>
                <a:lnTo>
                  <a:pt x="3386582" y="121734"/>
                </a:lnTo>
                <a:lnTo>
                  <a:pt x="3522045" y="116024"/>
                </a:lnTo>
                <a:lnTo>
                  <a:pt x="3657508" y="109568"/>
                </a:lnTo>
                <a:lnTo>
                  <a:pt x="3792971" y="102177"/>
                </a:lnTo>
                <a:lnTo>
                  <a:pt x="3928435" y="93759"/>
                </a:lnTo>
                <a:lnTo>
                  <a:pt x="4063898" y="84341"/>
                </a:lnTo>
                <a:lnTo>
                  <a:pt x="4199361" y="74069"/>
                </a:lnTo>
                <a:lnTo>
                  <a:pt x="4334824" y="63211"/>
                </a:lnTo>
                <a:lnTo>
                  <a:pt x="4470288" y="52141"/>
                </a:lnTo>
                <a:lnTo>
                  <a:pt x="4605751" y="41320"/>
                </a:lnTo>
                <a:lnTo>
                  <a:pt x="4741214" y="31269"/>
                </a:lnTo>
                <a:lnTo>
                  <a:pt x="4876678" y="22536"/>
                </a:lnTo>
                <a:lnTo>
                  <a:pt x="5012141" y="15656"/>
                </a:lnTo>
                <a:lnTo>
                  <a:pt x="5147604" y="11120"/>
                </a:lnTo>
                <a:lnTo>
                  <a:pt x="5283067" y="9338"/>
                </a:lnTo>
                <a:lnTo>
                  <a:pt x="5418531" y="10605"/>
                </a:lnTo>
                <a:lnTo>
                  <a:pt x="5553994" y="15085"/>
                </a:lnTo>
                <a:lnTo>
                  <a:pt x="5689457" y="22787"/>
                </a:lnTo>
                <a:lnTo>
                  <a:pt x="5824921" y="33567"/>
                </a:lnTo>
                <a:lnTo>
                  <a:pt x="5960384" y="47128"/>
                </a:lnTo>
                <a:lnTo>
                  <a:pt x="6095847" y="63035"/>
                </a:lnTo>
                <a:lnTo>
                  <a:pt x="6231310" y="80738"/>
                </a:lnTo>
                <a:lnTo>
                  <a:pt x="6366774" y="99601"/>
                </a:lnTo>
                <a:lnTo>
                  <a:pt x="6502237" y="118939"/>
                </a:lnTo>
                <a:lnTo>
                  <a:pt x="6637700" y="138058"/>
                </a:lnTo>
                <a:lnTo>
                  <a:pt x="6773164" y="156290"/>
                </a:lnTo>
                <a:lnTo>
                  <a:pt x="6908627" y="173034"/>
                </a:lnTo>
                <a:lnTo>
                  <a:pt x="7044090" y="187783"/>
                </a:lnTo>
                <a:lnTo>
                  <a:pt x="7179553" y="200156"/>
                </a:lnTo>
                <a:lnTo>
                  <a:pt x="7315017" y="209912"/>
                </a:lnTo>
                <a:lnTo>
                  <a:pt x="7450480" y="216953"/>
                </a:lnTo>
                <a:lnTo>
                  <a:pt x="7585943" y="221331"/>
                </a:lnTo>
                <a:lnTo>
                  <a:pt x="7721406" y="223229"/>
                </a:lnTo>
                <a:lnTo>
                  <a:pt x="7856870" y="222943"/>
                </a:lnTo>
                <a:lnTo>
                  <a:pt x="7992333" y="220854"/>
                </a:lnTo>
                <a:lnTo>
                  <a:pt x="8127796" y="217398"/>
                </a:lnTo>
                <a:lnTo>
                  <a:pt x="8263260" y="213025"/>
                </a:lnTo>
                <a:lnTo>
                  <a:pt x="8398723" y="208173"/>
                </a:lnTo>
                <a:lnTo>
                  <a:pt x="8534186" y="203226"/>
                </a:lnTo>
                <a:lnTo>
                  <a:pt x="8669649" y="198493"/>
                </a:lnTo>
                <a:lnTo>
                  <a:pt x="8805113" y="194182"/>
                </a:lnTo>
                <a:lnTo>
                  <a:pt x="8940576" y="190390"/>
                </a:lnTo>
                <a:lnTo>
                  <a:pt x="9076039" y="187099"/>
                </a:lnTo>
                <a:lnTo>
                  <a:pt x="9211503" y="184181"/>
                </a:lnTo>
                <a:lnTo>
                  <a:pt x="9346966" y="181412"/>
                </a:lnTo>
                <a:lnTo>
                  <a:pt x="9482429" y="178496"/>
                </a:lnTo>
                <a:lnTo>
                  <a:pt x="9617892" y="175092"/>
                </a:lnTo>
                <a:lnTo>
                  <a:pt x="9753356" y="170845"/>
                </a:lnTo>
                <a:lnTo>
                  <a:pt x="9888819" y="165425"/>
                </a:lnTo>
                <a:lnTo>
                  <a:pt x="10024282" y="158555"/>
                </a:lnTo>
                <a:lnTo>
                  <a:pt x="10159746" y="150040"/>
                </a:lnTo>
                <a:lnTo>
                  <a:pt x="10295209" y="139797"/>
                </a:lnTo>
                <a:lnTo>
                  <a:pt x="10430672" y="127865"/>
                </a:lnTo>
                <a:lnTo>
                  <a:pt x="10566135" y="114415"/>
                </a:lnTo>
                <a:lnTo>
                  <a:pt x="10701599" y="99751"/>
                </a:lnTo>
                <a:lnTo>
                  <a:pt x="10837062" y="84291"/>
                </a:lnTo>
                <a:lnTo>
                  <a:pt x="10972525" y="68554"/>
                </a:lnTo>
                <a:lnTo>
                  <a:pt x="11107988" y="53129"/>
                </a:lnTo>
                <a:lnTo>
                  <a:pt x="11243452" y="38641"/>
                </a:lnTo>
                <a:lnTo>
                  <a:pt x="11378915" y="25713"/>
                </a:lnTo>
                <a:lnTo>
                  <a:pt x="11514378" y="14931"/>
                </a:lnTo>
                <a:lnTo>
                  <a:pt x="11649842" y="6805"/>
                </a:lnTo>
                <a:lnTo>
                  <a:pt x="11785305" y="1738"/>
                </a:lnTo>
                <a:lnTo>
                  <a:pt x="11920768" y="0"/>
                </a:lnTo>
                <a:lnTo>
                  <a:pt x="12056231" y="1708"/>
                </a:lnTo>
                <a:lnTo>
                  <a:pt x="12191695" y="6822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6467906"/>
            <a:ext cx="12191695" cy="248613"/>
          </a:xfrm>
          <a:custGeom>
            <a:avLst/>
            <a:gdLst/>
            <a:ahLst/>
            <a:cxnLst/>
            <a:rect l="l" t="t" r="r" b="b"/>
            <a:pathLst>
              <a:path w="12191695" h="248613">
                <a:moveTo>
                  <a:pt x="0" y="169572"/>
                </a:moveTo>
                <a:lnTo>
                  <a:pt x="135463" y="187517"/>
                </a:lnTo>
                <a:lnTo>
                  <a:pt x="270926" y="204116"/>
                </a:lnTo>
                <a:lnTo>
                  <a:pt x="406389" y="218744"/>
                </a:lnTo>
                <a:lnTo>
                  <a:pt x="541853" y="230861"/>
                </a:lnTo>
                <a:lnTo>
                  <a:pt x="677316" y="240043"/>
                </a:lnTo>
                <a:lnTo>
                  <a:pt x="812779" y="246004"/>
                </a:lnTo>
                <a:lnTo>
                  <a:pt x="948242" y="248613"/>
                </a:lnTo>
                <a:lnTo>
                  <a:pt x="1083706" y="247896"/>
                </a:lnTo>
                <a:lnTo>
                  <a:pt x="1219169" y="244031"/>
                </a:lnTo>
                <a:lnTo>
                  <a:pt x="1354632" y="237338"/>
                </a:lnTo>
                <a:lnTo>
                  <a:pt x="1490096" y="228250"/>
                </a:lnTo>
                <a:lnTo>
                  <a:pt x="1625559" y="217286"/>
                </a:lnTo>
                <a:lnTo>
                  <a:pt x="1761022" y="205017"/>
                </a:lnTo>
                <a:lnTo>
                  <a:pt x="1896485" y="192024"/>
                </a:lnTo>
                <a:lnTo>
                  <a:pt x="2031949" y="178869"/>
                </a:lnTo>
                <a:lnTo>
                  <a:pt x="2167412" y="166053"/>
                </a:lnTo>
                <a:lnTo>
                  <a:pt x="2302875" y="153992"/>
                </a:lnTo>
                <a:lnTo>
                  <a:pt x="2438339" y="142992"/>
                </a:lnTo>
                <a:lnTo>
                  <a:pt x="2573802" y="133239"/>
                </a:lnTo>
                <a:lnTo>
                  <a:pt x="2709265" y="124790"/>
                </a:lnTo>
                <a:lnTo>
                  <a:pt x="2844728" y="117583"/>
                </a:lnTo>
                <a:lnTo>
                  <a:pt x="2980192" y="111449"/>
                </a:lnTo>
                <a:lnTo>
                  <a:pt x="3115655" y="106137"/>
                </a:lnTo>
                <a:lnTo>
                  <a:pt x="3251118" y="101335"/>
                </a:lnTo>
                <a:lnTo>
                  <a:pt x="3386582" y="96713"/>
                </a:lnTo>
                <a:lnTo>
                  <a:pt x="3522045" y="91945"/>
                </a:lnTo>
                <a:lnTo>
                  <a:pt x="3657508" y="86753"/>
                </a:lnTo>
                <a:lnTo>
                  <a:pt x="3792971" y="80928"/>
                </a:lnTo>
                <a:lnTo>
                  <a:pt x="3928435" y="74354"/>
                </a:lnTo>
                <a:lnTo>
                  <a:pt x="4063898" y="67031"/>
                </a:lnTo>
                <a:lnTo>
                  <a:pt x="4199361" y="59072"/>
                </a:lnTo>
                <a:lnTo>
                  <a:pt x="4334824" y="50711"/>
                </a:lnTo>
                <a:lnTo>
                  <a:pt x="4470288" y="42285"/>
                </a:lnTo>
                <a:lnTo>
                  <a:pt x="4605751" y="34213"/>
                </a:lnTo>
                <a:lnTo>
                  <a:pt x="4741214" y="26977"/>
                </a:lnTo>
                <a:lnTo>
                  <a:pt x="4876678" y="21080"/>
                </a:lnTo>
                <a:lnTo>
                  <a:pt x="5012141" y="17016"/>
                </a:lnTo>
                <a:lnTo>
                  <a:pt x="5147604" y="15233"/>
                </a:lnTo>
                <a:lnTo>
                  <a:pt x="5283067" y="16099"/>
                </a:lnTo>
                <a:lnTo>
                  <a:pt x="5418531" y="19870"/>
                </a:lnTo>
                <a:lnTo>
                  <a:pt x="5553994" y="26670"/>
                </a:lnTo>
                <a:lnTo>
                  <a:pt x="5689457" y="36475"/>
                </a:lnTo>
                <a:lnTo>
                  <a:pt x="5824921" y="49109"/>
                </a:lnTo>
                <a:lnTo>
                  <a:pt x="5960384" y="64247"/>
                </a:lnTo>
                <a:lnTo>
                  <a:pt x="6095847" y="81430"/>
                </a:lnTo>
                <a:lnTo>
                  <a:pt x="6231310" y="100088"/>
                </a:lnTo>
                <a:lnTo>
                  <a:pt x="6366774" y="119571"/>
                </a:lnTo>
                <a:lnTo>
                  <a:pt x="6502237" y="139187"/>
                </a:lnTo>
                <a:lnTo>
                  <a:pt x="6637700" y="158234"/>
                </a:lnTo>
                <a:lnTo>
                  <a:pt x="6773164" y="176047"/>
                </a:lnTo>
                <a:lnTo>
                  <a:pt x="6908627" y="192030"/>
                </a:lnTo>
                <a:lnTo>
                  <a:pt x="7044090" y="205690"/>
                </a:lnTo>
                <a:lnTo>
                  <a:pt x="7179553" y="216660"/>
                </a:lnTo>
                <a:lnTo>
                  <a:pt x="7315017" y="224721"/>
                </a:lnTo>
                <a:lnTo>
                  <a:pt x="7450480" y="229802"/>
                </a:lnTo>
                <a:lnTo>
                  <a:pt x="7585943" y="231983"/>
                </a:lnTo>
                <a:lnTo>
                  <a:pt x="7721406" y="231480"/>
                </a:lnTo>
                <a:lnTo>
                  <a:pt x="7856870" y="228626"/>
                </a:lnTo>
                <a:lnTo>
                  <a:pt x="7992333" y="223841"/>
                </a:lnTo>
                <a:lnTo>
                  <a:pt x="8127796" y="217601"/>
                </a:lnTo>
                <a:lnTo>
                  <a:pt x="8263260" y="210399"/>
                </a:lnTo>
                <a:lnTo>
                  <a:pt x="8398723" y="202714"/>
                </a:lnTo>
                <a:lnTo>
                  <a:pt x="8534186" y="194975"/>
                </a:lnTo>
                <a:lnTo>
                  <a:pt x="8669649" y="187531"/>
                </a:lnTo>
                <a:lnTo>
                  <a:pt x="8805113" y="180631"/>
                </a:lnTo>
                <a:lnTo>
                  <a:pt x="8940576" y="174414"/>
                </a:lnTo>
                <a:lnTo>
                  <a:pt x="9076039" y="168896"/>
                </a:lnTo>
                <a:lnTo>
                  <a:pt x="9211503" y="163983"/>
                </a:lnTo>
                <a:lnTo>
                  <a:pt x="9346966" y="159481"/>
                </a:lnTo>
                <a:lnTo>
                  <a:pt x="9482429" y="155122"/>
                </a:lnTo>
                <a:lnTo>
                  <a:pt x="9617892" y="150584"/>
                </a:lnTo>
                <a:lnTo>
                  <a:pt x="9753356" y="145531"/>
                </a:lnTo>
                <a:lnTo>
                  <a:pt x="9888819" y="139645"/>
                </a:lnTo>
                <a:lnTo>
                  <a:pt x="10024282" y="132654"/>
                </a:lnTo>
                <a:lnTo>
                  <a:pt x="10159746" y="124369"/>
                </a:lnTo>
                <a:lnTo>
                  <a:pt x="10295209" y="114699"/>
                </a:lnTo>
                <a:lnTo>
                  <a:pt x="10430672" y="103677"/>
                </a:lnTo>
                <a:lnTo>
                  <a:pt x="10566135" y="91461"/>
                </a:lnTo>
                <a:lnTo>
                  <a:pt x="10701599" y="78333"/>
                </a:lnTo>
                <a:lnTo>
                  <a:pt x="10837062" y="64691"/>
                </a:lnTo>
                <a:lnTo>
                  <a:pt x="10972525" y="51025"/>
                </a:lnTo>
                <a:lnTo>
                  <a:pt x="11107988" y="37893"/>
                </a:lnTo>
                <a:lnTo>
                  <a:pt x="11243452" y="25885"/>
                </a:lnTo>
                <a:lnTo>
                  <a:pt x="11378915" y="15588"/>
                </a:lnTo>
                <a:lnTo>
                  <a:pt x="11514378" y="7547"/>
                </a:lnTo>
                <a:lnTo>
                  <a:pt x="11649842" y="2231"/>
                </a:lnTo>
                <a:lnTo>
                  <a:pt x="11785305" y="0"/>
                </a:lnTo>
                <a:lnTo>
                  <a:pt x="11920768" y="1082"/>
                </a:lnTo>
                <a:lnTo>
                  <a:pt x="12056231" y="5551"/>
                </a:lnTo>
                <a:lnTo>
                  <a:pt x="12191695" y="13326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0" y="6533113"/>
            <a:ext cx="12191695" cy="246124"/>
          </a:xfrm>
          <a:custGeom>
            <a:avLst/>
            <a:gdLst/>
            <a:ahLst/>
            <a:cxnLst/>
            <a:rect l="l" t="t" r="r" b="b"/>
            <a:pathLst>
              <a:path w="12191695" h="246124">
                <a:moveTo>
                  <a:pt x="0" y="183172"/>
                </a:moveTo>
                <a:lnTo>
                  <a:pt x="135463" y="199432"/>
                </a:lnTo>
                <a:lnTo>
                  <a:pt x="270926" y="214077"/>
                </a:lnTo>
                <a:lnTo>
                  <a:pt x="406389" y="226514"/>
                </a:lnTo>
                <a:lnTo>
                  <a:pt x="541853" y="236236"/>
                </a:lnTo>
                <a:lnTo>
                  <a:pt x="677316" y="242855"/>
                </a:lnTo>
                <a:lnTo>
                  <a:pt x="812779" y="246124"/>
                </a:lnTo>
                <a:lnTo>
                  <a:pt x="948242" y="245951"/>
                </a:lnTo>
                <a:lnTo>
                  <a:pt x="1083706" y="242404"/>
                </a:lnTo>
                <a:lnTo>
                  <a:pt x="1219169" y="235707"/>
                </a:lnTo>
                <a:lnTo>
                  <a:pt x="1354632" y="226219"/>
                </a:lnTo>
                <a:lnTo>
                  <a:pt x="1490096" y="214417"/>
                </a:lnTo>
                <a:lnTo>
                  <a:pt x="1625559" y="200862"/>
                </a:lnTo>
                <a:lnTo>
                  <a:pt x="1761022" y="186161"/>
                </a:lnTo>
                <a:lnTo>
                  <a:pt x="1896485" y="170935"/>
                </a:lnTo>
                <a:lnTo>
                  <a:pt x="2031949" y="155777"/>
                </a:lnTo>
                <a:lnTo>
                  <a:pt x="2167412" y="141221"/>
                </a:lnTo>
                <a:lnTo>
                  <a:pt x="2302875" y="127707"/>
                </a:lnTo>
                <a:lnTo>
                  <a:pt x="2438339" y="115564"/>
                </a:lnTo>
                <a:lnTo>
                  <a:pt x="2573802" y="104994"/>
                </a:lnTo>
                <a:lnTo>
                  <a:pt x="2709265" y="96068"/>
                </a:lnTo>
                <a:lnTo>
                  <a:pt x="2844728" y="88731"/>
                </a:lnTo>
                <a:lnTo>
                  <a:pt x="2980192" y="82816"/>
                </a:lnTo>
                <a:lnTo>
                  <a:pt x="3115655" y="78067"/>
                </a:lnTo>
                <a:lnTo>
                  <a:pt x="3251118" y="74166"/>
                </a:lnTo>
                <a:lnTo>
                  <a:pt x="3386582" y="70766"/>
                </a:lnTo>
                <a:lnTo>
                  <a:pt x="3522045" y="67527"/>
                </a:lnTo>
                <a:lnTo>
                  <a:pt x="3657508" y="64145"/>
                </a:lnTo>
                <a:lnTo>
                  <a:pt x="3792971" y="60383"/>
                </a:lnTo>
                <a:lnTo>
                  <a:pt x="3928435" y="56096"/>
                </a:lnTo>
                <a:lnTo>
                  <a:pt x="4063898" y="51248"/>
                </a:lnTo>
                <a:lnTo>
                  <a:pt x="4199361" y="45917"/>
                </a:lnTo>
                <a:lnTo>
                  <a:pt x="4334824" y="40294"/>
                </a:lnTo>
                <a:lnTo>
                  <a:pt x="4470288" y="34675"/>
                </a:lnTo>
                <a:lnTo>
                  <a:pt x="4605751" y="29440"/>
                </a:lnTo>
                <a:lnTo>
                  <a:pt x="4741214" y="25025"/>
                </a:lnTo>
                <a:lnTo>
                  <a:pt x="4876678" y="21891"/>
                </a:lnTo>
                <a:lnTo>
                  <a:pt x="5012141" y="20491"/>
                </a:lnTo>
                <a:lnTo>
                  <a:pt x="5147604" y="21233"/>
                </a:lnTo>
                <a:lnTo>
                  <a:pt x="5283067" y="24445"/>
                </a:lnTo>
                <a:lnTo>
                  <a:pt x="5418531" y="30349"/>
                </a:lnTo>
                <a:lnTo>
                  <a:pt x="5553994" y="39037"/>
                </a:lnTo>
                <a:lnTo>
                  <a:pt x="5689457" y="50457"/>
                </a:lnTo>
                <a:lnTo>
                  <a:pt x="5824921" y="64407"/>
                </a:lnTo>
                <a:lnTo>
                  <a:pt x="5960384" y="80543"/>
                </a:lnTo>
                <a:lnTo>
                  <a:pt x="6095847" y="98390"/>
                </a:lnTo>
                <a:lnTo>
                  <a:pt x="6231310" y="117369"/>
                </a:lnTo>
                <a:lnTo>
                  <a:pt x="6366774" y="136826"/>
                </a:lnTo>
                <a:lnTo>
                  <a:pt x="6502237" y="156066"/>
                </a:lnTo>
                <a:lnTo>
                  <a:pt x="6637700" y="174397"/>
                </a:lnTo>
                <a:lnTo>
                  <a:pt x="6773164" y="191162"/>
                </a:lnTo>
                <a:lnTo>
                  <a:pt x="6908627" y="205782"/>
                </a:lnTo>
                <a:lnTo>
                  <a:pt x="7044090" y="217784"/>
                </a:lnTo>
                <a:lnTo>
                  <a:pt x="7179553" y="226827"/>
                </a:lnTo>
                <a:lnTo>
                  <a:pt x="7315017" y="232720"/>
                </a:lnTo>
                <a:lnTo>
                  <a:pt x="7450480" y="235424"/>
                </a:lnTo>
                <a:lnTo>
                  <a:pt x="7585943" y="235057"/>
                </a:lnTo>
                <a:lnTo>
                  <a:pt x="7721406" y="231872"/>
                </a:lnTo>
                <a:lnTo>
                  <a:pt x="7856870" y="226244"/>
                </a:lnTo>
                <a:lnTo>
                  <a:pt x="7992333" y="218632"/>
                </a:lnTo>
                <a:lnTo>
                  <a:pt x="8127796" y="209557"/>
                </a:lnTo>
                <a:lnTo>
                  <a:pt x="8263260" y="199555"/>
                </a:lnTo>
                <a:lnTo>
                  <a:pt x="8398723" y="189147"/>
                </a:lnTo>
                <a:lnTo>
                  <a:pt x="8534186" y="178801"/>
                </a:lnTo>
                <a:lnTo>
                  <a:pt x="8669649" y="168908"/>
                </a:lnTo>
                <a:lnTo>
                  <a:pt x="8805113" y="159754"/>
                </a:lnTo>
                <a:lnTo>
                  <a:pt x="8940576" y="151510"/>
                </a:lnTo>
                <a:lnTo>
                  <a:pt x="9076039" y="144224"/>
                </a:lnTo>
                <a:lnTo>
                  <a:pt x="9211503" y="137828"/>
                </a:lnTo>
                <a:lnTo>
                  <a:pt x="9346966" y="132152"/>
                </a:lnTo>
                <a:lnTo>
                  <a:pt x="9482429" y="126943"/>
                </a:lnTo>
                <a:lnTo>
                  <a:pt x="9617892" y="121894"/>
                </a:lnTo>
                <a:lnTo>
                  <a:pt x="9753356" y="116677"/>
                </a:lnTo>
                <a:lnTo>
                  <a:pt x="9888819" y="110975"/>
                </a:lnTo>
                <a:lnTo>
                  <a:pt x="10024282" y="104513"/>
                </a:lnTo>
                <a:lnTo>
                  <a:pt x="10159746" y="97095"/>
                </a:lnTo>
                <a:lnTo>
                  <a:pt x="10295209" y="88617"/>
                </a:lnTo>
                <a:lnTo>
                  <a:pt x="10430672" y="79094"/>
                </a:lnTo>
                <a:lnTo>
                  <a:pt x="10566135" y="68661"/>
                </a:lnTo>
                <a:lnTo>
                  <a:pt x="10701599" y="57573"/>
                </a:lnTo>
                <a:lnTo>
                  <a:pt x="10837062" y="46197"/>
                </a:lnTo>
                <a:lnTo>
                  <a:pt x="10972525" y="34990"/>
                </a:lnTo>
                <a:lnTo>
                  <a:pt x="11107988" y="24471"/>
                </a:lnTo>
                <a:lnTo>
                  <a:pt x="11243452" y="15192"/>
                </a:lnTo>
                <a:lnTo>
                  <a:pt x="11378915" y="7698"/>
                </a:lnTo>
                <a:lnTo>
                  <a:pt x="11514378" y="2492"/>
                </a:lnTo>
                <a:lnTo>
                  <a:pt x="11649842" y="0"/>
                </a:lnTo>
                <a:lnTo>
                  <a:pt x="11785305" y="541"/>
                </a:lnTo>
                <a:lnTo>
                  <a:pt x="11920768" y="4298"/>
                </a:lnTo>
                <a:lnTo>
                  <a:pt x="12056231" y="11307"/>
                </a:lnTo>
                <a:lnTo>
                  <a:pt x="12191695" y="21447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0" y="6600998"/>
            <a:ext cx="12191695" cy="238322"/>
          </a:xfrm>
          <a:custGeom>
            <a:avLst/>
            <a:gdLst/>
            <a:ahLst/>
            <a:cxnLst/>
            <a:rect l="l" t="t" r="r" b="b"/>
            <a:pathLst>
              <a:path w="12191695" h="238322">
                <a:moveTo>
                  <a:pt x="0" y="190722"/>
                </a:moveTo>
                <a:lnTo>
                  <a:pt x="135463" y="204821"/>
                </a:lnTo>
                <a:lnTo>
                  <a:pt x="270926" y="217096"/>
                </a:lnTo>
                <a:lnTo>
                  <a:pt x="406389" y="226989"/>
                </a:lnTo>
                <a:lnTo>
                  <a:pt x="541853" y="234032"/>
                </a:lnTo>
                <a:lnTo>
                  <a:pt x="677316" y="237878"/>
                </a:lnTo>
                <a:lnTo>
                  <a:pt x="812779" y="238322"/>
                </a:lnTo>
                <a:lnTo>
                  <a:pt x="948242" y="235314"/>
                </a:lnTo>
                <a:lnTo>
                  <a:pt x="1083706" y="228966"/>
                </a:lnTo>
                <a:lnTo>
                  <a:pt x="1219169" y="219541"/>
                </a:lnTo>
                <a:lnTo>
                  <a:pt x="1354632" y="207444"/>
                </a:lnTo>
                <a:lnTo>
                  <a:pt x="1490096" y="193188"/>
                </a:lnTo>
                <a:lnTo>
                  <a:pt x="1625559" y="177371"/>
                </a:lnTo>
                <a:lnTo>
                  <a:pt x="1761022" y="160636"/>
                </a:lnTo>
                <a:lnTo>
                  <a:pt x="1896485" y="143634"/>
                </a:lnTo>
                <a:lnTo>
                  <a:pt x="2031949" y="126985"/>
                </a:lnTo>
                <a:lnTo>
                  <a:pt x="2167412" y="111244"/>
                </a:lnTo>
                <a:lnTo>
                  <a:pt x="2302875" y="96871"/>
                </a:lnTo>
                <a:lnTo>
                  <a:pt x="2438339" y="84207"/>
                </a:lnTo>
                <a:lnTo>
                  <a:pt x="2573802" y="73462"/>
                </a:lnTo>
                <a:lnTo>
                  <a:pt x="2709265" y="64709"/>
                </a:lnTo>
                <a:lnTo>
                  <a:pt x="2844728" y="57891"/>
                </a:lnTo>
                <a:lnTo>
                  <a:pt x="2980192" y="52834"/>
                </a:lnTo>
                <a:lnTo>
                  <a:pt x="3115655" y="49267"/>
                </a:lnTo>
                <a:lnTo>
                  <a:pt x="3251118" y="46856"/>
                </a:lnTo>
                <a:lnTo>
                  <a:pt x="3386582" y="45231"/>
                </a:lnTo>
                <a:lnTo>
                  <a:pt x="3522045" y="44024"/>
                </a:lnTo>
                <a:lnTo>
                  <a:pt x="3657508" y="42902"/>
                </a:lnTo>
                <a:lnTo>
                  <a:pt x="3792971" y="41593"/>
                </a:lnTo>
                <a:lnTo>
                  <a:pt x="3928435" y="39916"/>
                </a:lnTo>
                <a:lnTo>
                  <a:pt x="4063898" y="37794"/>
                </a:lnTo>
                <a:lnTo>
                  <a:pt x="4199361" y="35264"/>
                </a:lnTo>
                <a:lnTo>
                  <a:pt x="4334824" y="32476"/>
                </a:lnTo>
                <a:lnTo>
                  <a:pt x="4470288" y="29683"/>
                </a:lnTo>
                <a:lnTo>
                  <a:pt x="4605751" y="27220"/>
                </a:lnTo>
                <a:lnTo>
                  <a:pt x="4741214" y="25484"/>
                </a:lnTo>
                <a:lnTo>
                  <a:pt x="4876678" y="24895"/>
                </a:lnTo>
                <a:lnTo>
                  <a:pt x="5012141" y="25867"/>
                </a:lnTo>
                <a:lnTo>
                  <a:pt x="5147604" y="28771"/>
                </a:lnTo>
                <a:lnTo>
                  <a:pt x="5283067" y="33905"/>
                </a:lnTo>
                <a:lnTo>
                  <a:pt x="5418531" y="41460"/>
                </a:lnTo>
                <a:lnTo>
                  <a:pt x="5553994" y="51504"/>
                </a:lnTo>
                <a:lnTo>
                  <a:pt x="5689457" y="63964"/>
                </a:lnTo>
                <a:lnTo>
                  <a:pt x="5824921" y="78622"/>
                </a:lnTo>
                <a:lnTo>
                  <a:pt x="5960384" y="95124"/>
                </a:lnTo>
                <a:lnTo>
                  <a:pt x="6095847" y="112989"/>
                </a:lnTo>
                <a:lnTo>
                  <a:pt x="6231310" y="131639"/>
                </a:lnTo>
                <a:lnTo>
                  <a:pt x="6366774" y="150423"/>
                </a:lnTo>
                <a:lnTo>
                  <a:pt x="6502237" y="168658"/>
                </a:lnTo>
                <a:lnTo>
                  <a:pt x="6637700" y="185665"/>
                </a:lnTo>
                <a:lnTo>
                  <a:pt x="6773164" y="200809"/>
                </a:lnTo>
                <a:lnTo>
                  <a:pt x="6908627" y="213535"/>
                </a:lnTo>
                <a:lnTo>
                  <a:pt x="7044090" y="223398"/>
                </a:lnTo>
                <a:lnTo>
                  <a:pt x="7179553" y="230090"/>
                </a:lnTo>
                <a:lnTo>
                  <a:pt x="7315017" y="233454"/>
                </a:lnTo>
                <a:lnTo>
                  <a:pt x="7450480" y="233492"/>
                </a:lnTo>
                <a:lnTo>
                  <a:pt x="7585943" y="230359"/>
                </a:lnTo>
                <a:lnTo>
                  <a:pt x="7721406" y="224353"/>
                </a:lnTo>
                <a:lnTo>
                  <a:pt x="7856870" y="215888"/>
                </a:lnTo>
                <a:lnTo>
                  <a:pt x="7992333" y="205470"/>
                </a:lnTo>
                <a:lnTo>
                  <a:pt x="8127796" y="193658"/>
                </a:lnTo>
                <a:lnTo>
                  <a:pt x="8263260" y="181033"/>
                </a:lnTo>
                <a:lnTo>
                  <a:pt x="8398723" y="168153"/>
                </a:lnTo>
                <a:lnTo>
                  <a:pt x="8534186" y="155526"/>
                </a:lnTo>
                <a:lnTo>
                  <a:pt x="8669649" y="143575"/>
                </a:lnTo>
                <a:lnTo>
                  <a:pt x="8805113" y="132618"/>
                </a:lnTo>
                <a:lnTo>
                  <a:pt x="8940576" y="122852"/>
                </a:lnTo>
                <a:lnTo>
                  <a:pt x="9076039" y="114351"/>
                </a:lnTo>
                <a:lnTo>
                  <a:pt x="9211503" y="107063"/>
                </a:lnTo>
                <a:lnTo>
                  <a:pt x="9346966" y="100832"/>
                </a:lnTo>
                <a:lnTo>
                  <a:pt x="9482429" y="95413"/>
                </a:lnTo>
                <a:lnTo>
                  <a:pt x="9617892" y="90502"/>
                </a:lnTo>
                <a:lnTo>
                  <a:pt x="9753356" y="85770"/>
                </a:lnTo>
                <a:lnTo>
                  <a:pt x="9888819" y="80892"/>
                </a:lnTo>
                <a:lnTo>
                  <a:pt x="10024282" y="75582"/>
                </a:lnTo>
                <a:lnTo>
                  <a:pt x="10159746" y="69623"/>
                </a:lnTo>
                <a:lnTo>
                  <a:pt x="10295209" y="62893"/>
                </a:lnTo>
                <a:lnTo>
                  <a:pt x="10430672" y="55378"/>
                </a:lnTo>
                <a:lnTo>
                  <a:pt x="10566135" y="47183"/>
                </a:lnTo>
                <a:lnTo>
                  <a:pt x="10701599" y="38531"/>
                </a:lnTo>
                <a:lnTo>
                  <a:pt x="10837062" y="29751"/>
                </a:lnTo>
                <a:lnTo>
                  <a:pt x="10972525" y="21260"/>
                </a:lnTo>
                <a:lnTo>
                  <a:pt x="11107988" y="13537"/>
                </a:lnTo>
                <a:lnTo>
                  <a:pt x="11243452" y="7091"/>
                </a:lnTo>
                <a:lnTo>
                  <a:pt x="11378915" y="2425"/>
                </a:lnTo>
                <a:lnTo>
                  <a:pt x="11514378" y="0"/>
                </a:lnTo>
                <a:lnTo>
                  <a:pt x="11649842" y="198"/>
                </a:lnTo>
                <a:lnTo>
                  <a:pt x="11785305" y="3299"/>
                </a:lnTo>
                <a:lnTo>
                  <a:pt x="11920768" y="9446"/>
                </a:lnTo>
                <a:lnTo>
                  <a:pt x="12056231" y="18641"/>
                </a:lnTo>
                <a:lnTo>
                  <a:pt x="12191695" y="30728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46304"/>
            <a:ext cx="11283696" cy="44805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Agent工作原理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722376"/>
            <a:ext cx="585216" cy="41148"/>
          </a:xfrm>
          <a:prstGeom prst="rect">
            <a:avLst/>
          </a:prstGeom>
          <a:solidFill>
            <a:srgbClr val="EE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649224"/>
            <a:ext cx="10469880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2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内部规划任务，按需引用资源与其他Agent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292608"/>
            <a:ext cx="896112" cy="20116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HiAgent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6647688"/>
            <a:ext cx="10241280" cy="1280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7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企业数据智能体建设规划  /  规划视图  /  2026.10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629400"/>
            <a:ext cx="585216" cy="17373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68496" y="1005840"/>
            <a:ext cx="4251960" cy="502920"/>
          </a:xfrm>
          <a:prstGeom prst="roundRect">
            <a:avLst>
              <a:gd name="adj" fmla="val 3500"/>
            </a:avLst>
          </a:prstGeom>
          <a:solidFill>
            <a:srgbClr val="08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59935" y="1037844"/>
            <a:ext cx="4069080" cy="4389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业务请求 / 已确认任务上下文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9048" y="1554480"/>
            <a:ext cx="0" cy="256032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6063202" y="1752045"/>
            <a:ext cx="35846" cy="58467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099048" y="1752045"/>
            <a:ext cx="35845" cy="58467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589020" y="1879092"/>
            <a:ext cx="5065776" cy="184708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66160" y="1847088"/>
            <a:ext cx="5065776" cy="1847088"/>
          </a:xfrm>
          <a:prstGeom prst="roundRect">
            <a:avLst>
              <a:gd name="adj" fmla="val 5500"/>
            </a:avLst>
          </a:prstGeom>
          <a:solidFill>
            <a:srgbClr val="EAF5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739804" y="2416850"/>
            <a:ext cx="469087" cy="8339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718956" y="2276124"/>
            <a:ext cx="479511" cy="201395"/>
          </a:xfrm>
          <a:custGeom>
            <a:avLst/>
            <a:gdLst/>
            <a:ahLst/>
            <a:cxnLst/>
            <a:rect l="l" t="t" r="r" b="b"/>
            <a:pathLst>
              <a:path w="479511" h="201395">
                <a:moveTo>
                  <a:pt x="0" y="100697"/>
                </a:moveTo>
                <a:lnTo>
                  <a:pt x="239755" y="0"/>
                </a:lnTo>
                <a:lnTo>
                  <a:pt x="479511" y="100697"/>
                </a:lnTo>
                <a:lnTo>
                  <a:pt x="239755" y="201395"/>
                </a:lnTo>
                <a:close/>
              </a:path>
            </a:pathLst>
          </a:custGeom>
          <a:solidFill>
            <a:srgbClr val="B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718956" y="2376821"/>
            <a:ext cx="239755" cy="145000"/>
          </a:xfrm>
          <a:custGeom>
            <a:avLst/>
            <a:gdLst/>
            <a:ahLst/>
            <a:cxnLst/>
            <a:rect l="l" t="t" r="r" b="b"/>
            <a:pathLst>
              <a:path w="239755" h="145000">
                <a:moveTo>
                  <a:pt x="0" y="0"/>
                </a:moveTo>
                <a:lnTo>
                  <a:pt x="239755" y="100698"/>
                </a:lnTo>
                <a:lnTo>
                  <a:pt x="239755" y="145000"/>
                </a:lnTo>
                <a:lnTo>
                  <a:pt x="0" y="44303"/>
                </a:lnTo>
                <a:close/>
              </a:path>
            </a:pathLst>
          </a:custGeom>
          <a:solidFill>
            <a:srgbClr val="6D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958711" y="2376821"/>
            <a:ext cx="239756" cy="145000"/>
          </a:xfrm>
          <a:custGeom>
            <a:avLst/>
            <a:gdLst/>
            <a:ahLst/>
            <a:cxnLst/>
            <a:rect l="l" t="t" r="r" b="b"/>
            <a:pathLst>
              <a:path w="239756" h="145000">
                <a:moveTo>
                  <a:pt x="0" y="100698"/>
                </a:moveTo>
                <a:lnTo>
                  <a:pt x="239756" y="0"/>
                </a:lnTo>
                <a:lnTo>
                  <a:pt x="239756" y="44303"/>
                </a:lnTo>
                <a:lnTo>
                  <a:pt x="0" y="145000"/>
                </a:lnTo>
                <a:close/>
              </a:path>
            </a:pathLst>
          </a:custGeom>
          <a:solidFill>
            <a:srgbClr val="30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3760652" y="2177094"/>
            <a:ext cx="396118" cy="166370"/>
          </a:xfrm>
          <a:custGeom>
            <a:avLst/>
            <a:gdLst/>
            <a:ahLst/>
            <a:cxnLst/>
            <a:rect l="l" t="t" r="r" b="b"/>
            <a:pathLst>
              <a:path w="396118" h="166370">
                <a:moveTo>
                  <a:pt x="0" y="83185"/>
                </a:moveTo>
                <a:lnTo>
                  <a:pt x="198059" y="0"/>
                </a:lnTo>
                <a:lnTo>
                  <a:pt x="396118" y="83185"/>
                </a:lnTo>
                <a:lnTo>
                  <a:pt x="198059" y="166370"/>
                </a:lnTo>
                <a:close/>
              </a:path>
            </a:pathLst>
          </a:custGeom>
          <a:solidFill>
            <a:srgbClr val="94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3760652" y="2260279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0"/>
                </a:moveTo>
                <a:lnTo>
                  <a:pt x="198059" y="83185"/>
                </a:lnTo>
                <a:lnTo>
                  <a:pt x="198059" y="127488"/>
                </a:lnTo>
                <a:lnTo>
                  <a:pt x="0" y="44303"/>
                </a:lnTo>
                <a:close/>
              </a:path>
            </a:pathLst>
          </a:custGeom>
          <a:solidFill>
            <a:srgbClr val="3F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3958711" y="2260279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83185"/>
                </a:moveTo>
                <a:lnTo>
                  <a:pt x="198059" y="0"/>
                </a:lnTo>
                <a:lnTo>
                  <a:pt x="198059" y="44303"/>
                </a:lnTo>
                <a:lnTo>
                  <a:pt x="0" y="127488"/>
                </a:lnTo>
                <a:close/>
              </a:path>
            </a:pathLst>
          </a:custGeom>
          <a:solidFill>
            <a:srgbClr val="197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3807561" y="2078065"/>
            <a:ext cx="302301" cy="126966"/>
          </a:xfrm>
          <a:custGeom>
            <a:avLst/>
            <a:gdLst/>
            <a:ahLst/>
            <a:cxnLst/>
            <a:rect l="l" t="t" r="r" b="b"/>
            <a:pathLst>
              <a:path w="302301" h="126966">
                <a:moveTo>
                  <a:pt x="0" y="63483"/>
                </a:moveTo>
                <a:lnTo>
                  <a:pt x="151150" y="0"/>
                </a:lnTo>
                <a:lnTo>
                  <a:pt x="302301" y="63483"/>
                </a:lnTo>
                <a:lnTo>
                  <a:pt x="151150" y="126966"/>
                </a:lnTo>
                <a:close/>
              </a:path>
            </a:pathLst>
          </a:custGeom>
          <a:solidFill>
            <a:srgbClr val="57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3807561" y="2141548"/>
            <a:ext cx="151150" cy="107786"/>
          </a:xfrm>
          <a:custGeom>
            <a:avLst/>
            <a:gdLst/>
            <a:ahLst/>
            <a:cxnLst/>
            <a:rect l="l" t="t" r="r" b="b"/>
            <a:pathLst>
              <a:path w="151150" h="107786">
                <a:moveTo>
                  <a:pt x="0" y="0"/>
                </a:moveTo>
                <a:lnTo>
                  <a:pt x="151150" y="63483"/>
                </a:lnTo>
                <a:lnTo>
                  <a:pt x="151150" y="107786"/>
                </a:lnTo>
                <a:lnTo>
                  <a:pt x="0" y="44303"/>
                </a:lnTo>
                <a:close/>
              </a:path>
            </a:pathLst>
          </a:custGeom>
          <a:solidFill>
            <a:srgbClr val="148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3958711" y="2141548"/>
            <a:ext cx="151151" cy="107786"/>
          </a:xfrm>
          <a:custGeom>
            <a:avLst/>
            <a:gdLst/>
            <a:ahLst/>
            <a:cxnLst/>
            <a:rect l="l" t="t" r="r" b="b"/>
            <a:pathLst>
              <a:path w="151151" h="107786">
                <a:moveTo>
                  <a:pt x="0" y="63483"/>
                </a:moveTo>
                <a:lnTo>
                  <a:pt x="151151" y="0"/>
                </a:lnTo>
                <a:lnTo>
                  <a:pt x="151151" y="44303"/>
                </a:lnTo>
                <a:lnTo>
                  <a:pt x="0" y="107786"/>
                </a:lnTo>
                <a:close/>
              </a:path>
            </a:pathLst>
          </a:custGeom>
          <a:solidFill>
            <a:srgbClr val="0A5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3880530" y="2057217"/>
            <a:ext cx="99030" cy="45553"/>
          </a:xfrm>
          <a:custGeom>
            <a:avLst/>
            <a:gdLst/>
            <a:ahLst/>
            <a:cxnLst/>
            <a:rect l="l" t="t" r="r" b="b"/>
            <a:pathLst>
              <a:path w="99030" h="45553">
                <a:moveTo>
                  <a:pt x="0" y="22776"/>
                </a:moveTo>
                <a:lnTo>
                  <a:pt x="49515" y="0"/>
                </a:lnTo>
                <a:lnTo>
                  <a:pt x="99030" y="22776"/>
                </a:lnTo>
                <a:lnTo>
                  <a:pt x="49515" y="45553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3880530" y="2079993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70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3930045" y="2079993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70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4010832" y="2104125"/>
            <a:ext cx="99030" cy="45554"/>
          </a:xfrm>
          <a:custGeom>
            <a:avLst/>
            <a:gdLst/>
            <a:ahLst/>
            <a:cxnLst/>
            <a:rect l="l" t="t" r="r" b="b"/>
            <a:pathLst>
              <a:path w="99030" h="45554">
                <a:moveTo>
                  <a:pt x="0" y="22777"/>
                </a:moveTo>
                <a:lnTo>
                  <a:pt x="49515" y="0"/>
                </a:lnTo>
                <a:lnTo>
                  <a:pt x="99030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4010832" y="2126902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4060347" y="2126902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3927439" y="2166670"/>
            <a:ext cx="99029" cy="45554"/>
          </a:xfrm>
          <a:custGeom>
            <a:avLst/>
            <a:gdLst/>
            <a:ahLst/>
            <a:cxnLst/>
            <a:rect l="l" t="t" r="r" b="b"/>
            <a:pathLst>
              <a:path w="99029" h="45554">
                <a:moveTo>
                  <a:pt x="0" y="22777"/>
                </a:moveTo>
                <a:lnTo>
                  <a:pt x="49515" y="0"/>
                </a:lnTo>
                <a:lnTo>
                  <a:pt x="99029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3927439" y="2189447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3976954" y="2189447"/>
            <a:ext cx="49514" cy="95746"/>
          </a:xfrm>
          <a:custGeom>
            <a:avLst/>
            <a:gdLst/>
            <a:ahLst/>
            <a:cxnLst/>
            <a:rect l="l" t="t" r="r" b="b"/>
            <a:pathLst>
              <a:path w="49514" h="95746">
                <a:moveTo>
                  <a:pt x="0" y="22777"/>
                </a:moveTo>
                <a:lnTo>
                  <a:pt x="49514" y="0"/>
                </a:lnTo>
                <a:lnTo>
                  <a:pt x="49514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43400" y="2020824"/>
            <a:ext cx="4133087" cy="3931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主导本次任务的专业Agent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76472" y="2752344"/>
            <a:ext cx="4645152" cy="86868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理解目标 → 规划步骤 → 选择资源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调用与观察 → 校验调整 → 汇总成果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4340" y="2107692"/>
            <a:ext cx="2743200" cy="138988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11480" y="2075688"/>
            <a:ext cx="2743200" cy="13898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5124" y="2645450"/>
            <a:ext cx="469087" cy="8339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564276" y="2504724"/>
            <a:ext cx="479511" cy="201395"/>
          </a:xfrm>
          <a:custGeom>
            <a:avLst/>
            <a:gdLst/>
            <a:ahLst/>
            <a:cxnLst/>
            <a:rect l="l" t="t" r="r" b="b"/>
            <a:pathLst>
              <a:path w="479511" h="201395">
                <a:moveTo>
                  <a:pt x="0" y="100697"/>
                </a:moveTo>
                <a:lnTo>
                  <a:pt x="239755" y="0"/>
                </a:lnTo>
                <a:lnTo>
                  <a:pt x="479511" y="100697"/>
                </a:lnTo>
                <a:lnTo>
                  <a:pt x="239755" y="201395"/>
                </a:lnTo>
                <a:close/>
              </a:path>
            </a:pathLst>
          </a:custGeom>
          <a:solidFill>
            <a:srgbClr val="B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564276" y="2605421"/>
            <a:ext cx="239755" cy="145000"/>
          </a:xfrm>
          <a:custGeom>
            <a:avLst/>
            <a:gdLst/>
            <a:ahLst/>
            <a:cxnLst/>
            <a:rect l="l" t="t" r="r" b="b"/>
            <a:pathLst>
              <a:path w="239755" h="145000">
                <a:moveTo>
                  <a:pt x="0" y="0"/>
                </a:moveTo>
                <a:lnTo>
                  <a:pt x="239755" y="100698"/>
                </a:lnTo>
                <a:lnTo>
                  <a:pt x="239755" y="145000"/>
                </a:lnTo>
                <a:lnTo>
                  <a:pt x="0" y="44303"/>
                </a:lnTo>
                <a:close/>
              </a:path>
            </a:pathLst>
          </a:custGeom>
          <a:solidFill>
            <a:srgbClr val="6D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04031" y="2605421"/>
            <a:ext cx="239756" cy="145000"/>
          </a:xfrm>
          <a:custGeom>
            <a:avLst/>
            <a:gdLst/>
            <a:ahLst/>
            <a:cxnLst/>
            <a:rect l="l" t="t" r="r" b="b"/>
            <a:pathLst>
              <a:path w="239756" h="145000">
                <a:moveTo>
                  <a:pt x="0" y="100698"/>
                </a:moveTo>
                <a:lnTo>
                  <a:pt x="239756" y="0"/>
                </a:lnTo>
                <a:lnTo>
                  <a:pt x="239756" y="44303"/>
                </a:lnTo>
                <a:lnTo>
                  <a:pt x="0" y="145000"/>
                </a:lnTo>
                <a:close/>
              </a:path>
            </a:pathLst>
          </a:custGeom>
          <a:solidFill>
            <a:srgbClr val="30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605972" y="2405694"/>
            <a:ext cx="396118" cy="166370"/>
          </a:xfrm>
          <a:custGeom>
            <a:avLst/>
            <a:gdLst/>
            <a:ahLst/>
            <a:cxnLst/>
            <a:rect l="l" t="t" r="r" b="b"/>
            <a:pathLst>
              <a:path w="396118" h="166370">
                <a:moveTo>
                  <a:pt x="0" y="83185"/>
                </a:moveTo>
                <a:lnTo>
                  <a:pt x="198059" y="0"/>
                </a:lnTo>
                <a:lnTo>
                  <a:pt x="396118" y="83185"/>
                </a:lnTo>
                <a:lnTo>
                  <a:pt x="198059" y="166370"/>
                </a:lnTo>
                <a:close/>
              </a:path>
            </a:pathLst>
          </a:custGeom>
          <a:solidFill>
            <a:srgbClr val="94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605972" y="2488879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0"/>
                </a:moveTo>
                <a:lnTo>
                  <a:pt x="198059" y="83185"/>
                </a:lnTo>
                <a:lnTo>
                  <a:pt x="198059" y="127488"/>
                </a:lnTo>
                <a:lnTo>
                  <a:pt x="0" y="44303"/>
                </a:lnTo>
                <a:close/>
              </a:path>
            </a:pathLst>
          </a:custGeom>
          <a:solidFill>
            <a:srgbClr val="3F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04031" y="2488879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83185"/>
                </a:moveTo>
                <a:lnTo>
                  <a:pt x="198059" y="0"/>
                </a:lnTo>
                <a:lnTo>
                  <a:pt x="198059" y="44303"/>
                </a:lnTo>
                <a:lnTo>
                  <a:pt x="0" y="127488"/>
                </a:lnTo>
                <a:close/>
              </a:path>
            </a:pathLst>
          </a:custGeom>
          <a:solidFill>
            <a:srgbClr val="197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652881" y="2306665"/>
            <a:ext cx="302301" cy="126966"/>
          </a:xfrm>
          <a:custGeom>
            <a:avLst/>
            <a:gdLst/>
            <a:ahLst/>
            <a:cxnLst/>
            <a:rect l="l" t="t" r="r" b="b"/>
            <a:pathLst>
              <a:path w="302301" h="126966">
                <a:moveTo>
                  <a:pt x="0" y="63483"/>
                </a:moveTo>
                <a:lnTo>
                  <a:pt x="151150" y="0"/>
                </a:lnTo>
                <a:lnTo>
                  <a:pt x="302301" y="63483"/>
                </a:lnTo>
                <a:lnTo>
                  <a:pt x="151150" y="126966"/>
                </a:lnTo>
                <a:close/>
              </a:path>
            </a:pathLst>
          </a:custGeom>
          <a:solidFill>
            <a:srgbClr val="57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652881" y="2370148"/>
            <a:ext cx="151150" cy="107786"/>
          </a:xfrm>
          <a:custGeom>
            <a:avLst/>
            <a:gdLst/>
            <a:ahLst/>
            <a:cxnLst/>
            <a:rect l="l" t="t" r="r" b="b"/>
            <a:pathLst>
              <a:path w="151150" h="107786">
                <a:moveTo>
                  <a:pt x="0" y="0"/>
                </a:moveTo>
                <a:lnTo>
                  <a:pt x="151150" y="63483"/>
                </a:lnTo>
                <a:lnTo>
                  <a:pt x="151150" y="107786"/>
                </a:lnTo>
                <a:lnTo>
                  <a:pt x="0" y="44303"/>
                </a:lnTo>
                <a:close/>
              </a:path>
            </a:pathLst>
          </a:custGeom>
          <a:solidFill>
            <a:srgbClr val="148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804031" y="2370148"/>
            <a:ext cx="151151" cy="107786"/>
          </a:xfrm>
          <a:custGeom>
            <a:avLst/>
            <a:gdLst/>
            <a:ahLst/>
            <a:cxnLst/>
            <a:rect l="l" t="t" r="r" b="b"/>
            <a:pathLst>
              <a:path w="151151" h="107786">
                <a:moveTo>
                  <a:pt x="0" y="63483"/>
                </a:moveTo>
                <a:lnTo>
                  <a:pt x="151151" y="0"/>
                </a:lnTo>
                <a:lnTo>
                  <a:pt x="151151" y="44303"/>
                </a:lnTo>
                <a:lnTo>
                  <a:pt x="0" y="107786"/>
                </a:lnTo>
                <a:close/>
              </a:path>
            </a:pathLst>
          </a:custGeom>
          <a:solidFill>
            <a:srgbClr val="0A5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725850" y="2285817"/>
            <a:ext cx="99030" cy="45553"/>
          </a:xfrm>
          <a:custGeom>
            <a:avLst/>
            <a:gdLst/>
            <a:ahLst/>
            <a:cxnLst/>
            <a:rect l="l" t="t" r="r" b="b"/>
            <a:pathLst>
              <a:path w="99030" h="45553">
                <a:moveTo>
                  <a:pt x="0" y="22776"/>
                </a:moveTo>
                <a:lnTo>
                  <a:pt x="49515" y="0"/>
                </a:lnTo>
                <a:lnTo>
                  <a:pt x="99030" y="22776"/>
                </a:lnTo>
                <a:lnTo>
                  <a:pt x="49515" y="45553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725850" y="2308593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70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775365" y="2308593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70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856152" y="2332725"/>
            <a:ext cx="99030" cy="45554"/>
          </a:xfrm>
          <a:custGeom>
            <a:avLst/>
            <a:gdLst/>
            <a:ahLst/>
            <a:cxnLst/>
            <a:rect l="l" t="t" r="r" b="b"/>
            <a:pathLst>
              <a:path w="99030" h="45554">
                <a:moveTo>
                  <a:pt x="0" y="22777"/>
                </a:moveTo>
                <a:lnTo>
                  <a:pt x="49515" y="0"/>
                </a:lnTo>
                <a:lnTo>
                  <a:pt x="99030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856152" y="2355502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905667" y="2355502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772759" y="2395270"/>
            <a:ext cx="99029" cy="45554"/>
          </a:xfrm>
          <a:custGeom>
            <a:avLst/>
            <a:gdLst/>
            <a:ahLst/>
            <a:cxnLst/>
            <a:rect l="l" t="t" r="r" b="b"/>
            <a:pathLst>
              <a:path w="99029" h="45554">
                <a:moveTo>
                  <a:pt x="0" y="22777"/>
                </a:moveTo>
                <a:lnTo>
                  <a:pt x="49515" y="0"/>
                </a:lnTo>
                <a:lnTo>
                  <a:pt x="99029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772759" y="2418047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822274" y="2418047"/>
            <a:ext cx="49514" cy="95746"/>
          </a:xfrm>
          <a:custGeom>
            <a:avLst/>
            <a:gdLst/>
            <a:ahLst/>
            <a:cxnLst/>
            <a:rect l="l" t="t" r="r" b="b"/>
            <a:pathLst>
              <a:path w="49514" h="95746">
                <a:moveTo>
                  <a:pt x="0" y="22777"/>
                </a:moveTo>
                <a:lnTo>
                  <a:pt x="49514" y="0"/>
                </a:lnTo>
                <a:lnTo>
                  <a:pt x="49514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88720" y="2249424"/>
            <a:ext cx="1810512" cy="3931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提示词 / SKILL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1792" y="2880360"/>
            <a:ext cx="2322576" cy="512064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5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职责 / 方法 / 判断条件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5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证据要求 / 确认节点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066276" y="2107692"/>
            <a:ext cx="2743200" cy="138988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9043416" y="2075688"/>
            <a:ext cx="2743200" cy="13898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217060" y="2645450"/>
            <a:ext cx="469087" cy="8339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9196212" y="2504724"/>
            <a:ext cx="479511" cy="201395"/>
          </a:xfrm>
          <a:custGeom>
            <a:avLst/>
            <a:gdLst/>
            <a:ahLst/>
            <a:cxnLst/>
            <a:rect l="l" t="t" r="r" b="b"/>
            <a:pathLst>
              <a:path w="479511" h="201395">
                <a:moveTo>
                  <a:pt x="0" y="100697"/>
                </a:moveTo>
                <a:lnTo>
                  <a:pt x="239755" y="0"/>
                </a:lnTo>
                <a:lnTo>
                  <a:pt x="479511" y="100697"/>
                </a:lnTo>
                <a:lnTo>
                  <a:pt x="239755" y="201395"/>
                </a:lnTo>
                <a:close/>
              </a:path>
            </a:pathLst>
          </a:custGeom>
          <a:solidFill>
            <a:srgbClr val="B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9196212" y="2605421"/>
            <a:ext cx="239755" cy="145000"/>
          </a:xfrm>
          <a:custGeom>
            <a:avLst/>
            <a:gdLst/>
            <a:ahLst/>
            <a:cxnLst/>
            <a:rect l="l" t="t" r="r" b="b"/>
            <a:pathLst>
              <a:path w="239755" h="145000">
                <a:moveTo>
                  <a:pt x="0" y="0"/>
                </a:moveTo>
                <a:lnTo>
                  <a:pt x="239755" y="100698"/>
                </a:lnTo>
                <a:lnTo>
                  <a:pt x="239755" y="145000"/>
                </a:lnTo>
                <a:lnTo>
                  <a:pt x="0" y="44303"/>
                </a:lnTo>
                <a:close/>
              </a:path>
            </a:pathLst>
          </a:custGeom>
          <a:solidFill>
            <a:srgbClr val="6D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9435967" y="2605421"/>
            <a:ext cx="239756" cy="145000"/>
          </a:xfrm>
          <a:custGeom>
            <a:avLst/>
            <a:gdLst/>
            <a:ahLst/>
            <a:cxnLst/>
            <a:rect l="l" t="t" r="r" b="b"/>
            <a:pathLst>
              <a:path w="239756" h="145000">
                <a:moveTo>
                  <a:pt x="0" y="100698"/>
                </a:moveTo>
                <a:lnTo>
                  <a:pt x="239756" y="0"/>
                </a:lnTo>
                <a:lnTo>
                  <a:pt x="239756" y="44303"/>
                </a:lnTo>
                <a:lnTo>
                  <a:pt x="0" y="145000"/>
                </a:lnTo>
                <a:close/>
              </a:path>
            </a:pathLst>
          </a:custGeom>
          <a:solidFill>
            <a:srgbClr val="30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9237908" y="2405694"/>
            <a:ext cx="396118" cy="166370"/>
          </a:xfrm>
          <a:custGeom>
            <a:avLst/>
            <a:gdLst/>
            <a:ahLst/>
            <a:cxnLst/>
            <a:rect l="l" t="t" r="r" b="b"/>
            <a:pathLst>
              <a:path w="396118" h="166370">
                <a:moveTo>
                  <a:pt x="0" y="83185"/>
                </a:moveTo>
                <a:lnTo>
                  <a:pt x="198059" y="0"/>
                </a:lnTo>
                <a:lnTo>
                  <a:pt x="396118" y="83185"/>
                </a:lnTo>
                <a:lnTo>
                  <a:pt x="198059" y="166370"/>
                </a:lnTo>
                <a:close/>
              </a:path>
            </a:pathLst>
          </a:custGeom>
          <a:solidFill>
            <a:srgbClr val="94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9237908" y="2488879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0"/>
                </a:moveTo>
                <a:lnTo>
                  <a:pt x="198059" y="83185"/>
                </a:lnTo>
                <a:lnTo>
                  <a:pt x="198059" y="127488"/>
                </a:lnTo>
                <a:lnTo>
                  <a:pt x="0" y="44303"/>
                </a:lnTo>
                <a:close/>
              </a:path>
            </a:pathLst>
          </a:custGeom>
          <a:solidFill>
            <a:srgbClr val="3F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9435967" y="2488879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83185"/>
                </a:moveTo>
                <a:lnTo>
                  <a:pt x="198059" y="0"/>
                </a:lnTo>
                <a:lnTo>
                  <a:pt x="198059" y="44303"/>
                </a:lnTo>
                <a:lnTo>
                  <a:pt x="0" y="127488"/>
                </a:lnTo>
                <a:close/>
              </a:path>
            </a:pathLst>
          </a:custGeom>
          <a:solidFill>
            <a:srgbClr val="197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9284817" y="2306665"/>
            <a:ext cx="302301" cy="126966"/>
          </a:xfrm>
          <a:custGeom>
            <a:avLst/>
            <a:gdLst/>
            <a:ahLst/>
            <a:cxnLst/>
            <a:rect l="l" t="t" r="r" b="b"/>
            <a:pathLst>
              <a:path w="302301" h="126966">
                <a:moveTo>
                  <a:pt x="0" y="63483"/>
                </a:moveTo>
                <a:lnTo>
                  <a:pt x="151150" y="0"/>
                </a:lnTo>
                <a:lnTo>
                  <a:pt x="302301" y="63483"/>
                </a:lnTo>
                <a:lnTo>
                  <a:pt x="151150" y="126966"/>
                </a:lnTo>
                <a:close/>
              </a:path>
            </a:pathLst>
          </a:custGeom>
          <a:solidFill>
            <a:srgbClr val="57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9284817" y="2370148"/>
            <a:ext cx="151150" cy="107786"/>
          </a:xfrm>
          <a:custGeom>
            <a:avLst/>
            <a:gdLst/>
            <a:ahLst/>
            <a:cxnLst/>
            <a:rect l="l" t="t" r="r" b="b"/>
            <a:pathLst>
              <a:path w="151150" h="107786">
                <a:moveTo>
                  <a:pt x="0" y="0"/>
                </a:moveTo>
                <a:lnTo>
                  <a:pt x="151150" y="63483"/>
                </a:lnTo>
                <a:lnTo>
                  <a:pt x="151150" y="107786"/>
                </a:lnTo>
                <a:lnTo>
                  <a:pt x="0" y="44303"/>
                </a:lnTo>
                <a:close/>
              </a:path>
            </a:pathLst>
          </a:custGeom>
          <a:solidFill>
            <a:srgbClr val="148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9435967" y="2370148"/>
            <a:ext cx="151151" cy="107786"/>
          </a:xfrm>
          <a:custGeom>
            <a:avLst/>
            <a:gdLst/>
            <a:ahLst/>
            <a:cxnLst/>
            <a:rect l="l" t="t" r="r" b="b"/>
            <a:pathLst>
              <a:path w="151151" h="107786">
                <a:moveTo>
                  <a:pt x="0" y="63483"/>
                </a:moveTo>
                <a:lnTo>
                  <a:pt x="151151" y="0"/>
                </a:lnTo>
                <a:lnTo>
                  <a:pt x="151151" y="44303"/>
                </a:lnTo>
                <a:lnTo>
                  <a:pt x="0" y="107786"/>
                </a:lnTo>
                <a:close/>
              </a:path>
            </a:pathLst>
          </a:custGeom>
          <a:solidFill>
            <a:srgbClr val="0A5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9357786" y="2285817"/>
            <a:ext cx="99030" cy="45553"/>
          </a:xfrm>
          <a:custGeom>
            <a:avLst/>
            <a:gdLst/>
            <a:ahLst/>
            <a:cxnLst/>
            <a:rect l="l" t="t" r="r" b="b"/>
            <a:pathLst>
              <a:path w="99030" h="45553">
                <a:moveTo>
                  <a:pt x="0" y="22776"/>
                </a:moveTo>
                <a:lnTo>
                  <a:pt x="49515" y="0"/>
                </a:lnTo>
                <a:lnTo>
                  <a:pt x="99030" y="22776"/>
                </a:lnTo>
                <a:lnTo>
                  <a:pt x="49515" y="45553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9357786" y="2308593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70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9407301" y="2308593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70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9488088" y="2332725"/>
            <a:ext cx="99030" cy="45554"/>
          </a:xfrm>
          <a:custGeom>
            <a:avLst/>
            <a:gdLst/>
            <a:ahLst/>
            <a:cxnLst/>
            <a:rect l="l" t="t" r="r" b="b"/>
            <a:pathLst>
              <a:path w="99030" h="45554">
                <a:moveTo>
                  <a:pt x="0" y="22777"/>
                </a:moveTo>
                <a:lnTo>
                  <a:pt x="49515" y="0"/>
                </a:lnTo>
                <a:lnTo>
                  <a:pt x="99030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9488088" y="2355502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9537603" y="2355502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9404695" y="2395270"/>
            <a:ext cx="99029" cy="45554"/>
          </a:xfrm>
          <a:custGeom>
            <a:avLst/>
            <a:gdLst/>
            <a:ahLst/>
            <a:cxnLst/>
            <a:rect l="l" t="t" r="r" b="b"/>
            <a:pathLst>
              <a:path w="99029" h="45554">
                <a:moveTo>
                  <a:pt x="0" y="22777"/>
                </a:moveTo>
                <a:lnTo>
                  <a:pt x="49515" y="0"/>
                </a:lnTo>
                <a:lnTo>
                  <a:pt x="99029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9404695" y="2418047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9454210" y="2418047"/>
            <a:ext cx="49514" cy="95746"/>
          </a:xfrm>
          <a:custGeom>
            <a:avLst/>
            <a:gdLst/>
            <a:ahLst/>
            <a:cxnLst/>
            <a:rect l="l" t="t" r="r" b="b"/>
            <a:pathLst>
              <a:path w="49514" h="95746">
                <a:moveTo>
                  <a:pt x="0" y="22777"/>
                </a:moveTo>
                <a:lnTo>
                  <a:pt x="49514" y="0"/>
                </a:lnTo>
                <a:lnTo>
                  <a:pt x="49514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820656" y="2249424"/>
            <a:ext cx="1810512" cy="3931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同级专业Agent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253728" y="2880360"/>
            <a:ext cx="2322576" cy="512064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5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资产 / 设计 / 测试等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5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返回专业结果与依据</a:t>
            </a:r>
          </a:p>
        </p:txBody>
      </p:sp>
      <p:cxnSp>
        <p:nvCxnSpPr>
          <p:cNvPr id="87" name="Connector 86"/>
          <p:cNvCxnSpPr/>
          <p:nvPr/>
        </p:nvCxnSpPr>
        <p:spPr>
          <a:xfrm flipH="1">
            <a:off x="3191256" y="2779776"/>
            <a:ext cx="338328" cy="0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3191256" y="2743930"/>
            <a:ext cx="58466" cy="35846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3191256" y="2779776"/>
            <a:ext cx="58466" cy="35845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68512" y="2779776"/>
            <a:ext cx="338328" cy="0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H="1">
            <a:off x="8948373" y="2779776"/>
            <a:ext cx="58467" cy="35845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 flipV="1">
            <a:off x="8948373" y="2743930"/>
            <a:ext cx="58467" cy="35846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6099048" y="3730752"/>
            <a:ext cx="0" cy="35661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H="1">
            <a:off x="2240280" y="4087368"/>
            <a:ext cx="3858768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2240280" y="4087368"/>
            <a:ext cx="0" cy="347472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H="1" flipV="1">
            <a:off x="2204434" y="4376373"/>
            <a:ext cx="35846" cy="58467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2240280" y="4376373"/>
            <a:ext cx="35845" cy="58467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6099048" y="3730752"/>
            <a:ext cx="0" cy="35661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6099048" y="4087368"/>
            <a:ext cx="0" cy="347472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 flipV="1">
            <a:off x="6063202" y="4376373"/>
            <a:ext cx="35846" cy="58467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099048" y="4376373"/>
            <a:ext cx="35845" cy="58467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6099048" y="3730752"/>
            <a:ext cx="0" cy="35661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6099048" y="4087368"/>
            <a:ext cx="3858768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957816" y="4087368"/>
            <a:ext cx="0" cy="347472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9921970" y="4376373"/>
            <a:ext cx="35846" cy="58467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57816" y="4376373"/>
            <a:ext cx="35845" cy="58467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ounded Rectangle 106"/>
          <p:cNvSpPr/>
          <p:nvPr/>
        </p:nvSpPr>
        <p:spPr>
          <a:xfrm>
            <a:off x="434340" y="4503420"/>
            <a:ext cx="3657600" cy="1133856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411480" y="4471416"/>
            <a:ext cx="3657600" cy="113385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57784" y="4617720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67512" y="4553712"/>
            <a:ext cx="3264408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知识与语义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94360" y="5029200"/>
            <a:ext cx="3291840" cy="4754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检索候选 / 指标 / 规范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293108" y="4503420"/>
            <a:ext cx="3657600" cy="1133856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4270248" y="4471416"/>
            <a:ext cx="3657600" cy="113385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416552" y="4617720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526280" y="4553712"/>
            <a:ext cx="3264408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结构化事实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453128" y="5029200"/>
            <a:ext cx="3291840" cy="4754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资产查询库 / 权威API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8151875" y="4503420"/>
            <a:ext cx="3657600" cy="1133856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8129015" y="4471416"/>
            <a:ext cx="3657600" cy="113385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275319" y="4617720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385047" y="4553712"/>
            <a:ext cx="3264408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执行与校验工具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311895" y="5029200"/>
            <a:ext cx="3291840" cy="4754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计算 / 质量 / 静态检查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461772" y="6112764"/>
            <a:ext cx="11247120" cy="33832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438912" y="6080760"/>
            <a:ext cx="11247120" cy="338328"/>
          </a:xfrm>
          <a:prstGeom prst="roundRect">
            <a:avLst>
              <a:gd name="adj" fmla="val 5500"/>
            </a:avLst>
          </a:prstGeom>
          <a:solidFill>
            <a:srgbClr val="EEF7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85216" y="6117336"/>
            <a:ext cx="10954512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调用由Agent发起，结果回到同一任务上下文；复杂任务按需协作，不设置必选总控Agent层。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6346471"/>
            <a:ext cx="12191695" cy="235953"/>
          </a:xfrm>
          <a:custGeom>
            <a:avLst/>
            <a:gdLst/>
            <a:ahLst/>
            <a:cxnLst/>
            <a:rect l="l" t="t" r="r" b="b"/>
            <a:pathLst>
              <a:path w="12191695" h="235953">
                <a:moveTo>
                  <a:pt x="0" y="127481"/>
                </a:moveTo>
                <a:lnTo>
                  <a:pt x="135463" y="147046"/>
                </a:lnTo>
                <a:lnTo>
                  <a:pt x="270926" y="165914"/>
                </a:lnTo>
                <a:lnTo>
                  <a:pt x="406389" y="183426"/>
                </a:lnTo>
                <a:lnTo>
                  <a:pt x="541853" y="199000"/>
                </a:lnTo>
                <a:lnTo>
                  <a:pt x="677316" y="212159"/>
                </a:lnTo>
                <a:lnTo>
                  <a:pt x="812779" y="222557"/>
                </a:lnTo>
                <a:lnTo>
                  <a:pt x="948242" y="229995"/>
                </a:lnTo>
                <a:lnTo>
                  <a:pt x="1083706" y="234426"/>
                </a:lnTo>
                <a:lnTo>
                  <a:pt x="1219169" y="235953"/>
                </a:lnTo>
                <a:lnTo>
                  <a:pt x="1354632" y="234812"/>
                </a:lnTo>
                <a:lnTo>
                  <a:pt x="1490096" y="231352"/>
                </a:lnTo>
                <a:lnTo>
                  <a:pt x="1625559" y="226009"/>
                </a:lnTo>
                <a:lnTo>
                  <a:pt x="1761022" y="219267"/>
                </a:lnTo>
                <a:lnTo>
                  <a:pt x="1896485" y="211626"/>
                </a:lnTo>
                <a:lnTo>
                  <a:pt x="2031949" y="203564"/>
                </a:lnTo>
                <a:lnTo>
                  <a:pt x="2167412" y="195508"/>
                </a:lnTo>
                <a:lnTo>
                  <a:pt x="2302875" y="187800"/>
                </a:lnTo>
                <a:lnTo>
                  <a:pt x="2438339" y="180682"/>
                </a:lnTo>
                <a:lnTo>
                  <a:pt x="2573802" y="174280"/>
                </a:lnTo>
                <a:lnTo>
                  <a:pt x="2709265" y="168601"/>
                </a:lnTo>
                <a:lnTo>
                  <a:pt x="2844728" y="163541"/>
                </a:lnTo>
                <a:lnTo>
                  <a:pt x="2980192" y="158900"/>
                </a:lnTo>
                <a:lnTo>
                  <a:pt x="3115655" y="154402"/>
                </a:lnTo>
                <a:lnTo>
                  <a:pt x="3251118" y="149724"/>
                </a:lnTo>
                <a:lnTo>
                  <a:pt x="3386582" y="144534"/>
                </a:lnTo>
                <a:lnTo>
                  <a:pt x="3522045" y="138515"/>
                </a:lnTo>
                <a:lnTo>
                  <a:pt x="3657508" y="131408"/>
                </a:lnTo>
                <a:lnTo>
                  <a:pt x="3792971" y="123031"/>
                </a:lnTo>
                <a:lnTo>
                  <a:pt x="3928435" y="113309"/>
                </a:lnTo>
                <a:lnTo>
                  <a:pt x="4063898" y="102287"/>
                </a:lnTo>
                <a:lnTo>
                  <a:pt x="4199361" y="90138"/>
                </a:lnTo>
                <a:lnTo>
                  <a:pt x="4334824" y="77155"/>
                </a:lnTo>
                <a:lnTo>
                  <a:pt x="4470288" y="63745"/>
                </a:lnTo>
                <a:lnTo>
                  <a:pt x="4605751" y="50406"/>
                </a:lnTo>
                <a:lnTo>
                  <a:pt x="4741214" y="37696"/>
                </a:lnTo>
                <a:lnTo>
                  <a:pt x="4876678" y="26202"/>
                </a:lnTo>
                <a:lnTo>
                  <a:pt x="5012141" y="16503"/>
                </a:lnTo>
                <a:lnTo>
                  <a:pt x="5147604" y="9131"/>
                </a:lnTo>
                <a:lnTo>
                  <a:pt x="5283067" y="4538"/>
                </a:lnTo>
                <a:lnTo>
                  <a:pt x="5418531" y="3064"/>
                </a:lnTo>
                <a:lnTo>
                  <a:pt x="5553994" y="4912"/>
                </a:lnTo>
                <a:lnTo>
                  <a:pt x="5689457" y="10132"/>
                </a:lnTo>
                <a:lnTo>
                  <a:pt x="5824921" y="18617"/>
                </a:lnTo>
                <a:lnTo>
                  <a:pt x="5960384" y="30106"/>
                </a:lnTo>
                <a:lnTo>
                  <a:pt x="6095847" y="44193"/>
                </a:lnTo>
                <a:lnTo>
                  <a:pt x="6231310" y="60357"/>
                </a:lnTo>
                <a:lnTo>
                  <a:pt x="6366774" y="77984"/>
                </a:lnTo>
                <a:lnTo>
                  <a:pt x="6502237" y="96410"/>
                </a:lnTo>
                <a:lnTo>
                  <a:pt x="6637700" y="114953"/>
                </a:lnTo>
                <a:lnTo>
                  <a:pt x="6773164" y="132954"/>
                </a:lnTo>
                <a:lnTo>
                  <a:pt x="6908627" y="149814"/>
                </a:lnTo>
                <a:lnTo>
                  <a:pt x="7044090" y="165027"/>
                </a:lnTo>
                <a:lnTo>
                  <a:pt x="7179553" y="178204"/>
                </a:lnTo>
                <a:lnTo>
                  <a:pt x="7315017" y="189090"/>
                </a:lnTo>
                <a:lnTo>
                  <a:pt x="7450480" y="197574"/>
                </a:lnTo>
                <a:lnTo>
                  <a:pt x="7585943" y="203682"/>
                </a:lnTo>
                <a:lnTo>
                  <a:pt x="7721406" y="207573"/>
                </a:lnTo>
                <a:lnTo>
                  <a:pt x="7856870" y="209512"/>
                </a:lnTo>
                <a:lnTo>
                  <a:pt x="7992333" y="209848"/>
                </a:lnTo>
                <a:lnTo>
                  <a:pt x="8127796" y="208978"/>
                </a:lnTo>
                <a:lnTo>
                  <a:pt x="8263260" y="207316"/>
                </a:lnTo>
                <a:lnTo>
                  <a:pt x="8398723" y="205256"/>
                </a:lnTo>
                <a:lnTo>
                  <a:pt x="8534186" y="203141"/>
                </a:lnTo>
                <a:lnTo>
                  <a:pt x="8669649" y="201238"/>
                </a:lnTo>
                <a:lnTo>
                  <a:pt x="8805113" y="199711"/>
                </a:lnTo>
                <a:lnTo>
                  <a:pt x="8940576" y="198616"/>
                </a:lnTo>
                <a:lnTo>
                  <a:pt x="9076039" y="197894"/>
                </a:lnTo>
                <a:lnTo>
                  <a:pt x="9211503" y="197378"/>
                </a:lnTo>
                <a:lnTo>
                  <a:pt x="9346966" y="196808"/>
                </a:lnTo>
                <a:lnTo>
                  <a:pt x="9482429" y="195855"/>
                </a:lnTo>
                <a:lnTo>
                  <a:pt x="9617892" y="194147"/>
                </a:lnTo>
                <a:lnTo>
                  <a:pt x="9753356" y="191305"/>
                </a:lnTo>
                <a:lnTo>
                  <a:pt x="9888819" y="186977"/>
                </a:lnTo>
                <a:lnTo>
                  <a:pt x="10024282" y="180869"/>
                </a:lnTo>
                <a:lnTo>
                  <a:pt x="10159746" y="172776"/>
                </a:lnTo>
                <a:lnTo>
                  <a:pt x="10295209" y="162608"/>
                </a:lnTo>
                <a:lnTo>
                  <a:pt x="10430672" y="150402"/>
                </a:lnTo>
                <a:lnTo>
                  <a:pt x="10566135" y="136335"/>
                </a:lnTo>
                <a:lnTo>
                  <a:pt x="10701599" y="120717"/>
                </a:lnTo>
                <a:lnTo>
                  <a:pt x="10837062" y="103984"/>
                </a:lnTo>
                <a:lnTo>
                  <a:pt x="10972525" y="86673"/>
                </a:lnTo>
                <a:lnTo>
                  <a:pt x="11107988" y="69396"/>
                </a:lnTo>
                <a:lnTo>
                  <a:pt x="11243452" y="52806"/>
                </a:lnTo>
                <a:lnTo>
                  <a:pt x="11378915" y="37558"/>
                </a:lnTo>
                <a:lnTo>
                  <a:pt x="11514378" y="24274"/>
                </a:lnTo>
                <a:lnTo>
                  <a:pt x="11649842" y="13501"/>
                </a:lnTo>
                <a:lnTo>
                  <a:pt x="11785305" y="5683"/>
                </a:lnTo>
                <a:lnTo>
                  <a:pt x="11920768" y="1129"/>
                </a:lnTo>
                <a:lnTo>
                  <a:pt x="12056231" y="0"/>
                </a:lnTo>
                <a:lnTo>
                  <a:pt x="12191695" y="2300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6405649"/>
            <a:ext cx="12191695" cy="245182"/>
          </a:xfrm>
          <a:custGeom>
            <a:avLst/>
            <a:gdLst/>
            <a:ahLst/>
            <a:cxnLst/>
            <a:rect l="l" t="t" r="r" b="b"/>
            <a:pathLst>
              <a:path w="12191695" h="245182">
                <a:moveTo>
                  <a:pt x="0" y="150669"/>
                </a:moveTo>
                <a:lnTo>
                  <a:pt x="135463" y="169737"/>
                </a:lnTo>
                <a:lnTo>
                  <a:pt x="270926" y="187768"/>
                </a:lnTo>
                <a:lnTo>
                  <a:pt x="406389" y="204118"/>
                </a:lnTo>
                <a:lnTo>
                  <a:pt x="541853" y="218220"/>
                </a:lnTo>
                <a:lnTo>
                  <a:pt x="677316" y="229621"/>
                </a:lnTo>
                <a:lnTo>
                  <a:pt x="812779" y="238002"/>
                </a:lnTo>
                <a:lnTo>
                  <a:pt x="948242" y="243193"/>
                </a:lnTo>
                <a:lnTo>
                  <a:pt x="1083706" y="245182"/>
                </a:lnTo>
                <a:lnTo>
                  <a:pt x="1219169" y="244108"/>
                </a:lnTo>
                <a:lnTo>
                  <a:pt x="1354632" y="240247"/>
                </a:lnTo>
                <a:lnTo>
                  <a:pt x="1490096" y="233989"/>
                </a:lnTo>
                <a:lnTo>
                  <a:pt x="1625559" y="225812"/>
                </a:lnTo>
                <a:lnTo>
                  <a:pt x="1761022" y="216243"/>
                </a:lnTo>
                <a:lnTo>
                  <a:pt x="1896485" y="205824"/>
                </a:lnTo>
                <a:lnTo>
                  <a:pt x="2031949" y="195076"/>
                </a:lnTo>
                <a:lnTo>
                  <a:pt x="2167412" y="184466"/>
                </a:lnTo>
                <a:lnTo>
                  <a:pt x="2302875" y="174375"/>
                </a:lnTo>
                <a:lnTo>
                  <a:pt x="2438339" y="165080"/>
                </a:lnTo>
                <a:lnTo>
                  <a:pt x="2573802" y="156740"/>
                </a:lnTo>
                <a:lnTo>
                  <a:pt x="2709265" y="149392"/>
                </a:lnTo>
                <a:lnTo>
                  <a:pt x="2844728" y="142958"/>
                </a:lnTo>
                <a:lnTo>
                  <a:pt x="2980192" y="137257"/>
                </a:lnTo>
                <a:lnTo>
                  <a:pt x="3115655" y="132030"/>
                </a:lnTo>
                <a:lnTo>
                  <a:pt x="3251118" y="126965"/>
                </a:lnTo>
                <a:lnTo>
                  <a:pt x="3386582" y="121734"/>
                </a:lnTo>
                <a:lnTo>
                  <a:pt x="3522045" y="116024"/>
                </a:lnTo>
                <a:lnTo>
                  <a:pt x="3657508" y="109568"/>
                </a:lnTo>
                <a:lnTo>
                  <a:pt x="3792971" y="102177"/>
                </a:lnTo>
                <a:lnTo>
                  <a:pt x="3928435" y="93759"/>
                </a:lnTo>
                <a:lnTo>
                  <a:pt x="4063898" y="84341"/>
                </a:lnTo>
                <a:lnTo>
                  <a:pt x="4199361" y="74069"/>
                </a:lnTo>
                <a:lnTo>
                  <a:pt x="4334824" y="63211"/>
                </a:lnTo>
                <a:lnTo>
                  <a:pt x="4470288" y="52141"/>
                </a:lnTo>
                <a:lnTo>
                  <a:pt x="4605751" y="41320"/>
                </a:lnTo>
                <a:lnTo>
                  <a:pt x="4741214" y="31269"/>
                </a:lnTo>
                <a:lnTo>
                  <a:pt x="4876678" y="22536"/>
                </a:lnTo>
                <a:lnTo>
                  <a:pt x="5012141" y="15656"/>
                </a:lnTo>
                <a:lnTo>
                  <a:pt x="5147604" y="11120"/>
                </a:lnTo>
                <a:lnTo>
                  <a:pt x="5283067" y="9338"/>
                </a:lnTo>
                <a:lnTo>
                  <a:pt x="5418531" y="10605"/>
                </a:lnTo>
                <a:lnTo>
                  <a:pt x="5553994" y="15085"/>
                </a:lnTo>
                <a:lnTo>
                  <a:pt x="5689457" y="22787"/>
                </a:lnTo>
                <a:lnTo>
                  <a:pt x="5824921" y="33567"/>
                </a:lnTo>
                <a:lnTo>
                  <a:pt x="5960384" y="47128"/>
                </a:lnTo>
                <a:lnTo>
                  <a:pt x="6095847" y="63035"/>
                </a:lnTo>
                <a:lnTo>
                  <a:pt x="6231310" y="80738"/>
                </a:lnTo>
                <a:lnTo>
                  <a:pt x="6366774" y="99601"/>
                </a:lnTo>
                <a:lnTo>
                  <a:pt x="6502237" y="118939"/>
                </a:lnTo>
                <a:lnTo>
                  <a:pt x="6637700" y="138058"/>
                </a:lnTo>
                <a:lnTo>
                  <a:pt x="6773164" y="156290"/>
                </a:lnTo>
                <a:lnTo>
                  <a:pt x="6908627" y="173034"/>
                </a:lnTo>
                <a:lnTo>
                  <a:pt x="7044090" y="187783"/>
                </a:lnTo>
                <a:lnTo>
                  <a:pt x="7179553" y="200156"/>
                </a:lnTo>
                <a:lnTo>
                  <a:pt x="7315017" y="209912"/>
                </a:lnTo>
                <a:lnTo>
                  <a:pt x="7450480" y="216953"/>
                </a:lnTo>
                <a:lnTo>
                  <a:pt x="7585943" y="221331"/>
                </a:lnTo>
                <a:lnTo>
                  <a:pt x="7721406" y="223229"/>
                </a:lnTo>
                <a:lnTo>
                  <a:pt x="7856870" y="222943"/>
                </a:lnTo>
                <a:lnTo>
                  <a:pt x="7992333" y="220854"/>
                </a:lnTo>
                <a:lnTo>
                  <a:pt x="8127796" y="217398"/>
                </a:lnTo>
                <a:lnTo>
                  <a:pt x="8263260" y="213025"/>
                </a:lnTo>
                <a:lnTo>
                  <a:pt x="8398723" y="208173"/>
                </a:lnTo>
                <a:lnTo>
                  <a:pt x="8534186" y="203226"/>
                </a:lnTo>
                <a:lnTo>
                  <a:pt x="8669649" y="198493"/>
                </a:lnTo>
                <a:lnTo>
                  <a:pt x="8805113" y="194182"/>
                </a:lnTo>
                <a:lnTo>
                  <a:pt x="8940576" y="190390"/>
                </a:lnTo>
                <a:lnTo>
                  <a:pt x="9076039" y="187099"/>
                </a:lnTo>
                <a:lnTo>
                  <a:pt x="9211503" y="184181"/>
                </a:lnTo>
                <a:lnTo>
                  <a:pt x="9346966" y="181412"/>
                </a:lnTo>
                <a:lnTo>
                  <a:pt x="9482429" y="178496"/>
                </a:lnTo>
                <a:lnTo>
                  <a:pt x="9617892" y="175092"/>
                </a:lnTo>
                <a:lnTo>
                  <a:pt x="9753356" y="170845"/>
                </a:lnTo>
                <a:lnTo>
                  <a:pt x="9888819" y="165425"/>
                </a:lnTo>
                <a:lnTo>
                  <a:pt x="10024282" y="158555"/>
                </a:lnTo>
                <a:lnTo>
                  <a:pt x="10159746" y="150040"/>
                </a:lnTo>
                <a:lnTo>
                  <a:pt x="10295209" y="139797"/>
                </a:lnTo>
                <a:lnTo>
                  <a:pt x="10430672" y="127865"/>
                </a:lnTo>
                <a:lnTo>
                  <a:pt x="10566135" y="114415"/>
                </a:lnTo>
                <a:lnTo>
                  <a:pt x="10701599" y="99751"/>
                </a:lnTo>
                <a:lnTo>
                  <a:pt x="10837062" y="84291"/>
                </a:lnTo>
                <a:lnTo>
                  <a:pt x="10972525" y="68554"/>
                </a:lnTo>
                <a:lnTo>
                  <a:pt x="11107988" y="53129"/>
                </a:lnTo>
                <a:lnTo>
                  <a:pt x="11243452" y="38641"/>
                </a:lnTo>
                <a:lnTo>
                  <a:pt x="11378915" y="25713"/>
                </a:lnTo>
                <a:lnTo>
                  <a:pt x="11514378" y="14931"/>
                </a:lnTo>
                <a:lnTo>
                  <a:pt x="11649842" y="6805"/>
                </a:lnTo>
                <a:lnTo>
                  <a:pt x="11785305" y="1738"/>
                </a:lnTo>
                <a:lnTo>
                  <a:pt x="11920768" y="0"/>
                </a:lnTo>
                <a:lnTo>
                  <a:pt x="12056231" y="1708"/>
                </a:lnTo>
                <a:lnTo>
                  <a:pt x="12191695" y="6822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6467906"/>
            <a:ext cx="12191695" cy="248613"/>
          </a:xfrm>
          <a:custGeom>
            <a:avLst/>
            <a:gdLst/>
            <a:ahLst/>
            <a:cxnLst/>
            <a:rect l="l" t="t" r="r" b="b"/>
            <a:pathLst>
              <a:path w="12191695" h="248613">
                <a:moveTo>
                  <a:pt x="0" y="169572"/>
                </a:moveTo>
                <a:lnTo>
                  <a:pt x="135463" y="187517"/>
                </a:lnTo>
                <a:lnTo>
                  <a:pt x="270926" y="204116"/>
                </a:lnTo>
                <a:lnTo>
                  <a:pt x="406389" y="218744"/>
                </a:lnTo>
                <a:lnTo>
                  <a:pt x="541853" y="230861"/>
                </a:lnTo>
                <a:lnTo>
                  <a:pt x="677316" y="240043"/>
                </a:lnTo>
                <a:lnTo>
                  <a:pt x="812779" y="246004"/>
                </a:lnTo>
                <a:lnTo>
                  <a:pt x="948242" y="248613"/>
                </a:lnTo>
                <a:lnTo>
                  <a:pt x="1083706" y="247896"/>
                </a:lnTo>
                <a:lnTo>
                  <a:pt x="1219169" y="244031"/>
                </a:lnTo>
                <a:lnTo>
                  <a:pt x="1354632" y="237338"/>
                </a:lnTo>
                <a:lnTo>
                  <a:pt x="1490096" y="228250"/>
                </a:lnTo>
                <a:lnTo>
                  <a:pt x="1625559" y="217286"/>
                </a:lnTo>
                <a:lnTo>
                  <a:pt x="1761022" y="205017"/>
                </a:lnTo>
                <a:lnTo>
                  <a:pt x="1896485" y="192024"/>
                </a:lnTo>
                <a:lnTo>
                  <a:pt x="2031949" y="178869"/>
                </a:lnTo>
                <a:lnTo>
                  <a:pt x="2167412" y="166053"/>
                </a:lnTo>
                <a:lnTo>
                  <a:pt x="2302875" y="153992"/>
                </a:lnTo>
                <a:lnTo>
                  <a:pt x="2438339" y="142992"/>
                </a:lnTo>
                <a:lnTo>
                  <a:pt x="2573802" y="133239"/>
                </a:lnTo>
                <a:lnTo>
                  <a:pt x="2709265" y="124790"/>
                </a:lnTo>
                <a:lnTo>
                  <a:pt x="2844728" y="117583"/>
                </a:lnTo>
                <a:lnTo>
                  <a:pt x="2980192" y="111449"/>
                </a:lnTo>
                <a:lnTo>
                  <a:pt x="3115655" y="106137"/>
                </a:lnTo>
                <a:lnTo>
                  <a:pt x="3251118" y="101335"/>
                </a:lnTo>
                <a:lnTo>
                  <a:pt x="3386582" y="96713"/>
                </a:lnTo>
                <a:lnTo>
                  <a:pt x="3522045" y="91945"/>
                </a:lnTo>
                <a:lnTo>
                  <a:pt x="3657508" y="86753"/>
                </a:lnTo>
                <a:lnTo>
                  <a:pt x="3792971" y="80928"/>
                </a:lnTo>
                <a:lnTo>
                  <a:pt x="3928435" y="74354"/>
                </a:lnTo>
                <a:lnTo>
                  <a:pt x="4063898" y="67031"/>
                </a:lnTo>
                <a:lnTo>
                  <a:pt x="4199361" y="59072"/>
                </a:lnTo>
                <a:lnTo>
                  <a:pt x="4334824" y="50711"/>
                </a:lnTo>
                <a:lnTo>
                  <a:pt x="4470288" y="42285"/>
                </a:lnTo>
                <a:lnTo>
                  <a:pt x="4605751" y="34213"/>
                </a:lnTo>
                <a:lnTo>
                  <a:pt x="4741214" y="26977"/>
                </a:lnTo>
                <a:lnTo>
                  <a:pt x="4876678" y="21080"/>
                </a:lnTo>
                <a:lnTo>
                  <a:pt x="5012141" y="17016"/>
                </a:lnTo>
                <a:lnTo>
                  <a:pt x="5147604" y="15233"/>
                </a:lnTo>
                <a:lnTo>
                  <a:pt x="5283067" y="16099"/>
                </a:lnTo>
                <a:lnTo>
                  <a:pt x="5418531" y="19870"/>
                </a:lnTo>
                <a:lnTo>
                  <a:pt x="5553994" y="26670"/>
                </a:lnTo>
                <a:lnTo>
                  <a:pt x="5689457" y="36475"/>
                </a:lnTo>
                <a:lnTo>
                  <a:pt x="5824921" y="49109"/>
                </a:lnTo>
                <a:lnTo>
                  <a:pt x="5960384" y="64247"/>
                </a:lnTo>
                <a:lnTo>
                  <a:pt x="6095847" y="81430"/>
                </a:lnTo>
                <a:lnTo>
                  <a:pt x="6231310" y="100088"/>
                </a:lnTo>
                <a:lnTo>
                  <a:pt x="6366774" y="119571"/>
                </a:lnTo>
                <a:lnTo>
                  <a:pt x="6502237" y="139187"/>
                </a:lnTo>
                <a:lnTo>
                  <a:pt x="6637700" y="158234"/>
                </a:lnTo>
                <a:lnTo>
                  <a:pt x="6773164" y="176047"/>
                </a:lnTo>
                <a:lnTo>
                  <a:pt x="6908627" y="192030"/>
                </a:lnTo>
                <a:lnTo>
                  <a:pt x="7044090" y="205690"/>
                </a:lnTo>
                <a:lnTo>
                  <a:pt x="7179553" y="216660"/>
                </a:lnTo>
                <a:lnTo>
                  <a:pt x="7315017" y="224721"/>
                </a:lnTo>
                <a:lnTo>
                  <a:pt x="7450480" y="229802"/>
                </a:lnTo>
                <a:lnTo>
                  <a:pt x="7585943" y="231983"/>
                </a:lnTo>
                <a:lnTo>
                  <a:pt x="7721406" y="231480"/>
                </a:lnTo>
                <a:lnTo>
                  <a:pt x="7856870" y="228626"/>
                </a:lnTo>
                <a:lnTo>
                  <a:pt x="7992333" y="223841"/>
                </a:lnTo>
                <a:lnTo>
                  <a:pt x="8127796" y="217601"/>
                </a:lnTo>
                <a:lnTo>
                  <a:pt x="8263260" y="210399"/>
                </a:lnTo>
                <a:lnTo>
                  <a:pt x="8398723" y="202714"/>
                </a:lnTo>
                <a:lnTo>
                  <a:pt x="8534186" y="194975"/>
                </a:lnTo>
                <a:lnTo>
                  <a:pt x="8669649" y="187531"/>
                </a:lnTo>
                <a:lnTo>
                  <a:pt x="8805113" y="180631"/>
                </a:lnTo>
                <a:lnTo>
                  <a:pt x="8940576" y="174414"/>
                </a:lnTo>
                <a:lnTo>
                  <a:pt x="9076039" y="168896"/>
                </a:lnTo>
                <a:lnTo>
                  <a:pt x="9211503" y="163983"/>
                </a:lnTo>
                <a:lnTo>
                  <a:pt x="9346966" y="159481"/>
                </a:lnTo>
                <a:lnTo>
                  <a:pt x="9482429" y="155122"/>
                </a:lnTo>
                <a:lnTo>
                  <a:pt x="9617892" y="150584"/>
                </a:lnTo>
                <a:lnTo>
                  <a:pt x="9753356" y="145531"/>
                </a:lnTo>
                <a:lnTo>
                  <a:pt x="9888819" y="139645"/>
                </a:lnTo>
                <a:lnTo>
                  <a:pt x="10024282" y="132654"/>
                </a:lnTo>
                <a:lnTo>
                  <a:pt x="10159746" y="124369"/>
                </a:lnTo>
                <a:lnTo>
                  <a:pt x="10295209" y="114699"/>
                </a:lnTo>
                <a:lnTo>
                  <a:pt x="10430672" y="103677"/>
                </a:lnTo>
                <a:lnTo>
                  <a:pt x="10566135" y="91461"/>
                </a:lnTo>
                <a:lnTo>
                  <a:pt x="10701599" y="78333"/>
                </a:lnTo>
                <a:lnTo>
                  <a:pt x="10837062" y="64691"/>
                </a:lnTo>
                <a:lnTo>
                  <a:pt x="10972525" y="51025"/>
                </a:lnTo>
                <a:lnTo>
                  <a:pt x="11107988" y="37893"/>
                </a:lnTo>
                <a:lnTo>
                  <a:pt x="11243452" y="25885"/>
                </a:lnTo>
                <a:lnTo>
                  <a:pt x="11378915" y="15588"/>
                </a:lnTo>
                <a:lnTo>
                  <a:pt x="11514378" y="7547"/>
                </a:lnTo>
                <a:lnTo>
                  <a:pt x="11649842" y="2231"/>
                </a:lnTo>
                <a:lnTo>
                  <a:pt x="11785305" y="0"/>
                </a:lnTo>
                <a:lnTo>
                  <a:pt x="11920768" y="1082"/>
                </a:lnTo>
                <a:lnTo>
                  <a:pt x="12056231" y="5551"/>
                </a:lnTo>
                <a:lnTo>
                  <a:pt x="12191695" y="13326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0" y="6533113"/>
            <a:ext cx="12191695" cy="246124"/>
          </a:xfrm>
          <a:custGeom>
            <a:avLst/>
            <a:gdLst/>
            <a:ahLst/>
            <a:cxnLst/>
            <a:rect l="l" t="t" r="r" b="b"/>
            <a:pathLst>
              <a:path w="12191695" h="246124">
                <a:moveTo>
                  <a:pt x="0" y="183172"/>
                </a:moveTo>
                <a:lnTo>
                  <a:pt x="135463" y="199432"/>
                </a:lnTo>
                <a:lnTo>
                  <a:pt x="270926" y="214077"/>
                </a:lnTo>
                <a:lnTo>
                  <a:pt x="406389" y="226514"/>
                </a:lnTo>
                <a:lnTo>
                  <a:pt x="541853" y="236236"/>
                </a:lnTo>
                <a:lnTo>
                  <a:pt x="677316" y="242855"/>
                </a:lnTo>
                <a:lnTo>
                  <a:pt x="812779" y="246124"/>
                </a:lnTo>
                <a:lnTo>
                  <a:pt x="948242" y="245951"/>
                </a:lnTo>
                <a:lnTo>
                  <a:pt x="1083706" y="242404"/>
                </a:lnTo>
                <a:lnTo>
                  <a:pt x="1219169" y="235707"/>
                </a:lnTo>
                <a:lnTo>
                  <a:pt x="1354632" y="226219"/>
                </a:lnTo>
                <a:lnTo>
                  <a:pt x="1490096" y="214417"/>
                </a:lnTo>
                <a:lnTo>
                  <a:pt x="1625559" y="200862"/>
                </a:lnTo>
                <a:lnTo>
                  <a:pt x="1761022" y="186161"/>
                </a:lnTo>
                <a:lnTo>
                  <a:pt x="1896485" y="170935"/>
                </a:lnTo>
                <a:lnTo>
                  <a:pt x="2031949" y="155777"/>
                </a:lnTo>
                <a:lnTo>
                  <a:pt x="2167412" y="141221"/>
                </a:lnTo>
                <a:lnTo>
                  <a:pt x="2302875" y="127707"/>
                </a:lnTo>
                <a:lnTo>
                  <a:pt x="2438339" y="115564"/>
                </a:lnTo>
                <a:lnTo>
                  <a:pt x="2573802" y="104994"/>
                </a:lnTo>
                <a:lnTo>
                  <a:pt x="2709265" y="96068"/>
                </a:lnTo>
                <a:lnTo>
                  <a:pt x="2844728" y="88731"/>
                </a:lnTo>
                <a:lnTo>
                  <a:pt x="2980192" y="82816"/>
                </a:lnTo>
                <a:lnTo>
                  <a:pt x="3115655" y="78067"/>
                </a:lnTo>
                <a:lnTo>
                  <a:pt x="3251118" y="74166"/>
                </a:lnTo>
                <a:lnTo>
                  <a:pt x="3386582" y="70766"/>
                </a:lnTo>
                <a:lnTo>
                  <a:pt x="3522045" y="67527"/>
                </a:lnTo>
                <a:lnTo>
                  <a:pt x="3657508" y="64145"/>
                </a:lnTo>
                <a:lnTo>
                  <a:pt x="3792971" y="60383"/>
                </a:lnTo>
                <a:lnTo>
                  <a:pt x="3928435" y="56096"/>
                </a:lnTo>
                <a:lnTo>
                  <a:pt x="4063898" y="51248"/>
                </a:lnTo>
                <a:lnTo>
                  <a:pt x="4199361" y="45917"/>
                </a:lnTo>
                <a:lnTo>
                  <a:pt x="4334824" y="40294"/>
                </a:lnTo>
                <a:lnTo>
                  <a:pt x="4470288" y="34675"/>
                </a:lnTo>
                <a:lnTo>
                  <a:pt x="4605751" y="29440"/>
                </a:lnTo>
                <a:lnTo>
                  <a:pt x="4741214" y="25025"/>
                </a:lnTo>
                <a:lnTo>
                  <a:pt x="4876678" y="21891"/>
                </a:lnTo>
                <a:lnTo>
                  <a:pt x="5012141" y="20491"/>
                </a:lnTo>
                <a:lnTo>
                  <a:pt x="5147604" y="21233"/>
                </a:lnTo>
                <a:lnTo>
                  <a:pt x="5283067" y="24445"/>
                </a:lnTo>
                <a:lnTo>
                  <a:pt x="5418531" y="30349"/>
                </a:lnTo>
                <a:lnTo>
                  <a:pt x="5553994" y="39037"/>
                </a:lnTo>
                <a:lnTo>
                  <a:pt x="5689457" y="50457"/>
                </a:lnTo>
                <a:lnTo>
                  <a:pt x="5824921" y="64407"/>
                </a:lnTo>
                <a:lnTo>
                  <a:pt x="5960384" y="80543"/>
                </a:lnTo>
                <a:lnTo>
                  <a:pt x="6095847" y="98390"/>
                </a:lnTo>
                <a:lnTo>
                  <a:pt x="6231310" y="117369"/>
                </a:lnTo>
                <a:lnTo>
                  <a:pt x="6366774" y="136826"/>
                </a:lnTo>
                <a:lnTo>
                  <a:pt x="6502237" y="156066"/>
                </a:lnTo>
                <a:lnTo>
                  <a:pt x="6637700" y="174397"/>
                </a:lnTo>
                <a:lnTo>
                  <a:pt x="6773164" y="191162"/>
                </a:lnTo>
                <a:lnTo>
                  <a:pt x="6908627" y="205782"/>
                </a:lnTo>
                <a:lnTo>
                  <a:pt x="7044090" y="217784"/>
                </a:lnTo>
                <a:lnTo>
                  <a:pt x="7179553" y="226827"/>
                </a:lnTo>
                <a:lnTo>
                  <a:pt x="7315017" y="232720"/>
                </a:lnTo>
                <a:lnTo>
                  <a:pt x="7450480" y="235424"/>
                </a:lnTo>
                <a:lnTo>
                  <a:pt x="7585943" y="235057"/>
                </a:lnTo>
                <a:lnTo>
                  <a:pt x="7721406" y="231872"/>
                </a:lnTo>
                <a:lnTo>
                  <a:pt x="7856870" y="226244"/>
                </a:lnTo>
                <a:lnTo>
                  <a:pt x="7992333" y="218632"/>
                </a:lnTo>
                <a:lnTo>
                  <a:pt x="8127796" y="209557"/>
                </a:lnTo>
                <a:lnTo>
                  <a:pt x="8263260" y="199555"/>
                </a:lnTo>
                <a:lnTo>
                  <a:pt x="8398723" y="189147"/>
                </a:lnTo>
                <a:lnTo>
                  <a:pt x="8534186" y="178801"/>
                </a:lnTo>
                <a:lnTo>
                  <a:pt x="8669649" y="168908"/>
                </a:lnTo>
                <a:lnTo>
                  <a:pt x="8805113" y="159754"/>
                </a:lnTo>
                <a:lnTo>
                  <a:pt x="8940576" y="151510"/>
                </a:lnTo>
                <a:lnTo>
                  <a:pt x="9076039" y="144224"/>
                </a:lnTo>
                <a:lnTo>
                  <a:pt x="9211503" y="137828"/>
                </a:lnTo>
                <a:lnTo>
                  <a:pt x="9346966" y="132152"/>
                </a:lnTo>
                <a:lnTo>
                  <a:pt x="9482429" y="126943"/>
                </a:lnTo>
                <a:lnTo>
                  <a:pt x="9617892" y="121894"/>
                </a:lnTo>
                <a:lnTo>
                  <a:pt x="9753356" y="116677"/>
                </a:lnTo>
                <a:lnTo>
                  <a:pt x="9888819" y="110975"/>
                </a:lnTo>
                <a:lnTo>
                  <a:pt x="10024282" y="104513"/>
                </a:lnTo>
                <a:lnTo>
                  <a:pt x="10159746" y="97095"/>
                </a:lnTo>
                <a:lnTo>
                  <a:pt x="10295209" y="88617"/>
                </a:lnTo>
                <a:lnTo>
                  <a:pt x="10430672" y="79094"/>
                </a:lnTo>
                <a:lnTo>
                  <a:pt x="10566135" y="68661"/>
                </a:lnTo>
                <a:lnTo>
                  <a:pt x="10701599" y="57573"/>
                </a:lnTo>
                <a:lnTo>
                  <a:pt x="10837062" y="46197"/>
                </a:lnTo>
                <a:lnTo>
                  <a:pt x="10972525" y="34990"/>
                </a:lnTo>
                <a:lnTo>
                  <a:pt x="11107988" y="24471"/>
                </a:lnTo>
                <a:lnTo>
                  <a:pt x="11243452" y="15192"/>
                </a:lnTo>
                <a:lnTo>
                  <a:pt x="11378915" y="7698"/>
                </a:lnTo>
                <a:lnTo>
                  <a:pt x="11514378" y="2492"/>
                </a:lnTo>
                <a:lnTo>
                  <a:pt x="11649842" y="0"/>
                </a:lnTo>
                <a:lnTo>
                  <a:pt x="11785305" y="541"/>
                </a:lnTo>
                <a:lnTo>
                  <a:pt x="11920768" y="4298"/>
                </a:lnTo>
                <a:lnTo>
                  <a:pt x="12056231" y="11307"/>
                </a:lnTo>
                <a:lnTo>
                  <a:pt x="12191695" y="21447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0" y="6600998"/>
            <a:ext cx="12191695" cy="238322"/>
          </a:xfrm>
          <a:custGeom>
            <a:avLst/>
            <a:gdLst/>
            <a:ahLst/>
            <a:cxnLst/>
            <a:rect l="l" t="t" r="r" b="b"/>
            <a:pathLst>
              <a:path w="12191695" h="238322">
                <a:moveTo>
                  <a:pt x="0" y="190722"/>
                </a:moveTo>
                <a:lnTo>
                  <a:pt x="135463" y="204821"/>
                </a:lnTo>
                <a:lnTo>
                  <a:pt x="270926" y="217096"/>
                </a:lnTo>
                <a:lnTo>
                  <a:pt x="406389" y="226989"/>
                </a:lnTo>
                <a:lnTo>
                  <a:pt x="541853" y="234032"/>
                </a:lnTo>
                <a:lnTo>
                  <a:pt x="677316" y="237878"/>
                </a:lnTo>
                <a:lnTo>
                  <a:pt x="812779" y="238322"/>
                </a:lnTo>
                <a:lnTo>
                  <a:pt x="948242" y="235314"/>
                </a:lnTo>
                <a:lnTo>
                  <a:pt x="1083706" y="228966"/>
                </a:lnTo>
                <a:lnTo>
                  <a:pt x="1219169" y="219541"/>
                </a:lnTo>
                <a:lnTo>
                  <a:pt x="1354632" y="207444"/>
                </a:lnTo>
                <a:lnTo>
                  <a:pt x="1490096" y="193188"/>
                </a:lnTo>
                <a:lnTo>
                  <a:pt x="1625559" y="177371"/>
                </a:lnTo>
                <a:lnTo>
                  <a:pt x="1761022" y="160636"/>
                </a:lnTo>
                <a:lnTo>
                  <a:pt x="1896485" y="143634"/>
                </a:lnTo>
                <a:lnTo>
                  <a:pt x="2031949" y="126985"/>
                </a:lnTo>
                <a:lnTo>
                  <a:pt x="2167412" y="111244"/>
                </a:lnTo>
                <a:lnTo>
                  <a:pt x="2302875" y="96871"/>
                </a:lnTo>
                <a:lnTo>
                  <a:pt x="2438339" y="84207"/>
                </a:lnTo>
                <a:lnTo>
                  <a:pt x="2573802" y="73462"/>
                </a:lnTo>
                <a:lnTo>
                  <a:pt x="2709265" y="64709"/>
                </a:lnTo>
                <a:lnTo>
                  <a:pt x="2844728" y="57891"/>
                </a:lnTo>
                <a:lnTo>
                  <a:pt x="2980192" y="52834"/>
                </a:lnTo>
                <a:lnTo>
                  <a:pt x="3115655" y="49267"/>
                </a:lnTo>
                <a:lnTo>
                  <a:pt x="3251118" y="46856"/>
                </a:lnTo>
                <a:lnTo>
                  <a:pt x="3386582" y="45231"/>
                </a:lnTo>
                <a:lnTo>
                  <a:pt x="3522045" y="44024"/>
                </a:lnTo>
                <a:lnTo>
                  <a:pt x="3657508" y="42902"/>
                </a:lnTo>
                <a:lnTo>
                  <a:pt x="3792971" y="41593"/>
                </a:lnTo>
                <a:lnTo>
                  <a:pt x="3928435" y="39916"/>
                </a:lnTo>
                <a:lnTo>
                  <a:pt x="4063898" y="37794"/>
                </a:lnTo>
                <a:lnTo>
                  <a:pt x="4199361" y="35264"/>
                </a:lnTo>
                <a:lnTo>
                  <a:pt x="4334824" y="32476"/>
                </a:lnTo>
                <a:lnTo>
                  <a:pt x="4470288" y="29683"/>
                </a:lnTo>
                <a:lnTo>
                  <a:pt x="4605751" y="27220"/>
                </a:lnTo>
                <a:lnTo>
                  <a:pt x="4741214" y="25484"/>
                </a:lnTo>
                <a:lnTo>
                  <a:pt x="4876678" y="24895"/>
                </a:lnTo>
                <a:lnTo>
                  <a:pt x="5012141" y="25867"/>
                </a:lnTo>
                <a:lnTo>
                  <a:pt x="5147604" y="28771"/>
                </a:lnTo>
                <a:lnTo>
                  <a:pt x="5283067" y="33905"/>
                </a:lnTo>
                <a:lnTo>
                  <a:pt x="5418531" y="41460"/>
                </a:lnTo>
                <a:lnTo>
                  <a:pt x="5553994" y="51504"/>
                </a:lnTo>
                <a:lnTo>
                  <a:pt x="5689457" y="63964"/>
                </a:lnTo>
                <a:lnTo>
                  <a:pt x="5824921" y="78622"/>
                </a:lnTo>
                <a:lnTo>
                  <a:pt x="5960384" y="95124"/>
                </a:lnTo>
                <a:lnTo>
                  <a:pt x="6095847" y="112989"/>
                </a:lnTo>
                <a:lnTo>
                  <a:pt x="6231310" y="131639"/>
                </a:lnTo>
                <a:lnTo>
                  <a:pt x="6366774" y="150423"/>
                </a:lnTo>
                <a:lnTo>
                  <a:pt x="6502237" y="168658"/>
                </a:lnTo>
                <a:lnTo>
                  <a:pt x="6637700" y="185665"/>
                </a:lnTo>
                <a:lnTo>
                  <a:pt x="6773164" y="200809"/>
                </a:lnTo>
                <a:lnTo>
                  <a:pt x="6908627" y="213535"/>
                </a:lnTo>
                <a:lnTo>
                  <a:pt x="7044090" y="223398"/>
                </a:lnTo>
                <a:lnTo>
                  <a:pt x="7179553" y="230090"/>
                </a:lnTo>
                <a:lnTo>
                  <a:pt x="7315017" y="233454"/>
                </a:lnTo>
                <a:lnTo>
                  <a:pt x="7450480" y="233492"/>
                </a:lnTo>
                <a:lnTo>
                  <a:pt x="7585943" y="230359"/>
                </a:lnTo>
                <a:lnTo>
                  <a:pt x="7721406" y="224353"/>
                </a:lnTo>
                <a:lnTo>
                  <a:pt x="7856870" y="215888"/>
                </a:lnTo>
                <a:lnTo>
                  <a:pt x="7992333" y="205470"/>
                </a:lnTo>
                <a:lnTo>
                  <a:pt x="8127796" y="193658"/>
                </a:lnTo>
                <a:lnTo>
                  <a:pt x="8263260" y="181033"/>
                </a:lnTo>
                <a:lnTo>
                  <a:pt x="8398723" y="168153"/>
                </a:lnTo>
                <a:lnTo>
                  <a:pt x="8534186" y="155526"/>
                </a:lnTo>
                <a:lnTo>
                  <a:pt x="8669649" y="143575"/>
                </a:lnTo>
                <a:lnTo>
                  <a:pt x="8805113" y="132618"/>
                </a:lnTo>
                <a:lnTo>
                  <a:pt x="8940576" y="122852"/>
                </a:lnTo>
                <a:lnTo>
                  <a:pt x="9076039" y="114351"/>
                </a:lnTo>
                <a:lnTo>
                  <a:pt x="9211503" y="107063"/>
                </a:lnTo>
                <a:lnTo>
                  <a:pt x="9346966" y="100832"/>
                </a:lnTo>
                <a:lnTo>
                  <a:pt x="9482429" y="95413"/>
                </a:lnTo>
                <a:lnTo>
                  <a:pt x="9617892" y="90502"/>
                </a:lnTo>
                <a:lnTo>
                  <a:pt x="9753356" y="85770"/>
                </a:lnTo>
                <a:lnTo>
                  <a:pt x="9888819" y="80892"/>
                </a:lnTo>
                <a:lnTo>
                  <a:pt x="10024282" y="75582"/>
                </a:lnTo>
                <a:lnTo>
                  <a:pt x="10159746" y="69623"/>
                </a:lnTo>
                <a:lnTo>
                  <a:pt x="10295209" y="62893"/>
                </a:lnTo>
                <a:lnTo>
                  <a:pt x="10430672" y="55378"/>
                </a:lnTo>
                <a:lnTo>
                  <a:pt x="10566135" y="47183"/>
                </a:lnTo>
                <a:lnTo>
                  <a:pt x="10701599" y="38531"/>
                </a:lnTo>
                <a:lnTo>
                  <a:pt x="10837062" y="29751"/>
                </a:lnTo>
                <a:lnTo>
                  <a:pt x="10972525" y="21260"/>
                </a:lnTo>
                <a:lnTo>
                  <a:pt x="11107988" y="13537"/>
                </a:lnTo>
                <a:lnTo>
                  <a:pt x="11243452" y="7091"/>
                </a:lnTo>
                <a:lnTo>
                  <a:pt x="11378915" y="2425"/>
                </a:lnTo>
                <a:lnTo>
                  <a:pt x="11514378" y="0"/>
                </a:lnTo>
                <a:lnTo>
                  <a:pt x="11649842" y="198"/>
                </a:lnTo>
                <a:lnTo>
                  <a:pt x="11785305" y="3299"/>
                </a:lnTo>
                <a:lnTo>
                  <a:pt x="11920768" y="9446"/>
                </a:lnTo>
                <a:lnTo>
                  <a:pt x="12056231" y="18641"/>
                </a:lnTo>
                <a:lnTo>
                  <a:pt x="12191695" y="30728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46304"/>
            <a:ext cx="11283696" cy="44805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内容供给数据流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722376"/>
            <a:ext cx="585216" cy="41148"/>
          </a:xfrm>
          <a:prstGeom prst="rect">
            <a:avLst/>
          </a:prstGeom>
          <a:solidFill>
            <a:srgbClr val="EE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649224"/>
            <a:ext cx="10469880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2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一份治理内容，两类消费载体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292608"/>
            <a:ext cx="896112" cy="20116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HiAgent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6647688"/>
            <a:ext cx="10241280" cy="1280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7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企业数据智能体建设规划  /  规划视图  /  2026.10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629400"/>
            <a:ext cx="585216" cy="17373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170432"/>
            <a:ext cx="2386584" cy="27432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01  权威来源与责任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1609344"/>
            <a:ext cx="2386584" cy="0"/>
          </a:xfrm>
          <a:prstGeom prst="line">
            <a:avLst/>
          </a:prstGeom>
          <a:ln w="8890">
            <a:solidFill>
              <a:srgbClr val="D4E7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364992" y="1170432"/>
            <a:ext cx="3767328" cy="27432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02  内容治理与加工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64992" y="1609344"/>
            <a:ext cx="3767328" cy="0"/>
          </a:xfrm>
          <a:prstGeom prst="line">
            <a:avLst/>
          </a:prstGeom>
          <a:ln w="8890">
            <a:solidFill>
              <a:srgbClr val="D4E7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08392" y="1170432"/>
            <a:ext cx="3968496" cy="27432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03  智能服务消费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08392" y="1609344"/>
            <a:ext cx="3968496" cy="0"/>
          </a:xfrm>
          <a:prstGeom prst="line">
            <a:avLst/>
          </a:prstGeom>
          <a:ln w="8890">
            <a:solidFill>
              <a:srgbClr val="D4E7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25780" y="1952244"/>
            <a:ext cx="2386584" cy="160020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1920240"/>
            <a:ext cx="2386584" cy="1600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6564" y="2490002"/>
            <a:ext cx="469087" cy="8339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9533" y="2172065"/>
            <a:ext cx="317936" cy="302300"/>
          </a:xfrm>
          <a:prstGeom prst="rect">
            <a:avLst/>
          </a:prstGeom>
          <a:solidFill>
            <a:srgbClr val="168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9533" y="2432669"/>
            <a:ext cx="317936" cy="104241"/>
          </a:xfrm>
          <a:prstGeom prst="ellipse">
            <a:avLst/>
          </a:prstGeom>
          <a:solidFill>
            <a:srgbClr val="096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9533" y="2119944"/>
            <a:ext cx="317936" cy="104241"/>
          </a:xfrm>
          <a:prstGeom prst="ellipse">
            <a:avLst/>
          </a:prstGeom>
          <a:solidFill>
            <a:srgbClr val="76D8FF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49533" y="2239822"/>
            <a:ext cx="317936" cy="104241"/>
          </a:xfrm>
          <a:prstGeom prst="ellipse">
            <a:avLst/>
          </a:prstGeom>
          <a:solidFill>
            <a:srgbClr val="3AB2F8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9533" y="2359700"/>
            <a:ext cx="317936" cy="104241"/>
          </a:xfrm>
          <a:prstGeom prst="ellipse">
            <a:avLst/>
          </a:prstGeom>
          <a:solidFill>
            <a:srgbClr val="3AB2F8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0806" y="2182489"/>
            <a:ext cx="20848" cy="276240"/>
          </a:xfrm>
          <a:prstGeom prst="rect">
            <a:avLst/>
          </a:prstGeom>
          <a:solidFill>
            <a:srgbClr val="76D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0" y="2093976"/>
            <a:ext cx="1453895" cy="3931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资产与业务资料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2825496"/>
            <a:ext cx="1965960" cy="62179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表字段 / 字典码值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指标口径 / 规范模板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5780" y="4183380"/>
            <a:ext cx="2386584" cy="134416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920" y="4151376"/>
            <a:ext cx="2386584" cy="13441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6564" y="4721138"/>
            <a:ext cx="469087" cy="8339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744321" y="4319808"/>
            <a:ext cx="333573" cy="88605"/>
          </a:xfrm>
          <a:custGeom>
            <a:avLst/>
            <a:gdLst/>
            <a:ahLst/>
            <a:cxnLst/>
            <a:rect l="l" t="t" r="r" b="b"/>
            <a:pathLst>
              <a:path w="333573" h="88605">
                <a:moveTo>
                  <a:pt x="0" y="36485"/>
                </a:moveTo>
                <a:lnTo>
                  <a:pt x="271028" y="0"/>
                </a:lnTo>
                <a:lnTo>
                  <a:pt x="333573" y="46909"/>
                </a:lnTo>
                <a:lnTo>
                  <a:pt x="62545" y="88605"/>
                </a:lnTo>
                <a:close/>
              </a:path>
            </a:pathLst>
          </a:custGeom>
          <a:solidFill>
            <a:srgbClr val="B1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1015349" y="4319808"/>
            <a:ext cx="62545" cy="370058"/>
          </a:xfrm>
          <a:custGeom>
            <a:avLst/>
            <a:gdLst/>
            <a:ahLst/>
            <a:cxnLst/>
            <a:rect l="l" t="t" r="r" b="b"/>
            <a:pathLst>
              <a:path w="62545" h="370058">
                <a:moveTo>
                  <a:pt x="0" y="0"/>
                </a:moveTo>
                <a:lnTo>
                  <a:pt x="62545" y="46909"/>
                </a:lnTo>
                <a:lnTo>
                  <a:pt x="62545" y="370058"/>
                </a:lnTo>
                <a:lnTo>
                  <a:pt x="0" y="333573"/>
                </a:lnTo>
                <a:close/>
              </a:path>
            </a:pathLst>
          </a:custGeom>
          <a:solidFill>
            <a:srgbClr val="147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744321" y="4319808"/>
            <a:ext cx="271028" cy="375270"/>
          </a:xfrm>
          <a:custGeom>
            <a:avLst/>
            <a:gdLst/>
            <a:ahLst/>
            <a:cxnLst/>
            <a:rect l="l" t="t" r="r" b="b"/>
            <a:pathLst>
              <a:path w="271028" h="375270">
                <a:moveTo>
                  <a:pt x="0" y="36485"/>
                </a:moveTo>
                <a:lnTo>
                  <a:pt x="271028" y="0"/>
                </a:lnTo>
                <a:lnTo>
                  <a:pt x="271028" y="333573"/>
                </a:lnTo>
                <a:lnTo>
                  <a:pt x="0" y="375270"/>
                </a:lnTo>
                <a:close/>
              </a:path>
            </a:pathLst>
          </a:custGeom>
          <a:solidFill>
            <a:srgbClr val="52B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V="1">
            <a:off x="791230" y="4424050"/>
            <a:ext cx="171998" cy="2606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791230" y="4497019"/>
            <a:ext cx="171998" cy="2606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91230" y="4569988"/>
            <a:ext cx="171998" cy="2606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17290" y="4533503"/>
            <a:ext cx="52121" cy="52121"/>
          </a:xfrm>
          <a:prstGeom prst="line">
            <a:avLst/>
          </a:prstGeom>
          <a:ln w="254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69411" y="4460534"/>
            <a:ext cx="104242" cy="125090"/>
          </a:xfrm>
          <a:prstGeom prst="line">
            <a:avLst/>
          </a:prstGeom>
          <a:ln w="254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280160" y="4325112"/>
            <a:ext cx="1453895" cy="3931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责任方审核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" y="4956048"/>
            <a:ext cx="1965960" cy="466344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5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冲突、语义与变更确认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87852" y="1952244"/>
            <a:ext cx="3767328" cy="160020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364992" y="1920240"/>
            <a:ext cx="3767328" cy="1600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538636" y="2490002"/>
            <a:ext cx="469087" cy="8339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3517788" y="2349276"/>
            <a:ext cx="479511" cy="201395"/>
          </a:xfrm>
          <a:custGeom>
            <a:avLst/>
            <a:gdLst/>
            <a:ahLst/>
            <a:cxnLst/>
            <a:rect l="l" t="t" r="r" b="b"/>
            <a:pathLst>
              <a:path w="479511" h="201395">
                <a:moveTo>
                  <a:pt x="0" y="100697"/>
                </a:moveTo>
                <a:lnTo>
                  <a:pt x="239755" y="0"/>
                </a:lnTo>
                <a:lnTo>
                  <a:pt x="479511" y="100697"/>
                </a:lnTo>
                <a:lnTo>
                  <a:pt x="239755" y="201395"/>
                </a:lnTo>
                <a:close/>
              </a:path>
            </a:pathLst>
          </a:custGeom>
          <a:solidFill>
            <a:srgbClr val="B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3517788" y="2449973"/>
            <a:ext cx="239755" cy="145000"/>
          </a:xfrm>
          <a:custGeom>
            <a:avLst/>
            <a:gdLst/>
            <a:ahLst/>
            <a:cxnLst/>
            <a:rect l="l" t="t" r="r" b="b"/>
            <a:pathLst>
              <a:path w="239755" h="145000">
                <a:moveTo>
                  <a:pt x="0" y="0"/>
                </a:moveTo>
                <a:lnTo>
                  <a:pt x="239755" y="100698"/>
                </a:lnTo>
                <a:lnTo>
                  <a:pt x="239755" y="145000"/>
                </a:lnTo>
                <a:lnTo>
                  <a:pt x="0" y="44303"/>
                </a:lnTo>
                <a:close/>
              </a:path>
            </a:pathLst>
          </a:custGeom>
          <a:solidFill>
            <a:srgbClr val="6D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3757543" y="2449973"/>
            <a:ext cx="239756" cy="145000"/>
          </a:xfrm>
          <a:custGeom>
            <a:avLst/>
            <a:gdLst/>
            <a:ahLst/>
            <a:cxnLst/>
            <a:rect l="l" t="t" r="r" b="b"/>
            <a:pathLst>
              <a:path w="239756" h="145000">
                <a:moveTo>
                  <a:pt x="0" y="100698"/>
                </a:moveTo>
                <a:lnTo>
                  <a:pt x="239756" y="0"/>
                </a:lnTo>
                <a:lnTo>
                  <a:pt x="239756" y="44303"/>
                </a:lnTo>
                <a:lnTo>
                  <a:pt x="0" y="145000"/>
                </a:lnTo>
                <a:close/>
              </a:path>
            </a:pathLst>
          </a:custGeom>
          <a:solidFill>
            <a:srgbClr val="30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3559484" y="2250246"/>
            <a:ext cx="396118" cy="166370"/>
          </a:xfrm>
          <a:custGeom>
            <a:avLst/>
            <a:gdLst/>
            <a:ahLst/>
            <a:cxnLst/>
            <a:rect l="l" t="t" r="r" b="b"/>
            <a:pathLst>
              <a:path w="396118" h="166370">
                <a:moveTo>
                  <a:pt x="0" y="83185"/>
                </a:moveTo>
                <a:lnTo>
                  <a:pt x="198059" y="0"/>
                </a:lnTo>
                <a:lnTo>
                  <a:pt x="396118" y="83185"/>
                </a:lnTo>
                <a:lnTo>
                  <a:pt x="198059" y="166370"/>
                </a:lnTo>
                <a:close/>
              </a:path>
            </a:pathLst>
          </a:custGeom>
          <a:solidFill>
            <a:srgbClr val="94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3559484" y="2333431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0"/>
                </a:moveTo>
                <a:lnTo>
                  <a:pt x="198059" y="83185"/>
                </a:lnTo>
                <a:lnTo>
                  <a:pt x="198059" y="127488"/>
                </a:lnTo>
                <a:lnTo>
                  <a:pt x="0" y="44303"/>
                </a:lnTo>
                <a:close/>
              </a:path>
            </a:pathLst>
          </a:custGeom>
          <a:solidFill>
            <a:srgbClr val="3F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3757543" y="2333431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83185"/>
                </a:moveTo>
                <a:lnTo>
                  <a:pt x="198059" y="0"/>
                </a:lnTo>
                <a:lnTo>
                  <a:pt x="198059" y="44303"/>
                </a:lnTo>
                <a:lnTo>
                  <a:pt x="0" y="127488"/>
                </a:lnTo>
                <a:close/>
              </a:path>
            </a:pathLst>
          </a:custGeom>
          <a:solidFill>
            <a:srgbClr val="197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3606393" y="2151217"/>
            <a:ext cx="302301" cy="126966"/>
          </a:xfrm>
          <a:custGeom>
            <a:avLst/>
            <a:gdLst/>
            <a:ahLst/>
            <a:cxnLst/>
            <a:rect l="l" t="t" r="r" b="b"/>
            <a:pathLst>
              <a:path w="302301" h="126966">
                <a:moveTo>
                  <a:pt x="0" y="63483"/>
                </a:moveTo>
                <a:lnTo>
                  <a:pt x="151150" y="0"/>
                </a:lnTo>
                <a:lnTo>
                  <a:pt x="302301" y="63483"/>
                </a:lnTo>
                <a:lnTo>
                  <a:pt x="151150" y="126966"/>
                </a:lnTo>
                <a:close/>
              </a:path>
            </a:pathLst>
          </a:custGeom>
          <a:solidFill>
            <a:srgbClr val="57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3606393" y="2214700"/>
            <a:ext cx="151150" cy="107786"/>
          </a:xfrm>
          <a:custGeom>
            <a:avLst/>
            <a:gdLst/>
            <a:ahLst/>
            <a:cxnLst/>
            <a:rect l="l" t="t" r="r" b="b"/>
            <a:pathLst>
              <a:path w="151150" h="107786">
                <a:moveTo>
                  <a:pt x="0" y="0"/>
                </a:moveTo>
                <a:lnTo>
                  <a:pt x="151150" y="63483"/>
                </a:lnTo>
                <a:lnTo>
                  <a:pt x="151150" y="107786"/>
                </a:lnTo>
                <a:lnTo>
                  <a:pt x="0" y="44303"/>
                </a:lnTo>
                <a:close/>
              </a:path>
            </a:pathLst>
          </a:custGeom>
          <a:solidFill>
            <a:srgbClr val="148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3757543" y="2214700"/>
            <a:ext cx="151151" cy="107786"/>
          </a:xfrm>
          <a:custGeom>
            <a:avLst/>
            <a:gdLst/>
            <a:ahLst/>
            <a:cxnLst/>
            <a:rect l="l" t="t" r="r" b="b"/>
            <a:pathLst>
              <a:path w="151151" h="107786">
                <a:moveTo>
                  <a:pt x="0" y="63483"/>
                </a:moveTo>
                <a:lnTo>
                  <a:pt x="151151" y="0"/>
                </a:lnTo>
                <a:lnTo>
                  <a:pt x="151151" y="44303"/>
                </a:lnTo>
                <a:lnTo>
                  <a:pt x="0" y="107786"/>
                </a:lnTo>
                <a:close/>
              </a:path>
            </a:pathLst>
          </a:custGeom>
          <a:solidFill>
            <a:srgbClr val="0A5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3679362" y="2130369"/>
            <a:ext cx="99030" cy="45553"/>
          </a:xfrm>
          <a:custGeom>
            <a:avLst/>
            <a:gdLst/>
            <a:ahLst/>
            <a:cxnLst/>
            <a:rect l="l" t="t" r="r" b="b"/>
            <a:pathLst>
              <a:path w="99030" h="45553">
                <a:moveTo>
                  <a:pt x="0" y="22776"/>
                </a:moveTo>
                <a:lnTo>
                  <a:pt x="49515" y="0"/>
                </a:lnTo>
                <a:lnTo>
                  <a:pt x="99030" y="22776"/>
                </a:lnTo>
                <a:lnTo>
                  <a:pt x="49515" y="45553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3679362" y="2153145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70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3728877" y="2153145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70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3809664" y="2177277"/>
            <a:ext cx="99030" cy="45554"/>
          </a:xfrm>
          <a:custGeom>
            <a:avLst/>
            <a:gdLst/>
            <a:ahLst/>
            <a:cxnLst/>
            <a:rect l="l" t="t" r="r" b="b"/>
            <a:pathLst>
              <a:path w="99030" h="45554">
                <a:moveTo>
                  <a:pt x="0" y="22777"/>
                </a:moveTo>
                <a:lnTo>
                  <a:pt x="49515" y="0"/>
                </a:lnTo>
                <a:lnTo>
                  <a:pt x="99030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3809664" y="2200054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3859179" y="2200054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3726271" y="2239822"/>
            <a:ext cx="99029" cy="45554"/>
          </a:xfrm>
          <a:custGeom>
            <a:avLst/>
            <a:gdLst/>
            <a:ahLst/>
            <a:cxnLst/>
            <a:rect l="l" t="t" r="r" b="b"/>
            <a:pathLst>
              <a:path w="99029" h="45554">
                <a:moveTo>
                  <a:pt x="0" y="22777"/>
                </a:moveTo>
                <a:lnTo>
                  <a:pt x="49515" y="0"/>
                </a:lnTo>
                <a:lnTo>
                  <a:pt x="99029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3726271" y="2262599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3775786" y="2262599"/>
            <a:ext cx="49514" cy="95746"/>
          </a:xfrm>
          <a:custGeom>
            <a:avLst/>
            <a:gdLst/>
            <a:ahLst/>
            <a:cxnLst/>
            <a:rect l="l" t="t" r="r" b="b"/>
            <a:pathLst>
              <a:path w="49514" h="95746">
                <a:moveTo>
                  <a:pt x="0" y="22777"/>
                </a:moveTo>
                <a:lnTo>
                  <a:pt x="49514" y="0"/>
                </a:lnTo>
                <a:lnTo>
                  <a:pt x="49514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42232" y="2093976"/>
            <a:ext cx="2834640" cy="3931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清洗、映射与补全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75304" y="2825496"/>
            <a:ext cx="3346704" cy="62179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去重与一致性校验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AI语义候选 → 业务确认 → 来源版本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387852" y="4183380"/>
            <a:ext cx="3767328" cy="134416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3364992" y="4151376"/>
            <a:ext cx="3767328" cy="13441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538636" y="4721138"/>
            <a:ext cx="469087" cy="8339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3606393" y="4319808"/>
            <a:ext cx="333573" cy="88605"/>
          </a:xfrm>
          <a:custGeom>
            <a:avLst/>
            <a:gdLst/>
            <a:ahLst/>
            <a:cxnLst/>
            <a:rect l="l" t="t" r="r" b="b"/>
            <a:pathLst>
              <a:path w="333573" h="88605">
                <a:moveTo>
                  <a:pt x="0" y="36485"/>
                </a:moveTo>
                <a:lnTo>
                  <a:pt x="271028" y="0"/>
                </a:lnTo>
                <a:lnTo>
                  <a:pt x="333573" y="46909"/>
                </a:lnTo>
                <a:lnTo>
                  <a:pt x="62545" y="88605"/>
                </a:lnTo>
                <a:close/>
              </a:path>
            </a:pathLst>
          </a:custGeom>
          <a:solidFill>
            <a:srgbClr val="B1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3877421" y="4319808"/>
            <a:ext cx="62545" cy="370058"/>
          </a:xfrm>
          <a:custGeom>
            <a:avLst/>
            <a:gdLst/>
            <a:ahLst/>
            <a:cxnLst/>
            <a:rect l="l" t="t" r="r" b="b"/>
            <a:pathLst>
              <a:path w="62545" h="370058">
                <a:moveTo>
                  <a:pt x="0" y="0"/>
                </a:moveTo>
                <a:lnTo>
                  <a:pt x="62545" y="46909"/>
                </a:lnTo>
                <a:lnTo>
                  <a:pt x="62545" y="370058"/>
                </a:lnTo>
                <a:lnTo>
                  <a:pt x="0" y="333573"/>
                </a:lnTo>
                <a:close/>
              </a:path>
            </a:pathLst>
          </a:custGeom>
          <a:solidFill>
            <a:srgbClr val="147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3606393" y="4319808"/>
            <a:ext cx="271028" cy="375270"/>
          </a:xfrm>
          <a:custGeom>
            <a:avLst/>
            <a:gdLst/>
            <a:ahLst/>
            <a:cxnLst/>
            <a:rect l="l" t="t" r="r" b="b"/>
            <a:pathLst>
              <a:path w="271028" h="375270">
                <a:moveTo>
                  <a:pt x="0" y="36485"/>
                </a:moveTo>
                <a:lnTo>
                  <a:pt x="271028" y="0"/>
                </a:lnTo>
                <a:lnTo>
                  <a:pt x="271028" y="333573"/>
                </a:lnTo>
                <a:lnTo>
                  <a:pt x="0" y="375270"/>
                </a:lnTo>
                <a:close/>
              </a:path>
            </a:pathLst>
          </a:custGeom>
          <a:solidFill>
            <a:srgbClr val="52B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 flipV="1">
            <a:off x="3653302" y="4424050"/>
            <a:ext cx="171998" cy="2606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3653302" y="4497019"/>
            <a:ext cx="171998" cy="2606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3653302" y="4569988"/>
            <a:ext cx="171998" cy="2606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679362" y="4533503"/>
            <a:ext cx="52121" cy="52121"/>
          </a:xfrm>
          <a:prstGeom prst="line">
            <a:avLst/>
          </a:prstGeom>
          <a:ln w="254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3731483" y="4460534"/>
            <a:ext cx="104242" cy="125090"/>
          </a:xfrm>
          <a:prstGeom prst="line">
            <a:avLst/>
          </a:prstGeom>
          <a:ln w="254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4142232" y="4325112"/>
            <a:ext cx="2834640" cy="3931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生成、写入与可用性验证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575304" y="4956048"/>
            <a:ext cx="3346704" cy="466344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按配置更新知识内容和查询数据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核对记录、版本与检索结果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708392" y="2007108"/>
            <a:ext cx="3968496" cy="1426464"/>
          </a:xfrm>
          <a:prstGeom prst="rect">
            <a:avLst/>
          </a:prstGeom>
          <a:solidFill>
            <a:srgbClr val="FFFFFF"/>
          </a:solidFill>
          <a:ln w="8255">
            <a:solidFill>
              <a:srgbClr val="24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7708392" y="3346704"/>
            <a:ext cx="3968496" cy="173736"/>
          </a:xfrm>
          <a:prstGeom prst="ellipse">
            <a:avLst/>
          </a:prstGeom>
          <a:solidFill>
            <a:srgbClr val="FFFFFF"/>
          </a:solidFill>
          <a:ln w="8255">
            <a:solidFill>
              <a:srgbClr val="24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7708392" y="1920240"/>
            <a:ext cx="3968496" cy="173736"/>
          </a:xfrm>
          <a:prstGeom prst="ellipse">
            <a:avLst/>
          </a:prstGeom>
          <a:solidFill>
            <a:srgbClr val="EAF9FA"/>
          </a:solidFill>
          <a:ln w="8255">
            <a:solidFill>
              <a:srgbClr val="24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854696" y="2148840"/>
            <a:ext cx="3675887" cy="32918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知识文件与检索索引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63840" y="2624328"/>
            <a:ext cx="3657600" cy="72237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表结构知识 / 字典知识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用途：定位候选与标识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08392" y="4238244"/>
            <a:ext cx="3968496" cy="1170432"/>
          </a:xfrm>
          <a:prstGeom prst="rect">
            <a:avLst/>
          </a:prstGeom>
          <a:solidFill>
            <a:srgbClr val="FFFFFF"/>
          </a:solidFill>
          <a:ln w="8255">
            <a:solidFill>
              <a:srgbClr val="078B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7708392" y="5321807"/>
            <a:ext cx="3968496" cy="173736"/>
          </a:xfrm>
          <a:prstGeom prst="ellipse">
            <a:avLst/>
          </a:prstGeom>
          <a:solidFill>
            <a:srgbClr val="FFFFFF"/>
          </a:solidFill>
          <a:ln w="8255">
            <a:solidFill>
              <a:srgbClr val="078B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708392" y="4151376"/>
            <a:ext cx="3968496" cy="173736"/>
          </a:xfrm>
          <a:prstGeom prst="ellipse">
            <a:avLst/>
          </a:prstGeom>
          <a:solidFill>
            <a:srgbClr val="EAF9FA"/>
          </a:solidFill>
          <a:ln w="8255">
            <a:solidFill>
              <a:srgbClr val="078B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854696" y="4379976"/>
            <a:ext cx="3675887" cy="32918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外部结构化查询数据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63840" y="4855464"/>
            <a:ext cx="3657600" cy="46634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用途：核验实际资产记录与明细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2935224" y="2724912"/>
            <a:ext cx="384048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H="1">
            <a:off x="3260805" y="2724912"/>
            <a:ext cx="58467" cy="35845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H="1" flipV="1">
            <a:off x="3260805" y="2689066"/>
            <a:ext cx="58467" cy="3584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248656" y="3566160"/>
            <a:ext cx="0" cy="53949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 flipV="1">
            <a:off x="5212810" y="4047189"/>
            <a:ext cx="35846" cy="58467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5248656" y="4047189"/>
            <a:ext cx="35845" cy="58467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2935224" y="4818888"/>
            <a:ext cx="192024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3127248" y="3227832"/>
            <a:ext cx="0" cy="159105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3127248" y="3227832"/>
            <a:ext cx="192024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>
            <a:off x="3260805" y="3227832"/>
            <a:ext cx="58467" cy="35845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 flipV="1">
            <a:off x="3260805" y="3191986"/>
            <a:ext cx="58467" cy="3584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7178040" y="4818888"/>
            <a:ext cx="219456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7397496" y="2724912"/>
            <a:ext cx="0" cy="209397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7397496" y="2724912"/>
            <a:ext cx="265176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>
            <a:off x="7604205" y="2724912"/>
            <a:ext cx="58467" cy="35845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 flipV="1">
            <a:off x="7604205" y="2689066"/>
            <a:ext cx="58467" cy="3584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7397496" y="4818888"/>
            <a:ext cx="265176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H="1">
            <a:off x="7604205" y="4818888"/>
            <a:ext cx="58467" cy="35845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H="1" flipV="1">
            <a:off x="7604205" y="4783042"/>
            <a:ext cx="58467" cy="3584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ounded Rectangle 107"/>
          <p:cNvSpPr/>
          <p:nvPr/>
        </p:nvSpPr>
        <p:spPr>
          <a:xfrm>
            <a:off x="461772" y="6112764"/>
            <a:ext cx="11247120" cy="33832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438912" y="6080760"/>
            <a:ext cx="11247120" cy="338328"/>
          </a:xfrm>
          <a:prstGeom prst="roundRect">
            <a:avLst>
              <a:gd name="adj" fmla="val 5500"/>
            </a:avLst>
          </a:prstGeom>
          <a:solidFill>
            <a:srgbClr val="EEF7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85216" y="6117336"/>
            <a:ext cx="10954512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知识索引用于找候选，查询数据用于核事实；两类消费副本关联权威来源并随变更更新。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6346471"/>
            <a:ext cx="12191695" cy="235953"/>
          </a:xfrm>
          <a:custGeom>
            <a:avLst/>
            <a:gdLst/>
            <a:ahLst/>
            <a:cxnLst/>
            <a:rect l="l" t="t" r="r" b="b"/>
            <a:pathLst>
              <a:path w="12191695" h="235953">
                <a:moveTo>
                  <a:pt x="0" y="127481"/>
                </a:moveTo>
                <a:lnTo>
                  <a:pt x="135463" y="147046"/>
                </a:lnTo>
                <a:lnTo>
                  <a:pt x="270926" y="165914"/>
                </a:lnTo>
                <a:lnTo>
                  <a:pt x="406389" y="183426"/>
                </a:lnTo>
                <a:lnTo>
                  <a:pt x="541853" y="199000"/>
                </a:lnTo>
                <a:lnTo>
                  <a:pt x="677316" y="212159"/>
                </a:lnTo>
                <a:lnTo>
                  <a:pt x="812779" y="222557"/>
                </a:lnTo>
                <a:lnTo>
                  <a:pt x="948242" y="229995"/>
                </a:lnTo>
                <a:lnTo>
                  <a:pt x="1083706" y="234426"/>
                </a:lnTo>
                <a:lnTo>
                  <a:pt x="1219169" y="235953"/>
                </a:lnTo>
                <a:lnTo>
                  <a:pt x="1354632" y="234812"/>
                </a:lnTo>
                <a:lnTo>
                  <a:pt x="1490096" y="231352"/>
                </a:lnTo>
                <a:lnTo>
                  <a:pt x="1625559" y="226009"/>
                </a:lnTo>
                <a:lnTo>
                  <a:pt x="1761022" y="219267"/>
                </a:lnTo>
                <a:lnTo>
                  <a:pt x="1896485" y="211626"/>
                </a:lnTo>
                <a:lnTo>
                  <a:pt x="2031949" y="203564"/>
                </a:lnTo>
                <a:lnTo>
                  <a:pt x="2167412" y="195508"/>
                </a:lnTo>
                <a:lnTo>
                  <a:pt x="2302875" y="187800"/>
                </a:lnTo>
                <a:lnTo>
                  <a:pt x="2438339" y="180682"/>
                </a:lnTo>
                <a:lnTo>
                  <a:pt x="2573802" y="174280"/>
                </a:lnTo>
                <a:lnTo>
                  <a:pt x="2709265" y="168601"/>
                </a:lnTo>
                <a:lnTo>
                  <a:pt x="2844728" y="163541"/>
                </a:lnTo>
                <a:lnTo>
                  <a:pt x="2980192" y="158900"/>
                </a:lnTo>
                <a:lnTo>
                  <a:pt x="3115655" y="154402"/>
                </a:lnTo>
                <a:lnTo>
                  <a:pt x="3251118" y="149724"/>
                </a:lnTo>
                <a:lnTo>
                  <a:pt x="3386582" y="144534"/>
                </a:lnTo>
                <a:lnTo>
                  <a:pt x="3522045" y="138515"/>
                </a:lnTo>
                <a:lnTo>
                  <a:pt x="3657508" y="131408"/>
                </a:lnTo>
                <a:lnTo>
                  <a:pt x="3792971" y="123031"/>
                </a:lnTo>
                <a:lnTo>
                  <a:pt x="3928435" y="113309"/>
                </a:lnTo>
                <a:lnTo>
                  <a:pt x="4063898" y="102287"/>
                </a:lnTo>
                <a:lnTo>
                  <a:pt x="4199361" y="90138"/>
                </a:lnTo>
                <a:lnTo>
                  <a:pt x="4334824" y="77155"/>
                </a:lnTo>
                <a:lnTo>
                  <a:pt x="4470288" y="63745"/>
                </a:lnTo>
                <a:lnTo>
                  <a:pt x="4605751" y="50406"/>
                </a:lnTo>
                <a:lnTo>
                  <a:pt x="4741214" y="37696"/>
                </a:lnTo>
                <a:lnTo>
                  <a:pt x="4876678" y="26202"/>
                </a:lnTo>
                <a:lnTo>
                  <a:pt x="5012141" y="16503"/>
                </a:lnTo>
                <a:lnTo>
                  <a:pt x="5147604" y="9131"/>
                </a:lnTo>
                <a:lnTo>
                  <a:pt x="5283067" y="4538"/>
                </a:lnTo>
                <a:lnTo>
                  <a:pt x="5418531" y="3064"/>
                </a:lnTo>
                <a:lnTo>
                  <a:pt x="5553994" y="4912"/>
                </a:lnTo>
                <a:lnTo>
                  <a:pt x="5689457" y="10132"/>
                </a:lnTo>
                <a:lnTo>
                  <a:pt x="5824921" y="18617"/>
                </a:lnTo>
                <a:lnTo>
                  <a:pt x="5960384" y="30106"/>
                </a:lnTo>
                <a:lnTo>
                  <a:pt x="6095847" y="44193"/>
                </a:lnTo>
                <a:lnTo>
                  <a:pt x="6231310" y="60357"/>
                </a:lnTo>
                <a:lnTo>
                  <a:pt x="6366774" y="77984"/>
                </a:lnTo>
                <a:lnTo>
                  <a:pt x="6502237" y="96410"/>
                </a:lnTo>
                <a:lnTo>
                  <a:pt x="6637700" y="114953"/>
                </a:lnTo>
                <a:lnTo>
                  <a:pt x="6773164" y="132954"/>
                </a:lnTo>
                <a:lnTo>
                  <a:pt x="6908627" y="149814"/>
                </a:lnTo>
                <a:lnTo>
                  <a:pt x="7044090" y="165027"/>
                </a:lnTo>
                <a:lnTo>
                  <a:pt x="7179553" y="178204"/>
                </a:lnTo>
                <a:lnTo>
                  <a:pt x="7315017" y="189090"/>
                </a:lnTo>
                <a:lnTo>
                  <a:pt x="7450480" y="197574"/>
                </a:lnTo>
                <a:lnTo>
                  <a:pt x="7585943" y="203682"/>
                </a:lnTo>
                <a:lnTo>
                  <a:pt x="7721406" y="207573"/>
                </a:lnTo>
                <a:lnTo>
                  <a:pt x="7856870" y="209512"/>
                </a:lnTo>
                <a:lnTo>
                  <a:pt x="7992333" y="209848"/>
                </a:lnTo>
                <a:lnTo>
                  <a:pt x="8127796" y="208978"/>
                </a:lnTo>
                <a:lnTo>
                  <a:pt x="8263260" y="207316"/>
                </a:lnTo>
                <a:lnTo>
                  <a:pt x="8398723" y="205256"/>
                </a:lnTo>
                <a:lnTo>
                  <a:pt x="8534186" y="203141"/>
                </a:lnTo>
                <a:lnTo>
                  <a:pt x="8669649" y="201238"/>
                </a:lnTo>
                <a:lnTo>
                  <a:pt x="8805113" y="199711"/>
                </a:lnTo>
                <a:lnTo>
                  <a:pt x="8940576" y="198616"/>
                </a:lnTo>
                <a:lnTo>
                  <a:pt x="9076039" y="197894"/>
                </a:lnTo>
                <a:lnTo>
                  <a:pt x="9211503" y="197378"/>
                </a:lnTo>
                <a:lnTo>
                  <a:pt x="9346966" y="196808"/>
                </a:lnTo>
                <a:lnTo>
                  <a:pt x="9482429" y="195855"/>
                </a:lnTo>
                <a:lnTo>
                  <a:pt x="9617892" y="194147"/>
                </a:lnTo>
                <a:lnTo>
                  <a:pt x="9753356" y="191305"/>
                </a:lnTo>
                <a:lnTo>
                  <a:pt x="9888819" y="186977"/>
                </a:lnTo>
                <a:lnTo>
                  <a:pt x="10024282" y="180869"/>
                </a:lnTo>
                <a:lnTo>
                  <a:pt x="10159746" y="172776"/>
                </a:lnTo>
                <a:lnTo>
                  <a:pt x="10295209" y="162608"/>
                </a:lnTo>
                <a:lnTo>
                  <a:pt x="10430672" y="150402"/>
                </a:lnTo>
                <a:lnTo>
                  <a:pt x="10566135" y="136335"/>
                </a:lnTo>
                <a:lnTo>
                  <a:pt x="10701599" y="120717"/>
                </a:lnTo>
                <a:lnTo>
                  <a:pt x="10837062" y="103984"/>
                </a:lnTo>
                <a:lnTo>
                  <a:pt x="10972525" y="86673"/>
                </a:lnTo>
                <a:lnTo>
                  <a:pt x="11107988" y="69396"/>
                </a:lnTo>
                <a:lnTo>
                  <a:pt x="11243452" y="52806"/>
                </a:lnTo>
                <a:lnTo>
                  <a:pt x="11378915" y="37558"/>
                </a:lnTo>
                <a:lnTo>
                  <a:pt x="11514378" y="24274"/>
                </a:lnTo>
                <a:lnTo>
                  <a:pt x="11649842" y="13501"/>
                </a:lnTo>
                <a:lnTo>
                  <a:pt x="11785305" y="5683"/>
                </a:lnTo>
                <a:lnTo>
                  <a:pt x="11920768" y="1129"/>
                </a:lnTo>
                <a:lnTo>
                  <a:pt x="12056231" y="0"/>
                </a:lnTo>
                <a:lnTo>
                  <a:pt x="12191695" y="2300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6405649"/>
            <a:ext cx="12191695" cy="245182"/>
          </a:xfrm>
          <a:custGeom>
            <a:avLst/>
            <a:gdLst/>
            <a:ahLst/>
            <a:cxnLst/>
            <a:rect l="l" t="t" r="r" b="b"/>
            <a:pathLst>
              <a:path w="12191695" h="245182">
                <a:moveTo>
                  <a:pt x="0" y="150669"/>
                </a:moveTo>
                <a:lnTo>
                  <a:pt x="135463" y="169737"/>
                </a:lnTo>
                <a:lnTo>
                  <a:pt x="270926" y="187768"/>
                </a:lnTo>
                <a:lnTo>
                  <a:pt x="406389" y="204118"/>
                </a:lnTo>
                <a:lnTo>
                  <a:pt x="541853" y="218220"/>
                </a:lnTo>
                <a:lnTo>
                  <a:pt x="677316" y="229621"/>
                </a:lnTo>
                <a:lnTo>
                  <a:pt x="812779" y="238002"/>
                </a:lnTo>
                <a:lnTo>
                  <a:pt x="948242" y="243193"/>
                </a:lnTo>
                <a:lnTo>
                  <a:pt x="1083706" y="245182"/>
                </a:lnTo>
                <a:lnTo>
                  <a:pt x="1219169" y="244108"/>
                </a:lnTo>
                <a:lnTo>
                  <a:pt x="1354632" y="240247"/>
                </a:lnTo>
                <a:lnTo>
                  <a:pt x="1490096" y="233989"/>
                </a:lnTo>
                <a:lnTo>
                  <a:pt x="1625559" y="225812"/>
                </a:lnTo>
                <a:lnTo>
                  <a:pt x="1761022" y="216243"/>
                </a:lnTo>
                <a:lnTo>
                  <a:pt x="1896485" y="205824"/>
                </a:lnTo>
                <a:lnTo>
                  <a:pt x="2031949" y="195076"/>
                </a:lnTo>
                <a:lnTo>
                  <a:pt x="2167412" y="184466"/>
                </a:lnTo>
                <a:lnTo>
                  <a:pt x="2302875" y="174375"/>
                </a:lnTo>
                <a:lnTo>
                  <a:pt x="2438339" y="165080"/>
                </a:lnTo>
                <a:lnTo>
                  <a:pt x="2573802" y="156740"/>
                </a:lnTo>
                <a:lnTo>
                  <a:pt x="2709265" y="149392"/>
                </a:lnTo>
                <a:lnTo>
                  <a:pt x="2844728" y="142958"/>
                </a:lnTo>
                <a:lnTo>
                  <a:pt x="2980192" y="137257"/>
                </a:lnTo>
                <a:lnTo>
                  <a:pt x="3115655" y="132030"/>
                </a:lnTo>
                <a:lnTo>
                  <a:pt x="3251118" y="126965"/>
                </a:lnTo>
                <a:lnTo>
                  <a:pt x="3386582" y="121734"/>
                </a:lnTo>
                <a:lnTo>
                  <a:pt x="3522045" y="116024"/>
                </a:lnTo>
                <a:lnTo>
                  <a:pt x="3657508" y="109568"/>
                </a:lnTo>
                <a:lnTo>
                  <a:pt x="3792971" y="102177"/>
                </a:lnTo>
                <a:lnTo>
                  <a:pt x="3928435" y="93759"/>
                </a:lnTo>
                <a:lnTo>
                  <a:pt x="4063898" y="84341"/>
                </a:lnTo>
                <a:lnTo>
                  <a:pt x="4199361" y="74069"/>
                </a:lnTo>
                <a:lnTo>
                  <a:pt x="4334824" y="63211"/>
                </a:lnTo>
                <a:lnTo>
                  <a:pt x="4470288" y="52141"/>
                </a:lnTo>
                <a:lnTo>
                  <a:pt x="4605751" y="41320"/>
                </a:lnTo>
                <a:lnTo>
                  <a:pt x="4741214" y="31269"/>
                </a:lnTo>
                <a:lnTo>
                  <a:pt x="4876678" y="22536"/>
                </a:lnTo>
                <a:lnTo>
                  <a:pt x="5012141" y="15656"/>
                </a:lnTo>
                <a:lnTo>
                  <a:pt x="5147604" y="11120"/>
                </a:lnTo>
                <a:lnTo>
                  <a:pt x="5283067" y="9338"/>
                </a:lnTo>
                <a:lnTo>
                  <a:pt x="5418531" y="10605"/>
                </a:lnTo>
                <a:lnTo>
                  <a:pt x="5553994" y="15085"/>
                </a:lnTo>
                <a:lnTo>
                  <a:pt x="5689457" y="22787"/>
                </a:lnTo>
                <a:lnTo>
                  <a:pt x="5824921" y="33567"/>
                </a:lnTo>
                <a:lnTo>
                  <a:pt x="5960384" y="47128"/>
                </a:lnTo>
                <a:lnTo>
                  <a:pt x="6095847" y="63035"/>
                </a:lnTo>
                <a:lnTo>
                  <a:pt x="6231310" y="80738"/>
                </a:lnTo>
                <a:lnTo>
                  <a:pt x="6366774" y="99601"/>
                </a:lnTo>
                <a:lnTo>
                  <a:pt x="6502237" y="118939"/>
                </a:lnTo>
                <a:lnTo>
                  <a:pt x="6637700" y="138058"/>
                </a:lnTo>
                <a:lnTo>
                  <a:pt x="6773164" y="156290"/>
                </a:lnTo>
                <a:lnTo>
                  <a:pt x="6908627" y="173034"/>
                </a:lnTo>
                <a:lnTo>
                  <a:pt x="7044090" y="187783"/>
                </a:lnTo>
                <a:lnTo>
                  <a:pt x="7179553" y="200156"/>
                </a:lnTo>
                <a:lnTo>
                  <a:pt x="7315017" y="209912"/>
                </a:lnTo>
                <a:lnTo>
                  <a:pt x="7450480" y="216953"/>
                </a:lnTo>
                <a:lnTo>
                  <a:pt x="7585943" y="221331"/>
                </a:lnTo>
                <a:lnTo>
                  <a:pt x="7721406" y="223229"/>
                </a:lnTo>
                <a:lnTo>
                  <a:pt x="7856870" y="222943"/>
                </a:lnTo>
                <a:lnTo>
                  <a:pt x="7992333" y="220854"/>
                </a:lnTo>
                <a:lnTo>
                  <a:pt x="8127796" y="217398"/>
                </a:lnTo>
                <a:lnTo>
                  <a:pt x="8263260" y="213025"/>
                </a:lnTo>
                <a:lnTo>
                  <a:pt x="8398723" y="208173"/>
                </a:lnTo>
                <a:lnTo>
                  <a:pt x="8534186" y="203226"/>
                </a:lnTo>
                <a:lnTo>
                  <a:pt x="8669649" y="198493"/>
                </a:lnTo>
                <a:lnTo>
                  <a:pt x="8805113" y="194182"/>
                </a:lnTo>
                <a:lnTo>
                  <a:pt x="8940576" y="190390"/>
                </a:lnTo>
                <a:lnTo>
                  <a:pt x="9076039" y="187099"/>
                </a:lnTo>
                <a:lnTo>
                  <a:pt x="9211503" y="184181"/>
                </a:lnTo>
                <a:lnTo>
                  <a:pt x="9346966" y="181412"/>
                </a:lnTo>
                <a:lnTo>
                  <a:pt x="9482429" y="178496"/>
                </a:lnTo>
                <a:lnTo>
                  <a:pt x="9617892" y="175092"/>
                </a:lnTo>
                <a:lnTo>
                  <a:pt x="9753356" y="170845"/>
                </a:lnTo>
                <a:lnTo>
                  <a:pt x="9888819" y="165425"/>
                </a:lnTo>
                <a:lnTo>
                  <a:pt x="10024282" y="158555"/>
                </a:lnTo>
                <a:lnTo>
                  <a:pt x="10159746" y="150040"/>
                </a:lnTo>
                <a:lnTo>
                  <a:pt x="10295209" y="139797"/>
                </a:lnTo>
                <a:lnTo>
                  <a:pt x="10430672" y="127865"/>
                </a:lnTo>
                <a:lnTo>
                  <a:pt x="10566135" y="114415"/>
                </a:lnTo>
                <a:lnTo>
                  <a:pt x="10701599" y="99751"/>
                </a:lnTo>
                <a:lnTo>
                  <a:pt x="10837062" y="84291"/>
                </a:lnTo>
                <a:lnTo>
                  <a:pt x="10972525" y="68554"/>
                </a:lnTo>
                <a:lnTo>
                  <a:pt x="11107988" y="53129"/>
                </a:lnTo>
                <a:lnTo>
                  <a:pt x="11243452" y="38641"/>
                </a:lnTo>
                <a:lnTo>
                  <a:pt x="11378915" y="25713"/>
                </a:lnTo>
                <a:lnTo>
                  <a:pt x="11514378" y="14931"/>
                </a:lnTo>
                <a:lnTo>
                  <a:pt x="11649842" y="6805"/>
                </a:lnTo>
                <a:lnTo>
                  <a:pt x="11785305" y="1738"/>
                </a:lnTo>
                <a:lnTo>
                  <a:pt x="11920768" y="0"/>
                </a:lnTo>
                <a:lnTo>
                  <a:pt x="12056231" y="1708"/>
                </a:lnTo>
                <a:lnTo>
                  <a:pt x="12191695" y="6822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6467906"/>
            <a:ext cx="12191695" cy="248613"/>
          </a:xfrm>
          <a:custGeom>
            <a:avLst/>
            <a:gdLst/>
            <a:ahLst/>
            <a:cxnLst/>
            <a:rect l="l" t="t" r="r" b="b"/>
            <a:pathLst>
              <a:path w="12191695" h="248613">
                <a:moveTo>
                  <a:pt x="0" y="169572"/>
                </a:moveTo>
                <a:lnTo>
                  <a:pt x="135463" y="187517"/>
                </a:lnTo>
                <a:lnTo>
                  <a:pt x="270926" y="204116"/>
                </a:lnTo>
                <a:lnTo>
                  <a:pt x="406389" y="218744"/>
                </a:lnTo>
                <a:lnTo>
                  <a:pt x="541853" y="230861"/>
                </a:lnTo>
                <a:lnTo>
                  <a:pt x="677316" y="240043"/>
                </a:lnTo>
                <a:lnTo>
                  <a:pt x="812779" y="246004"/>
                </a:lnTo>
                <a:lnTo>
                  <a:pt x="948242" y="248613"/>
                </a:lnTo>
                <a:lnTo>
                  <a:pt x="1083706" y="247896"/>
                </a:lnTo>
                <a:lnTo>
                  <a:pt x="1219169" y="244031"/>
                </a:lnTo>
                <a:lnTo>
                  <a:pt x="1354632" y="237338"/>
                </a:lnTo>
                <a:lnTo>
                  <a:pt x="1490096" y="228250"/>
                </a:lnTo>
                <a:lnTo>
                  <a:pt x="1625559" y="217286"/>
                </a:lnTo>
                <a:lnTo>
                  <a:pt x="1761022" y="205017"/>
                </a:lnTo>
                <a:lnTo>
                  <a:pt x="1896485" y="192024"/>
                </a:lnTo>
                <a:lnTo>
                  <a:pt x="2031949" y="178869"/>
                </a:lnTo>
                <a:lnTo>
                  <a:pt x="2167412" y="166053"/>
                </a:lnTo>
                <a:lnTo>
                  <a:pt x="2302875" y="153992"/>
                </a:lnTo>
                <a:lnTo>
                  <a:pt x="2438339" y="142992"/>
                </a:lnTo>
                <a:lnTo>
                  <a:pt x="2573802" y="133239"/>
                </a:lnTo>
                <a:lnTo>
                  <a:pt x="2709265" y="124790"/>
                </a:lnTo>
                <a:lnTo>
                  <a:pt x="2844728" y="117583"/>
                </a:lnTo>
                <a:lnTo>
                  <a:pt x="2980192" y="111449"/>
                </a:lnTo>
                <a:lnTo>
                  <a:pt x="3115655" y="106137"/>
                </a:lnTo>
                <a:lnTo>
                  <a:pt x="3251118" y="101335"/>
                </a:lnTo>
                <a:lnTo>
                  <a:pt x="3386582" y="96713"/>
                </a:lnTo>
                <a:lnTo>
                  <a:pt x="3522045" y="91945"/>
                </a:lnTo>
                <a:lnTo>
                  <a:pt x="3657508" y="86753"/>
                </a:lnTo>
                <a:lnTo>
                  <a:pt x="3792971" y="80928"/>
                </a:lnTo>
                <a:lnTo>
                  <a:pt x="3928435" y="74354"/>
                </a:lnTo>
                <a:lnTo>
                  <a:pt x="4063898" y="67031"/>
                </a:lnTo>
                <a:lnTo>
                  <a:pt x="4199361" y="59072"/>
                </a:lnTo>
                <a:lnTo>
                  <a:pt x="4334824" y="50711"/>
                </a:lnTo>
                <a:lnTo>
                  <a:pt x="4470288" y="42285"/>
                </a:lnTo>
                <a:lnTo>
                  <a:pt x="4605751" y="34213"/>
                </a:lnTo>
                <a:lnTo>
                  <a:pt x="4741214" y="26977"/>
                </a:lnTo>
                <a:lnTo>
                  <a:pt x="4876678" y="21080"/>
                </a:lnTo>
                <a:lnTo>
                  <a:pt x="5012141" y="17016"/>
                </a:lnTo>
                <a:lnTo>
                  <a:pt x="5147604" y="15233"/>
                </a:lnTo>
                <a:lnTo>
                  <a:pt x="5283067" y="16099"/>
                </a:lnTo>
                <a:lnTo>
                  <a:pt x="5418531" y="19870"/>
                </a:lnTo>
                <a:lnTo>
                  <a:pt x="5553994" y="26670"/>
                </a:lnTo>
                <a:lnTo>
                  <a:pt x="5689457" y="36475"/>
                </a:lnTo>
                <a:lnTo>
                  <a:pt x="5824921" y="49109"/>
                </a:lnTo>
                <a:lnTo>
                  <a:pt x="5960384" y="64247"/>
                </a:lnTo>
                <a:lnTo>
                  <a:pt x="6095847" y="81430"/>
                </a:lnTo>
                <a:lnTo>
                  <a:pt x="6231310" y="100088"/>
                </a:lnTo>
                <a:lnTo>
                  <a:pt x="6366774" y="119571"/>
                </a:lnTo>
                <a:lnTo>
                  <a:pt x="6502237" y="139187"/>
                </a:lnTo>
                <a:lnTo>
                  <a:pt x="6637700" y="158234"/>
                </a:lnTo>
                <a:lnTo>
                  <a:pt x="6773164" y="176047"/>
                </a:lnTo>
                <a:lnTo>
                  <a:pt x="6908627" y="192030"/>
                </a:lnTo>
                <a:lnTo>
                  <a:pt x="7044090" y="205690"/>
                </a:lnTo>
                <a:lnTo>
                  <a:pt x="7179553" y="216660"/>
                </a:lnTo>
                <a:lnTo>
                  <a:pt x="7315017" y="224721"/>
                </a:lnTo>
                <a:lnTo>
                  <a:pt x="7450480" y="229802"/>
                </a:lnTo>
                <a:lnTo>
                  <a:pt x="7585943" y="231983"/>
                </a:lnTo>
                <a:lnTo>
                  <a:pt x="7721406" y="231480"/>
                </a:lnTo>
                <a:lnTo>
                  <a:pt x="7856870" y="228626"/>
                </a:lnTo>
                <a:lnTo>
                  <a:pt x="7992333" y="223841"/>
                </a:lnTo>
                <a:lnTo>
                  <a:pt x="8127796" y="217601"/>
                </a:lnTo>
                <a:lnTo>
                  <a:pt x="8263260" y="210399"/>
                </a:lnTo>
                <a:lnTo>
                  <a:pt x="8398723" y="202714"/>
                </a:lnTo>
                <a:lnTo>
                  <a:pt x="8534186" y="194975"/>
                </a:lnTo>
                <a:lnTo>
                  <a:pt x="8669649" y="187531"/>
                </a:lnTo>
                <a:lnTo>
                  <a:pt x="8805113" y="180631"/>
                </a:lnTo>
                <a:lnTo>
                  <a:pt x="8940576" y="174414"/>
                </a:lnTo>
                <a:lnTo>
                  <a:pt x="9076039" y="168896"/>
                </a:lnTo>
                <a:lnTo>
                  <a:pt x="9211503" y="163983"/>
                </a:lnTo>
                <a:lnTo>
                  <a:pt x="9346966" y="159481"/>
                </a:lnTo>
                <a:lnTo>
                  <a:pt x="9482429" y="155122"/>
                </a:lnTo>
                <a:lnTo>
                  <a:pt x="9617892" y="150584"/>
                </a:lnTo>
                <a:lnTo>
                  <a:pt x="9753356" y="145531"/>
                </a:lnTo>
                <a:lnTo>
                  <a:pt x="9888819" y="139645"/>
                </a:lnTo>
                <a:lnTo>
                  <a:pt x="10024282" y="132654"/>
                </a:lnTo>
                <a:lnTo>
                  <a:pt x="10159746" y="124369"/>
                </a:lnTo>
                <a:lnTo>
                  <a:pt x="10295209" y="114699"/>
                </a:lnTo>
                <a:lnTo>
                  <a:pt x="10430672" y="103677"/>
                </a:lnTo>
                <a:lnTo>
                  <a:pt x="10566135" y="91461"/>
                </a:lnTo>
                <a:lnTo>
                  <a:pt x="10701599" y="78333"/>
                </a:lnTo>
                <a:lnTo>
                  <a:pt x="10837062" y="64691"/>
                </a:lnTo>
                <a:lnTo>
                  <a:pt x="10972525" y="51025"/>
                </a:lnTo>
                <a:lnTo>
                  <a:pt x="11107988" y="37893"/>
                </a:lnTo>
                <a:lnTo>
                  <a:pt x="11243452" y="25885"/>
                </a:lnTo>
                <a:lnTo>
                  <a:pt x="11378915" y="15588"/>
                </a:lnTo>
                <a:lnTo>
                  <a:pt x="11514378" y="7547"/>
                </a:lnTo>
                <a:lnTo>
                  <a:pt x="11649842" y="2231"/>
                </a:lnTo>
                <a:lnTo>
                  <a:pt x="11785305" y="0"/>
                </a:lnTo>
                <a:lnTo>
                  <a:pt x="11920768" y="1082"/>
                </a:lnTo>
                <a:lnTo>
                  <a:pt x="12056231" y="5551"/>
                </a:lnTo>
                <a:lnTo>
                  <a:pt x="12191695" y="13326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0" y="6533113"/>
            <a:ext cx="12191695" cy="246124"/>
          </a:xfrm>
          <a:custGeom>
            <a:avLst/>
            <a:gdLst/>
            <a:ahLst/>
            <a:cxnLst/>
            <a:rect l="l" t="t" r="r" b="b"/>
            <a:pathLst>
              <a:path w="12191695" h="246124">
                <a:moveTo>
                  <a:pt x="0" y="183172"/>
                </a:moveTo>
                <a:lnTo>
                  <a:pt x="135463" y="199432"/>
                </a:lnTo>
                <a:lnTo>
                  <a:pt x="270926" y="214077"/>
                </a:lnTo>
                <a:lnTo>
                  <a:pt x="406389" y="226514"/>
                </a:lnTo>
                <a:lnTo>
                  <a:pt x="541853" y="236236"/>
                </a:lnTo>
                <a:lnTo>
                  <a:pt x="677316" y="242855"/>
                </a:lnTo>
                <a:lnTo>
                  <a:pt x="812779" y="246124"/>
                </a:lnTo>
                <a:lnTo>
                  <a:pt x="948242" y="245951"/>
                </a:lnTo>
                <a:lnTo>
                  <a:pt x="1083706" y="242404"/>
                </a:lnTo>
                <a:lnTo>
                  <a:pt x="1219169" y="235707"/>
                </a:lnTo>
                <a:lnTo>
                  <a:pt x="1354632" y="226219"/>
                </a:lnTo>
                <a:lnTo>
                  <a:pt x="1490096" y="214417"/>
                </a:lnTo>
                <a:lnTo>
                  <a:pt x="1625559" y="200862"/>
                </a:lnTo>
                <a:lnTo>
                  <a:pt x="1761022" y="186161"/>
                </a:lnTo>
                <a:lnTo>
                  <a:pt x="1896485" y="170935"/>
                </a:lnTo>
                <a:lnTo>
                  <a:pt x="2031949" y="155777"/>
                </a:lnTo>
                <a:lnTo>
                  <a:pt x="2167412" y="141221"/>
                </a:lnTo>
                <a:lnTo>
                  <a:pt x="2302875" y="127707"/>
                </a:lnTo>
                <a:lnTo>
                  <a:pt x="2438339" y="115564"/>
                </a:lnTo>
                <a:lnTo>
                  <a:pt x="2573802" y="104994"/>
                </a:lnTo>
                <a:lnTo>
                  <a:pt x="2709265" y="96068"/>
                </a:lnTo>
                <a:lnTo>
                  <a:pt x="2844728" y="88731"/>
                </a:lnTo>
                <a:lnTo>
                  <a:pt x="2980192" y="82816"/>
                </a:lnTo>
                <a:lnTo>
                  <a:pt x="3115655" y="78067"/>
                </a:lnTo>
                <a:lnTo>
                  <a:pt x="3251118" y="74166"/>
                </a:lnTo>
                <a:lnTo>
                  <a:pt x="3386582" y="70766"/>
                </a:lnTo>
                <a:lnTo>
                  <a:pt x="3522045" y="67527"/>
                </a:lnTo>
                <a:lnTo>
                  <a:pt x="3657508" y="64145"/>
                </a:lnTo>
                <a:lnTo>
                  <a:pt x="3792971" y="60383"/>
                </a:lnTo>
                <a:lnTo>
                  <a:pt x="3928435" y="56096"/>
                </a:lnTo>
                <a:lnTo>
                  <a:pt x="4063898" y="51248"/>
                </a:lnTo>
                <a:lnTo>
                  <a:pt x="4199361" y="45917"/>
                </a:lnTo>
                <a:lnTo>
                  <a:pt x="4334824" y="40294"/>
                </a:lnTo>
                <a:lnTo>
                  <a:pt x="4470288" y="34675"/>
                </a:lnTo>
                <a:lnTo>
                  <a:pt x="4605751" y="29440"/>
                </a:lnTo>
                <a:lnTo>
                  <a:pt x="4741214" y="25025"/>
                </a:lnTo>
                <a:lnTo>
                  <a:pt x="4876678" y="21891"/>
                </a:lnTo>
                <a:lnTo>
                  <a:pt x="5012141" y="20491"/>
                </a:lnTo>
                <a:lnTo>
                  <a:pt x="5147604" y="21233"/>
                </a:lnTo>
                <a:lnTo>
                  <a:pt x="5283067" y="24445"/>
                </a:lnTo>
                <a:lnTo>
                  <a:pt x="5418531" y="30349"/>
                </a:lnTo>
                <a:lnTo>
                  <a:pt x="5553994" y="39037"/>
                </a:lnTo>
                <a:lnTo>
                  <a:pt x="5689457" y="50457"/>
                </a:lnTo>
                <a:lnTo>
                  <a:pt x="5824921" y="64407"/>
                </a:lnTo>
                <a:lnTo>
                  <a:pt x="5960384" y="80543"/>
                </a:lnTo>
                <a:lnTo>
                  <a:pt x="6095847" y="98390"/>
                </a:lnTo>
                <a:lnTo>
                  <a:pt x="6231310" y="117369"/>
                </a:lnTo>
                <a:lnTo>
                  <a:pt x="6366774" y="136826"/>
                </a:lnTo>
                <a:lnTo>
                  <a:pt x="6502237" y="156066"/>
                </a:lnTo>
                <a:lnTo>
                  <a:pt x="6637700" y="174397"/>
                </a:lnTo>
                <a:lnTo>
                  <a:pt x="6773164" y="191162"/>
                </a:lnTo>
                <a:lnTo>
                  <a:pt x="6908627" y="205782"/>
                </a:lnTo>
                <a:lnTo>
                  <a:pt x="7044090" y="217784"/>
                </a:lnTo>
                <a:lnTo>
                  <a:pt x="7179553" y="226827"/>
                </a:lnTo>
                <a:lnTo>
                  <a:pt x="7315017" y="232720"/>
                </a:lnTo>
                <a:lnTo>
                  <a:pt x="7450480" y="235424"/>
                </a:lnTo>
                <a:lnTo>
                  <a:pt x="7585943" y="235057"/>
                </a:lnTo>
                <a:lnTo>
                  <a:pt x="7721406" y="231872"/>
                </a:lnTo>
                <a:lnTo>
                  <a:pt x="7856870" y="226244"/>
                </a:lnTo>
                <a:lnTo>
                  <a:pt x="7992333" y="218632"/>
                </a:lnTo>
                <a:lnTo>
                  <a:pt x="8127796" y="209557"/>
                </a:lnTo>
                <a:lnTo>
                  <a:pt x="8263260" y="199555"/>
                </a:lnTo>
                <a:lnTo>
                  <a:pt x="8398723" y="189147"/>
                </a:lnTo>
                <a:lnTo>
                  <a:pt x="8534186" y="178801"/>
                </a:lnTo>
                <a:lnTo>
                  <a:pt x="8669649" y="168908"/>
                </a:lnTo>
                <a:lnTo>
                  <a:pt x="8805113" y="159754"/>
                </a:lnTo>
                <a:lnTo>
                  <a:pt x="8940576" y="151510"/>
                </a:lnTo>
                <a:lnTo>
                  <a:pt x="9076039" y="144224"/>
                </a:lnTo>
                <a:lnTo>
                  <a:pt x="9211503" y="137828"/>
                </a:lnTo>
                <a:lnTo>
                  <a:pt x="9346966" y="132152"/>
                </a:lnTo>
                <a:lnTo>
                  <a:pt x="9482429" y="126943"/>
                </a:lnTo>
                <a:lnTo>
                  <a:pt x="9617892" y="121894"/>
                </a:lnTo>
                <a:lnTo>
                  <a:pt x="9753356" y="116677"/>
                </a:lnTo>
                <a:lnTo>
                  <a:pt x="9888819" y="110975"/>
                </a:lnTo>
                <a:lnTo>
                  <a:pt x="10024282" y="104513"/>
                </a:lnTo>
                <a:lnTo>
                  <a:pt x="10159746" y="97095"/>
                </a:lnTo>
                <a:lnTo>
                  <a:pt x="10295209" y="88617"/>
                </a:lnTo>
                <a:lnTo>
                  <a:pt x="10430672" y="79094"/>
                </a:lnTo>
                <a:lnTo>
                  <a:pt x="10566135" y="68661"/>
                </a:lnTo>
                <a:lnTo>
                  <a:pt x="10701599" y="57573"/>
                </a:lnTo>
                <a:lnTo>
                  <a:pt x="10837062" y="46197"/>
                </a:lnTo>
                <a:lnTo>
                  <a:pt x="10972525" y="34990"/>
                </a:lnTo>
                <a:lnTo>
                  <a:pt x="11107988" y="24471"/>
                </a:lnTo>
                <a:lnTo>
                  <a:pt x="11243452" y="15192"/>
                </a:lnTo>
                <a:lnTo>
                  <a:pt x="11378915" y="7698"/>
                </a:lnTo>
                <a:lnTo>
                  <a:pt x="11514378" y="2492"/>
                </a:lnTo>
                <a:lnTo>
                  <a:pt x="11649842" y="0"/>
                </a:lnTo>
                <a:lnTo>
                  <a:pt x="11785305" y="541"/>
                </a:lnTo>
                <a:lnTo>
                  <a:pt x="11920768" y="4298"/>
                </a:lnTo>
                <a:lnTo>
                  <a:pt x="12056231" y="11307"/>
                </a:lnTo>
                <a:lnTo>
                  <a:pt x="12191695" y="21447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0" y="6600998"/>
            <a:ext cx="12191695" cy="238322"/>
          </a:xfrm>
          <a:custGeom>
            <a:avLst/>
            <a:gdLst/>
            <a:ahLst/>
            <a:cxnLst/>
            <a:rect l="l" t="t" r="r" b="b"/>
            <a:pathLst>
              <a:path w="12191695" h="238322">
                <a:moveTo>
                  <a:pt x="0" y="190722"/>
                </a:moveTo>
                <a:lnTo>
                  <a:pt x="135463" y="204821"/>
                </a:lnTo>
                <a:lnTo>
                  <a:pt x="270926" y="217096"/>
                </a:lnTo>
                <a:lnTo>
                  <a:pt x="406389" y="226989"/>
                </a:lnTo>
                <a:lnTo>
                  <a:pt x="541853" y="234032"/>
                </a:lnTo>
                <a:lnTo>
                  <a:pt x="677316" y="237878"/>
                </a:lnTo>
                <a:lnTo>
                  <a:pt x="812779" y="238322"/>
                </a:lnTo>
                <a:lnTo>
                  <a:pt x="948242" y="235314"/>
                </a:lnTo>
                <a:lnTo>
                  <a:pt x="1083706" y="228966"/>
                </a:lnTo>
                <a:lnTo>
                  <a:pt x="1219169" y="219541"/>
                </a:lnTo>
                <a:lnTo>
                  <a:pt x="1354632" y="207444"/>
                </a:lnTo>
                <a:lnTo>
                  <a:pt x="1490096" y="193188"/>
                </a:lnTo>
                <a:lnTo>
                  <a:pt x="1625559" y="177371"/>
                </a:lnTo>
                <a:lnTo>
                  <a:pt x="1761022" y="160636"/>
                </a:lnTo>
                <a:lnTo>
                  <a:pt x="1896485" y="143634"/>
                </a:lnTo>
                <a:lnTo>
                  <a:pt x="2031949" y="126985"/>
                </a:lnTo>
                <a:lnTo>
                  <a:pt x="2167412" y="111244"/>
                </a:lnTo>
                <a:lnTo>
                  <a:pt x="2302875" y="96871"/>
                </a:lnTo>
                <a:lnTo>
                  <a:pt x="2438339" y="84207"/>
                </a:lnTo>
                <a:lnTo>
                  <a:pt x="2573802" y="73462"/>
                </a:lnTo>
                <a:lnTo>
                  <a:pt x="2709265" y="64709"/>
                </a:lnTo>
                <a:lnTo>
                  <a:pt x="2844728" y="57891"/>
                </a:lnTo>
                <a:lnTo>
                  <a:pt x="2980192" y="52834"/>
                </a:lnTo>
                <a:lnTo>
                  <a:pt x="3115655" y="49267"/>
                </a:lnTo>
                <a:lnTo>
                  <a:pt x="3251118" y="46856"/>
                </a:lnTo>
                <a:lnTo>
                  <a:pt x="3386582" y="45231"/>
                </a:lnTo>
                <a:lnTo>
                  <a:pt x="3522045" y="44024"/>
                </a:lnTo>
                <a:lnTo>
                  <a:pt x="3657508" y="42902"/>
                </a:lnTo>
                <a:lnTo>
                  <a:pt x="3792971" y="41593"/>
                </a:lnTo>
                <a:lnTo>
                  <a:pt x="3928435" y="39916"/>
                </a:lnTo>
                <a:lnTo>
                  <a:pt x="4063898" y="37794"/>
                </a:lnTo>
                <a:lnTo>
                  <a:pt x="4199361" y="35264"/>
                </a:lnTo>
                <a:lnTo>
                  <a:pt x="4334824" y="32476"/>
                </a:lnTo>
                <a:lnTo>
                  <a:pt x="4470288" y="29683"/>
                </a:lnTo>
                <a:lnTo>
                  <a:pt x="4605751" y="27220"/>
                </a:lnTo>
                <a:lnTo>
                  <a:pt x="4741214" y="25484"/>
                </a:lnTo>
                <a:lnTo>
                  <a:pt x="4876678" y="24895"/>
                </a:lnTo>
                <a:lnTo>
                  <a:pt x="5012141" y="25867"/>
                </a:lnTo>
                <a:lnTo>
                  <a:pt x="5147604" y="28771"/>
                </a:lnTo>
                <a:lnTo>
                  <a:pt x="5283067" y="33905"/>
                </a:lnTo>
                <a:lnTo>
                  <a:pt x="5418531" y="41460"/>
                </a:lnTo>
                <a:lnTo>
                  <a:pt x="5553994" y="51504"/>
                </a:lnTo>
                <a:lnTo>
                  <a:pt x="5689457" y="63964"/>
                </a:lnTo>
                <a:lnTo>
                  <a:pt x="5824921" y="78622"/>
                </a:lnTo>
                <a:lnTo>
                  <a:pt x="5960384" y="95124"/>
                </a:lnTo>
                <a:lnTo>
                  <a:pt x="6095847" y="112989"/>
                </a:lnTo>
                <a:lnTo>
                  <a:pt x="6231310" y="131639"/>
                </a:lnTo>
                <a:lnTo>
                  <a:pt x="6366774" y="150423"/>
                </a:lnTo>
                <a:lnTo>
                  <a:pt x="6502237" y="168658"/>
                </a:lnTo>
                <a:lnTo>
                  <a:pt x="6637700" y="185665"/>
                </a:lnTo>
                <a:lnTo>
                  <a:pt x="6773164" y="200809"/>
                </a:lnTo>
                <a:lnTo>
                  <a:pt x="6908627" y="213535"/>
                </a:lnTo>
                <a:lnTo>
                  <a:pt x="7044090" y="223398"/>
                </a:lnTo>
                <a:lnTo>
                  <a:pt x="7179553" y="230090"/>
                </a:lnTo>
                <a:lnTo>
                  <a:pt x="7315017" y="233454"/>
                </a:lnTo>
                <a:lnTo>
                  <a:pt x="7450480" y="233492"/>
                </a:lnTo>
                <a:lnTo>
                  <a:pt x="7585943" y="230359"/>
                </a:lnTo>
                <a:lnTo>
                  <a:pt x="7721406" y="224353"/>
                </a:lnTo>
                <a:lnTo>
                  <a:pt x="7856870" y="215888"/>
                </a:lnTo>
                <a:lnTo>
                  <a:pt x="7992333" y="205470"/>
                </a:lnTo>
                <a:lnTo>
                  <a:pt x="8127796" y="193658"/>
                </a:lnTo>
                <a:lnTo>
                  <a:pt x="8263260" y="181033"/>
                </a:lnTo>
                <a:lnTo>
                  <a:pt x="8398723" y="168153"/>
                </a:lnTo>
                <a:lnTo>
                  <a:pt x="8534186" y="155526"/>
                </a:lnTo>
                <a:lnTo>
                  <a:pt x="8669649" y="143575"/>
                </a:lnTo>
                <a:lnTo>
                  <a:pt x="8805113" y="132618"/>
                </a:lnTo>
                <a:lnTo>
                  <a:pt x="8940576" y="122852"/>
                </a:lnTo>
                <a:lnTo>
                  <a:pt x="9076039" y="114351"/>
                </a:lnTo>
                <a:lnTo>
                  <a:pt x="9211503" y="107063"/>
                </a:lnTo>
                <a:lnTo>
                  <a:pt x="9346966" y="100832"/>
                </a:lnTo>
                <a:lnTo>
                  <a:pt x="9482429" y="95413"/>
                </a:lnTo>
                <a:lnTo>
                  <a:pt x="9617892" y="90502"/>
                </a:lnTo>
                <a:lnTo>
                  <a:pt x="9753356" y="85770"/>
                </a:lnTo>
                <a:lnTo>
                  <a:pt x="9888819" y="80892"/>
                </a:lnTo>
                <a:lnTo>
                  <a:pt x="10024282" y="75582"/>
                </a:lnTo>
                <a:lnTo>
                  <a:pt x="10159746" y="69623"/>
                </a:lnTo>
                <a:lnTo>
                  <a:pt x="10295209" y="62893"/>
                </a:lnTo>
                <a:lnTo>
                  <a:pt x="10430672" y="55378"/>
                </a:lnTo>
                <a:lnTo>
                  <a:pt x="10566135" y="47183"/>
                </a:lnTo>
                <a:lnTo>
                  <a:pt x="10701599" y="38531"/>
                </a:lnTo>
                <a:lnTo>
                  <a:pt x="10837062" y="29751"/>
                </a:lnTo>
                <a:lnTo>
                  <a:pt x="10972525" y="21260"/>
                </a:lnTo>
                <a:lnTo>
                  <a:pt x="11107988" y="13537"/>
                </a:lnTo>
                <a:lnTo>
                  <a:pt x="11243452" y="7091"/>
                </a:lnTo>
                <a:lnTo>
                  <a:pt x="11378915" y="2425"/>
                </a:lnTo>
                <a:lnTo>
                  <a:pt x="11514378" y="0"/>
                </a:lnTo>
                <a:lnTo>
                  <a:pt x="11649842" y="198"/>
                </a:lnTo>
                <a:lnTo>
                  <a:pt x="11785305" y="3299"/>
                </a:lnTo>
                <a:lnTo>
                  <a:pt x="11920768" y="9446"/>
                </a:lnTo>
                <a:lnTo>
                  <a:pt x="12056231" y="18641"/>
                </a:lnTo>
                <a:lnTo>
                  <a:pt x="12191695" y="30728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46304"/>
            <a:ext cx="11283696" cy="44805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在线任务数据流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722376"/>
            <a:ext cx="585216" cy="41148"/>
          </a:xfrm>
          <a:prstGeom prst="rect">
            <a:avLst/>
          </a:prstGeom>
          <a:solidFill>
            <a:srgbClr val="EE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649224"/>
            <a:ext cx="10469880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2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先定位候选，再核验事实，最后组织成果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292608"/>
            <a:ext cx="896112" cy="20116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HiAgent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6647688"/>
            <a:ext cx="10241280" cy="1280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7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企业数据智能体建设规划  /  规划视图  /  2026.10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629400"/>
            <a:ext cx="585216" cy="17373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17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" y="1266444"/>
            <a:ext cx="2097633" cy="180136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1480" y="1234440"/>
            <a:ext cx="2097633" cy="1801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7784" y="1380744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1316736"/>
            <a:ext cx="1704441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任务输入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1792224"/>
            <a:ext cx="1731873" cy="11430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问题 / 上下文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用户身份</a:t>
            </a:r>
          </a:p>
        </p:txBody>
      </p:sp>
      <p:sp>
        <p:nvSpPr>
          <p:cNvPr id="18" name="Oval 17"/>
          <p:cNvSpPr/>
          <p:nvPr/>
        </p:nvSpPr>
        <p:spPr>
          <a:xfrm>
            <a:off x="566928" y="1106424"/>
            <a:ext cx="274320" cy="274320"/>
          </a:xfrm>
          <a:prstGeom prst="ellipse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1129284"/>
            <a:ext cx="274320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01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545689" y="2135124"/>
            <a:ext cx="146304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633527" y="2135124"/>
            <a:ext cx="58466" cy="35845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2633527" y="2099278"/>
            <a:ext cx="58466" cy="3584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751429" y="1266444"/>
            <a:ext cx="2097633" cy="180136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728569" y="1234440"/>
            <a:ext cx="2097633" cy="1801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74873" y="1380744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84601" y="1316736"/>
            <a:ext cx="1704441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理解与消歧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11449" y="1792224"/>
            <a:ext cx="1731873" cy="11430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对象 / 口径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范围与约束</a:t>
            </a:r>
          </a:p>
        </p:txBody>
      </p:sp>
      <p:sp>
        <p:nvSpPr>
          <p:cNvPr id="28" name="Oval 27"/>
          <p:cNvSpPr/>
          <p:nvPr/>
        </p:nvSpPr>
        <p:spPr>
          <a:xfrm>
            <a:off x="2884017" y="1106424"/>
            <a:ext cx="274320" cy="274320"/>
          </a:xfrm>
          <a:prstGeom prst="ellipse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84017" y="1129284"/>
            <a:ext cx="274320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02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62779" y="2135124"/>
            <a:ext cx="146304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4950617" y="2135124"/>
            <a:ext cx="58466" cy="35845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4950617" y="2099278"/>
            <a:ext cx="58466" cy="3584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068519" y="1266444"/>
            <a:ext cx="2097633" cy="180136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45659" y="1234440"/>
            <a:ext cx="2097633" cy="1801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191963" y="1380744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1691" y="1316736"/>
            <a:ext cx="1704441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检索候选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28539" y="1792224"/>
            <a:ext cx="1731873" cy="11430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知识与语义索引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候选标识</a:t>
            </a:r>
          </a:p>
        </p:txBody>
      </p:sp>
      <p:sp>
        <p:nvSpPr>
          <p:cNvPr id="38" name="Oval 37"/>
          <p:cNvSpPr/>
          <p:nvPr/>
        </p:nvSpPr>
        <p:spPr>
          <a:xfrm>
            <a:off x="5201107" y="1106424"/>
            <a:ext cx="274320" cy="274320"/>
          </a:xfrm>
          <a:prstGeom prst="ellipse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01107" y="1129284"/>
            <a:ext cx="274320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03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179868" y="2135124"/>
            <a:ext cx="146304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7267706" y="2135124"/>
            <a:ext cx="58466" cy="35845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 flipV="1">
            <a:off x="7267706" y="2099278"/>
            <a:ext cx="58466" cy="3584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385608" y="1266444"/>
            <a:ext cx="2097633" cy="180136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362748" y="1234440"/>
            <a:ext cx="2097633" cy="1801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09052" y="1380744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18780" y="1316736"/>
            <a:ext cx="1704441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核验与调用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45628" y="1792224"/>
            <a:ext cx="1731873" cy="11430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查询库 / 平台API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实际结果</a:t>
            </a:r>
          </a:p>
        </p:txBody>
      </p:sp>
      <p:sp>
        <p:nvSpPr>
          <p:cNvPr id="48" name="Oval 47"/>
          <p:cNvSpPr/>
          <p:nvPr/>
        </p:nvSpPr>
        <p:spPr>
          <a:xfrm>
            <a:off x="7518196" y="1106424"/>
            <a:ext cx="274320" cy="274320"/>
          </a:xfrm>
          <a:prstGeom prst="ellipse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18196" y="1129284"/>
            <a:ext cx="274320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04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496958" y="2135124"/>
            <a:ext cx="146304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9584796" y="2135124"/>
            <a:ext cx="58466" cy="35845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9584796" y="2099278"/>
            <a:ext cx="58466" cy="3584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9702698" y="1266444"/>
            <a:ext cx="2097633" cy="180136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679838" y="1234440"/>
            <a:ext cx="2097633" cy="1801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826142" y="1380744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935870" y="1316736"/>
            <a:ext cx="1704441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组织成果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62718" y="1792224"/>
            <a:ext cx="1731873" cy="11430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来源 / 范围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缺口 / 下一步</a:t>
            </a:r>
          </a:p>
        </p:txBody>
      </p:sp>
      <p:sp>
        <p:nvSpPr>
          <p:cNvPr id="58" name="Oval 57"/>
          <p:cNvSpPr/>
          <p:nvPr/>
        </p:nvSpPr>
        <p:spPr>
          <a:xfrm>
            <a:off x="9835286" y="1106424"/>
            <a:ext cx="274320" cy="274320"/>
          </a:xfrm>
          <a:prstGeom prst="ellipse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835286" y="1129284"/>
            <a:ext cx="274320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05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53212" y="4018788"/>
            <a:ext cx="3264408" cy="1399032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30352" y="3986784"/>
            <a:ext cx="3264408" cy="13990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03996" y="4556546"/>
            <a:ext cx="469087" cy="8339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683148" y="4415820"/>
            <a:ext cx="479511" cy="201395"/>
          </a:xfrm>
          <a:custGeom>
            <a:avLst/>
            <a:gdLst/>
            <a:ahLst/>
            <a:cxnLst/>
            <a:rect l="l" t="t" r="r" b="b"/>
            <a:pathLst>
              <a:path w="479511" h="201395">
                <a:moveTo>
                  <a:pt x="0" y="100697"/>
                </a:moveTo>
                <a:lnTo>
                  <a:pt x="239755" y="0"/>
                </a:lnTo>
                <a:lnTo>
                  <a:pt x="479511" y="100697"/>
                </a:lnTo>
                <a:lnTo>
                  <a:pt x="239755" y="201395"/>
                </a:lnTo>
                <a:close/>
              </a:path>
            </a:pathLst>
          </a:custGeom>
          <a:solidFill>
            <a:srgbClr val="B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683148" y="4516517"/>
            <a:ext cx="239755" cy="145000"/>
          </a:xfrm>
          <a:custGeom>
            <a:avLst/>
            <a:gdLst/>
            <a:ahLst/>
            <a:cxnLst/>
            <a:rect l="l" t="t" r="r" b="b"/>
            <a:pathLst>
              <a:path w="239755" h="145000">
                <a:moveTo>
                  <a:pt x="0" y="0"/>
                </a:moveTo>
                <a:lnTo>
                  <a:pt x="239755" y="100698"/>
                </a:lnTo>
                <a:lnTo>
                  <a:pt x="239755" y="145000"/>
                </a:lnTo>
                <a:lnTo>
                  <a:pt x="0" y="44303"/>
                </a:lnTo>
                <a:close/>
              </a:path>
            </a:pathLst>
          </a:custGeom>
          <a:solidFill>
            <a:srgbClr val="6D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922903" y="4516517"/>
            <a:ext cx="239756" cy="145000"/>
          </a:xfrm>
          <a:custGeom>
            <a:avLst/>
            <a:gdLst/>
            <a:ahLst/>
            <a:cxnLst/>
            <a:rect l="l" t="t" r="r" b="b"/>
            <a:pathLst>
              <a:path w="239756" h="145000">
                <a:moveTo>
                  <a:pt x="0" y="100698"/>
                </a:moveTo>
                <a:lnTo>
                  <a:pt x="239756" y="0"/>
                </a:lnTo>
                <a:lnTo>
                  <a:pt x="239756" y="44303"/>
                </a:lnTo>
                <a:lnTo>
                  <a:pt x="0" y="145000"/>
                </a:lnTo>
                <a:close/>
              </a:path>
            </a:pathLst>
          </a:custGeom>
          <a:solidFill>
            <a:srgbClr val="30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724844" y="4316790"/>
            <a:ext cx="396118" cy="166370"/>
          </a:xfrm>
          <a:custGeom>
            <a:avLst/>
            <a:gdLst/>
            <a:ahLst/>
            <a:cxnLst/>
            <a:rect l="l" t="t" r="r" b="b"/>
            <a:pathLst>
              <a:path w="396118" h="166370">
                <a:moveTo>
                  <a:pt x="0" y="83185"/>
                </a:moveTo>
                <a:lnTo>
                  <a:pt x="198059" y="0"/>
                </a:lnTo>
                <a:lnTo>
                  <a:pt x="396118" y="83185"/>
                </a:lnTo>
                <a:lnTo>
                  <a:pt x="198059" y="166370"/>
                </a:lnTo>
                <a:close/>
              </a:path>
            </a:pathLst>
          </a:custGeom>
          <a:solidFill>
            <a:srgbClr val="94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724844" y="4399975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0"/>
                </a:moveTo>
                <a:lnTo>
                  <a:pt x="198059" y="83185"/>
                </a:lnTo>
                <a:lnTo>
                  <a:pt x="198059" y="127488"/>
                </a:lnTo>
                <a:lnTo>
                  <a:pt x="0" y="44303"/>
                </a:lnTo>
                <a:close/>
              </a:path>
            </a:pathLst>
          </a:custGeom>
          <a:solidFill>
            <a:srgbClr val="3F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922903" y="4399975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83185"/>
                </a:moveTo>
                <a:lnTo>
                  <a:pt x="198059" y="0"/>
                </a:lnTo>
                <a:lnTo>
                  <a:pt x="198059" y="44303"/>
                </a:lnTo>
                <a:lnTo>
                  <a:pt x="0" y="127488"/>
                </a:lnTo>
                <a:close/>
              </a:path>
            </a:pathLst>
          </a:custGeom>
          <a:solidFill>
            <a:srgbClr val="197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771753" y="4217761"/>
            <a:ext cx="302301" cy="126966"/>
          </a:xfrm>
          <a:custGeom>
            <a:avLst/>
            <a:gdLst/>
            <a:ahLst/>
            <a:cxnLst/>
            <a:rect l="l" t="t" r="r" b="b"/>
            <a:pathLst>
              <a:path w="302301" h="126966">
                <a:moveTo>
                  <a:pt x="0" y="63483"/>
                </a:moveTo>
                <a:lnTo>
                  <a:pt x="151150" y="0"/>
                </a:lnTo>
                <a:lnTo>
                  <a:pt x="302301" y="63483"/>
                </a:lnTo>
                <a:lnTo>
                  <a:pt x="151150" y="126966"/>
                </a:lnTo>
                <a:close/>
              </a:path>
            </a:pathLst>
          </a:custGeom>
          <a:solidFill>
            <a:srgbClr val="57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771753" y="4281244"/>
            <a:ext cx="151150" cy="107786"/>
          </a:xfrm>
          <a:custGeom>
            <a:avLst/>
            <a:gdLst/>
            <a:ahLst/>
            <a:cxnLst/>
            <a:rect l="l" t="t" r="r" b="b"/>
            <a:pathLst>
              <a:path w="151150" h="107786">
                <a:moveTo>
                  <a:pt x="0" y="0"/>
                </a:moveTo>
                <a:lnTo>
                  <a:pt x="151150" y="63483"/>
                </a:lnTo>
                <a:lnTo>
                  <a:pt x="151150" y="107786"/>
                </a:lnTo>
                <a:lnTo>
                  <a:pt x="0" y="44303"/>
                </a:lnTo>
                <a:close/>
              </a:path>
            </a:pathLst>
          </a:custGeom>
          <a:solidFill>
            <a:srgbClr val="148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922903" y="4281244"/>
            <a:ext cx="151151" cy="107786"/>
          </a:xfrm>
          <a:custGeom>
            <a:avLst/>
            <a:gdLst/>
            <a:ahLst/>
            <a:cxnLst/>
            <a:rect l="l" t="t" r="r" b="b"/>
            <a:pathLst>
              <a:path w="151151" h="107786">
                <a:moveTo>
                  <a:pt x="0" y="63483"/>
                </a:moveTo>
                <a:lnTo>
                  <a:pt x="151151" y="0"/>
                </a:lnTo>
                <a:lnTo>
                  <a:pt x="151151" y="44303"/>
                </a:lnTo>
                <a:lnTo>
                  <a:pt x="0" y="107786"/>
                </a:lnTo>
                <a:close/>
              </a:path>
            </a:pathLst>
          </a:custGeom>
          <a:solidFill>
            <a:srgbClr val="0A5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844722" y="4196913"/>
            <a:ext cx="99030" cy="45553"/>
          </a:xfrm>
          <a:custGeom>
            <a:avLst/>
            <a:gdLst/>
            <a:ahLst/>
            <a:cxnLst/>
            <a:rect l="l" t="t" r="r" b="b"/>
            <a:pathLst>
              <a:path w="99030" h="45553">
                <a:moveTo>
                  <a:pt x="0" y="22776"/>
                </a:moveTo>
                <a:lnTo>
                  <a:pt x="49515" y="0"/>
                </a:lnTo>
                <a:lnTo>
                  <a:pt x="99030" y="22776"/>
                </a:lnTo>
                <a:lnTo>
                  <a:pt x="49515" y="45553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844722" y="4219689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70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894237" y="4219689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70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975024" y="4243821"/>
            <a:ext cx="99030" cy="45554"/>
          </a:xfrm>
          <a:custGeom>
            <a:avLst/>
            <a:gdLst/>
            <a:ahLst/>
            <a:cxnLst/>
            <a:rect l="l" t="t" r="r" b="b"/>
            <a:pathLst>
              <a:path w="99030" h="45554">
                <a:moveTo>
                  <a:pt x="0" y="22777"/>
                </a:moveTo>
                <a:lnTo>
                  <a:pt x="49515" y="0"/>
                </a:lnTo>
                <a:lnTo>
                  <a:pt x="99030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975024" y="4266598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1024539" y="4266598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891631" y="4306366"/>
            <a:ext cx="99029" cy="45554"/>
          </a:xfrm>
          <a:custGeom>
            <a:avLst/>
            <a:gdLst/>
            <a:ahLst/>
            <a:cxnLst/>
            <a:rect l="l" t="t" r="r" b="b"/>
            <a:pathLst>
              <a:path w="99029" h="45554">
                <a:moveTo>
                  <a:pt x="0" y="22777"/>
                </a:moveTo>
                <a:lnTo>
                  <a:pt x="49515" y="0"/>
                </a:lnTo>
                <a:lnTo>
                  <a:pt x="99029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891631" y="4329143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941146" y="4329143"/>
            <a:ext cx="49514" cy="95746"/>
          </a:xfrm>
          <a:custGeom>
            <a:avLst/>
            <a:gdLst/>
            <a:ahLst/>
            <a:cxnLst/>
            <a:rect l="l" t="t" r="r" b="b"/>
            <a:pathLst>
              <a:path w="49514" h="95746">
                <a:moveTo>
                  <a:pt x="0" y="22777"/>
                </a:moveTo>
                <a:lnTo>
                  <a:pt x="49514" y="0"/>
                </a:lnTo>
                <a:lnTo>
                  <a:pt x="49514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307592" y="4160520"/>
            <a:ext cx="2331720" cy="3931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有效上下文复用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40664" y="4791456"/>
            <a:ext cx="2843784" cy="521208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对象已确认时减少重复检索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歧义未解时先澄清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485132" y="4018788"/>
            <a:ext cx="3264408" cy="1399032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4462272" y="3986784"/>
            <a:ext cx="3264408" cy="13990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4635916" y="4556546"/>
            <a:ext cx="469087" cy="8339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708885" y="4238609"/>
            <a:ext cx="317936" cy="302300"/>
          </a:xfrm>
          <a:prstGeom prst="rect">
            <a:avLst/>
          </a:prstGeom>
          <a:solidFill>
            <a:srgbClr val="168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4708885" y="4499213"/>
            <a:ext cx="317936" cy="104241"/>
          </a:xfrm>
          <a:prstGeom prst="ellipse">
            <a:avLst/>
          </a:prstGeom>
          <a:solidFill>
            <a:srgbClr val="096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4708885" y="4186488"/>
            <a:ext cx="317936" cy="104241"/>
          </a:xfrm>
          <a:prstGeom prst="ellipse">
            <a:avLst/>
          </a:prstGeom>
          <a:solidFill>
            <a:srgbClr val="76D8FF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4708885" y="4306366"/>
            <a:ext cx="317936" cy="104241"/>
          </a:xfrm>
          <a:prstGeom prst="ellipse">
            <a:avLst/>
          </a:prstGeom>
          <a:solidFill>
            <a:srgbClr val="3AB2F8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4708885" y="4426244"/>
            <a:ext cx="317936" cy="104241"/>
          </a:xfrm>
          <a:prstGeom prst="ellipse">
            <a:avLst/>
          </a:prstGeom>
          <a:solidFill>
            <a:srgbClr val="3AB2F8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740158" y="4249033"/>
            <a:ext cx="20848" cy="276240"/>
          </a:xfrm>
          <a:prstGeom prst="rect">
            <a:avLst/>
          </a:prstGeom>
          <a:solidFill>
            <a:srgbClr val="76D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239512" y="4160520"/>
            <a:ext cx="2331720" cy="3931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事实与执行分流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672584" y="4791456"/>
            <a:ext cx="2843784" cy="521208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资产事实：外部查询库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指标 / 血缘等：权威平台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417052" y="4018788"/>
            <a:ext cx="3264408" cy="1399032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8394192" y="3986784"/>
            <a:ext cx="3264408" cy="13990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8567836" y="4556546"/>
            <a:ext cx="469087" cy="8339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8546988" y="4415820"/>
            <a:ext cx="479511" cy="201395"/>
          </a:xfrm>
          <a:custGeom>
            <a:avLst/>
            <a:gdLst/>
            <a:ahLst/>
            <a:cxnLst/>
            <a:rect l="l" t="t" r="r" b="b"/>
            <a:pathLst>
              <a:path w="479511" h="201395">
                <a:moveTo>
                  <a:pt x="0" y="100697"/>
                </a:moveTo>
                <a:lnTo>
                  <a:pt x="239755" y="0"/>
                </a:lnTo>
                <a:lnTo>
                  <a:pt x="479511" y="100697"/>
                </a:lnTo>
                <a:lnTo>
                  <a:pt x="239755" y="201395"/>
                </a:lnTo>
                <a:close/>
              </a:path>
            </a:pathLst>
          </a:custGeom>
          <a:solidFill>
            <a:srgbClr val="B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8546988" y="4516517"/>
            <a:ext cx="239755" cy="145000"/>
          </a:xfrm>
          <a:custGeom>
            <a:avLst/>
            <a:gdLst/>
            <a:ahLst/>
            <a:cxnLst/>
            <a:rect l="l" t="t" r="r" b="b"/>
            <a:pathLst>
              <a:path w="239755" h="145000">
                <a:moveTo>
                  <a:pt x="0" y="0"/>
                </a:moveTo>
                <a:lnTo>
                  <a:pt x="239755" y="100698"/>
                </a:lnTo>
                <a:lnTo>
                  <a:pt x="239755" y="145000"/>
                </a:lnTo>
                <a:lnTo>
                  <a:pt x="0" y="44303"/>
                </a:lnTo>
                <a:close/>
              </a:path>
            </a:pathLst>
          </a:custGeom>
          <a:solidFill>
            <a:srgbClr val="6D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8786743" y="4516517"/>
            <a:ext cx="239756" cy="145000"/>
          </a:xfrm>
          <a:custGeom>
            <a:avLst/>
            <a:gdLst/>
            <a:ahLst/>
            <a:cxnLst/>
            <a:rect l="l" t="t" r="r" b="b"/>
            <a:pathLst>
              <a:path w="239756" h="145000">
                <a:moveTo>
                  <a:pt x="0" y="100698"/>
                </a:moveTo>
                <a:lnTo>
                  <a:pt x="239756" y="0"/>
                </a:lnTo>
                <a:lnTo>
                  <a:pt x="239756" y="44303"/>
                </a:lnTo>
                <a:lnTo>
                  <a:pt x="0" y="145000"/>
                </a:lnTo>
                <a:close/>
              </a:path>
            </a:pathLst>
          </a:custGeom>
          <a:solidFill>
            <a:srgbClr val="30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8588684" y="4316790"/>
            <a:ext cx="396118" cy="166370"/>
          </a:xfrm>
          <a:custGeom>
            <a:avLst/>
            <a:gdLst/>
            <a:ahLst/>
            <a:cxnLst/>
            <a:rect l="l" t="t" r="r" b="b"/>
            <a:pathLst>
              <a:path w="396118" h="166370">
                <a:moveTo>
                  <a:pt x="0" y="83185"/>
                </a:moveTo>
                <a:lnTo>
                  <a:pt x="198059" y="0"/>
                </a:lnTo>
                <a:lnTo>
                  <a:pt x="396118" y="83185"/>
                </a:lnTo>
                <a:lnTo>
                  <a:pt x="198059" y="166370"/>
                </a:lnTo>
                <a:close/>
              </a:path>
            </a:pathLst>
          </a:custGeom>
          <a:solidFill>
            <a:srgbClr val="94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8588684" y="4399975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0"/>
                </a:moveTo>
                <a:lnTo>
                  <a:pt x="198059" y="83185"/>
                </a:lnTo>
                <a:lnTo>
                  <a:pt x="198059" y="127488"/>
                </a:lnTo>
                <a:lnTo>
                  <a:pt x="0" y="44303"/>
                </a:lnTo>
                <a:close/>
              </a:path>
            </a:pathLst>
          </a:custGeom>
          <a:solidFill>
            <a:srgbClr val="3F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8786743" y="4399975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83185"/>
                </a:moveTo>
                <a:lnTo>
                  <a:pt x="198059" y="0"/>
                </a:lnTo>
                <a:lnTo>
                  <a:pt x="198059" y="44303"/>
                </a:lnTo>
                <a:lnTo>
                  <a:pt x="0" y="127488"/>
                </a:lnTo>
                <a:close/>
              </a:path>
            </a:pathLst>
          </a:custGeom>
          <a:solidFill>
            <a:srgbClr val="197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8635593" y="4217761"/>
            <a:ext cx="302301" cy="126966"/>
          </a:xfrm>
          <a:custGeom>
            <a:avLst/>
            <a:gdLst/>
            <a:ahLst/>
            <a:cxnLst/>
            <a:rect l="l" t="t" r="r" b="b"/>
            <a:pathLst>
              <a:path w="302301" h="126966">
                <a:moveTo>
                  <a:pt x="0" y="63483"/>
                </a:moveTo>
                <a:lnTo>
                  <a:pt x="151150" y="0"/>
                </a:lnTo>
                <a:lnTo>
                  <a:pt x="302301" y="63483"/>
                </a:lnTo>
                <a:lnTo>
                  <a:pt x="151150" y="126966"/>
                </a:lnTo>
                <a:close/>
              </a:path>
            </a:pathLst>
          </a:custGeom>
          <a:solidFill>
            <a:srgbClr val="57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8635593" y="4281244"/>
            <a:ext cx="151150" cy="107786"/>
          </a:xfrm>
          <a:custGeom>
            <a:avLst/>
            <a:gdLst/>
            <a:ahLst/>
            <a:cxnLst/>
            <a:rect l="l" t="t" r="r" b="b"/>
            <a:pathLst>
              <a:path w="151150" h="107786">
                <a:moveTo>
                  <a:pt x="0" y="0"/>
                </a:moveTo>
                <a:lnTo>
                  <a:pt x="151150" y="63483"/>
                </a:lnTo>
                <a:lnTo>
                  <a:pt x="151150" y="107786"/>
                </a:lnTo>
                <a:lnTo>
                  <a:pt x="0" y="44303"/>
                </a:lnTo>
                <a:close/>
              </a:path>
            </a:pathLst>
          </a:custGeom>
          <a:solidFill>
            <a:srgbClr val="148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8786743" y="4281244"/>
            <a:ext cx="151151" cy="107786"/>
          </a:xfrm>
          <a:custGeom>
            <a:avLst/>
            <a:gdLst/>
            <a:ahLst/>
            <a:cxnLst/>
            <a:rect l="l" t="t" r="r" b="b"/>
            <a:pathLst>
              <a:path w="151151" h="107786">
                <a:moveTo>
                  <a:pt x="0" y="63483"/>
                </a:moveTo>
                <a:lnTo>
                  <a:pt x="151151" y="0"/>
                </a:lnTo>
                <a:lnTo>
                  <a:pt x="151151" y="44303"/>
                </a:lnTo>
                <a:lnTo>
                  <a:pt x="0" y="107786"/>
                </a:lnTo>
                <a:close/>
              </a:path>
            </a:pathLst>
          </a:custGeom>
          <a:solidFill>
            <a:srgbClr val="0A5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8708562" y="4196913"/>
            <a:ext cx="99030" cy="45553"/>
          </a:xfrm>
          <a:custGeom>
            <a:avLst/>
            <a:gdLst/>
            <a:ahLst/>
            <a:cxnLst/>
            <a:rect l="l" t="t" r="r" b="b"/>
            <a:pathLst>
              <a:path w="99030" h="45553">
                <a:moveTo>
                  <a:pt x="0" y="22776"/>
                </a:moveTo>
                <a:lnTo>
                  <a:pt x="49515" y="0"/>
                </a:lnTo>
                <a:lnTo>
                  <a:pt x="99030" y="22776"/>
                </a:lnTo>
                <a:lnTo>
                  <a:pt x="49515" y="45553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8708562" y="4219689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70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8758077" y="4219689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70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8838864" y="4243821"/>
            <a:ext cx="99030" cy="45554"/>
          </a:xfrm>
          <a:custGeom>
            <a:avLst/>
            <a:gdLst/>
            <a:ahLst/>
            <a:cxnLst/>
            <a:rect l="l" t="t" r="r" b="b"/>
            <a:pathLst>
              <a:path w="99030" h="45554">
                <a:moveTo>
                  <a:pt x="0" y="22777"/>
                </a:moveTo>
                <a:lnTo>
                  <a:pt x="49515" y="0"/>
                </a:lnTo>
                <a:lnTo>
                  <a:pt x="99030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8838864" y="4266598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8888379" y="4266598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8755471" y="4306366"/>
            <a:ext cx="99029" cy="45554"/>
          </a:xfrm>
          <a:custGeom>
            <a:avLst/>
            <a:gdLst/>
            <a:ahLst/>
            <a:cxnLst/>
            <a:rect l="l" t="t" r="r" b="b"/>
            <a:pathLst>
              <a:path w="99029" h="45554">
                <a:moveTo>
                  <a:pt x="0" y="22777"/>
                </a:moveTo>
                <a:lnTo>
                  <a:pt x="49515" y="0"/>
                </a:lnTo>
                <a:lnTo>
                  <a:pt x="99029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8755471" y="4329143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8804986" y="4329143"/>
            <a:ext cx="49514" cy="95746"/>
          </a:xfrm>
          <a:custGeom>
            <a:avLst/>
            <a:gdLst/>
            <a:ahLst/>
            <a:cxnLst/>
            <a:rect l="l" t="t" r="r" b="b"/>
            <a:pathLst>
              <a:path w="49514" h="95746">
                <a:moveTo>
                  <a:pt x="0" y="22777"/>
                </a:moveTo>
                <a:lnTo>
                  <a:pt x="49514" y="0"/>
                </a:lnTo>
                <a:lnTo>
                  <a:pt x="49514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171432" y="4160520"/>
            <a:ext cx="2331720" cy="3931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反馈回流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604504" y="4791456"/>
            <a:ext cx="2843784" cy="521208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失败 / 冲突 / 过期信息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进入评测与治理问题清单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3493008" y="3072384"/>
            <a:ext cx="0" cy="50292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H="1">
            <a:off x="2167128" y="3575304"/>
            <a:ext cx="1325880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2167128" y="3575304"/>
            <a:ext cx="0" cy="374904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H="1" flipV="1">
            <a:off x="2131282" y="3891741"/>
            <a:ext cx="35846" cy="58467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2167128" y="3891741"/>
            <a:ext cx="35845" cy="58467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8375904" y="3072384"/>
            <a:ext cx="0" cy="50292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H="1">
            <a:off x="6099048" y="3575304"/>
            <a:ext cx="2276856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6099048" y="3575304"/>
            <a:ext cx="0" cy="374904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H="1" flipV="1">
            <a:off x="6063202" y="3891741"/>
            <a:ext cx="35846" cy="58467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6099048" y="3891741"/>
            <a:ext cx="35845" cy="58467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10643616" y="3072384"/>
            <a:ext cx="0" cy="50292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H="1">
            <a:off x="10030968" y="3575304"/>
            <a:ext cx="612648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10030968" y="3575304"/>
            <a:ext cx="0" cy="374904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H="1" flipV="1">
            <a:off x="9995122" y="3891741"/>
            <a:ext cx="35846" cy="58467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0030968" y="3891741"/>
            <a:ext cx="35845" cy="58467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ounded Rectangle 131"/>
          <p:cNvSpPr/>
          <p:nvPr/>
        </p:nvSpPr>
        <p:spPr>
          <a:xfrm>
            <a:off x="461772" y="6112764"/>
            <a:ext cx="11247120" cy="33832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438912" y="6080760"/>
            <a:ext cx="11247120" cy="338328"/>
          </a:xfrm>
          <a:prstGeom prst="roundRect">
            <a:avLst>
              <a:gd name="adj" fmla="val 5500"/>
            </a:avLst>
          </a:prstGeom>
          <a:solidFill>
            <a:srgbClr val="EEF7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85216" y="6117336"/>
            <a:ext cx="10954512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知识片段用于找到候选，不替代真实记录；涉及计算或操作时由受控平台执行。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6346471"/>
            <a:ext cx="12191695" cy="235953"/>
          </a:xfrm>
          <a:custGeom>
            <a:avLst/>
            <a:gdLst/>
            <a:ahLst/>
            <a:cxnLst/>
            <a:rect l="l" t="t" r="r" b="b"/>
            <a:pathLst>
              <a:path w="12191695" h="235953">
                <a:moveTo>
                  <a:pt x="0" y="127481"/>
                </a:moveTo>
                <a:lnTo>
                  <a:pt x="135463" y="147046"/>
                </a:lnTo>
                <a:lnTo>
                  <a:pt x="270926" y="165914"/>
                </a:lnTo>
                <a:lnTo>
                  <a:pt x="406389" y="183426"/>
                </a:lnTo>
                <a:lnTo>
                  <a:pt x="541853" y="199000"/>
                </a:lnTo>
                <a:lnTo>
                  <a:pt x="677316" y="212159"/>
                </a:lnTo>
                <a:lnTo>
                  <a:pt x="812779" y="222557"/>
                </a:lnTo>
                <a:lnTo>
                  <a:pt x="948242" y="229995"/>
                </a:lnTo>
                <a:lnTo>
                  <a:pt x="1083706" y="234426"/>
                </a:lnTo>
                <a:lnTo>
                  <a:pt x="1219169" y="235953"/>
                </a:lnTo>
                <a:lnTo>
                  <a:pt x="1354632" y="234812"/>
                </a:lnTo>
                <a:lnTo>
                  <a:pt x="1490096" y="231352"/>
                </a:lnTo>
                <a:lnTo>
                  <a:pt x="1625559" y="226009"/>
                </a:lnTo>
                <a:lnTo>
                  <a:pt x="1761022" y="219267"/>
                </a:lnTo>
                <a:lnTo>
                  <a:pt x="1896485" y="211626"/>
                </a:lnTo>
                <a:lnTo>
                  <a:pt x="2031949" y="203564"/>
                </a:lnTo>
                <a:lnTo>
                  <a:pt x="2167412" y="195508"/>
                </a:lnTo>
                <a:lnTo>
                  <a:pt x="2302875" y="187800"/>
                </a:lnTo>
                <a:lnTo>
                  <a:pt x="2438339" y="180682"/>
                </a:lnTo>
                <a:lnTo>
                  <a:pt x="2573802" y="174280"/>
                </a:lnTo>
                <a:lnTo>
                  <a:pt x="2709265" y="168601"/>
                </a:lnTo>
                <a:lnTo>
                  <a:pt x="2844728" y="163541"/>
                </a:lnTo>
                <a:lnTo>
                  <a:pt x="2980192" y="158900"/>
                </a:lnTo>
                <a:lnTo>
                  <a:pt x="3115655" y="154402"/>
                </a:lnTo>
                <a:lnTo>
                  <a:pt x="3251118" y="149724"/>
                </a:lnTo>
                <a:lnTo>
                  <a:pt x="3386582" y="144534"/>
                </a:lnTo>
                <a:lnTo>
                  <a:pt x="3522045" y="138515"/>
                </a:lnTo>
                <a:lnTo>
                  <a:pt x="3657508" y="131408"/>
                </a:lnTo>
                <a:lnTo>
                  <a:pt x="3792971" y="123031"/>
                </a:lnTo>
                <a:lnTo>
                  <a:pt x="3928435" y="113309"/>
                </a:lnTo>
                <a:lnTo>
                  <a:pt x="4063898" y="102287"/>
                </a:lnTo>
                <a:lnTo>
                  <a:pt x="4199361" y="90138"/>
                </a:lnTo>
                <a:lnTo>
                  <a:pt x="4334824" y="77155"/>
                </a:lnTo>
                <a:lnTo>
                  <a:pt x="4470288" y="63745"/>
                </a:lnTo>
                <a:lnTo>
                  <a:pt x="4605751" y="50406"/>
                </a:lnTo>
                <a:lnTo>
                  <a:pt x="4741214" y="37696"/>
                </a:lnTo>
                <a:lnTo>
                  <a:pt x="4876678" y="26202"/>
                </a:lnTo>
                <a:lnTo>
                  <a:pt x="5012141" y="16503"/>
                </a:lnTo>
                <a:lnTo>
                  <a:pt x="5147604" y="9131"/>
                </a:lnTo>
                <a:lnTo>
                  <a:pt x="5283067" y="4538"/>
                </a:lnTo>
                <a:lnTo>
                  <a:pt x="5418531" y="3064"/>
                </a:lnTo>
                <a:lnTo>
                  <a:pt x="5553994" y="4912"/>
                </a:lnTo>
                <a:lnTo>
                  <a:pt x="5689457" y="10132"/>
                </a:lnTo>
                <a:lnTo>
                  <a:pt x="5824921" y="18617"/>
                </a:lnTo>
                <a:lnTo>
                  <a:pt x="5960384" y="30106"/>
                </a:lnTo>
                <a:lnTo>
                  <a:pt x="6095847" y="44193"/>
                </a:lnTo>
                <a:lnTo>
                  <a:pt x="6231310" y="60357"/>
                </a:lnTo>
                <a:lnTo>
                  <a:pt x="6366774" y="77984"/>
                </a:lnTo>
                <a:lnTo>
                  <a:pt x="6502237" y="96410"/>
                </a:lnTo>
                <a:lnTo>
                  <a:pt x="6637700" y="114953"/>
                </a:lnTo>
                <a:lnTo>
                  <a:pt x="6773164" y="132954"/>
                </a:lnTo>
                <a:lnTo>
                  <a:pt x="6908627" y="149814"/>
                </a:lnTo>
                <a:lnTo>
                  <a:pt x="7044090" y="165027"/>
                </a:lnTo>
                <a:lnTo>
                  <a:pt x="7179553" y="178204"/>
                </a:lnTo>
                <a:lnTo>
                  <a:pt x="7315017" y="189090"/>
                </a:lnTo>
                <a:lnTo>
                  <a:pt x="7450480" y="197574"/>
                </a:lnTo>
                <a:lnTo>
                  <a:pt x="7585943" y="203682"/>
                </a:lnTo>
                <a:lnTo>
                  <a:pt x="7721406" y="207573"/>
                </a:lnTo>
                <a:lnTo>
                  <a:pt x="7856870" y="209512"/>
                </a:lnTo>
                <a:lnTo>
                  <a:pt x="7992333" y="209848"/>
                </a:lnTo>
                <a:lnTo>
                  <a:pt x="8127796" y="208978"/>
                </a:lnTo>
                <a:lnTo>
                  <a:pt x="8263260" y="207316"/>
                </a:lnTo>
                <a:lnTo>
                  <a:pt x="8398723" y="205256"/>
                </a:lnTo>
                <a:lnTo>
                  <a:pt x="8534186" y="203141"/>
                </a:lnTo>
                <a:lnTo>
                  <a:pt x="8669649" y="201238"/>
                </a:lnTo>
                <a:lnTo>
                  <a:pt x="8805113" y="199711"/>
                </a:lnTo>
                <a:lnTo>
                  <a:pt x="8940576" y="198616"/>
                </a:lnTo>
                <a:lnTo>
                  <a:pt x="9076039" y="197894"/>
                </a:lnTo>
                <a:lnTo>
                  <a:pt x="9211503" y="197378"/>
                </a:lnTo>
                <a:lnTo>
                  <a:pt x="9346966" y="196808"/>
                </a:lnTo>
                <a:lnTo>
                  <a:pt x="9482429" y="195855"/>
                </a:lnTo>
                <a:lnTo>
                  <a:pt x="9617892" y="194147"/>
                </a:lnTo>
                <a:lnTo>
                  <a:pt x="9753356" y="191305"/>
                </a:lnTo>
                <a:lnTo>
                  <a:pt x="9888819" y="186977"/>
                </a:lnTo>
                <a:lnTo>
                  <a:pt x="10024282" y="180869"/>
                </a:lnTo>
                <a:lnTo>
                  <a:pt x="10159746" y="172776"/>
                </a:lnTo>
                <a:lnTo>
                  <a:pt x="10295209" y="162608"/>
                </a:lnTo>
                <a:lnTo>
                  <a:pt x="10430672" y="150402"/>
                </a:lnTo>
                <a:lnTo>
                  <a:pt x="10566135" y="136335"/>
                </a:lnTo>
                <a:lnTo>
                  <a:pt x="10701599" y="120717"/>
                </a:lnTo>
                <a:lnTo>
                  <a:pt x="10837062" y="103984"/>
                </a:lnTo>
                <a:lnTo>
                  <a:pt x="10972525" y="86673"/>
                </a:lnTo>
                <a:lnTo>
                  <a:pt x="11107988" y="69396"/>
                </a:lnTo>
                <a:lnTo>
                  <a:pt x="11243452" y="52806"/>
                </a:lnTo>
                <a:lnTo>
                  <a:pt x="11378915" y="37558"/>
                </a:lnTo>
                <a:lnTo>
                  <a:pt x="11514378" y="24274"/>
                </a:lnTo>
                <a:lnTo>
                  <a:pt x="11649842" y="13501"/>
                </a:lnTo>
                <a:lnTo>
                  <a:pt x="11785305" y="5683"/>
                </a:lnTo>
                <a:lnTo>
                  <a:pt x="11920768" y="1129"/>
                </a:lnTo>
                <a:lnTo>
                  <a:pt x="12056231" y="0"/>
                </a:lnTo>
                <a:lnTo>
                  <a:pt x="12191695" y="2300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6405649"/>
            <a:ext cx="12191695" cy="245182"/>
          </a:xfrm>
          <a:custGeom>
            <a:avLst/>
            <a:gdLst/>
            <a:ahLst/>
            <a:cxnLst/>
            <a:rect l="l" t="t" r="r" b="b"/>
            <a:pathLst>
              <a:path w="12191695" h="245182">
                <a:moveTo>
                  <a:pt x="0" y="150669"/>
                </a:moveTo>
                <a:lnTo>
                  <a:pt x="135463" y="169737"/>
                </a:lnTo>
                <a:lnTo>
                  <a:pt x="270926" y="187768"/>
                </a:lnTo>
                <a:lnTo>
                  <a:pt x="406389" y="204118"/>
                </a:lnTo>
                <a:lnTo>
                  <a:pt x="541853" y="218220"/>
                </a:lnTo>
                <a:lnTo>
                  <a:pt x="677316" y="229621"/>
                </a:lnTo>
                <a:lnTo>
                  <a:pt x="812779" y="238002"/>
                </a:lnTo>
                <a:lnTo>
                  <a:pt x="948242" y="243193"/>
                </a:lnTo>
                <a:lnTo>
                  <a:pt x="1083706" y="245182"/>
                </a:lnTo>
                <a:lnTo>
                  <a:pt x="1219169" y="244108"/>
                </a:lnTo>
                <a:lnTo>
                  <a:pt x="1354632" y="240247"/>
                </a:lnTo>
                <a:lnTo>
                  <a:pt x="1490096" y="233989"/>
                </a:lnTo>
                <a:lnTo>
                  <a:pt x="1625559" y="225812"/>
                </a:lnTo>
                <a:lnTo>
                  <a:pt x="1761022" y="216243"/>
                </a:lnTo>
                <a:lnTo>
                  <a:pt x="1896485" y="205824"/>
                </a:lnTo>
                <a:lnTo>
                  <a:pt x="2031949" y="195076"/>
                </a:lnTo>
                <a:lnTo>
                  <a:pt x="2167412" y="184466"/>
                </a:lnTo>
                <a:lnTo>
                  <a:pt x="2302875" y="174375"/>
                </a:lnTo>
                <a:lnTo>
                  <a:pt x="2438339" y="165080"/>
                </a:lnTo>
                <a:lnTo>
                  <a:pt x="2573802" y="156740"/>
                </a:lnTo>
                <a:lnTo>
                  <a:pt x="2709265" y="149392"/>
                </a:lnTo>
                <a:lnTo>
                  <a:pt x="2844728" y="142958"/>
                </a:lnTo>
                <a:lnTo>
                  <a:pt x="2980192" y="137257"/>
                </a:lnTo>
                <a:lnTo>
                  <a:pt x="3115655" y="132030"/>
                </a:lnTo>
                <a:lnTo>
                  <a:pt x="3251118" y="126965"/>
                </a:lnTo>
                <a:lnTo>
                  <a:pt x="3386582" y="121734"/>
                </a:lnTo>
                <a:lnTo>
                  <a:pt x="3522045" y="116024"/>
                </a:lnTo>
                <a:lnTo>
                  <a:pt x="3657508" y="109568"/>
                </a:lnTo>
                <a:lnTo>
                  <a:pt x="3792971" y="102177"/>
                </a:lnTo>
                <a:lnTo>
                  <a:pt x="3928435" y="93759"/>
                </a:lnTo>
                <a:lnTo>
                  <a:pt x="4063898" y="84341"/>
                </a:lnTo>
                <a:lnTo>
                  <a:pt x="4199361" y="74069"/>
                </a:lnTo>
                <a:lnTo>
                  <a:pt x="4334824" y="63211"/>
                </a:lnTo>
                <a:lnTo>
                  <a:pt x="4470288" y="52141"/>
                </a:lnTo>
                <a:lnTo>
                  <a:pt x="4605751" y="41320"/>
                </a:lnTo>
                <a:lnTo>
                  <a:pt x="4741214" y="31269"/>
                </a:lnTo>
                <a:lnTo>
                  <a:pt x="4876678" y="22536"/>
                </a:lnTo>
                <a:lnTo>
                  <a:pt x="5012141" y="15656"/>
                </a:lnTo>
                <a:lnTo>
                  <a:pt x="5147604" y="11120"/>
                </a:lnTo>
                <a:lnTo>
                  <a:pt x="5283067" y="9338"/>
                </a:lnTo>
                <a:lnTo>
                  <a:pt x="5418531" y="10605"/>
                </a:lnTo>
                <a:lnTo>
                  <a:pt x="5553994" y="15085"/>
                </a:lnTo>
                <a:lnTo>
                  <a:pt x="5689457" y="22787"/>
                </a:lnTo>
                <a:lnTo>
                  <a:pt x="5824921" y="33567"/>
                </a:lnTo>
                <a:lnTo>
                  <a:pt x="5960384" y="47128"/>
                </a:lnTo>
                <a:lnTo>
                  <a:pt x="6095847" y="63035"/>
                </a:lnTo>
                <a:lnTo>
                  <a:pt x="6231310" y="80738"/>
                </a:lnTo>
                <a:lnTo>
                  <a:pt x="6366774" y="99601"/>
                </a:lnTo>
                <a:lnTo>
                  <a:pt x="6502237" y="118939"/>
                </a:lnTo>
                <a:lnTo>
                  <a:pt x="6637700" y="138058"/>
                </a:lnTo>
                <a:lnTo>
                  <a:pt x="6773164" y="156290"/>
                </a:lnTo>
                <a:lnTo>
                  <a:pt x="6908627" y="173034"/>
                </a:lnTo>
                <a:lnTo>
                  <a:pt x="7044090" y="187783"/>
                </a:lnTo>
                <a:lnTo>
                  <a:pt x="7179553" y="200156"/>
                </a:lnTo>
                <a:lnTo>
                  <a:pt x="7315017" y="209912"/>
                </a:lnTo>
                <a:lnTo>
                  <a:pt x="7450480" y="216953"/>
                </a:lnTo>
                <a:lnTo>
                  <a:pt x="7585943" y="221331"/>
                </a:lnTo>
                <a:lnTo>
                  <a:pt x="7721406" y="223229"/>
                </a:lnTo>
                <a:lnTo>
                  <a:pt x="7856870" y="222943"/>
                </a:lnTo>
                <a:lnTo>
                  <a:pt x="7992333" y="220854"/>
                </a:lnTo>
                <a:lnTo>
                  <a:pt x="8127796" y="217398"/>
                </a:lnTo>
                <a:lnTo>
                  <a:pt x="8263260" y="213025"/>
                </a:lnTo>
                <a:lnTo>
                  <a:pt x="8398723" y="208173"/>
                </a:lnTo>
                <a:lnTo>
                  <a:pt x="8534186" y="203226"/>
                </a:lnTo>
                <a:lnTo>
                  <a:pt x="8669649" y="198493"/>
                </a:lnTo>
                <a:lnTo>
                  <a:pt x="8805113" y="194182"/>
                </a:lnTo>
                <a:lnTo>
                  <a:pt x="8940576" y="190390"/>
                </a:lnTo>
                <a:lnTo>
                  <a:pt x="9076039" y="187099"/>
                </a:lnTo>
                <a:lnTo>
                  <a:pt x="9211503" y="184181"/>
                </a:lnTo>
                <a:lnTo>
                  <a:pt x="9346966" y="181412"/>
                </a:lnTo>
                <a:lnTo>
                  <a:pt x="9482429" y="178496"/>
                </a:lnTo>
                <a:lnTo>
                  <a:pt x="9617892" y="175092"/>
                </a:lnTo>
                <a:lnTo>
                  <a:pt x="9753356" y="170845"/>
                </a:lnTo>
                <a:lnTo>
                  <a:pt x="9888819" y="165425"/>
                </a:lnTo>
                <a:lnTo>
                  <a:pt x="10024282" y="158555"/>
                </a:lnTo>
                <a:lnTo>
                  <a:pt x="10159746" y="150040"/>
                </a:lnTo>
                <a:lnTo>
                  <a:pt x="10295209" y="139797"/>
                </a:lnTo>
                <a:lnTo>
                  <a:pt x="10430672" y="127865"/>
                </a:lnTo>
                <a:lnTo>
                  <a:pt x="10566135" y="114415"/>
                </a:lnTo>
                <a:lnTo>
                  <a:pt x="10701599" y="99751"/>
                </a:lnTo>
                <a:lnTo>
                  <a:pt x="10837062" y="84291"/>
                </a:lnTo>
                <a:lnTo>
                  <a:pt x="10972525" y="68554"/>
                </a:lnTo>
                <a:lnTo>
                  <a:pt x="11107988" y="53129"/>
                </a:lnTo>
                <a:lnTo>
                  <a:pt x="11243452" y="38641"/>
                </a:lnTo>
                <a:lnTo>
                  <a:pt x="11378915" y="25713"/>
                </a:lnTo>
                <a:lnTo>
                  <a:pt x="11514378" y="14931"/>
                </a:lnTo>
                <a:lnTo>
                  <a:pt x="11649842" y="6805"/>
                </a:lnTo>
                <a:lnTo>
                  <a:pt x="11785305" y="1738"/>
                </a:lnTo>
                <a:lnTo>
                  <a:pt x="11920768" y="0"/>
                </a:lnTo>
                <a:lnTo>
                  <a:pt x="12056231" y="1708"/>
                </a:lnTo>
                <a:lnTo>
                  <a:pt x="12191695" y="6822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6467906"/>
            <a:ext cx="12191695" cy="248613"/>
          </a:xfrm>
          <a:custGeom>
            <a:avLst/>
            <a:gdLst/>
            <a:ahLst/>
            <a:cxnLst/>
            <a:rect l="l" t="t" r="r" b="b"/>
            <a:pathLst>
              <a:path w="12191695" h="248613">
                <a:moveTo>
                  <a:pt x="0" y="169572"/>
                </a:moveTo>
                <a:lnTo>
                  <a:pt x="135463" y="187517"/>
                </a:lnTo>
                <a:lnTo>
                  <a:pt x="270926" y="204116"/>
                </a:lnTo>
                <a:lnTo>
                  <a:pt x="406389" y="218744"/>
                </a:lnTo>
                <a:lnTo>
                  <a:pt x="541853" y="230861"/>
                </a:lnTo>
                <a:lnTo>
                  <a:pt x="677316" y="240043"/>
                </a:lnTo>
                <a:lnTo>
                  <a:pt x="812779" y="246004"/>
                </a:lnTo>
                <a:lnTo>
                  <a:pt x="948242" y="248613"/>
                </a:lnTo>
                <a:lnTo>
                  <a:pt x="1083706" y="247896"/>
                </a:lnTo>
                <a:lnTo>
                  <a:pt x="1219169" y="244031"/>
                </a:lnTo>
                <a:lnTo>
                  <a:pt x="1354632" y="237338"/>
                </a:lnTo>
                <a:lnTo>
                  <a:pt x="1490096" y="228250"/>
                </a:lnTo>
                <a:lnTo>
                  <a:pt x="1625559" y="217286"/>
                </a:lnTo>
                <a:lnTo>
                  <a:pt x="1761022" y="205017"/>
                </a:lnTo>
                <a:lnTo>
                  <a:pt x="1896485" y="192024"/>
                </a:lnTo>
                <a:lnTo>
                  <a:pt x="2031949" y="178869"/>
                </a:lnTo>
                <a:lnTo>
                  <a:pt x="2167412" y="166053"/>
                </a:lnTo>
                <a:lnTo>
                  <a:pt x="2302875" y="153992"/>
                </a:lnTo>
                <a:lnTo>
                  <a:pt x="2438339" y="142992"/>
                </a:lnTo>
                <a:lnTo>
                  <a:pt x="2573802" y="133239"/>
                </a:lnTo>
                <a:lnTo>
                  <a:pt x="2709265" y="124790"/>
                </a:lnTo>
                <a:lnTo>
                  <a:pt x="2844728" y="117583"/>
                </a:lnTo>
                <a:lnTo>
                  <a:pt x="2980192" y="111449"/>
                </a:lnTo>
                <a:lnTo>
                  <a:pt x="3115655" y="106137"/>
                </a:lnTo>
                <a:lnTo>
                  <a:pt x="3251118" y="101335"/>
                </a:lnTo>
                <a:lnTo>
                  <a:pt x="3386582" y="96713"/>
                </a:lnTo>
                <a:lnTo>
                  <a:pt x="3522045" y="91945"/>
                </a:lnTo>
                <a:lnTo>
                  <a:pt x="3657508" y="86753"/>
                </a:lnTo>
                <a:lnTo>
                  <a:pt x="3792971" y="80928"/>
                </a:lnTo>
                <a:lnTo>
                  <a:pt x="3928435" y="74354"/>
                </a:lnTo>
                <a:lnTo>
                  <a:pt x="4063898" y="67031"/>
                </a:lnTo>
                <a:lnTo>
                  <a:pt x="4199361" y="59072"/>
                </a:lnTo>
                <a:lnTo>
                  <a:pt x="4334824" y="50711"/>
                </a:lnTo>
                <a:lnTo>
                  <a:pt x="4470288" y="42285"/>
                </a:lnTo>
                <a:lnTo>
                  <a:pt x="4605751" y="34213"/>
                </a:lnTo>
                <a:lnTo>
                  <a:pt x="4741214" y="26977"/>
                </a:lnTo>
                <a:lnTo>
                  <a:pt x="4876678" y="21080"/>
                </a:lnTo>
                <a:lnTo>
                  <a:pt x="5012141" y="17016"/>
                </a:lnTo>
                <a:lnTo>
                  <a:pt x="5147604" y="15233"/>
                </a:lnTo>
                <a:lnTo>
                  <a:pt x="5283067" y="16099"/>
                </a:lnTo>
                <a:lnTo>
                  <a:pt x="5418531" y="19870"/>
                </a:lnTo>
                <a:lnTo>
                  <a:pt x="5553994" y="26670"/>
                </a:lnTo>
                <a:lnTo>
                  <a:pt x="5689457" y="36475"/>
                </a:lnTo>
                <a:lnTo>
                  <a:pt x="5824921" y="49109"/>
                </a:lnTo>
                <a:lnTo>
                  <a:pt x="5960384" y="64247"/>
                </a:lnTo>
                <a:lnTo>
                  <a:pt x="6095847" y="81430"/>
                </a:lnTo>
                <a:lnTo>
                  <a:pt x="6231310" y="100088"/>
                </a:lnTo>
                <a:lnTo>
                  <a:pt x="6366774" y="119571"/>
                </a:lnTo>
                <a:lnTo>
                  <a:pt x="6502237" y="139187"/>
                </a:lnTo>
                <a:lnTo>
                  <a:pt x="6637700" y="158234"/>
                </a:lnTo>
                <a:lnTo>
                  <a:pt x="6773164" y="176047"/>
                </a:lnTo>
                <a:lnTo>
                  <a:pt x="6908627" y="192030"/>
                </a:lnTo>
                <a:lnTo>
                  <a:pt x="7044090" y="205690"/>
                </a:lnTo>
                <a:lnTo>
                  <a:pt x="7179553" y="216660"/>
                </a:lnTo>
                <a:lnTo>
                  <a:pt x="7315017" y="224721"/>
                </a:lnTo>
                <a:lnTo>
                  <a:pt x="7450480" y="229802"/>
                </a:lnTo>
                <a:lnTo>
                  <a:pt x="7585943" y="231983"/>
                </a:lnTo>
                <a:lnTo>
                  <a:pt x="7721406" y="231480"/>
                </a:lnTo>
                <a:lnTo>
                  <a:pt x="7856870" y="228626"/>
                </a:lnTo>
                <a:lnTo>
                  <a:pt x="7992333" y="223841"/>
                </a:lnTo>
                <a:lnTo>
                  <a:pt x="8127796" y="217601"/>
                </a:lnTo>
                <a:lnTo>
                  <a:pt x="8263260" y="210399"/>
                </a:lnTo>
                <a:lnTo>
                  <a:pt x="8398723" y="202714"/>
                </a:lnTo>
                <a:lnTo>
                  <a:pt x="8534186" y="194975"/>
                </a:lnTo>
                <a:lnTo>
                  <a:pt x="8669649" y="187531"/>
                </a:lnTo>
                <a:lnTo>
                  <a:pt x="8805113" y="180631"/>
                </a:lnTo>
                <a:lnTo>
                  <a:pt x="8940576" y="174414"/>
                </a:lnTo>
                <a:lnTo>
                  <a:pt x="9076039" y="168896"/>
                </a:lnTo>
                <a:lnTo>
                  <a:pt x="9211503" y="163983"/>
                </a:lnTo>
                <a:lnTo>
                  <a:pt x="9346966" y="159481"/>
                </a:lnTo>
                <a:lnTo>
                  <a:pt x="9482429" y="155122"/>
                </a:lnTo>
                <a:lnTo>
                  <a:pt x="9617892" y="150584"/>
                </a:lnTo>
                <a:lnTo>
                  <a:pt x="9753356" y="145531"/>
                </a:lnTo>
                <a:lnTo>
                  <a:pt x="9888819" y="139645"/>
                </a:lnTo>
                <a:lnTo>
                  <a:pt x="10024282" y="132654"/>
                </a:lnTo>
                <a:lnTo>
                  <a:pt x="10159746" y="124369"/>
                </a:lnTo>
                <a:lnTo>
                  <a:pt x="10295209" y="114699"/>
                </a:lnTo>
                <a:lnTo>
                  <a:pt x="10430672" y="103677"/>
                </a:lnTo>
                <a:lnTo>
                  <a:pt x="10566135" y="91461"/>
                </a:lnTo>
                <a:lnTo>
                  <a:pt x="10701599" y="78333"/>
                </a:lnTo>
                <a:lnTo>
                  <a:pt x="10837062" y="64691"/>
                </a:lnTo>
                <a:lnTo>
                  <a:pt x="10972525" y="51025"/>
                </a:lnTo>
                <a:lnTo>
                  <a:pt x="11107988" y="37893"/>
                </a:lnTo>
                <a:lnTo>
                  <a:pt x="11243452" y="25885"/>
                </a:lnTo>
                <a:lnTo>
                  <a:pt x="11378915" y="15588"/>
                </a:lnTo>
                <a:lnTo>
                  <a:pt x="11514378" y="7547"/>
                </a:lnTo>
                <a:lnTo>
                  <a:pt x="11649842" y="2231"/>
                </a:lnTo>
                <a:lnTo>
                  <a:pt x="11785305" y="0"/>
                </a:lnTo>
                <a:lnTo>
                  <a:pt x="11920768" y="1082"/>
                </a:lnTo>
                <a:lnTo>
                  <a:pt x="12056231" y="5551"/>
                </a:lnTo>
                <a:lnTo>
                  <a:pt x="12191695" y="13326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0" y="6533113"/>
            <a:ext cx="12191695" cy="246124"/>
          </a:xfrm>
          <a:custGeom>
            <a:avLst/>
            <a:gdLst/>
            <a:ahLst/>
            <a:cxnLst/>
            <a:rect l="l" t="t" r="r" b="b"/>
            <a:pathLst>
              <a:path w="12191695" h="246124">
                <a:moveTo>
                  <a:pt x="0" y="183172"/>
                </a:moveTo>
                <a:lnTo>
                  <a:pt x="135463" y="199432"/>
                </a:lnTo>
                <a:lnTo>
                  <a:pt x="270926" y="214077"/>
                </a:lnTo>
                <a:lnTo>
                  <a:pt x="406389" y="226514"/>
                </a:lnTo>
                <a:lnTo>
                  <a:pt x="541853" y="236236"/>
                </a:lnTo>
                <a:lnTo>
                  <a:pt x="677316" y="242855"/>
                </a:lnTo>
                <a:lnTo>
                  <a:pt x="812779" y="246124"/>
                </a:lnTo>
                <a:lnTo>
                  <a:pt x="948242" y="245951"/>
                </a:lnTo>
                <a:lnTo>
                  <a:pt x="1083706" y="242404"/>
                </a:lnTo>
                <a:lnTo>
                  <a:pt x="1219169" y="235707"/>
                </a:lnTo>
                <a:lnTo>
                  <a:pt x="1354632" y="226219"/>
                </a:lnTo>
                <a:lnTo>
                  <a:pt x="1490096" y="214417"/>
                </a:lnTo>
                <a:lnTo>
                  <a:pt x="1625559" y="200862"/>
                </a:lnTo>
                <a:lnTo>
                  <a:pt x="1761022" y="186161"/>
                </a:lnTo>
                <a:lnTo>
                  <a:pt x="1896485" y="170935"/>
                </a:lnTo>
                <a:lnTo>
                  <a:pt x="2031949" y="155777"/>
                </a:lnTo>
                <a:lnTo>
                  <a:pt x="2167412" y="141221"/>
                </a:lnTo>
                <a:lnTo>
                  <a:pt x="2302875" y="127707"/>
                </a:lnTo>
                <a:lnTo>
                  <a:pt x="2438339" y="115564"/>
                </a:lnTo>
                <a:lnTo>
                  <a:pt x="2573802" y="104994"/>
                </a:lnTo>
                <a:lnTo>
                  <a:pt x="2709265" y="96068"/>
                </a:lnTo>
                <a:lnTo>
                  <a:pt x="2844728" y="88731"/>
                </a:lnTo>
                <a:lnTo>
                  <a:pt x="2980192" y="82816"/>
                </a:lnTo>
                <a:lnTo>
                  <a:pt x="3115655" y="78067"/>
                </a:lnTo>
                <a:lnTo>
                  <a:pt x="3251118" y="74166"/>
                </a:lnTo>
                <a:lnTo>
                  <a:pt x="3386582" y="70766"/>
                </a:lnTo>
                <a:lnTo>
                  <a:pt x="3522045" y="67527"/>
                </a:lnTo>
                <a:lnTo>
                  <a:pt x="3657508" y="64145"/>
                </a:lnTo>
                <a:lnTo>
                  <a:pt x="3792971" y="60383"/>
                </a:lnTo>
                <a:lnTo>
                  <a:pt x="3928435" y="56096"/>
                </a:lnTo>
                <a:lnTo>
                  <a:pt x="4063898" y="51248"/>
                </a:lnTo>
                <a:lnTo>
                  <a:pt x="4199361" y="45917"/>
                </a:lnTo>
                <a:lnTo>
                  <a:pt x="4334824" y="40294"/>
                </a:lnTo>
                <a:lnTo>
                  <a:pt x="4470288" y="34675"/>
                </a:lnTo>
                <a:lnTo>
                  <a:pt x="4605751" y="29440"/>
                </a:lnTo>
                <a:lnTo>
                  <a:pt x="4741214" y="25025"/>
                </a:lnTo>
                <a:lnTo>
                  <a:pt x="4876678" y="21891"/>
                </a:lnTo>
                <a:lnTo>
                  <a:pt x="5012141" y="20491"/>
                </a:lnTo>
                <a:lnTo>
                  <a:pt x="5147604" y="21233"/>
                </a:lnTo>
                <a:lnTo>
                  <a:pt x="5283067" y="24445"/>
                </a:lnTo>
                <a:lnTo>
                  <a:pt x="5418531" y="30349"/>
                </a:lnTo>
                <a:lnTo>
                  <a:pt x="5553994" y="39037"/>
                </a:lnTo>
                <a:lnTo>
                  <a:pt x="5689457" y="50457"/>
                </a:lnTo>
                <a:lnTo>
                  <a:pt x="5824921" y="64407"/>
                </a:lnTo>
                <a:lnTo>
                  <a:pt x="5960384" y="80543"/>
                </a:lnTo>
                <a:lnTo>
                  <a:pt x="6095847" y="98390"/>
                </a:lnTo>
                <a:lnTo>
                  <a:pt x="6231310" y="117369"/>
                </a:lnTo>
                <a:lnTo>
                  <a:pt x="6366774" y="136826"/>
                </a:lnTo>
                <a:lnTo>
                  <a:pt x="6502237" y="156066"/>
                </a:lnTo>
                <a:lnTo>
                  <a:pt x="6637700" y="174397"/>
                </a:lnTo>
                <a:lnTo>
                  <a:pt x="6773164" y="191162"/>
                </a:lnTo>
                <a:lnTo>
                  <a:pt x="6908627" y="205782"/>
                </a:lnTo>
                <a:lnTo>
                  <a:pt x="7044090" y="217784"/>
                </a:lnTo>
                <a:lnTo>
                  <a:pt x="7179553" y="226827"/>
                </a:lnTo>
                <a:lnTo>
                  <a:pt x="7315017" y="232720"/>
                </a:lnTo>
                <a:lnTo>
                  <a:pt x="7450480" y="235424"/>
                </a:lnTo>
                <a:lnTo>
                  <a:pt x="7585943" y="235057"/>
                </a:lnTo>
                <a:lnTo>
                  <a:pt x="7721406" y="231872"/>
                </a:lnTo>
                <a:lnTo>
                  <a:pt x="7856870" y="226244"/>
                </a:lnTo>
                <a:lnTo>
                  <a:pt x="7992333" y="218632"/>
                </a:lnTo>
                <a:lnTo>
                  <a:pt x="8127796" y="209557"/>
                </a:lnTo>
                <a:lnTo>
                  <a:pt x="8263260" y="199555"/>
                </a:lnTo>
                <a:lnTo>
                  <a:pt x="8398723" y="189147"/>
                </a:lnTo>
                <a:lnTo>
                  <a:pt x="8534186" y="178801"/>
                </a:lnTo>
                <a:lnTo>
                  <a:pt x="8669649" y="168908"/>
                </a:lnTo>
                <a:lnTo>
                  <a:pt x="8805113" y="159754"/>
                </a:lnTo>
                <a:lnTo>
                  <a:pt x="8940576" y="151510"/>
                </a:lnTo>
                <a:lnTo>
                  <a:pt x="9076039" y="144224"/>
                </a:lnTo>
                <a:lnTo>
                  <a:pt x="9211503" y="137828"/>
                </a:lnTo>
                <a:lnTo>
                  <a:pt x="9346966" y="132152"/>
                </a:lnTo>
                <a:lnTo>
                  <a:pt x="9482429" y="126943"/>
                </a:lnTo>
                <a:lnTo>
                  <a:pt x="9617892" y="121894"/>
                </a:lnTo>
                <a:lnTo>
                  <a:pt x="9753356" y="116677"/>
                </a:lnTo>
                <a:lnTo>
                  <a:pt x="9888819" y="110975"/>
                </a:lnTo>
                <a:lnTo>
                  <a:pt x="10024282" y="104513"/>
                </a:lnTo>
                <a:lnTo>
                  <a:pt x="10159746" y="97095"/>
                </a:lnTo>
                <a:lnTo>
                  <a:pt x="10295209" y="88617"/>
                </a:lnTo>
                <a:lnTo>
                  <a:pt x="10430672" y="79094"/>
                </a:lnTo>
                <a:lnTo>
                  <a:pt x="10566135" y="68661"/>
                </a:lnTo>
                <a:lnTo>
                  <a:pt x="10701599" y="57573"/>
                </a:lnTo>
                <a:lnTo>
                  <a:pt x="10837062" y="46197"/>
                </a:lnTo>
                <a:lnTo>
                  <a:pt x="10972525" y="34990"/>
                </a:lnTo>
                <a:lnTo>
                  <a:pt x="11107988" y="24471"/>
                </a:lnTo>
                <a:lnTo>
                  <a:pt x="11243452" y="15192"/>
                </a:lnTo>
                <a:lnTo>
                  <a:pt x="11378915" y="7698"/>
                </a:lnTo>
                <a:lnTo>
                  <a:pt x="11514378" y="2492"/>
                </a:lnTo>
                <a:lnTo>
                  <a:pt x="11649842" y="0"/>
                </a:lnTo>
                <a:lnTo>
                  <a:pt x="11785305" y="541"/>
                </a:lnTo>
                <a:lnTo>
                  <a:pt x="11920768" y="4298"/>
                </a:lnTo>
                <a:lnTo>
                  <a:pt x="12056231" y="11307"/>
                </a:lnTo>
                <a:lnTo>
                  <a:pt x="12191695" y="21447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0" y="6600998"/>
            <a:ext cx="12191695" cy="238322"/>
          </a:xfrm>
          <a:custGeom>
            <a:avLst/>
            <a:gdLst/>
            <a:ahLst/>
            <a:cxnLst/>
            <a:rect l="l" t="t" r="r" b="b"/>
            <a:pathLst>
              <a:path w="12191695" h="238322">
                <a:moveTo>
                  <a:pt x="0" y="190722"/>
                </a:moveTo>
                <a:lnTo>
                  <a:pt x="135463" y="204821"/>
                </a:lnTo>
                <a:lnTo>
                  <a:pt x="270926" y="217096"/>
                </a:lnTo>
                <a:lnTo>
                  <a:pt x="406389" y="226989"/>
                </a:lnTo>
                <a:lnTo>
                  <a:pt x="541853" y="234032"/>
                </a:lnTo>
                <a:lnTo>
                  <a:pt x="677316" y="237878"/>
                </a:lnTo>
                <a:lnTo>
                  <a:pt x="812779" y="238322"/>
                </a:lnTo>
                <a:lnTo>
                  <a:pt x="948242" y="235314"/>
                </a:lnTo>
                <a:lnTo>
                  <a:pt x="1083706" y="228966"/>
                </a:lnTo>
                <a:lnTo>
                  <a:pt x="1219169" y="219541"/>
                </a:lnTo>
                <a:lnTo>
                  <a:pt x="1354632" y="207444"/>
                </a:lnTo>
                <a:lnTo>
                  <a:pt x="1490096" y="193188"/>
                </a:lnTo>
                <a:lnTo>
                  <a:pt x="1625559" y="177371"/>
                </a:lnTo>
                <a:lnTo>
                  <a:pt x="1761022" y="160636"/>
                </a:lnTo>
                <a:lnTo>
                  <a:pt x="1896485" y="143634"/>
                </a:lnTo>
                <a:lnTo>
                  <a:pt x="2031949" y="126985"/>
                </a:lnTo>
                <a:lnTo>
                  <a:pt x="2167412" y="111244"/>
                </a:lnTo>
                <a:lnTo>
                  <a:pt x="2302875" y="96871"/>
                </a:lnTo>
                <a:lnTo>
                  <a:pt x="2438339" y="84207"/>
                </a:lnTo>
                <a:lnTo>
                  <a:pt x="2573802" y="73462"/>
                </a:lnTo>
                <a:lnTo>
                  <a:pt x="2709265" y="64709"/>
                </a:lnTo>
                <a:lnTo>
                  <a:pt x="2844728" y="57891"/>
                </a:lnTo>
                <a:lnTo>
                  <a:pt x="2980192" y="52834"/>
                </a:lnTo>
                <a:lnTo>
                  <a:pt x="3115655" y="49267"/>
                </a:lnTo>
                <a:lnTo>
                  <a:pt x="3251118" y="46856"/>
                </a:lnTo>
                <a:lnTo>
                  <a:pt x="3386582" y="45231"/>
                </a:lnTo>
                <a:lnTo>
                  <a:pt x="3522045" y="44024"/>
                </a:lnTo>
                <a:lnTo>
                  <a:pt x="3657508" y="42902"/>
                </a:lnTo>
                <a:lnTo>
                  <a:pt x="3792971" y="41593"/>
                </a:lnTo>
                <a:lnTo>
                  <a:pt x="3928435" y="39916"/>
                </a:lnTo>
                <a:lnTo>
                  <a:pt x="4063898" y="37794"/>
                </a:lnTo>
                <a:lnTo>
                  <a:pt x="4199361" y="35264"/>
                </a:lnTo>
                <a:lnTo>
                  <a:pt x="4334824" y="32476"/>
                </a:lnTo>
                <a:lnTo>
                  <a:pt x="4470288" y="29683"/>
                </a:lnTo>
                <a:lnTo>
                  <a:pt x="4605751" y="27220"/>
                </a:lnTo>
                <a:lnTo>
                  <a:pt x="4741214" y="25484"/>
                </a:lnTo>
                <a:lnTo>
                  <a:pt x="4876678" y="24895"/>
                </a:lnTo>
                <a:lnTo>
                  <a:pt x="5012141" y="25867"/>
                </a:lnTo>
                <a:lnTo>
                  <a:pt x="5147604" y="28771"/>
                </a:lnTo>
                <a:lnTo>
                  <a:pt x="5283067" y="33905"/>
                </a:lnTo>
                <a:lnTo>
                  <a:pt x="5418531" y="41460"/>
                </a:lnTo>
                <a:lnTo>
                  <a:pt x="5553994" y="51504"/>
                </a:lnTo>
                <a:lnTo>
                  <a:pt x="5689457" y="63964"/>
                </a:lnTo>
                <a:lnTo>
                  <a:pt x="5824921" y="78622"/>
                </a:lnTo>
                <a:lnTo>
                  <a:pt x="5960384" y="95124"/>
                </a:lnTo>
                <a:lnTo>
                  <a:pt x="6095847" y="112989"/>
                </a:lnTo>
                <a:lnTo>
                  <a:pt x="6231310" y="131639"/>
                </a:lnTo>
                <a:lnTo>
                  <a:pt x="6366774" y="150423"/>
                </a:lnTo>
                <a:lnTo>
                  <a:pt x="6502237" y="168658"/>
                </a:lnTo>
                <a:lnTo>
                  <a:pt x="6637700" y="185665"/>
                </a:lnTo>
                <a:lnTo>
                  <a:pt x="6773164" y="200809"/>
                </a:lnTo>
                <a:lnTo>
                  <a:pt x="6908627" y="213535"/>
                </a:lnTo>
                <a:lnTo>
                  <a:pt x="7044090" y="223398"/>
                </a:lnTo>
                <a:lnTo>
                  <a:pt x="7179553" y="230090"/>
                </a:lnTo>
                <a:lnTo>
                  <a:pt x="7315017" y="233454"/>
                </a:lnTo>
                <a:lnTo>
                  <a:pt x="7450480" y="233492"/>
                </a:lnTo>
                <a:lnTo>
                  <a:pt x="7585943" y="230359"/>
                </a:lnTo>
                <a:lnTo>
                  <a:pt x="7721406" y="224353"/>
                </a:lnTo>
                <a:lnTo>
                  <a:pt x="7856870" y="215888"/>
                </a:lnTo>
                <a:lnTo>
                  <a:pt x="7992333" y="205470"/>
                </a:lnTo>
                <a:lnTo>
                  <a:pt x="8127796" y="193658"/>
                </a:lnTo>
                <a:lnTo>
                  <a:pt x="8263260" y="181033"/>
                </a:lnTo>
                <a:lnTo>
                  <a:pt x="8398723" y="168153"/>
                </a:lnTo>
                <a:lnTo>
                  <a:pt x="8534186" y="155526"/>
                </a:lnTo>
                <a:lnTo>
                  <a:pt x="8669649" y="143575"/>
                </a:lnTo>
                <a:lnTo>
                  <a:pt x="8805113" y="132618"/>
                </a:lnTo>
                <a:lnTo>
                  <a:pt x="8940576" y="122852"/>
                </a:lnTo>
                <a:lnTo>
                  <a:pt x="9076039" y="114351"/>
                </a:lnTo>
                <a:lnTo>
                  <a:pt x="9211503" y="107063"/>
                </a:lnTo>
                <a:lnTo>
                  <a:pt x="9346966" y="100832"/>
                </a:lnTo>
                <a:lnTo>
                  <a:pt x="9482429" y="95413"/>
                </a:lnTo>
                <a:lnTo>
                  <a:pt x="9617892" y="90502"/>
                </a:lnTo>
                <a:lnTo>
                  <a:pt x="9753356" y="85770"/>
                </a:lnTo>
                <a:lnTo>
                  <a:pt x="9888819" y="80892"/>
                </a:lnTo>
                <a:lnTo>
                  <a:pt x="10024282" y="75582"/>
                </a:lnTo>
                <a:lnTo>
                  <a:pt x="10159746" y="69623"/>
                </a:lnTo>
                <a:lnTo>
                  <a:pt x="10295209" y="62893"/>
                </a:lnTo>
                <a:lnTo>
                  <a:pt x="10430672" y="55378"/>
                </a:lnTo>
                <a:lnTo>
                  <a:pt x="10566135" y="47183"/>
                </a:lnTo>
                <a:lnTo>
                  <a:pt x="10701599" y="38531"/>
                </a:lnTo>
                <a:lnTo>
                  <a:pt x="10837062" y="29751"/>
                </a:lnTo>
                <a:lnTo>
                  <a:pt x="10972525" y="21260"/>
                </a:lnTo>
                <a:lnTo>
                  <a:pt x="11107988" y="13537"/>
                </a:lnTo>
                <a:lnTo>
                  <a:pt x="11243452" y="7091"/>
                </a:lnTo>
                <a:lnTo>
                  <a:pt x="11378915" y="2425"/>
                </a:lnTo>
                <a:lnTo>
                  <a:pt x="11514378" y="0"/>
                </a:lnTo>
                <a:lnTo>
                  <a:pt x="11649842" y="198"/>
                </a:lnTo>
                <a:lnTo>
                  <a:pt x="11785305" y="3299"/>
                </a:lnTo>
                <a:lnTo>
                  <a:pt x="11920768" y="9446"/>
                </a:lnTo>
                <a:lnTo>
                  <a:pt x="12056231" y="18641"/>
                </a:lnTo>
                <a:lnTo>
                  <a:pt x="12191695" y="30728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46304"/>
            <a:ext cx="11283696" cy="44805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概念数据模型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722376"/>
            <a:ext cx="585216" cy="41148"/>
          </a:xfrm>
          <a:prstGeom prst="rect">
            <a:avLst/>
          </a:prstGeom>
          <a:solidFill>
            <a:srgbClr val="EE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649224"/>
            <a:ext cx="10469880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2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以定义、映射与责任连接业务和物理资产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292608"/>
            <a:ext cx="896112" cy="20116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HiAgent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6647688"/>
            <a:ext cx="10241280" cy="1280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7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企业数据智能体建设规划  /  规划视图  /  2026.10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629400"/>
            <a:ext cx="585216" cy="17373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" y="1293875"/>
            <a:ext cx="2423160" cy="1078992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1261872"/>
            <a:ext cx="2423160" cy="1078992"/>
          </a:xfrm>
          <a:prstGeom prst="roundRect">
            <a:avLst>
              <a:gd name="adj" fmla="val 5500"/>
            </a:avLst>
          </a:prstGeom>
          <a:solidFill>
            <a:srgbClr val="F5FA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1261872"/>
            <a:ext cx="2423160" cy="384048"/>
          </a:xfrm>
          <a:prstGeom prst="rect">
            <a:avLst/>
          </a:prstGeom>
          <a:solidFill>
            <a:srgbClr val="E7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1298448"/>
            <a:ext cx="2112264" cy="31089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业务术语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1865376"/>
            <a:ext cx="2112264" cy="38404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名称 / 同义词 / 业务释义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82796" y="1293875"/>
            <a:ext cx="4069080" cy="1078992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059936" y="1261872"/>
            <a:ext cx="4069080" cy="1078992"/>
          </a:xfrm>
          <a:prstGeom prst="roundRect">
            <a:avLst>
              <a:gd name="adj" fmla="val 5500"/>
            </a:avLst>
          </a:prstGeom>
          <a:solidFill>
            <a:srgbClr val="EAF5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59936" y="1261872"/>
            <a:ext cx="4069080" cy="384048"/>
          </a:xfrm>
          <a:prstGeom prst="rect">
            <a:avLst/>
          </a:prstGeom>
          <a:solidFill>
            <a:srgbClr val="08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15384" y="1298448"/>
            <a:ext cx="3758184" cy="31089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指标定义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15384" y="1865376"/>
            <a:ext cx="3758184" cy="38404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公式 / 粒度 / 维度 / 过滤条件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5732" y="1293875"/>
            <a:ext cx="2414016" cy="1078992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62872" y="1261872"/>
            <a:ext cx="2414016" cy="1078992"/>
          </a:xfrm>
          <a:prstGeom prst="roundRect">
            <a:avLst>
              <a:gd name="adj" fmla="val 5500"/>
            </a:avLst>
          </a:prstGeom>
          <a:solidFill>
            <a:srgbClr val="F5FA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62872" y="1261872"/>
            <a:ext cx="2414016" cy="384048"/>
          </a:xfrm>
          <a:prstGeom prst="rect">
            <a:avLst/>
          </a:prstGeom>
          <a:solidFill>
            <a:srgbClr val="E7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298448"/>
            <a:ext cx="2103120" cy="31089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分析维度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1865376"/>
            <a:ext cx="2103120" cy="38404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机构 / 客群 / 时间等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5780" y="3086100"/>
            <a:ext cx="2423160" cy="123444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920" y="3054096"/>
            <a:ext cx="2423160" cy="1234440"/>
          </a:xfrm>
          <a:prstGeom prst="roundRect">
            <a:avLst>
              <a:gd name="adj" fmla="val 5500"/>
            </a:avLst>
          </a:prstGeom>
          <a:solidFill>
            <a:srgbClr val="F5FA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3054096"/>
            <a:ext cx="2423160" cy="384048"/>
          </a:xfrm>
          <a:prstGeom prst="rect">
            <a:avLst/>
          </a:prstGeom>
          <a:solidFill>
            <a:srgbClr val="E7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090672"/>
            <a:ext cx="2112264" cy="31089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表与字段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3657600"/>
            <a:ext cx="2112264" cy="53949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对象标识 / 所属关系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数据类型 / 语义说明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82796" y="3086100"/>
            <a:ext cx="4069080" cy="123444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059936" y="3054096"/>
            <a:ext cx="4069080" cy="1234440"/>
          </a:xfrm>
          <a:prstGeom prst="roundRect">
            <a:avLst>
              <a:gd name="adj" fmla="val 5500"/>
            </a:avLst>
          </a:prstGeom>
          <a:solidFill>
            <a:srgbClr val="EAF5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059936" y="3054096"/>
            <a:ext cx="4069080" cy="384048"/>
          </a:xfrm>
          <a:prstGeom prst="rect">
            <a:avLst/>
          </a:prstGeom>
          <a:solidFill>
            <a:srgbClr val="08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15384" y="3090672"/>
            <a:ext cx="3758184" cy="31089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实现映射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15384" y="3657600"/>
            <a:ext cx="3758184" cy="53949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定义 → SQL / API / 实际表字段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适用范围 / 约束 / 验证状态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85732" y="3086100"/>
            <a:ext cx="2414016" cy="123444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262872" y="3054096"/>
            <a:ext cx="2414016" cy="1234440"/>
          </a:xfrm>
          <a:prstGeom prst="roundRect">
            <a:avLst>
              <a:gd name="adj" fmla="val 5500"/>
            </a:avLst>
          </a:prstGeom>
          <a:solidFill>
            <a:srgbClr val="F5FA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262872" y="3054096"/>
            <a:ext cx="2414016" cy="384048"/>
          </a:xfrm>
          <a:prstGeom prst="rect">
            <a:avLst/>
          </a:prstGeom>
          <a:solidFill>
            <a:srgbClr val="E7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18320" y="3090672"/>
            <a:ext cx="2103120" cy="31089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责任与版本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3657600"/>
            <a:ext cx="2103120" cy="53949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责任人 / 审核 / 生效期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关联定义与实现版本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2971800" y="1801368"/>
            <a:ext cx="1042415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3955749" y="1801368"/>
            <a:ext cx="58466" cy="35845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3955749" y="1765522"/>
            <a:ext cx="58466" cy="3584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3127248" y="1499616"/>
            <a:ext cx="73152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45536" y="1508760"/>
            <a:ext cx="694944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解释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174736" y="1801368"/>
            <a:ext cx="1042416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9158685" y="1801368"/>
            <a:ext cx="58467" cy="35845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 flipV="1">
            <a:off x="9158685" y="1765522"/>
            <a:ext cx="58467" cy="3584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8339327" y="1499616"/>
            <a:ext cx="722376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57615" y="1508760"/>
            <a:ext cx="685800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适用</a:t>
            </a:r>
          </a:p>
        </p:txBody>
      </p:sp>
      <p:cxnSp>
        <p:nvCxnSpPr>
          <p:cNvPr id="53" name="Connector 52"/>
          <p:cNvCxnSpPr/>
          <p:nvPr/>
        </p:nvCxnSpPr>
        <p:spPr>
          <a:xfrm flipH="1">
            <a:off x="2971800" y="3666744"/>
            <a:ext cx="1042415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971800" y="3630898"/>
            <a:ext cx="58466" cy="3584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2971800" y="3666744"/>
            <a:ext cx="58466" cy="35845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3136392" y="3364992"/>
            <a:ext cx="713232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154680" y="3374136"/>
            <a:ext cx="676656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引用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174736" y="3666744"/>
            <a:ext cx="1042416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9158685" y="3666744"/>
            <a:ext cx="58467" cy="35845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 flipV="1">
            <a:off x="9158685" y="3630898"/>
            <a:ext cx="58467" cy="3584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8339327" y="3364992"/>
            <a:ext cx="722376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57615" y="3374136"/>
            <a:ext cx="685800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归属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089904" y="2386584"/>
            <a:ext cx="0" cy="621792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6054058" y="2949909"/>
            <a:ext cx="35846" cy="58467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089904" y="2949909"/>
            <a:ext cx="35845" cy="58467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6263640" y="2532888"/>
            <a:ext cx="192024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81927" y="2542032"/>
            <a:ext cx="1883664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可对应多个实现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25780" y="4960620"/>
            <a:ext cx="2423160" cy="813816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502920" y="4928616"/>
            <a:ext cx="2423160" cy="813816"/>
          </a:xfrm>
          <a:prstGeom prst="roundRect">
            <a:avLst>
              <a:gd name="adj" fmla="val 5500"/>
            </a:avLst>
          </a:prstGeom>
          <a:solidFill>
            <a:srgbClr val="F5FA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02920" y="4928616"/>
            <a:ext cx="2423160" cy="292608"/>
          </a:xfrm>
          <a:prstGeom prst="rect">
            <a:avLst/>
          </a:prstGeom>
          <a:solidFill>
            <a:srgbClr val="E7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8368" y="4965192"/>
            <a:ext cx="2112264" cy="21945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字典类型与码值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8368" y="5349240"/>
            <a:ext cx="2112264" cy="301751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原值 / 解释 / 字典映射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082796" y="4960620"/>
            <a:ext cx="4069080" cy="813816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4059936" y="4928616"/>
            <a:ext cx="4069080" cy="813816"/>
          </a:xfrm>
          <a:prstGeom prst="roundRect">
            <a:avLst>
              <a:gd name="adj" fmla="val 5500"/>
            </a:avLst>
          </a:prstGeom>
          <a:solidFill>
            <a:srgbClr val="F5FA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059936" y="4928616"/>
            <a:ext cx="4069080" cy="292608"/>
          </a:xfrm>
          <a:prstGeom prst="rect">
            <a:avLst/>
          </a:prstGeom>
          <a:solidFill>
            <a:srgbClr val="E7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15384" y="4965192"/>
            <a:ext cx="3758184" cy="21945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规则与质量、血缘引用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215384" y="5349240"/>
            <a:ext cx="3758184" cy="301751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权威来源 / 覆盖范围 / 采集时点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285732" y="4960620"/>
            <a:ext cx="2414016" cy="813816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9262872" y="4928616"/>
            <a:ext cx="2414016" cy="813816"/>
          </a:xfrm>
          <a:prstGeom prst="roundRect">
            <a:avLst>
              <a:gd name="adj" fmla="val 5500"/>
            </a:avLst>
          </a:prstGeom>
          <a:solidFill>
            <a:srgbClr val="F5FA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262872" y="4928616"/>
            <a:ext cx="2414016" cy="292608"/>
          </a:xfrm>
          <a:prstGeom prst="rect">
            <a:avLst/>
          </a:prstGeom>
          <a:solidFill>
            <a:srgbClr val="E7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418320" y="4965192"/>
            <a:ext cx="2103120" cy="21945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实际血缘来源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418320" y="5349240"/>
            <a:ext cx="2103120" cy="301751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经数据资产平台查询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1709928" y="4334256"/>
            <a:ext cx="0" cy="54864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1674082" y="4824429"/>
            <a:ext cx="35846" cy="58467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709928" y="4824429"/>
            <a:ext cx="35845" cy="58467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1865376" y="4507992"/>
            <a:ext cx="1728216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883664" y="4517136"/>
            <a:ext cx="1691639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字段引用字典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6089904" y="4334256"/>
            <a:ext cx="0" cy="54864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H="1" flipV="1">
            <a:off x="6054058" y="4824429"/>
            <a:ext cx="35846" cy="58467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6089904" y="4824429"/>
            <a:ext cx="35845" cy="58467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174736" y="5340096"/>
            <a:ext cx="1042416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>
            <a:off x="9158685" y="5340096"/>
            <a:ext cx="58467" cy="35845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 flipV="1">
            <a:off x="9158685" y="5304250"/>
            <a:ext cx="58467" cy="3584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ounded Rectangle 93"/>
          <p:cNvSpPr/>
          <p:nvPr/>
        </p:nvSpPr>
        <p:spPr>
          <a:xfrm>
            <a:off x="461772" y="6112764"/>
            <a:ext cx="11247120" cy="33832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438912" y="6080760"/>
            <a:ext cx="11247120" cy="338328"/>
          </a:xfrm>
          <a:prstGeom prst="roundRect">
            <a:avLst>
              <a:gd name="adj" fmla="val 5500"/>
            </a:avLst>
          </a:prstGeom>
          <a:solidFill>
            <a:srgbClr val="EEF7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85216" y="6117336"/>
            <a:ext cx="10954512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本图表达概念关系，非建表设计；字典映射、语义关联与真实加工血缘分别管理。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6346471"/>
            <a:ext cx="12191695" cy="235953"/>
          </a:xfrm>
          <a:custGeom>
            <a:avLst/>
            <a:gdLst/>
            <a:ahLst/>
            <a:cxnLst/>
            <a:rect l="l" t="t" r="r" b="b"/>
            <a:pathLst>
              <a:path w="12191695" h="235953">
                <a:moveTo>
                  <a:pt x="0" y="127481"/>
                </a:moveTo>
                <a:lnTo>
                  <a:pt x="135463" y="147046"/>
                </a:lnTo>
                <a:lnTo>
                  <a:pt x="270926" y="165914"/>
                </a:lnTo>
                <a:lnTo>
                  <a:pt x="406389" y="183426"/>
                </a:lnTo>
                <a:lnTo>
                  <a:pt x="541853" y="199000"/>
                </a:lnTo>
                <a:lnTo>
                  <a:pt x="677316" y="212159"/>
                </a:lnTo>
                <a:lnTo>
                  <a:pt x="812779" y="222557"/>
                </a:lnTo>
                <a:lnTo>
                  <a:pt x="948242" y="229995"/>
                </a:lnTo>
                <a:lnTo>
                  <a:pt x="1083706" y="234426"/>
                </a:lnTo>
                <a:lnTo>
                  <a:pt x="1219169" y="235953"/>
                </a:lnTo>
                <a:lnTo>
                  <a:pt x="1354632" y="234812"/>
                </a:lnTo>
                <a:lnTo>
                  <a:pt x="1490096" y="231352"/>
                </a:lnTo>
                <a:lnTo>
                  <a:pt x="1625559" y="226009"/>
                </a:lnTo>
                <a:lnTo>
                  <a:pt x="1761022" y="219267"/>
                </a:lnTo>
                <a:lnTo>
                  <a:pt x="1896485" y="211626"/>
                </a:lnTo>
                <a:lnTo>
                  <a:pt x="2031949" y="203564"/>
                </a:lnTo>
                <a:lnTo>
                  <a:pt x="2167412" y="195508"/>
                </a:lnTo>
                <a:lnTo>
                  <a:pt x="2302875" y="187800"/>
                </a:lnTo>
                <a:lnTo>
                  <a:pt x="2438339" y="180682"/>
                </a:lnTo>
                <a:lnTo>
                  <a:pt x="2573802" y="174280"/>
                </a:lnTo>
                <a:lnTo>
                  <a:pt x="2709265" y="168601"/>
                </a:lnTo>
                <a:lnTo>
                  <a:pt x="2844728" y="163541"/>
                </a:lnTo>
                <a:lnTo>
                  <a:pt x="2980192" y="158900"/>
                </a:lnTo>
                <a:lnTo>
                  <a:pt x="3115655" y="154402"/>
                </a:lnTo>
                <a:lnTo>
                  <a:pt x="3251118" y="149724"/>
                </a:lnTo>
                <a:lnTo>
                  <a:pt x="3386582" y="144534"/>
                </a:lnTo>
                <a:lnTo>
                  <a:pt x="3522045" y="138515"/>
                </a:lnTo>
                <a:lnTo>
                  <a:pt x="3657508" y="131408"/>
                </a:lnTo>
                <a:lnTo>
                  <a:pt x="3792971" y="123031"/>
                </a:lnTo>
                <a:lnTo>
                  <a:pt x="3928435" y="113309"/>
                </a:lnTo>
                <a:lnTo>
                  <a:pt x="4063898" y="102287"/>
                </a:lnTo>
                <a:lnTo>
                  <a:pt x="4199361" y="90138"/>
                </a:lnTo>
                <a:lnTo>
                  <a:pt x="4334824" y="77155"/>
                </a:lnTo>
                <a:lnTo>
                  <a:pt x="4470288" y="63745"/>
                </a:lnTo>
                <a:lnTo>
                  <a:pt x="4605751" y="50406"/>
                </a:lnTo>
                <a:lnTo>
                  <a:pt x="4741214" y="37696"/>
                </a:lnTo>
                <a:lnTo>
                  <a:pt x="4876678" y="26202"/>
                </a:lnTo>
                <a:lnTo>
                  <a:pt x="5012141" y="16503"/>
                </a:lnTo>
                <a:lnTo>
                  <a:pt x="5147604" y="9131"/>
                </a:lnTo>
                <a:lnTo>
                  <a:pt x="5283067" y="4538"/>
                </a:lnTo>
                <a:lnTo>
                  <a:pt x="5418531" y="3064"/>
                </a:lnTo>
                <a:lnTo>
                  <a:pt x="5553994" y="4912"/>
                </a:lnTo>
                <a:lnTo>
                  <a:pt x="5689457" y="10132"/>
                </a:lnTo>
                <a:lnTo>
                  <a:pt x="5824921" y="18617"/>
                </a:lnTo>
                <a:lnTo>
                  <a:pt x="5960384" y="30106"/>
                </a:lnTo>
                <a:lnTo>
                  <a:pt x="6095847" y="44193"/>
                </a:lnTo>
                <a:lnTo>
                  <a:pt x="6231310" y="60357"/>
                </a:lnTo>
                <a:lnTo>
                  <a:pt x="6366774" y="77984"/>
                </a:lnTo>
                <a:lnTo>
                  <a:pt x="6502237" y="96410"/>
                </a:lnTo>
                <a:lnTo>
                  <a:pt x="6637700" y="114953"/>
                </a:lnTo>
                <a:lnTo>
                  <a:pt x="6773164" y="132954"/>
                </a:lnTo>
                <a:lnTo>
                  <a:pt x="6908627" y="149814"/>
                </a:lnTo>
                <a:lnTo>
                  <a:pt x="7044090" y="165027"/>
                </a:lnTo>
                <a:lnTo>
                  <a:pt x="7179553" y="178204"/>
                </a:lnTo>
                <a:lnTo>
                  <a:pt x="7315017" y="189090"/>
                </a:lnTo>
                <a:lnTo>
                  <a:pt x="7450480" y="197574"/>
                </a:lnTo>
                <a:lnTo>
                  <a:pt x="7585943" y="203682"/>
                </a:lnTo>
                <a:lnTo>
                  <a:pt x="7721406" y="207573"/>
                </a:lnTo>
                <a:lnTo>
                  <a:pt x="7856870" y="209512"/>
                </a:lnTo>
                <a:lnTo>
                  <a:pt x="7992333" y="209848"/>
                </a:lnTo>
                <a:lnTo>
                  <a:pt x="8127796" y="208978"/>
                </a:lnTo>
                <a:lnTo>
                  <a:pt x="8263260" y="207316"/>
                </a:lnTo>
                <a:lnTo>
                  <a:pt x="8398723" y="205256"/>
                </a:lnTo>
                <a:lnTo>
                  <a:pt x="8534186" y="203141"/>
                </a:lnTo>
                <a:lnTo>
                  <a:pt x="8669649" y="201238"/>
                </a:lnTo>
                <a:lnTo>
                  <a:pt x="8805113" y="199711"/>
                </a:lnTo>
                <a:lnTo>
                  <a:pt x="8940576" y="198616"/>
                </a:lnTo>
                <a:lnTo>
                  <a:pt x="9076039" y="197894"/>
                </a:lnTo>
                <a:lnTo>
                  <a:pt x="9211503" y="197378"/>
                </a:lnTo>
                <a:lnTo>
                  <a:pt x="9346966" y="196808"/>
                </a:lnTo>
                <a:lnTo>
                  <a:pt x="9482429" y="195855"/>
                </a:lnTo>
                <a:lnTo>
                  <a:pt x="9617892" y="194147"/>
                </a:lnTo>
                <a:lnTo>
                  <a:pt x="9753356" y="191305"/>
                </a:lnTo>
                <a:lnTo>
                  <a:pt x="9888819" y="186977"/>
                </a:lnTo>
                <a:lnTo>
                  <a:pt x="10024282" y="180869"/>
                </a:lnTo>
                <a:lnTo>
                  <a:pt x="10159746" y="172776"/>
                </a:lnTo>
                <a:lnTo>
                  <a:pt x="10295209" y="162608"/>
                </a:lnTo>
                <a:lnTo>
                  <a:pt x="10430672" y="150402"/>
                </a:lnTo>
                <a:lnTo>
                  <a:pt x="10566135" y="136335"/>
                </a:lnTo>
                <a:lnTo>
                  <a:pt x="10701599" y="120717"/>
                </a:lnTo>
                <a:lnTo>
                  <a:pt x="10837062" y="103984"/>
                </a:lnTo>
                <a:lnTo>
                  <a:pt x="10972525" y="86673"/>
                </a:lnTo>
                <a:lnTo>
                  <a:pt x="11107988" y="69396"/>
                </a:lnTo>
                <a:lnTo>
                  <a:pt x="11243452" y="52806"/>
                </a:lnTo>
                <a:lnTo>
                  <a:pt x="11378915" y="37558"/>
                </a:lnTo>
                <a:lnTo>
                  <a:pt x="11514378" y="24274"/>
                </a:lnTo>
                <a:lnTo>
                  <a:pt x="11649842" y="13501"/>
                </a:lnTo>
                <a:lnTo>
                  <a:pt x="11785305" y="5683"/>
                </a:lnTo>
                <a:lnTo>
                  <a:pt x="11920768" y="1129"/>
                </a:lnTo>
                <a:lnTo>
                  <a:pt x="12056231" y="0"/>
                </a:lnTo>
                <a:lnTo>
                  <a:pt x="12191695" y="2300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6405649"/>
            <a:ext cx="12191695" cy="245182"/>
          </a:xfrm>
          <a:custGeom>
            <a:avLst/>
            <a:gdLst/>
            <a:ahLst/>
            <a:cxnLst/>
            <a:rect l="l" t="t" r="r" b="b"/>
            <a:pathLst>
              <a:path w="12191695" h="245182">
                <a:moveTo>
                  <a:pt x="0" y="150669"/>
                </a:moveTo>
                <a:lnTo>
                  <a:pt x="135463" y="169737"/>
                </a:lnTo>
                <a:lnTo>
                  <a:pt x="270926" y="187768"/>
                </a:lnTo>
                <a:lnTo>
                  <a:pt x="406389" y="204118"/>
                </a:lnTo>
                <a:lnTo>
                  <a:pt x="541853" y="218220"/>
                </a:lnTo>
                <a:lnTo>
                  <a:pt x="677316" y="229621"/>
                </a:lnTo>
                <a:lnTo>
                  <a:pt x="812779" y="238002"/>
                </a:lnTo>
                <a:lnTo>
                  <a:pt x="948242" y="243193"/>
                </a:lnTo>
                <a:lnTo>
                  <a:pt x="1083706" y="245182"/>
                </a:lnTo>
                <a:lnTo>
                  <a:pt x="1219169" y="244108"/>
                </a:lnTo>
                <a:lnTo>
                  <a:pt x="1354632" y="240247"/>
                </a:lnTo>
                <a:lnTo>
                  <a:pt x="1490096" y="233989"/>
                </a:lnTo>
                <a:lnTo>
                  <a:pt x="1625559" y="225812"/>
                </a:lnTo>
                <a:lnTo>
                  <a:pt x="1761022" y="216243"/>
                </a:lnTo>
                <a:lnTo>
                  <a:pt x="1896485" y="205824"/>
                </a:lnTo>
                <a:lnTo>
                  <a:pt x="2031949" y="195076"/>
                </a:lnTo>
                <a:lnTo>
                  <a:pt x="2167412" y="184466"/>
                </a:lnTo>
                <a:lnTo>
                  <a:pt x="2302875" y="174375"/>
                </a:lnTo>
                <a:lnTo>
                  <a:pt x="2438339" y="165080"/>
                </a:lnTo>
                <a:lnTo>
                  <a:pt x="2573802" y="156740"/>
                </a:lnTo>
                <a:lnTo>
                  <a:pt x="2709265" y="149392"/>
                </a:lnTo>
                <a:lnTo>
                  <a:pt x="2844728" y="142958"/>
                </a:lnTo>
                <a:lnTo>
                  <a:pt x="2980192" y="137257"/>
                </a:lnTo>
                <a:lnTo>
                  <a:pt x="3115655" y="132030"/>
                </a:lnTo>
                <a:lnTo>
                  <a:pt x="3251118" y="126965"/>
                </a:lnTo>
                <a:lnTo>
                  <a:pt x="3386582" y="121734"/>
                </a:lnTo>
                <a:lnTo>
                  <a:pt x="3522045" y="116024"/>
                </a:lnTo>
                <a:lnTo>
                  <a:pt x="3657508" y="109568"/>
                </a:lnTo>
                <a:lnTo>
                  <a:pt x="3792971" y="102177"/>
                </a:lnTo>
                <a:lnTo>
                  <a:pt x="3928435" y="93759"/>
                </a:lnTo>
                <a:lnTo>
                  <a:pt x="4063898" y="84341"/>
                </a:lnTo>
                <a:lnTo>
                  <a:pt x="4199361" y="74069"/>
                </a:lnTo>
                <a:lnTo>
                  <a:pt x="4334824" y="63211"/>
                </a:lnTo>
                <a:lnTo>
                  <a:pt x="4470288" y="52141"/>
                </a:lnTo>
                <a:lnTo>
                  <a:pt x="4605751" y="41320"/>
                </a:lnTo>
                <a:lnTo>
                  <a:pt x="4741214" y="31269"/>
                </a:lnTo>
                <a:lnTo>
                  <a:pt x="4876678" y="22536"/>
                </a:lnTo>
                <a:lnTo>
                  <a:pt x="5012141" y="15656"/>
                </a:lnTo>
                <a:lnTo>
                  <a:pt x="5147604" y="11120"/>
                </a:lnTo>
                <a:lnTo>
                  <a:pt x="5283067" y="9338"/>
                </a:lnTo>
                <a:lnTo>
                  <a:pt x="5418531" y="10605"/>
                </a:lnTo>
                <a:lnTo>
                  <a:pt x="5553994" y="15085"/>
                </a:lnTo>
                <a:lnTo>
                  <a:pt x="5689457" y="22787"/>
                </a:lnTo>
                <a:lnTo>
                  <a:pt x="5824921" y="33567"/>
                </a:lnTo>
                <a:lnTo>
                  <a:pt x="5960384" y="47128"/>
                </a:lnTo>
                <a:lnTo>
                  <a:pt x="6095847" y="63035"/>
                </a:lnTo>
                <a:lnTo>
                  <a:pt x="6231310" y="80738"/>
                </a:lnTo>
                <a:lnTo>
                  <a:pt x="6366774" y="99601"/>
                </a:lnTo>
                <a:lnTo>
                  <a:pt x="6502237" y="118939"/>
                </a:lnTo>
                <a:lnTo>
                  <a:pt x="6637700" y="138058"/>
                </a:lnTo>
                <a:lnTo>
                  <a:pt x="6773164" y="156290"/>
                </a:lnTo>
                <a:lnTo>
                  <a:pt x="6908627" y="173034"/>
                </a:lnTo>
                <a:lnTo>
                  <a:pt x="7044090" y="187783"/>
                </a:lnTo>
                <a:lnTo>
                  <a:pt x="7179553" y="200156"/>
                </a:lnTo>
                <a:lnTo>
                  <a:pt x="7315017" y="209912"/>
                </a:lnTo>
                <a:lnTo>
                  <a:pt x="7450480" y="216953"/>
                </a:lnTo>
                <a:lnTo>
                  <a:pt x="7585943" y="221331"/>
                </a:lnTo>
                <a:lnTo>
                  <a:pt x="7721406" y="223229"/>
                </a:lnTo>
                <a:lnTo>
                  <a:pt x="7856870" y="222943"/>
                </a:lnTo>
                <a:lnTo>
                  <a:pt x="7992333" y="220854"/>
                </a:lnTo>
                <a:lnTo>
                  <a:pt x="8127796" y="217398"/>
                </a:lnTo>
                <a:lnTo>
                  <a:pt x="8263260" y="213025"/>
                </a:lnTo>
                <a:lnTo>
                  <a:pt x="8398723" y="208173"/>
                </a:lnTo>
                <a:lnTo>
                  <a:pt x="8534186" y="203226"/>
                </a:lnTo>
                <a:lnTo>
                  <a:pt x="8669649" y="198493"/>
                </a:lnTo>
                <a:lnTo>
                  <a:pt x="8805113" y="194182"/>
                </a:lnTo>
                <a:lnTo>
                  <a:pt x="8940576" y="190390"/>
                </a:lnTo>
                <a:lnTo>
                  <a:pt x="9076039" y="187099"/>
                </a:lnTo>
                <a:lnTo>
                  <a:pt x="9211503" y="184181"/>
                </a:lnTo>
                <a:lnTo>
                  <a:pt x="9346966" y="181412"/>
                </a:lnTo>
                <a:lnTo>
                  <a:pt x="9482429" y="178496"/>
                </a:lnTo>
                <a:lnTo>
                  <a:pt x="9617892" y="175092"/>
                </a:lnTo>
                <a:lnTo>
                  <a:pt x="9753356" y="170845"/>
                </a:lnTo>
                <a:lnTo>
                  <a:pt x="9888819" y="165425"/>
                </a:lnTo>
                <a:lnTo>
                  <a:pt x="10024282" y="158555"/>
                </a:lnTo>
                <a:lnTo>
                  <a:pt x="10159746" y="150040"/>
                </a:lnTo>
                <a:lnTo>
                  <a:pt x="10295209" y="139797"/>
                </a:lnTo>
                <a:lnTo>
                  <a:pt x="10430672" y="127865"/>
                </a:lnTo>
                <a:lnTo>
                  <a:pt x="10566135" y="114415"/>
                </a:lnTo>
                <a:lnTo>
                  <a:pt x="10701599" y="99751"/>
                </a:lnTo>
                <a:lnTo>
                  <a:pt x="10837062" y="84291"/>
                </a:lnTo>
                <a:lnTo>
                  <a:pt x="10972525" y="68554"/>
                </a:lnTo>
                <a:lnTo>
                  <a:pt x="11107988" y="53129"/>
                </a:lnTo>
                <a:lnTo>
                  <a:pt x="11243452" y="38641"/>
                </a:lnTo>
                <a:lnTo>
                  <a:pt x="11378915" y="25713"/>
                </a:lnTo>
                <a:lnTo>
                  <a:pt x="11514378" y="14931"/>
                </a:lnTo>
                <a:lnTo>
                  <a:pt x="11649842" y="6805"/>
                </a:lnTo>
                <a:lnTo>
                  <a:pt x="11785305" y="1738"/>
                </a:lnTo>
                <a:lnTo>
                  <a:pt x="11920768" y="0"/>
                </a:lnTo>
                <a:lnTo>
                  <a:pt x="12056231" y="1708"/>
                </a:lnTo>
                <a:lnTo>
                  <a:pt x="12191695" y="6822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6467906"/>
            <a:ext cx="12191695" cy="248613"/>
          </a:xfrm>
          <a:custGeom>
            <a:avLst/>
            <a:gdLst/>
            <a:ahLst/>
            <a:cxnLst/>
            <a:rect l="l" t="t" r="r" b="b"/>
            <a:pathLst>
              <a:path w="12191695" h="248613">
                <a:moveTo>
                  <a:pt x="0" y="169572"/>
                </a:moveTo>
                <a:lnTo>
                  <a:pt x="135463" y="187517"/>
                </a:lnTo>
                <a:lnTo>
                  <a:pt x="270926" y="204116"/>
                </a:lnTo>
                <a:lnTo>
                  <a:pt x="406389" y="218744"/>
                </a:lnTo>
                <a:lnTo>
                  <a:pt x="541853" y="230861"/>
                </a:lnTo>
                <a:lnTo>
                  <a:pt x="677316" y="240043"/>
                </a:lnTo>
                <a:lnTo>
                  <a:pt x="812779" y="246004"/>
                </a:lnTo>
                <a:lnTo>
                  <a:pt x="948242" y="248613"/>
                </a:lnTo>
                <a:lnTo>
                  <a:pt x="1083706" y="247896"/>
                </a:lnTo>
                <a:lnTo>
                  <a:pt x="1219169" y="244031"/>
                </a:lnTo>
                <a:lnTo>
                  <a:pt x="1354632" y="237338"/>
                </a:lnTo>
                <a:lnTo>
                  <a:pt x="1490096" y="228250"/>
                </a:lnTo>
                <a:lnTo>
                  <a:pt x="1625559" y="217286"/>
                </a:lnTo>
                <a:lnTo>
                  <a:pt x="1761022" y="205017"/>
                </a:lnTo>
                <a:lnTo>
                  <a:pt x="1896485" y="192024"/>
                </a:lnTo>
                <a:lnTo>
                  <a:pt x="2031949" y="178869"/>
                </a:lnTo>
                <a:lnTo>
                  <a:pt x="2167412" y="166053"/>
                </a:lnTo>
                <a:lnTo>
                  <a:pt x="2302875" y="153992"/>
                </a:lnTo>
                <a:lnTo>
                  <a:pt x="2438339" y="142992"/>
                </a:lnTo>
                <a:lnTo>
                  <a:pt x="2573802" y="133239"/>
                </a:lnTo>
                <a:lnTo>
                  <a:pt x="2709265" y="124790"/>
                </a:lnTo>
                <a:lnTo>
                  <a:pt x="2844728" y="117583"/>
                </a:lnTo>
                <a:lnTo>
                  <a:pt x="2980192" y="111449"/>
                </a:lnTo>
                <a:lnTo>
                  <a:pt x="3115655" y="106137"/>
                </a:lnTo>
                <a:lnTo>
                  <a:pt x="3251118" y="101335"/>
                </a:lnTo>
                <a:lnTo>
                  <a:pt x="3386582" y="96713"/>
                </a:lnTo>
                <a:lnTo>
                  <a:pt x="3522045" y="91945"/>
                </a:lnTo>
                <a:lnTo>
                  <a:pt x="3657508" y="86753"/>
                </a:lnTo>
                <a:lnTo>
                  <a:pt x="3792971" y="80928"/>
                </a:lnTo>
                <a:lnTo>
                  <a:pt x="3928435" y="74354"/>
                </a:lnTo>
                <a:lnTo>
                  <a:pt x="4063898" y="67031"/>
                </a:lnTo>
                <a:lnTo>
                  <a:pt x="4199361" y="59072"/>
                </a:lnTo>
                <a:lnTo>
                  <a:pt x="4334824" y="50711"/>
                </a:lnTo>
                <a:lnTo>
                  <a:pt x="4470288" y="42285"/>
                </a:lnTo>
                <a:lnTo>
                  <a:pt x="4605751" y="34213"/>
                </a:lnTo>
                <a:lnTo>
                  <a:pt x="4741214" y="26977"/>
                </a:lnTo>
                <a:lnTo>
                  <a:pt x="4876678" y="21080"/>
                </a:lnTo>
                <a:lnTo>
                  <a:pt x="5012141" y="17016"/>
                </a:lnTo>
                <a:lnTo>
                  <a:pt x="5147604" y="15233"/>
                </a:lnTo>
                <a:lnTo>
                  <a:pt x="5283067" y="16099"/>
                </a:lnTo>
                <a:lnTo>
                  <a:pt x="5418531" y="19870"/>
                </a:lnTo>
                <a:lnTo>
                  <a:pt x="5553994" y="26670"/>
                </a:lnTo>
                <a:lnTo>
                  <a:pt x="5689457" y="36475"/>
                </a:lnTo>
                <a:lnTo>
                  <a:pt x="5824921" y="49109"/>
                </a:lnTo>
                <a:lnTo>
                  <a:pt x="5960384" y="64247"/>
                </a:lnTo>
                <a:lnTo>
                  <a:pt x="6095847" y="81430"/>
                </a:lnTo>
                <a:lnTo>
                  <a:pt x="6231310" y="100088"/>
                </a:lnTo>
                <a:lnTo>
                  <a:pt x="6366774" y="119571"/>
                </a:lnTo>
                <a:lnTo>
                  <a:pt x="6502237" y="139187"/>
                </a:lnTo>
                <a:lnTo>
                  <a:pt x="6637700" y="158234"/>
                </a:lnTo>
                <a:lnTo>
                  <a:pt x="6773164" y="176047"/>
                </a:lnTo>
                <a:lnTo>
                  <a:pt x="6908627" y="192030"/>
                </a:lnTo>
                <a:lnTo>
                  <a:pt x="7044090" y="205690"/>
                </a:lnTo>
                <a:lnTo>
                  <a:pt x="7179553" y="216660"/>
                </a:lnTo>
                <a:lnTo>
                  <a:pt x="7315017" y="224721"/>
                </a:lnTo>
                <a:lnTo>
                  <a:pt x="7450480" y="229802"/>
                </a:lnTo>
                <a:lnTo>
                  <a:pt x="7585943" y="231983"/>
                </a:lnTo>
                <a:lnTo>
                  <a:pt x="7721406" y="231480"/>
                </a:lnTo>
                <a:lnTo>
                  <a:pt x="7856870" y="228626"/>
                </a:lnTo>
                <a:lnTo>
                  <a:pt x="7992333" y="223841"/>
                </a:lnTo>
                <a:lnTo>
                  <a:pt x="8127796" y="217601"/>
                </a:lnTo>
                <a:lnTo>
                  <a:pt x="8263260" y="210399"/>
                </a:lnTo>
                <a:lnTo>
                  <a:pt x="8398723" y="202714"/>
                </a:lnTo>
                <a:lnTo>
                  <a:pt x="8534186" y="194975"/>
                </a:lnTo>
                <a:lnTo>
                  <a:pt x="8669649" y="187531"/>
                </a:lnTo>
                <a:lnTo>
                  <a:pt x="8805113" y="180631"/>
                </a:lnTo>
                <a:lnTo>
                  <a:pt x="8940576" y="174414"/>
                </a:lnTo>
                <a:lnTo>
                  <a:pt x="9076039" y="168896"/>
                </a:lnTo>
                <a:lnTo>
                  <a:pt x="9211503" y="163983"/>
                </a:lnTo>
                <a:lnTo>
                  <a:pt x="9346966" y="159481"/>
                </a:lnTo>
                <a:lnTo>
                  <a:pt x="9482429" y="155122"/>
                </a:lnTo>
                <a:lnTo>
                  <a:pt x="9617892" y="150584"/>
                </a:lnTo>
                <a:lnTo>
                  <a:pt x="9753356" y="145531"/>
                </a:lnTo>
                <a:lnTo>
                  <a:pt x="9888819" y="139645"/>
                </a:lnTo>
                <a:lnTo>
                  <a:pt x="10024282" y="132654"/>
                </a:lnTo>
                <a:lnTo>
                  <a:pt x="10159746" y="124369"/>
                </a:lnTo>
                <a:lnTo>
                  <a:pt x="10295209" y="114699"/>
                </a:lnTo>
                <a:lnTo>
                  <a:pt x="10430672" y="103677"/>
                </a:lnTo>
                <a:lnTo>
                  <a:pt x="10566135" y="91461"/>
                </a:lnTo>
                <a:lnTo>
                  <a:pt x="10701599" y="78333"/>
                </a:lnTo>
                <a:lnTo>
                  <a:pt x="10837062" y="64691"/>
                </a:lnTo>
                <a:lnTo>
                  <a:pt x="10972525" y="51025"/>
                </a:lnTo>
                <a:lnTo>
                  <a:pt x="11107988" y="37893"/>
                </a:lnTo>
                <a:lnTo>
                  <a:pt x="11243452" y="25885"/>
                </a:lnTo>
                <a:lnTo>
                  <a:pt x="11378915" y="15588"/>
                </a:lnTo>
                <a:lnTo>
                  <a:pt x="11514378" y="7547"/>
                </a:lnTo>
                <a:lnTo>
                  <a:pt x="11649842" y="2231"/>
                </a:lnTo>
                <a:lnTo>
                  <a:pt x="11785305" y="0"/>
                </a:lnTo>
                <a:lnTo>
                  <a:pt x="11920768" y="1082"/>
                </a:lnTo>
                <a:lnTo>
                  <a:pt x="12056231" y="5551"/>
                </a:lnTo>
                <a:lnTo>
                  <a:pt x="12191695" y="13326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0" y="6533113"/>
            <a:ext cx="12191695" cy="246124"/>
          </a:xfrm>
          <a:custGeom>
            <a:avLst/>
            <a:gdLst/>
            <a:ahLst/>
            <a:cxnLst/>
            <a:rect l="l" t="t" r="r" b="b"/>
            <a:pathLst>
              <a:path w="12191695" h="246124">
                <a:moveTo>
                  <a:pt x="0" y="183172"/>
                </a:moveTo>
                <a:lnTo>
                  <a:pt x="135463" y="199432"/>
                </a:lnTo>
                <a:lnTo>
                  <a:pt x="270926" y="214077"/>
                </a:lnTo>
                <a:lnTo>
                  <a:pt x="406389" y="226514"/>
                </a:lnTo>
                <a:lnTo>
                  <a:pt x="541853" y="236236"/>
                </a:lnTo>
                <a:lnTo>
                  <a:pt x="677316" y="242855"/>
                </a:lnTo>
                <a:lnTo>
                  <a:pt x="812779" y="246124"/>
                </a:lnTo>
                <a:lnTo>
                  <a:pt x="948242" y="245951"/>
                </a:lnTo>
                <a:lnTo>
                  <a:pt x="1083706" y="242404"/>
                </a:lnTo>
                <a:lnTo>
                  <a:pt x="1219169" y="235707"/>
                </a:lnTo>
                <a:lnTo>
                  <a:pt x="1354632" y="226219"/>
                </a:lnTo>
                <a:lnTo>
                  <a:pt x="1490096" y="214417"/>
                </a:lnTo>
                <a:lnTo>
                  <a:pt x="1625559" y="200862"/>
                </a:lnTo>
                <a:lnTo>
                  <a:pt x="1761022" y="186161"/>
                </a:lnTo>
                <a:lnTo>
                  <a:pt x="1896485" y="170935"/>
                </a:lnTo>
                <a:lnTo>
                  <a:pt x="2031949" y="155777"/>
                </a:lnTo>
                <a:lnTo>
                  <a:pt x="2167412" y="141221"/>
                </a:lnTo>
                <a:lnTo>
                  <a:pt x="2302875" y="127707"/>
                </a:lnTo>
                <a:lnTo>
                  <a:pt x="2438339" y="115564"/>
                </a:lnTo>
                <a:lnTo>
                  <a:pt x="2573802" y="104994"/>
                </a:lnTo>
                <a:lnTo>
                  <a:pt x="2709265" y="96068"/>
                </a:lnTo>
                <a:lnTo>
                  <a:pt x="2844728" y="88731"/>
                </a:lnTo>
                <a:lnTo>
                  <a:pt x="2980192" y="82816"/>
                </a:lnTo>
                <a:lnTo>
                  <a:pt x="3115655" y="78067"/>
                </a:lnTo>
                <a:lnTo>
                  <a:pt x="3251118" y="74166"/>
                </a:lnTo>
                <a:lnTo>
                  <a:pt x="3386582" y="70766"/>
                </a:lnTo>
                <a:lnTo>
                  <a:pt x="3522045" y="67527"/>
                </a:lnTo>
                <a:lnTo>
                  <a:pt x="3657508" y="64145"/>
                </a:lnTo>
                <a:lnTo>
                  <a:pt x="3792971" y="60383"/>
                </a:lnTo>
                <a:lnTo>
                  <a:pt x="3928435" y="56096"/>
                </a:lnTo>
                <a:lnTo>
                  <a:pt x="4063898" y="51248"/>
                </a:lnTo>
                <a:lnTo>
                  <a:pt x="4199361" y="45917"/>
                </a:lnTo>
                <a:lnTo>
                  <a:pt x="4334824" y="40294"/>
                </a:lnTo>
                <a:lnTo>
                  <a:pt x="4470288" y="34675"/>
                </a:lnTo>
                <a:lnTo>
                  <a:pt x="4605751" y="29440"/>
                </a:lnTo>
                <a:lnTo>
                  <a:pt x="4741214" y="25025"/>
                </a:lnTo>
                <a:lnTo>
                  <a:pt x="4876678" y="21891"/>
                </a:lnTo>
                <a:lnTo>
                  <a:pt x="5012141" y="20491"/>
                </a:lnTo>
                <a:lnTo>
                  <a:pt x="5147604" y="21233"/>
                </a:lnTo>
                <a:lnTo>
                  <a:pt x="5283067" y="24445"/>
                </a:lnTo>
                <a:lnTo>
                  <a:pt x="5418531" y="30349"/>
                </a:lnTo>
                <a:lnTo>
                  <a:pt x="5553994" y="39037"/>
                </a:lnTo>
                <a:lnTo>
                  <a:pt x="5689457" y="50457"/>
                </a:lnTo>
                <a:lnTo>
                  <a:pt x="5824921" y="64407"/>
                </a:lnTo>
                <a:lnTo>
                  <a:pt x="5960384" y="80543"/>
                </a:lnTo>
                <a:lnTo>
                  <a:pt x="6095847" y="98390"/>
                </a:lnTo>
                <a:lnTo>
                  <a:pt x="6231310" y="117369"/>
                </a:lnTo>
                <a:lnTo>
                  <a:pt x="6366774" y="136826"/>
                </a:lnTo>
                <a:lnTo>
                  <a:pt x="6502237" y="156066"/>
                </a:lnTo>
                <a:lnTo>
                  <a:pt x="6637700" y="174397"/>
                </a:lnTo>
                <a:lnTo>
                  <a:pt x="6773164" y="191162"/>
                </a:lnTo>
                <a:lnTo>
                  <a:pt x="6908627" y="205782"/>
                </a:lnTo>
                <a:lnTo>
                  <a:pt x="7044090" y="217784"/>
                </a:lnTo>
                <a:lnTo>
                  <a:pt x="7179553" y="226827"/>
                </a:lnTo>
                <a:lnTo>
                  <a:pt x="7315017" y="232720"/>
                </a:lnTo>
                <a:lnTo>
                  <a:pt x="7450480" y="235424"/>
                </a:lnTo>
                <a:lnTo>
                  <a:pt x="7585943" y="235057"/>
                </a:lnTo>
                <a:lnTo>
                  <a:pt x="7721406" y="231872"/>
                </a:lnTo>
                <a:lnTo>
                  <a:pt x="7856870" y="226244"/>
                </a:lnTo>
                <a:lnTo>
                  <a:pt x="7992333" y="218632"/>
                </a:lnTo>
                <a:lnTo>
                  <a:pt x="8127796" y="209557"/>
                </a:lnTo>
                <a:lnTo>
                  <a:pt x="8263260" y="199555"/>
                </a:lnTo>
                <a:lnTo>
                  <a:pt x="8398723" y="189147"/>
                </a:lnTo>
                <a:lnTo>
                  <a:pt x="8534186" y="178801"/>
                </a:lnTo>
                <a:lnTo>
                  <a:pt x="8669649" y="168908"/>
                </a:lnTo>
                <a:lnTo>
                  <a:pt x="8805113" y="159754"/>
                </a:lnTo>
                <a:lnTo>
                  <a:pt x="8940576" y="151510"/>
                </a:lnTo>
                <a:lnTo>
                  <a:pt x="9076039" y="144224"/>
                </a:lnTo>
                <a:lnTo>
                  <a:pt x="9211503" y="137828"/>
                </a:lnTo>
                <a:lnTo>
                  <a:pt x="9346966" y="132152"/>
                </a:lnTo>
                <a:lnTo>
                  <a:pt x="9482429" y="126943"/>
                </a:lnTo>
                <a:lnTo>
                  <a:pt x="9617892" y="121894"/>
                </a:lnTo>
                <a:lnTo>
                  <a:pt x="9753356" y="116677"/>
                </a:lnTo>
                <a:lnTo>
                  <a:pt x="9888819" y="110975"/>
                </a:lnTo>
                <a:lnTo>
                  <a:pt x="10024282" y="104513"/>
                </a:lnTo>
                <a:lnTo>
                  <a:pt x="10159746" y="97095"/>
                </a:lnTo>
                <a:lnTo>
                  <a:pt x="10295209" y="88617"/>
                </a:lnTo>
                <a:lnTo>
                  <a:pt x="10430672" y="79094"/>
                </a:lnTo>
                <a:lnTo>
                  <a:pt x="10566135" y="68661"/>
                </a:lnTo>
                <a:lnTo>
                  <a:pt x="10701599" y="57573"/>
                </a:lnTo>
                <a:lnTo>
                  <a:pt x="10837062" y="46197"/>
                </a:lnTo>
                <a:lnTo>
                  <a:pt x="10972525" y="34990"/>
                </a:lnTo>
                <a:lnTo>
                  <a:pt x="11107988" y="24471"/>
                </a:lnTo>
                <a:lnTo>
                  <a:pt x="11243452" y="15192"/>
                </a:lnTo>
                <a:lnTo>
                  <a:pt x="11378915" y="7698"/>
                </a:lnTo>
                <a:lnTo>
                  <a:pt x="11514378" y="2492"/>
                </a:lnTo>
                <a:lnTo>
                  <a:pt x="11649842" y="0"/>
                </a:lnTo>
                <a:lnTo>
                  <a:pt x="11785305" y="541"/>
                </a:lnTo>
                <a:lnTo>
                  <a:pt x="11920768" y="4298"/>
                </a:lnTo>
                <a:lnTo>
                  <a:pt x="12056231" y="11307"/>
                </a:lnTo>
                <a:lnTo>
                  <a:pt x="12191695" y="21447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0" y="6600998"/>
            <a:ext cx="12191695" cy="238322"/>
          </a:xfrm>
          <a:custGeom>
            <a:avLst/>
            <a:gdLst/>
            <a:ahLst/>
            <a:cxnLst/>
            <a:rect l="l" t="t" r="r" b="b"/>
            <a:pathLst>
              <a:path w="12191695" h="238322">
                <a:moveTo>
                  <a:pt x="0" y="190722"/>
                </a:moveTo>
                <a:lnTo>
                  <a:pt x="135463" y="204821"/>
                </a:lnTo>
                <a:lnTo>
                  <a:pt x="270926" y="217096"/>
                </a:lnTo>
                <a:lnTo>
                  <a:pt x="406389" y="226989"/>
                </a:lnTo>
                <a:lnTo>
                  <a:pt x="541853" y="234032"/>
                </a:lnTo>
                <a:lnTo>
                  <a:pt x="677316" y="237878"/>
                </a:lnTo>
                <a:lnTo>
                  <a:pt x="812779" y="238322"/>
                </a:lnTo>
                <a:lnTo>
                  <a:pt x="948242" y="235314"/>
                </a:lnTo>
                <a:lnTo>
                  <a:pt x="1083706" y="228966"/>
                </a:lnTo>
                <a:lnTo>
                  <a:pt x="1219169" y="219541"/>
                </a:lnTo>
                <a:lnTo>
                  <a:pt x="1354632" y="207444"/>
                </a:lnTo>
                <a:lnTo>
                  <a:pt x="1490096" y="193188"/>
                </a:lnTo>
                <a:lnTo>
                  <a:pt x="1625559" y="177371"/>
                </a:lnTo>
                <a:lnTo>
                  <a:pt x="1761022" y="160636"/>
                </a:lnTo>
                <a:lnTo>
                  <a:pt x="1896485" y="143634"/>
                </a:lnTo>
                <a:lnTo>
                  <a:pt x="2031949" y="126985"/>
                </a:lnTo>
                <a:lnTo>
                  <a:pt x="2167412" y="111244"/>
                </a:lnTo>
                <a:lnTo>
                  <a:pt x="2302875" y="96871"/>
                </a:lnTo>
                <a:lnTo>
                  <a:pt x="2438339" y="84207"/>
                </a:lnTo>
                <a:lnTo>
                  <a:pt x="2573802" y="73462"/>
                </a:lnTo>
                <a:lnTo>
                  <a:pt x="2709265" y="64709"/>
                </a:lnTo>
                <a:lnTo>
                  <a:pt x="2844728" y="57891"/>
                </a:lnTo>
                <a:lnTo>
                  <a:pt x="2980192" y="52834"/>
                </a:lnTo>
                <a:lnTo>
                  <a:pt x="3115655" y="49267"/>
                </a:lnTo>
                <a:lnTo>
                  <a:pt x="3251118" y="46856"/>
                </a:lnTo>
                <a:lnTo>
                  <a:pt x="3386582" y="45231"/>
                </a:lnTo>
                <a:lnTo>
                  <a:pt x="3522045" y="44024"/>
                </a:lnTo>
                <a:lnTo>
                  <a:pt x="3657508" y="42902"/>
                </a:lnTo>
                <a:lnTo>
                  <a:pt x="3792971" y="41593"/>
                </a:lnTo>
                <a:lnTo>
                  <a:pt x="3928435" y="39916"/>
                </a:lnTo>
                <a:lnTo>
                  <a:pt x="4063898" y="37794"/>
                </a:lnTo>
                <a:lnTo>
                  <a:pt x="4199361" y="35264"/>
                </a:lnTo>
                <a:lnTo>
                  <a:pt x="4334824" y="32476"/>
                </a:lnTo>
                <a:lnTo>
                  <a:pt x="4470288" y="29683"/>
                </a:lnTo>
                <a:lnTo>
                  <a:pt x="4605751" y="27220"/>
                </a:lnTo>
                <a:lnTo>
                  <a:pt x="4741214" y="25484"/>
                </a:lnTo>
                <a:lnTo>
                  <a:pt x="4876678" y="24895"/>
                </a:lnTo>
                <a:lnTo>
                  <a:pt x="5012141" y="25867"/>
                </a:lnTo>
                <a:lnTo>
                  <a:pt x="5147604" y="28771"/>
                </a:lnTo>
                <a:lnTo>
                  <a:pt x="5283067" y="33905"/>
                </a:lnTo>
                <a:lnTo>
                  <a:pt x="5418531" y="41460"/>
                </a:lnTo>
                <a:lnTo>
                  <a:pt x="5553994" y="51504"/>
                </a:lnTo>
                <a:lnTo>
                  <a:pt x="5689457" y="63964"/>
                </a:lnTo>
                <a:lnTo>
                  <a:pt x="5824921" y="78622"/>
                </a:lnTo>
                <a:lnTo>
                  <a:pt x="5960384" y="95124"/>
                </a:lnTo>
                <a:lnTo>
                  <a:pt x="6095847" y="112989"/>
                </a:lnTo>
                <a:lnTo>
                  <a:pt x="6231310" y="131639"/>
                </a:lnTo>
                <a:lnTo>
                  <a:pt x="6366774" y="150423"/>
                </a:lnTo>
                <a:lnTo>
                  <a:pt x="6502237" y="168658"/>
                </a:lnTo>
                <a:lnTo>
                  <a:pt x="6637700" y="185665"/>
                </a:lnTo>
                <a:lnTo>
                  <a:pt x="6773164" y="200809"/>
                </a:lnTo>
                <a:lnTo>
                  <a:pt x="6908627" y="213535"/>
                </a:lnTo>
                <a:lnTo>
                  <a:pt x="7044090" y="223398"/>
                </a:lnTo>
                <a:lnTo>
                  <a:pt x="7179553" y="230090"/>
                </a:lnTo>
                <a:lnTo>
                  <a:pt x="7315017" y="233454"/>
                </a:lnTo>
                <a:lnTo>
                  <a:pt x="7450480" y="233492"/>
                </a:lnTo>
                <a:lnTo>
                  <a:pt x="7585943" y="230359"/>
                </a:lnTo>
                <a:lnTo>
                  <a:pt x="7721406" y="224353"/>
                </a:lnTo>
                <a:lnTo>
                  <a:pt x="7856870" y="215888"/>
                </a:lnTo>
                <a:lnTo>
                  <a:pt x="7992333" y="205470"/>
                </a:lnTo>
                <a:lnTo>
                  <a:pt x="8127796" y="193658"/>
                </a:lnTo>
                <a:lnTo>
                  <a:pt x="8263260" y="181033"/>
                </a:lnTo>
                <a:lnTo>
                  <a:pt x="8398723" y="168153"/>
                </a:lnTo>
                <a:lnTo>
                  <a:pt x="8534186" y="155526"/>
                </a:lnTo>
                <a:lnTo>
                  <a:pt x="8669649" y="143575"/>
                </a:lnTo>
                <a:lnTo>
                  <a:pt x="8805113" y="132618"/>
                </a:lnTo>
                <a:lnTo>
                  <a:pt x="8940576" y="122852"/>
                </a:lnTo>
                <a:lnTo>
                  <a:pt x="9076039" y="114351"/>
                </a:lnTo>
                <a:lnTo>
                  <a:pt x="9211503" y="107063"/>
                </a:lnTo>
                <a:lnTo>
                  <a:pt x="9346966" y="100832"/>
                </a:lnTo>
                <a:lnTo>
                  <a:pt x="9482429" y="95413"/>
                </a:lnTo>
                <a:lnTo>
                  <a:pt x="9617892" y="90502"/>
                </a:lnTo>
                <a:lnTo>
                  <a:pt x="9753356" y="85770"/>
                </a:lnTo>
                <a:lnTo>
                  <a:pt x="9888819" y="80892"/>
                </a:lnTo>
                <a:lnTo>
                  <a:pt x="10024282" y="75582"/>
                </a:lnTo>
                <a:lnTo>
                  <a:pt x="10159746" y="69623"/>
                </a:lnTo>
                <a:lnTo>
                  <a:pt x="10295209" y="62893"/>
                </a:lnTo>
                <a:lnTo>
                  <a:pt x="10430672" y="55378"/>
                </a:lnTo>
                <a:lnTo>
                  <a:pt x="10566135" y="47183"/>
                </a:lnTo>
                <a:lnTo>
                  <a:pt x="10701599" y="38531"/>
                </a:lnTo>
                <a:lnTo>
                  <a:pt x="10837062" y="29751"/>
                </a:lnTo>
                <a:lnTo>
                  <a:pt x="10972525" y="21260"/>
                </a:lnTo>
                <a:lnTo>
                  <a:pt x="11107988" y="13537"/>
                </a:lnTo>
                <a:lnTo>
                  <a:pt x="11243452" y="7091"/>
                </a:lnTo>
                <a:lnTo>
                  <a:pt x="11378915" y="2425"/>
                </a:lnTo>
                <a:lnTo>
                  <a:pt x="11514378" y="0"/>
                </a:lnTo>
                <a:lnTo>
                  <a:pt x="11649842" y="198"/>
                </a:lnTo>
                <a:lnTo>
                  <a:pt x="11785305" y="3299"/>
                </a:lnTo>
                <a:lnTo>
                  <a:pt x="11920768" y="9446"/>
                </a:lnTo>
                <a:lnTo>
                  <a:pt x="12056231" y="18641"/>
                </a:lnTo>
                <a:lnTo>
                  <a:pt x="12191695" y="30728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46304"/>
            <a:ext cx="11283696" cy="44805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集成架构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722376"/>
            <a:ext cx="585216" cy="41148"/>
          </a:xfrm>
          <a:prstGeom prst="rect">
            <a:avLst/>
          </a:prstGeom>
          <a:solidFill>
            <a:srgbClr val="EE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649224"/>
            <a:ext cx="10469880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2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以统一契约连接平台事实、执行与反馈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292608"/>
            <a:ext cx="896112" cy="20116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HiAgent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6647688"/>
            <a:ext cx="10241280" cy="1280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7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企业数据智能体建设规划  /  规划视图  /  2026.10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629400"/>
            <a:ext cx="585216" cy="17373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179576"/>
            <a:ext cx="2441448" cy="27432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智能服务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1179576"/>
            <a:ext cx="2944368" cy="27432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平台服务接入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1179576"/>
            <a:ext cx="3319272" cy="27432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既有系统与平台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" y="1869948"/>
            <a:ext cx="2441448" cy="155448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1837943"/>
            <a:ext cx="2441448" cy="1554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6564" y="2407706"/>
            <a:ext cx="469087" cy="8339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655716" y="2266980"/>
            <a:ext cx="479511" cy="201395"/>
          </a:xfrm>
          <a:custGeom>
            <a:avLst/>
            <a:gdLst/>
            <a:ahLst/>
            <a:cxnLst/>
            <a:rect l="l" t="t" r="r" b="b"/>
            <a:pathLst>
              <a:path w="479511" h="201395">
                <a:moveTo>
                  <a:pt x="0" y="100697"/>
                </a:moveTo>
                <a:lnTo>
                  <a:pt x="239755" y="0"/>
                </a:lnTo>
                <a:lnTo>
                  <a:pt x="479511" y="100697"/>
                </a:lnTo>
                <a:lnTo>
                  <a:pt x="239755" y="201395"/>
                </a:lnTo>
                <a:close/>
              </a:path>
            </a:pathLst>
          </a:custGeom>
          <a:solidFill>
            <a:srgbClr val="B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655716" y="2367677"/>
            <a:ext cx="239755" cy="145000"/>
          </a:xfrm>
          <a:custGeom>
            <a:avLst/>
            <a:gdLst/>
            <a:ahLst/>
            <a:cxnLst/>
            <a:rect l="l" t="t" r="r" b="b"/>
            <a:pathLst>
              <a:path w="239755" h="145000">
                <a:moveTo>
                  <a:pt x="0" y="0"/>
                </a:moveTo>
                <a:lnTo>
                  <a:pt x="239755" y="100698"/>
                </a:lnTo>
                <a:lnTo>
                  <a:pt x="239755" y="145000"/>
                </a:lnTo>
                <a:lnTo>
                  <a:pt x="0" y="44303"/>
                </a:lnTo>
                <a:close/>
              </a:path>
            </a:pathLst>
          </a:custGeom>
          <a:solidFill>
            <a:srgbClr val="6D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895471" y="2367677"/>
            <a:ext cx="239756" cy="145000"/>
          </a:xfrm>
          <a:custGeom>
            <a:avLst/>
            <a:gdLst/>
            <a:ahLst/>
            <a:cxnLst/>
            <a:rect l="l" t="t" r="r" b="b"/>
            <a:pathLst>
              <a:path w="239756" h="145000">
                <a:moveTo>
                  <a:pt x="0" y="100698"/>
                </a:moveTo>
                <a:lnTo>
                  <a:pt x="239756" y="0"/>
                </a:lnTo>
                <a:lnTo>
                  <a:pt x="239756" y="44303"/>
                </a:lnTo>
                <a:lnTo>
                  <a:pt x="0" y="145000"/>
                </a:lnTo>
                <a:close/>
              </a:path>
            </a:pathLst>
          </a:custGeom>
          <a:solidFill>
            <a:srgbClr val="30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697412" y="2167950"/>
            <a:ext cx="396118" cy="166370"/>
          </a:xfrm>
          <a:custGeom>
            <a:avLst/>
            <a:gdLst/>
            <a:ahLst/>
            <a:cxnLst/>
            <a:rect l="l" t="t" r="r" b="b"/>
            <a:pathLst>
              <a:path w="396118" h="166370">
                <a:moveTo>
                  <a:pt x="0" y="83185"/>
                </a:moveTo>
                <a:lnTo>
                  <a:pt x="198059" y="0"/>
                </a:lnTo>
                <a:lnTo>
                  <a:pt x="396118" y="83185"/>
                </a:lnTo>
                <a:lnTo>
                  <a:pt x="198059" y="166370"/>
                </a:lnTo>
                <a:close/>
              </a:path>
            </a:pathLst>
          </a:custGeom>
          <a:solidFill>
            <a:srgbClr val="94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697412" y="2251135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0"/>
                </a:moveTo>
                <a:lnTo>
                  <a:pt x="198059" y="83185"/>
                </a:lnTo>
                <a:lnTo>
                  <a:pt x="198059" y="127488"/>
                </a:lnTo>
                <a:lnTo>
                  <a:pt x="0" y="44303"/>
                </a:lnTo>
                <a:close/>
              </a:path>
            </a:pathLst>
          </a:custGeom>
          <a:solidFill>
            <a:srgbClr val="3F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895471" y="2251135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83185"/>
                </a:moveTo>
                <a:lnTo>
                  <a:pt x="198059" y="0"/>
                </a:lnTo>
                <a:lnTo>
                  <a:pt x="198059" y="44303"/>
                </a:lnTo>
                <a:lnTo>
                  <a:pt x="0" y="127488"/>
                </a:lnTo>
                <a:close/>
              </a:path>
            </a:pathLst>
          </a:custGeom>
          <a:solidFill>
            <a:srgbClr val="197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744321" y="2068921"/>
            <a:ext cx="302301" cy="126966"/>
          </a:xfrm>
          <a:custGeom>
            <a:avLst/>
            <a:gdLst/>
            <a:ahLst/>
            <a:cxnLst/>
            <a:rect l="l" t="t" r="r" b="b"/>
            <a:pathLst>
              <a:path w="302301" h="126966">
                <a:moveTo>
                  <a:pt x="0" y="63483"/>
                </a:moveTo>
                <a:lnTo>
                  <a:pt x="151150" y="0"/>
                </a:lnTo>
                <a:lnTo>
                  <a:pt x="302301" y="63483"/>
                </a:lnTo>
                <a:lnTo>
                  <a:pt x="151150" y="126966"/>
                </a:lnTo>
                <a:close/>
              </a:path>
            </a:pathLst>
          </a:custGeom>
          <a:solidFill>
            <a:srgbClr val="57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744321" y="2132404"/>
            <a:ext cx="151150" cy="107786"/>
          </a:xfrm>
          <a:custGeom>
            <a:avLst/>
            <a:gdLst/>
            <a:ahLst/>
            <a:cxnLst/>
            <a:rect l="l" t="t" r="r" b="b"/>
            <a:pathLst>
              <a:path w="151150" h="107786">
                <a:moveTo>
                  <a:pt x="0" y="0"/>
                </a:moveTo>
                <a:lnTo>
                  <a:pt x="151150" y="63483"/>
                </a:lnTo>
                <a:lnTo>
                  <a:pt x="151150" y="107786"/>
                </a:lnTo>
                <a:lnTo>
                  <a:pt x="0" y="44303"/>
                </a:lnTo>
                <a:close/>
              </a:path>
            </a:pathLst>
          </a:custGeom>
          <a:solidFill>
            <a:srgbClr val="148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895471" y="2132404"/>
            <a:ext cx="151151" cy="107786"/>
          </a:xfrm>
          <a:custGeom>
            <a:avLst/>
            <a:gdLst/>
            <a:ahLst/>
            <a:cxnLst/>
            <a:rect l="l" t="t" r="r" b="b"/>
            <a:pathLst>
              <a:path w="151151" h="107786">
                <a:moveTo>
                  <a:pt x="0" y="63483"/>
                </a:moveTo>
                <a:lnTo>
                  <a:pt x="151151" y="0"/>
                </a:lnTo>
                <a:lnTo>
                  <a:pt x="151151" y="44303"/>
                </a:lnTo>
                <a:lnTo>
                  <a:pt x="0" y="107786"/>
                </a:lnTo>
                <a:close/>
              </a:path>
            </a:pathLst>
          </a:custGeom>
          <a:solidFill>
            <a:srgbClr val="0A5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817290" y="2048073"/>
            <a:ext cx="99030" cy="45553"/>
          </a:xfrm>
          <a:custGeom>
            <a:avLst/>
            <a:gdLst/>
            <a:ahLst/>
            <a:cxnLst/>
            <a:rect l="l" t="t" r="r" b="b"/>
            <a:pathLst>
              <a:path w="99030" h="45553">
                <a:moveTo>
                  <a:pt x="0" y="22776"/>
                </a:moveTo>
                <a:lnTo>
                  <a:pt x="49515" y="0"/>
                </a:lnTo>
                <a:lnTo>
                  <a:pt x="99030" y="22776"/>
                </a:lnTo>
                <a:lnTo>
                  <a:pt x="49515" y="45553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817290" y="2070849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70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866805" y="2070849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70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947592" y="2094981"/>
            <a:ext cx="99030" cy="45554"/>
          </a:xfrm>
          <a:custGeom>
            <a:avLst/>
            <a:gdLst/>
            <a:ahLst/>
            <a:cxnLst/>
            <a:rect l="l" t="t" r="r" b="b"/>
            <a:pathLst>
              <a:path w="99030" h="45554">
                <a:moveTo>
                  <a:pt x="0" y="22777"/>
                </a:moveTo>
                <a:lnTo>
                  <a:pt x="49515" y="0"/>
                </a:lnTo>
                <a:lnTo>
                  <a:pt x="99030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947592" y="2117758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997107" y="2117758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864199" y="2157526"/>
            <a:ext cx="99029" cy="45554"/>
          </a:xfrm>
          <a:custGeom>
            <a:avLst/>
            <a:gdLst/>
            <a:ahLst/>
            <a:cxnLst/>
            <a:rect l="l" t="t" r="r" b="b"/>
            <a:pathLst>
              <a:path w="99029" h="45554">
                <a:moveTo>
                  <a:pt x="0" y="22777"/>
                </a:moveTo>
                <a:lnTo>
                  <a:pt x="49515" y="0"/>
                </a:lnTo>
                <a:lnTo>
                  <a:pt x="99029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864199" y="2180303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913714" y="2180303"/>
            <a:ext cx="49514" cy="95746"/>
          </a:xfrm>
          <a:custGeom>
            <a:avLst/>
            <a:gdLst/>
            <a:ahLst/>
            <a:cxnLst/>
            <a:rect l="l" t="t" r="r" b="b"/>
            <a:pathLst>
              <a:path w="49514" h="95746">
                <a:moveTo>
                  <a:pt x="0" y="22777"/>
                </a:moveTo>
                <a:lnTo>
                  <a:pt x="49514" y="0"/>
                </a:lnTo>
                <a:lnTo>
                  <a:pt x="49514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011679"/>
            <a:ext cx="1508760" cy="3931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专业Agent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" y="2743200"/>
            <a:ext cx="2020824" cy="57607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组织请求、参数与身份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核验结果与证据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25780" y="4146804"/>
            <a:ext cx="2441448" cy="1426464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02920" y="4114800"/>
            <a:ext cx="2441448" cy="14264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6564" y="4684562"/>
            <a:ext cx="469087" cy="8339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655716" y="4543836"/>
            <a:ext cx="479511" cy="201395"/>
          </a:xfrm>
          <a:custGeom>
            <a:avLst/>
            <a:gdLst/>
            <a:ahLst/>
            <a:cxnLst/>
            <a:rect l="l" t="t" r="r" b="b"/>
            <a:pathLst>
              <a:path w="479511" h="201395">
                <a:moveTo>
                  <a:pt x="0" y="100697"/>
                </a:moveTo>
                <a:lnTo>
                  <a:pt x="239755" y="0"/>
                </a:lnTo>
                <a:lnTo>
                  <a:pt x="479511" y="100697"/>
                </a:lnTo>
                <a:lnTo>
                  <a:pt x="239755" y="201395"/>
                </a:lnTo>
                <a:close/>
              </a:path>
            </a:pathLst>
          </a:custGeom>
          <a:solidFill>
            <a:srgbClr val="B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655716" y="4644533"/>
            <a:ext cx="239755" cy="145000"/>
          </a:xfrm>
          <a:custGeom>
            <a:avLst/>
            <a:gdLst/>
            <a:ahLst/>
            <a:cxnLst/>
            <a:rect l="l" t="t" r="r" b="b"/>
            <a:pathLst>
              <a:path w="239755" h="145000">
                <a:moveTo>
                  <a:pt x="0" y="0"/>
                </a:moveTo>
                <a:lnTo>
                  <a:pt x="239755" y="100698"/>
                </a:lnTo>
                <a:lnTo>
                  <a:pt x="239755" y="145000"/>
                </a:lnTo>
                <a:lnTo>
                  <a:pt x="0" y="44303"/>
                </a:lnTo>
                <a:close/>
              </a:path>
            </a:pathLst>
          </a:custGeom>
          <a:solidFill>
            <a:srgbClr val="6D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895471" y="4644533"/>
            <a:ext cx="239756" cy="145000"/>
          </a:xfrm>
          <a:custGeom>
            <a:avLst/>
            <a:gdLst/>
            <a:ahLst/>
            <a:cxnLst/>
            <a:rect l="l" t="t" r="r" b="b"/>
            <a:pathLst>
              <a:path w="239756" h="145000">
                <a:moveTo>
                  <a:pt x="0" y="100698"/>
                </a:moveTo>
                <a:lnTo>
                  <a:pt x="239756" y="0"/>
                </a:lnTo>
                <a:lnTo>
                  <a:pt x="239756" y="44303"/>
                </a:lnTo>
                <a:lnTo>
                  <a:pt x="0" y="145000"/>
                </a:lnTo>
                <a:close/>
              </a:path>
            </a:pathLst>
          </a:custGeom>
          <a:solidFill>
            <a:srgbClr val="30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697412" y="4444806"/>
            <a:ext cx="396118" cy="166370"/>
          </a:xfrm>
          <a:custGeom>
            <a:avLst/>
            <a:gdLst/>
            <a:ahLst/>
            <a:cxnLst/>
            <a:rect l="l" t="t" r="r" b="b"/>
            <a:pathLst>
              <a:path w="396118" h="166370">
                <a:moveTo>
                  <a:pt x="0" y="83185"/>
                </a:moveTo>
                <a:lnTo>
                  <a:pt x="198059" y="0"/>
                </a:lnTo>
                <a:lnTo>
                  <a:pt x="396118" y="83185"/>
                </a:lnTo>
                <a:lnTo>
                  <a:pt x="198059" y="166370"/>
                </a:lnTo>
                <a:close/>
              </a:path>
            </a:pathLst>
          </a:custGeom>
          <a:solidFill>
            <a:srgbClr val="94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697412" y="4527991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0"/>
                </a:moveTo>
                <a:lnTo>
                  <a:pt x="198059" y="83185"/>
                </a:lnTo>
                <a:lnTo>
                  <a:pt x="198059" y="127488"/>
                </a:lnTo>
                <a:lnTo>
                  <a:pt x="0" y="44303"/>
                </a:lnTo>
                <a:close/>
              </a:path>
            </a:pathLst>
          </a:custGeom>
          <a:solidFill>
            <a:srgbClr val="3F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95471" y="4527991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83185"/>
                </a:moveTo>
                <a:lnTo>
                  <a:pt x="198059" y="0"/>
                </a:lnTo>
                <a:lnTo>
                  <a:pt x="198059" y="44303"/>
                </a:lnTo>
                <a:lnTo>
                  <a:pt x="0" y="127488"/>
                </a:lnTo>
                <a:close/>
              </a:path>
            </a:pathLst>
          </a:custGeom>
          <a:solidFill>
            <a:srgbClr val="197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744321" y="4345777"/>
            <a:ext cx="302301" cy="126966"/>
          </a:xfrm>
          <a:custGeom>
            <a:avLst/>
            <a:gdLst/>
            <a:ahLst/>
            <a:cxnLst/>
            <a:rect l="l" t="t" r="r" b="b"/>
            <a:pathLst>
              <a:path w="302301" h="126966">
                <a:moveTo>
                  <a:pt x="0" y="63483"/>
                </a:moveTo>
                <a:lnTo>
                  <a:pt x="151150" y="0"/>
                </a:lnTo>
                <a:lnTo>
                  <a:pt x="302301" y="63483"/>
                </a:lnTo>
                <a:lnTo>
                  <a:pt x="151150" y="126966"/>
                </a:lnTo>
                <a:close/>
              </a:path>
            </a:pathLst>
          </a:custGeom>
          <a:solidFill>
            <a:srgbClr val="57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744321" y="4409260"/>
            <a:ext cx="151150" cy="107786"/>
          </a:xfrm>
          <a:custGeom>
            <a:avLst/>
            <a:gdLst/>
            <a:ahLst/>
            <a:cxnLst/>
            <a:rect l="l" t="t" r="r" b="b"/>
            <a:pathLst>
              <a:path w="151150" h="107786">
                <a:moveTo>
                  <a:pt x="0" y="0"/>
                </a:moveTo>
                <a:lnTo>
                  <a:pt x="151150" y="63483"/>
                </a:lnTo>
                <a:lnTo>
                  <a:pt x="151150" y="107786"/>
                </a:lnTo>
                <a:lnTo>
                  <a:pt x="0" y="44303"/>
                </a:lnTo>
                <a:close/>
              </a:path>
            </a:pathLst>
          </a:custGeom>
          <a:solidFill>
            <a:srgbClr val="148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95471" y="4409260"/>
            <a:ext cx="151151" cy="107786"/>
          </a:xfrm>
          <a:custGeom>
            <a:avLst/>
            <a:gdLst/>
            <a:ahLst/>
            <a:cxnLst/>
            <a:rect l="l" t="t" r="r" b="b"/>
            <a:pathLst>
              <a:path w="151151" h="107786">
                <a:moveTo>
                  <a:pt x="0" y="63483"/>
                </a:moveTo>
                <a:lnTo>
                  <a:pt x="151151" y="0"/>
                </a:lnTo>
                <a:lnTo>
                  <a:pt x="151151" y="44303"/>
                </a:lnTo>
                <a:lnTo>
                  <a:pt x="0" y="107786"/>
                </a:lnTo>
                <a:close/>
              </a:path>
            </a:pathLst>
          </a:custGeom>
          <a:solidFill>
            <a:srgbClr val="0A5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17290" y="4324929"/>
            <a:ext cx="99030" cy="45553"/>
          </a:xfrm>
          <a:custGeom>
            <a:avLst/>
            <a:gdLst/>
            <a:ahLst/>
            <a:cxnLst/>
            <a:rect l="l" t="t" r="r" b="b"/>
            <a:pathLst>
              <a:path w="99030" h="45553">
                <a:moveTo>
                  <a:pt x="0" y="22776"/>
                </a:moveTo>
                <a:lnTo>
                  <a:pt x="49515" y="0"/>
                </a:lnTo>
                <a:lnTo>
                  <a:pt x="99030" y="22776"/>
                </a:lnTo>
                <a:lnTo>
                  <a:pt x="49515" y="45553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817290" y="4347705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70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866805" y="4347705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70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47592" y="4371837"/>
            <a:ext cx="99030" cy="45554"/>
          </a:xfrm>
          <a:custGeom>
            <a:avLst/>
            <a:gdLst/>
            <a:ahLst/>
            <a:cxnLst/>
            <a:rect l="l" t="t" r="r" b="b"/>
            <a:pathLst>
              <a:path w="99030" h="45554">
                <a:moveTo>
                  <a:pt x="0" y="22777"/>
                </a:moveTo>
                <a:lnTo>
                  <a:pt x="49515" y="0"/>
                </a:lnTo>
                <a:lnTo>
                  <a:pt x="99030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47592" y="4394614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997107" y="4394614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864199" y="4434382"/>
            <a:ext cx="99029" cy="45554"/>
          </a:xfrm>
          <a:custGeom>
            <a:avLst/>
            <a:gdLst/>
            <a:ahLst/>
            <a:cxnLst/>
            <a:rect l="l" t="t" r="r" b="b"/>
            <a:pathLst>
              <a:path w="99029" h="45554">
                <a:moveTo>
                  <a:pt x="0" y="22777"/>
                </a:moveTo>
                <a:lnTo>
                  <a:pt x="49515" y="0"/>
                </a:lnTo>
                <a:lnTo>
                  <a:pt x="99029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864199" y="4457159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913714" y="4457159"/>
            <a:ext cx="49514" cy="95746"/>
          </a:xfrm>
          <a:custGeom>
            <a:avLst/>
            <a:gdLst/>
            <a:ahLst/>
            <a:cxnLst/>
            <a:rect l="l" t="t" r="r" b="b"/>
            <a:pathLst>
              <a:path w="49514" h="95746">
                <a:moveTo>
                  <a:pt x="0" y="22777"/>
                </a:moveTo>
                <a:lnTo>
                  <a:pt x="49514" y="0"/>
                </a:lnTo>
                <a:lnTo>
                  <a:pt x="49514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80160" y="4288536"/>
            <a:ext cx="1508760" cy="3931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内容与运营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" y="4919472"/>
            <a:ext cx="2020824" cy="54864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源变更 / 调用反馈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版本与索引更新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493008" y="1837943"/>
            <a:ext cx="2944368" cy="3703320"/>
          </a:xfrm>
          <a:prstGeom prst="roundRect">
            <a:avLst>
              <a:gd name="adj" fmla="val 5500"/>
            </a:avLst>
          </a:prstGeom>
          <a:solidFill>
            <a:srgbClr val="082850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756355" y="2397556"/>
            <a:ext cx="329184" cy="58521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3741724" y="2298801"/>
            <a:ext cx="336500" cy="141330"/>
          </a:xfrm>
          <a:custGeom>
            <a:avLst/>
            <a:gdLst/>
            <a:ahLst/>
            <a:cxnLst/>
            <a:rect l="l" t="t" r="r" b="b"/>
            <a:pathLst>
              <a:path w="336500" h="141330">
                <a:moveTo>
                  <a:pt x="0" y="70665"/>
                </a:moveTo>
                <a:lnTo>
                  <a:pt x="168250" y="0"/>
                </a:lnTo>
                <a:lnTo>
                  <a:pt x="336500" y="70665"/>
                </a:lnTo>
                <a:lnTo>
                  <a:pt x="168250" y="141330"/>
                </a:lnTo>
                <a:close/>
              </a:path>
            </a:pathLst>
          </a:custGeom>
          <a:solidFill>
            <a:srgbClr val="B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3741724" y="2369466"/>
            <a:ext cx="168250" cy="101754"/>
          </a:xfrm>
          <a:custGeom>
            <a:avLst/>
            <a:gdLst/>
            <a:ahLst/>
            <a:cxnLst/>
            <a:rect l="l" t="t" r="r" b="b"/>
            <a:pathLst>
              <a:path w="168250" h="101754">
                <a:moveTo>
                  <a:pt x="0" y="0"/>
                </a:moveTo>
                <a:lnTo>
                  <a:pt x="168250" y="70665"/>
                </a:lnTo>
                <a:lnTo>
                  <a:pt x="168250" y="101754"/>
                </a:lnTo>
                <a:lnTo>
                  <a:pt x="0" y="31090"/>
                </a:lnTo>
                <a:close/>
              </a:path>
            </a:pathLst>
          </a:custGeom>
          <a:solidFill>
            <a:srgbClr val="6D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3909974" y="2369466"/>
            <a:ext cx="168250" cy="101754"/>
          </a:xfrm>
          <a:custGeom>
            <a:avLst/>
            <a:gdLst/>
            <a:ahLst/>
            <a:cxnLst/>
            <a:rect l="l" t="t" r="r" b="b"/>
            <a:pathLst>
              <a:path w="168250" h="101754">
                <a:moveTo>
                  <a:pt x="0" y="70665"/>
                </a:moveTo>
                <a:lnTo>
                  <a:pt x="168250" y="0"/>
                </a:lnTo>
                <a:lnTo>
                  <a:pt x="168250" y="31090"/>
                </a:lnTo>
                <a:lnTo>
                  <a:pt x="0" y="101754"/>
                </a:lnTo>
                <a:close/>
              </a:path>
            </a:pathLst>
          </a:custGeom>
          <a:solidFill>
            <a:srgbClr val="30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3770985" y="2229307"/>
            <a:ext cx="277978" cy="116750"/>
          </a:xfrm>
          <a:custGeom>
            <a:avLst/>
            <a:gdLst/>
            <a:ahLst/>
            <a:cxnLst/>
            <a:rect l="l" t="t" r="r" b="b"/>
            <a:pathLst>
              <a:path w="277978" h="116750">
                <a:moveTo>
                  <a:pt x="0" y="58375"/>
                </a:moveTo>
                <a:lnTo>
                  <a:pt x="138989" y="0"/>
                </a:lnTo>
                <a:lnTo>
                  <a:pt x="277978" y="58375"/>
                </a:lnTo>
                <a:lnTo>
                  <a:pt x="138989" y="116750"/>
                </a:lnTo>
                <a:close/>
              </a:path>
            </a:pathLst>
          </a:custGeom>
          <a:solidFill>
            <a:srgbClr val="94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3770985" y="2287682"/>
            <a:ext cx="138989" cy="89465"/>
          </a:xfrm>
          <a:custGeom>
            <a:avLst/>
            <a:gdLst/>
            <a:ahLst/>
            <a:cxnLst/>
            <a:rect l="l" t="t" r="r" b="b"/>
            <a:pathLst>
              <a:path w="138989" h="89465">
                <a:moveTo>
                  <a:pt x="0" y="0"/>
                </a:moveTo>
                <a:lnTo>
                  <a:pt x="138989" y="58375"/>
                </a:lnTo>
                <a:lnTo>
                  <a:pt x="138989" y="89465"/>
                </a:lnTo>
                <a:lnTo>
                  <a:pt x="0" y="31090"/>
                </a:lnTo>
                <a:close/>
              </a:path>
            </a:pathLst>
          </a:custGeom>
          <a:solidFill>
            <a:srgbClr val="3F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3909974" y="2287682"/>
            <a:ext cx="138989" cy="89465"/>
          </a:xfrm>
          <a:custGeom>
            <a:avLst/>
            <a:gdLst/>
            <a:ahLst/>
            <a:cxnLst/>
            <a:rect l="l" t="t" r="r" b="b"/>
            <a:pathLst>
              <a:path w="138989" h="89465">
                <a:moveTo>
                  <a:pt x="0" y="58375"/>
                </a:moveTo>
                <a:lnTo>
                  <a:pt x="138989" y="0"/>
                </a:lnTo>
                <a:lnTo>
                  <a:pt x="138989" y="31090"/>
                </a:lnTo>
                <a:lnTo>
                  <a:pt x="0" y="89465"/>
                </a:lnTo>
                <a:close/>
              </a:path>
            </a:pathLst>
          </a:custGeom>
          <a:solidFill>
            <a:srgbClr val="197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3803904" y="2159812"/>
            <a:ext cx="212140" cy="89099"/>
          </a:xfrm>
          <a:custGeom>
            <a:avLst/>
            <a:gdLst/>
            <a:ahLst/>
            <a:cxnLst/>
            <a:rect l="l" t="t" r="r" b="b"/>
            <a:pathLst>
              <a:path w="212140" h="89099">
                <a:moveTo>
                  <a:pt x="0" y="44550"/>
                </a:moveTo>
                <a:lnTo>
                  <a:pt x="106070" y="0"/>
                </a:lnTo>
                <a:lnTo>
                  <a:pt x="212140" y="44550"/>
                </a:lnTo>
                <a:lnTo>
                  <a:pt x="106070" y="89099"/>
                </a:lnTo>
                <a:close/>
              </a:path>
            </a:pathLst>
          </a:custGeom>
          <a:solidFill>
            <a:srgbClr val="57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3803904" y="2204362"/>
            <a:ext cx="106070" cy="75639"/>
          </a:xfrm>
          <a:custGeom>
            <a:avLst/>
            <a:gdLst/>
            <a:ahLst/>
            <a:cxnLst/>
            <a:rect l="l" t="t" r="r" b="b"/>
            <a:pathLst>
              <a:path w="106070" h="75639">
                <a:moveTo>
                  <a:pt x="0" y="0"/>
                </a:moveTo>
                <a:lnTo>
                  <a:pt x="106070" y="44549"/>
                </a:lnTo>
                <a:lnTo>
                  <a:pt x="106070" y="75639"/>
                </a:lnTo>
                <a:lnTo>
                  <a:pt x="0" y="31089"/>
                </a:lnTo>
                <a:close/>
              </a:path>
            </a:pathLst>
          </a:custGeom>
          <a:solidFill>
            <a:srgbClr val="148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3909974" y="2204362"/>
            <a:ext cx="106070" cy="75639"/>
          </a:xfrm>
          <a:custGeom>
            <a:avLst/>
            <a:gdLst/>
            <a:ahLst/>
            <a:cxnLst/>
            <a:rect l="l" t="t" r="r" b="b"/>
            <a:pathLst>
              <a:path w="106070" h="75639">
                <a:moveTo>
                  <a:pt x="0" y="44549"/>
                </a:moveTo>
                <a:lnTo>
                  <a:pt x="106070" y="0"/>
                </a:lnTo>
                <a:lnTo>
                  <a:pt x="106070" y="31089"/>
                </a:lnTo>
                <a:lnTo>
                  <a:pt x="0" y="75639"/>
                </a:lnTo>
                <a:close/>
              </a:path>
            </a:pathLst>
          </a:custGeom>
          <a:solidFill>
            <a:srgbClr val="0A5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3855110" y="2145182"/>
            <a:ext cx="69494" cy="31967"/>
          </a:xfrm>
          <a:custGeom>
            <a:avLst/>
            <a:gdLst/>
            <a:ahLst/>
            <a:cxnLst/>
            <a:rect l="l" t="t" r="r" b="b"/>
            <a:pathLst>
              <a:path w="69494" h="31967">
                <a:moveTo>
                  <a:pt x="0" y="15984"/>
                </a:moveTo>
                <a:lnTo>
                  <a:pt x="34747" y="0"/>
                </a:lnTo>
                <a:lnTo>
                  <a:pt x="69494" y="15984"/>
                </a:lnTo>
                <a:lnTo>
                  <a:pt x="34747" y="31967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3855110" y="2161166"/>
            <a:ext cx="34747" cy="67190"/>
          </a:xfrm>
          <a:custGeom>
            <a:avLst/>
            <a:gdLst/>
            <a:ahLst/>
            <a:cxnLst/>
            <a:rect l="l" t="t" r="r" b="b"/>
            <a:pathLst>
              <a:path w="34747" h="67190">
                <a:moveTo>
                  <a:pt x="0" y="0"/>
                </a:moveTo>
                <a:lnTo>
                  <a:pt x="34747" y="15983"/>
                </a:lnTo>
                <a:lnTo>
                  <a:pt x="34747" y="67190"/>
                </a:lnTo>
                <a:lnTo>
                  <a:pt x="0" y="51206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3889857" y="2161166"/>
            <a:ext cx="34747" cy="67190"/>
          </a:xfrm>
          <a:custGeom>
            <a:avLst/>
            <a:gdLst/>
            <a:ahLst/>
            <a:cxnLst/>
            <a:rect l="l" t="t" r="r" b="b"/>
            <a:pathLst>
              <a:path w="34747" h="67190">
                <a:moveTo>
                  <a:pt x="0" y="15983"/>
                </a:moveTo>
                <a:lnTo>
                  <a:pt x="34747" y="0"/>
                </a:lnTo>
                <a:lnTo>
                  <a:pt x="34747" y="51206"/>
                </a:lnTo>
                <a:lnTo>
                  <a:pt x="0" y="67190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3946550" y="2178100"/>
            <a:ext cx="69494" cy="31968"/>
          </a:xfrm>
          <a:custGeom>
            <a:avLst/>
            <a:gdLst/>
            <a:ahLst/>
            <a:cxnLst/>
            <a:rect l="l" t="t" r="r" b="b"/>
            <a:pathLst>
              <a:path w="69494" h="31968">
                <a:moveTo>
                  <a:pt x="0" y="15984"/>
                </a:moveTo>
                <a:lnTo>
                  <a:pt x="34747" y="0"/>
                </a:lnTo>
                <a:lnTo>
                  <a:pt x="69494" y="15984"/>
                </a:lnTo>
                <a:lnTo>
                  <a:pt x="34747" y="31968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3946550" y="2194084"/>
            <a:ext cx="34747" cy="67190"/>
          </a:xfrm>
          <a:custGeom>
            <a:avLst/>
            <a:gdLst/>
            <a:ahLst/>
            <a:cxnLst/>
            <a:rect l="l" t="t" r="r" b="b"/>
            <a:pathLst>
              <a:path w="34747" h="67190">
                <a:moveTo>
                  <a:pt x="0" y="0"/>
                </a:moveTo>
                <a:lnTo>
                  <a:pt x="34747" y="15984"/>
                </a:lnTo>
                <a:lnTo>
                  <a:pt x="34747" y="67190"/>
                </a:lnTo>
                <a:lnTo>
                  <a:pt x="0" y="51206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3981297" y="2194084"/>
            <a:ext cx="34747" cy="67190"/>
          </a:xfrm>
          <a:custGeom>
            <a:avLst/>
            <a:gdLst/>
            <a:ahLst/>
            <a:cxnLst/>
            <a:rect l="l" t="t" r="r" b="b"/>
            <a:pathLst>
              <a:path w="34747" h="67190">
                <a:moveTo>
                  <a:pt x="0" y="15984"/>
                </a:moveTo>
                <a:lnTo>
                  <a:pt x="34747" y="0"/>
                </a:lnTo>
                <a:lnTo>
                  <a:pt x="34747" y="51206"/>
                </a:lnTo>
                <a:lnTo>
                  <a:pt x="0" y="67190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3888028" y="2221992"/>
            <a:ext cx="69495" cy="31967"/>
          </a:xfrm>
          <a:custGeom>
            <a:avLst/>
            <a:gdLst/>
            <a:ahLst/>
            <a:cxnLst/>
            <a:rect l="l" t="t" r="r" b="b"/>
            <a:pathLst>
              <a:path w="69495" h="31967">
                <a:moveTo>
                  <a:pt x="0" y="15983"/>
                </a:moveTo>
                <a:lnTo>
                  <a:pt x="34748" y="0"/>
                </a:lnTo>
                <a:lnTo>
                  <a:pt x="69495" y="15983"/>
                </a:lnTo>
                <a:lnTo>
                  <a:pt x="34748" y="31967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3888028" y="2237975"/>
            <a:ext cx="34748" cy="67190"/>
          </a:xfrm>
          <a:custGeom>
            <a:avLst/>
            <a:gdLst/>
            <a:ahLst/>
            <a:cxnLst/>
            <a:rect l="l" t="t" r="r" b="b"/>
            <a:pathLst>
              <a:path w="34748" h="67190">
                <a:moveTo>
                  <a:pt x="0" y="0"/>
                </a:moveTo>
                <a:lnTo>
                  <a:pt x="34748" y="15984"/>
                </a:lnTo>
                <a:lnTo>
                  <a:pt x="34748" y="67190"/>
                </a:lnTo>
                <a:lnTo>
                  <a:pt x="0" y="51207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3922776" y="2237975"/>
            <a:ext cx="34747" cy="67190"/>
          </a:xfrm>
          <a:custGeom>
            <a:avLst/>
            <a:gdLst/>
            <a:ahLst/>
            <a:cxnLst/>
            <a:rect l="l" t="t" r="r" b="b"/>
            <a:pathLst>
              <a:path w="34747" h="67190">
                <a:moveTo>
                  <a:pt x="0" y="15984"/>
                </a:moveTo>
                <a:lnTo>
                  <a:pt x="34747" y="0"/>
                </a:lnTo>
                <a:lnTo>
                  <a:pt x="34747" y="51207"/>
                </a:lnTo>
                <a:lnTo>
                  <a:pt x="0" y="67190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97680" y="2075688"/>
            <a:ext cx="1883664" cy="42976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服务适配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749039" y="2871216"/>
            <a:ext cx="2432304" cy="25603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A9C8E2"/>
                </a:solidFill>
                <a:latin typeface="Noto Sans CJK SC"/>
                <a:ea typeface="Noto Sans CJK SC"/>
              </a:defRPr>
            </a:pPr>
            <a:r>
              <a:t>请求契约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749039" y="3236976"/>
            <a:ext cx="2432304" cy="33832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对象 / 用户身份 / 操作范围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749039" y="3712463"/>
            <a:ext cx="2432304" cy="25603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A9C8E2"/>
                </a:solidFill>
                <a:latin typeface="Noto Sans CJK SC"/>
                <a:ea typeface="Noto Sans CJK SC"/>
              </a:defRPr>
            </a:pPr>
            <a:r>
              <a:t>事实边界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749039" y="4078224"/>
            <a:ext cx="2432304" cy="33832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源版本 / 时点 / 覆盖范围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749039" y="4553712"/>
            <a:ext cx="2432304" cy="25603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A9C8E2"/>
                </a:solidFill>
                <a:latin typeface="Noto Sans CJK SC"/>
                <a:ea typeface="Noto Sans CJK SC"/>
              </a:defRPr>
            </a:pPr>
            <a:r>
              <a:t>过程控制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749039" y="4919472"/>
            <a:ext cx="2432304" cy="33832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权限 / 状态 / 异常 / 结果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2990088" y="2615184"/>
            <a:ext cx="457200" cy="0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H="1">
            <a:off x="3388821" y="2615184"/>
            <a:ext cx="58467" cy="35845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H="1" flipV="1">
            <a:off x="3388821" y="2579338"/>
            <a:ext cx="58467" cy="35846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2990088" y="4828032"/>
            <a:ext cx="457200" cy="0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>
            <a:off x="3388821" y="4828032"/>
            <a:ext cx="58467" cy="35845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H="1" flipV="1">
            <a:off x="3388821" y="4792186"/>
            <a:ext cx="58467" cy="35846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ounded Rectangle 94"/>
          <p:cNvSpPr/>
          <p:nvPr/>
        </p:nvSpPr>
        <p:spPr>
          <a:xfrm>
            <a:off x="8380476" y="1869948"/>
            <a:ext cx="3319272" cy="1078992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8357616" y="1837943"/>
            <a:ext cx="3319272" cy="10789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503920" y="1984248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613648" y="1920239"/>
            <a:ext cx="2926079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数据资产平台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540496" y="2395727"/>
            <a:ext cx="2953512" cy="420623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目录 / 指标定义 / 真实血缘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6483096" y="2377439"/>
            <a:ext cx="1828800" cy="0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8253429" y="2377439"/>
            <a:ext cx="58467" cy="35846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 flipV="1">
            <a:off x="8253429" y="2341594"/>
            <a:ext cx="58467" cy="35845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6611112" y="1975103"/>
            <a:ext cx="1545336" cy="25603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定义与元数据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611112" y="2596896"/>
            <a:ext cx="1545336" cy="20116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85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调用 → 结果返回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380476" y="3232404"/>
            <a:ext cx="3319272" cy="1078992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8357616" y="3200400"/>
            <a:ext cx="3319272" cy="10789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503920" y="3346704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613648" y="3282696"/>
            <a:ext cx="2926079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开发与质量平台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540496" y="3758184"/>
            <a:ext cx="2953512" cy="420623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草稿 / 调试 / 检查结果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6483096" y="3739896"/>
            <a:ext cx="1828800" cy="0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H="1">
            <a:off x="8253429" y="3739896"/>
            <a:ext cx="58467" cy="35845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 flipV="1">
            <a:off x="8253429" y="3704050"/>
            <a:ext cx="58467" cy="35846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6611112" y="3337560"/>
            <a:ext cx="1545336" cy="25603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代码与验证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11112" y="3959352"/>
            <a:ext cx="1545336" cy="20116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85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调用 → 结果返回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380476" y="4594860"/>
            <a:ext cx="3319272" cy="1078992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8357616" y="4562856"/>
            <a:ext cx="3319272" cy="10789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503920" y="4709160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613648" y="4645152"/>
            <a:ext cx="2926079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数据调度平台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540496" y="5120640"/>
            <a:ext cx="2953512" cy="420623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任务实例 / 状态 / 日志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6483096" y="5102352"/>
            <a:ext cx="1828800" cy="0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H="1">
            <a:off x="8253429" y="5102352"/>
            <a:ext cx="58467" cy="35845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H="1" flipV="1">
            <a:off x="8253429" y="5066506"/>
            <a:ext cx="58467" cy="35846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6611112" y="4700016"/>
            <a:ext cx="1545336" cy="25603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运行与诊断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611112" y="5321808"/>
            <a:ext cx="1545336" cy="20116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85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调用 → 结果返回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503920" y="5788152"/>
            <a:ext cx="3026664" cy="1645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血缘工具由资产平台汇聚后对外服务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461772" y="6112764"/>
            <a:ext cx="11247120" cy="33832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438912" y="6080760"/>
            <a:ext cx="11247120" cy="338328"/>
          </a:xfrm>
          <a:prstGeom prst="roundRect">
            <a:avLst>
              <a:gd name="adj" fmla="val 5500"/>
            </a:avLst>
          </a:prstGeom>
          <a:solidFill>
            <a:srgbClr val="EEF7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85216" y="6117336"/>
            <a:ext cx="10954512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调用和响应沿同一服务链路；实际权限由网关、数仓及执行平台强制落实，API/MCP按条件适配。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6346471"/>
            <a:ext cx="12191695" cy="235953"/>
          </a:xfrm>
          <a:custGeom>
            <a:avLst/>
            <a:gdLst/>
            <a:ahLst/>
            <a:cxnLst/>
            <a:rect l="l" t="t" r="r" b="b"/>
            <a:pathLst>
              <a:path w="12191695" h="235953">
                <a:moveTo>
                  <a:pt x="0" y="127481"/>
                </a:moveTo>
                <a:lnTo>
                  <a:pt x="135463" y="147046"/>
                </a:lnTo>
                <a:lnTo>
                  <a:pt x="270926" y="165914"/>
                </a:lnTo>
                <a:lnTo>
                  <a:pt x="406389" y="183426"/>
                </a:lnTo>
                <a:lnTo>
                  <a:pt x="541853" y="199000"/>
                </a:lnTo>
                <a:lnTo>
                  <a:pt x="677316" y="212159"/>
                </a:lnTo>
                <a:lnTo>
                  <a:pt x="812779" y="222557"/>
                </a:lnTo>
                <a:lnTo>
                  <a:pt x="948242" y="229995"/>
                </a:lnTo>
                <a:lnTo>
                  <a:pt x="1083706" y="234426"/>
                </a:lnTo>
                <a:lnTo>
                  <a:pt x="1219169" y="235953"/>
                </a:lnTo>
                <a:lnTo>
                  <a:pt x="1354632" y="234812"/>
                </a:lnTo>
                <a:lnTo>
                  <a:pt x="1490096" y="231352"/>
                </a:lnTo>
                <a:lnTo>
                  <a:pt x="1625559" y="226009"/>
                </a:lnTo>
                <a:lnTo>
                  <a:pt x="1761022" y="219267"/>
                </a:lnTo>
                <a:lnTo>
                  <a:pt x="1896485" y="211626"/>
                </a:lnTo>
                <a:lnTo>
                  <a:pt x="2031949" y="203564"/>
                </a:lnTo>
                <a:lnTo>
                  <a:pt x="2167412" y="195508"/>
                </a:lnTo>
                <a:lnTo>
                  <a:pt x="2302875" y="187800"/>
                </a:lnTo>
                <a:lnTo>
                  <a:pt x="2438339" y="180682"/>
                </a:lnTo>
                <a:lnTo>
                  <a:pt x="2573802" y="174280"/>
                </a:lnTo>
                <a:lnTo>
                  <a:pt x="2709265" y="168601"/>
                </a:lnTo>
                <a:lnTo>
                  <a:pt x="2844728" y="163541"/>
                </a:lnTo>
                <a:lnTo>
                  <a:pt x="2980192" y="158900"/>
                </a:lnTo>
                <a:lnTo>
                  <a:pt x="3115655" y="154402"/>
                </a:lnTo>
                <a:lnTo>
                  <a:pt x="3251118" y="149724"/>
                </a:lnTo>
                <a:lnTo>
                  <a:pt x="3386582" y="144534"/>
                </a:lnTo>
                <a:lnTo>
                  <a:pt x="3522045" y="138515"/>
                </a:lnTo>
                <a:lnTo>
                  <a:pt x="3657508" y="131408"/>
                </a:lnTo>
                <a:lnTo>
                  <a:pt x="3792971" y="123031"/>
                </a:lnTo>
                <a:lnTo>
                  <a:pt x="3928435" y="113309"/>
                </a:lnTo>
                <a:lnTo>
                  <a:pt x="4063898" y="102287"/>
                </a:lnTo>
                <a:lnTo>
                  <a:pt x="4199361" y="90138"/>
                </a:lnTo>
                <a:lnTo>
                  <a:pt x="4334824" y="77155"/>
                </a:lnTo>
                <a:lnTo>
                  <a:pt x="4470288" y="63745"/>
                </a:lnTo>
                <a:lnTo>
                  <a:pt x="4605751" y="50406"/>
                </a:lnTo>
                <a:lnTo>
                  <a:pt x="4741214" y="37696"/>
                </a:lnTo>
                <a:lnTo>
                  <a:pt x="4876678" y="26202"/>
                </a:lnTo>
                <a:lnTo>
                  <a:pt x="5012141" y="16503"/>
                </a:lnTo>
                <a:lnTo>
                  <a:pt x="5147604" y="9131"/>
                </a:lnTo>
                <a:lnTo>
                  <a:pt x="5283067" y="4538"/>
                </a:lnTo>
                <a:lnTo>
                  <a:pt x="5418531" y="3064"/>
                </a:lnTo>
                <a:lnTo>
                  <a:pt x="5553994" y="4912"/>
                </a:lnTo>
                <a:lnTo>
                  <a:pt x="5689457" y="10132"/>
                </a:lnTo>
                <a:lnTo>
                  <a:pt x="5824921" y="18617"/>
                </a:lnTo>
                <a:lnTo>
                  <a:pt x="5960384" y="30106"/>
                </a:lnTo>
                <a:lnTo>
                  <a:pt x="6095847" y="44193"/>
                </a:lnTo>
                <a:lnTo>
                  <a:pt x="6231310" y="60357"/>
                </a:lnTo>
                <a:lnTo>
                  <a:pt x="6366774" y="77984"/>
                </a:lnTo>
                <a:lnTo>
                  <a:pt x="6502237" y="96410"/>
                </a:lnTo>
                <a:lnTo>
                  <a:pt x="6637700" y="114953"/>
                </a:lnTo>
                <a:lnTo>
                  <a:pt x="6773164" y="132954"/>
                </a:lnTo>
                <a:lnTo>
                  <a:pt x="6908627" y="149814"/>
                </a:lnTo>
                <a:lnTo>
                  <a:pt x="7044090" y="165027"/>
                </a:lnTo>
                <a:lnTo>
                  <a:pt x="7179553" y="178204"/>
                </a:lnTo>
                <a:lnTo>
                  <a:pt x="7315017" y="189090"/>
                </a:lnTo>
                <a:lnTo>
                  <a:pt x="7450480" y="197574"/>
                </a:lnTo>
                <a:lnTo>
                  <a:pt x="7585943" y="203682"/>
                </a:lnTo>
                <a:lnTo>
                  <a:pt x="7721406" y="207573"/>
                </a:lnTo>
                <a:lnTo>
                  <a:pt x="7856870" y="209512"/>
                </a:lnTo>
                <a:lnTo>
                  <a:pt x="7992333" y="209848"/>
                </a:lnTo>
                <a:lnTo>
                  <a:pt x="8127796" y="208978"/>
                </a:lnTo>
                <a:lnTo>
                  <a:pt x="8263260" y="207316"/>
                </a:lnTo>
                <a:lnTo>
                  <a:pt x="8398723" y="205256"/>
                </a:lnTo>
                <a:lnTo>
                  <a:pt x="8534186" y="203141"/>
                </a:lnTo>
                <a:lnTo>
                  <a:pt x="8669649" y="201238"/>
                </a:lnTo>
                <a:lnTo>
                  <a:pt x="8805113" y="199711"/>
                </a:lnTo>
                <a:lnTo>
                  <a:pt x="8940576" y="198616"/>
                </a:lnTo>
                <a:lnTo>
                  <a:pt x="9076039" y="197894"/>
                </a:lnTo>
                <a:lnTo>
                  <a:pt x="9211503" y="197378"/>
                </a:lnTo>
                <a:lnTo>
                  <a:pt x="9346966" y="196808"/>
                </a:lnTo>
                <a:lnTo>
                  <a:pt x="9482429" y="195855"/>
                </a:lnTo>
                <a:lnTo>
                  <a:pt x="9617892" y="194147"/>
                </a:lnTo>
                <a:lnTo>
                  <a:pt x="9753356" y="191305"/>
                </a:lnTo>
                <a:lnTo>
                  <a:pt x="9888819" y="186977"/>
                </a:lnTo>
                <a:lnTo>
                  <a:pt x="10024282" y="180869"/>
                </a:lnTo>
                <a:lnTo>
                  <a:pt x="10159746" y="172776"/>
                </a:lnTo>
                <a:lnTo>
                  <a:pt x="10295209" y="162608"/>
                </a:lnTo>
                <a:lnTo>
                  <a:pt x="10430672" y="150402"/>
                </a:lnTo>
                <a:lnTo>
                  <a:pt x="10566135" y="136335"/>
                </a:lnTo>
                <a:lnTo>
                  <a:pt x="10701599" y="120717"/>
                </a:lnTo>
                <a:lnTo>
                  <a:pt x="10837062" y="103984"/>
                </a:lnTo>
                <a:lnTo>
                  <a:pt x="10972525" y="86673"/>
                </a:lnTo>
                <a:lnTo>
                  <a:pt x="11107988" y="69396"/>
                </a:lnTo>
                <a:lnTo>
                  <a:pt x="11243452" y="52806"/>
                </a:lnTo>
                <a:lnTo>
                  <a:pt x="11378915" y="37558"/>
                </a:lnTo>
                <a:lnTo>
                  <a:pt x="11514378" y="24274"/>
                </a:lnTo>
                <a:lnTo>
                  <a:pt x="11649842" y="13501"/>
                </a:lnTo>
                <a:lnTo>
                  <a:pt x="11785305" y="5683"/>
                </a:lnTo>
                <a:lnTo>
                  <a:pt x="11920768" y="1129"/>
                </a:lnTo>
                <a:lnTo>
                  <a:pt x="12056231" y="0"/>
                </a:lnTo>
                <a:lnTo>
                  <a:pt x="12191695" y="2300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6405649"/>
            <a:ext cx="12191695" cy="245182"/>
          </a:xfrm>
          <a:custGeom>
            <a:avLst/>
            <a:gdLst/>
            <a:ahLst/>
            <a:cxnLst/>
            <a:rect l="l" t="t" r="r" b="b"/>
            <a:pathLst>
              <a:path w="12191695" h="245182">
                <a:moveTo>
                  <a:pt x="0" y="150669"/>
                </a:moveTo>
                <a:lnTo>
                  <a:pt x="135463" y="169737"/>
                </a:lnTo>
                <a:lnTo>
                  <a:pt x="270926" y="187768"/>
                </a:lnTo>
                <a:lnTo>
                  <a:pt x="406389" y="204118"/>
                </a:lnTo>
                <a:lnTo>
                  <a:pt x="541853" y="218220"/>
                </a:lnTo>
                <a:lnTo>
                  <a:pt x="677316" y="229621"/>
                </a:lnTo>
                <a:lnTo>
                  <a:pt x="812779" y="238002"/>
                </a:lnTo>
                <a:lnTo>
                  <a:pt x="948242" y="243193"/>
                </a:lnTo>
                <a:lnTo>
                  <a:pt x="1083706" y="245182"/>
                </a:lnTo>
                <a:lnTo>
                  <a:pt x="1219169" y="244108"/>
                </a:lnTo>
                <a:lnTo>
                  <a:pt x="1354632" y="240247"/>
                </a:lnTo>
                <a:lnTo>
                  <a:pt x="1490096" y="233989"/>
                </a:lnTo>
                <a:lnTo>
                  <a:pt x="1625559" y="225812"/>
                </a:lnTo>
                <a:lnTo>
                  <a:pt x="1761022" y="216243"/>
                </a:lnTo>
                <a:lnTo>
                  <a:pt x="1896485" y="205824"/>
                </a:lnTo>
                <a:lnTo>
                  <a:pt x="2031949" y="195076"/>
                </a:lnTo>
                <a:lnTo>
                  <a:pt x="2167412" y="184466"/>
                </a:lnTo>
                <a:lnTo>
                  <a:pt x="2302875" y="174375"/>
                </a:lnTo>
                <a:lnTo>
                  <a:pt x="2438339" y="165080"/>
                </a:lnTo>
                <a:lnTo>
                  <a:pt x="2573802" y="156740"/>
                </a:lnTo>
                <a:lnTo>
                  <a:pt x="2709265" y="149392"/>
                </a:lnTo>
                <a:lnTo>
                  <a:pt x="2844728" y="142958"/>
                </a:lnTo>
                <a:lnTo>
                  <a:pt x="2980192" y="137257"/>
                </a:lnTo>
                <a:lnTo>
                  <a:pt x="3115655" y="132030"/>
                </a:lnTo>
                <a:lnTo>
                  <a:pt x="3251118" y="126965"/>
                </a:lnTo>
                <a:lnTo>
                  <a:pt x="3386582" y="121734"/>
                </a:lnTo>
                <a:lnTo>
                  <a:pt x="3522045" y="116024"/>
                </a:lnTo>
                <a:lnTo>
                  <a:pt x="3657508" y="109568"/>
                </a:lnTo>
                <a:lnTo>
                  <a:pt x="3792971" y="102177"/>
                </a:lnTo>
                <a:lnTo>
                  <a:pt x="3928435" y="93759"/>
                </a:lnTo>
                <a:lnTo>
                  <a:pt x="4063898" y="84341"/>
                </a:lnTo>
                <a:lnTo>
                  <a:pt x="4199361" y="74069"/>
                </a:lnTo>
                <a:lnTo>
                  <a:pt x="4334824" y="63211"/>
                </a:lnTo>
                <a:lnTo>
                  <a:pt x="4470288" y="52141"/>
                </a:lnTo>
                <a:lnTo>
                  <a:pt x="4605751" y="41320"/>
                </a:lnTo>
                <a:lnTo>
                  <a:pt x="4741214" y="31269"/>
                </a:lnTo>
                <a:lnTo>
                  <a:pt x="4876678" y="22536"/>
                </a:lnTo>
                <a:lnTo>
                  <a:pt x="5012141" y="15656"/>
                </a:lnTo>
                <a:lnTo>
                  <a:pt x="5147604" y="11120"/>
                </a:lnTo>
                <a:lnTo>
                  <a:pt x="5283067" y="9338"/>
                </a:lnTo>
                <a:lnTo>
                  <a:pt x="5418531" y="10605"/>
                </a:lnTo>
                <a:lnTo>
                  <a:pt x="5553994" y="15085"/>
                </a:lnTo>
                <a:lnTo>
                  <a:pt x="5689457" y="22787"/>
                </a:lnTo>
                <a:lnTo>
                  <a:pt x="5824921" y="33567"/>
                </a:lnTo>
                <a:lnTo>
                  <a:pt x="5960384" y="47128"/>
                </a:lnTo>
                <a:lnTo>
                  <a:pt x="6095847" y="63035"/>
                </a:lnTo>
                <a:lnTo>
                  <a:pt x="6231310" y="80738"/>
                </a:lnTo>
                <a:lnTo>
                  <a:pt x="6366774" y="99601"/>
                </a:lnTo>
                <a:lnTo>
                  <a:pt x="6502237" y="118939"/>
                </a:lnTo>
                <a:lnTo>
                  <a:pt x="6637700" y="138058"/>
                </a:lnTo>
                <a:lnTo>
                  <a:pt x="6773164" y="156290"/>
                </a:lnTo>
                <a:lnTo>
                  <a:pt x="6908627" y="173034"/>
                </a:lnTo>
                <a:lnTo>
                  <a:pt x="7044090" y="187783"/>
                </a:lnTo>
                <a:lnTo>
                  <a:pt x="7179553" y="200156"/>
                </a:lnTo>
                <a:lnTo>
                  <a:pt x="7315017" y="209912"/>
                </a:lnTo>
                <a:lnTo>
                  <a:pt x="7450480" y="216953"/>
                </a:lnTo>
                <a:lnTo>
                  <a:pt x="7585943" y="221331"/>
                </a:lnTo>
                <a:lnTo>
                  <a:pt x="7721406" y="223229"/>
                </a:lnTo>
                <a:lnTo>
                  <a:pt x="7856870" y="222943"/>
                </a:lnTo>
                <a:lnTo>
                  <a:pt x="7992333" y="220854"/>
                </a:lnTo>
                <a:lnTo>
                  <a:pt x="8127796" y="217398"/>
                </a:lnTo>
                <a:lnTo>
                  <a:pt x="8263260" y="213025"/>
                </a:lnTo>
                <a:lnTo>
                  <a:pt x="8398723" y="208173"/>
                </a:lnTo>
                <a:lnTo>
                  <a:pt x="8534186" y="203226"/>
                </a:lnTo>
                <a:lnTo>
                  <a:pt x="8669649" y="198493"/>
                </a:lnTo>
                <a:lnTo>
                  <a:pt x="8805113" y="194182"/>
                </a:lnTo>
                <a:lnTo>
                  <a:pt x="8940576" y="190390"/>
                </a:lnTo>
                <a:lnTo>
                  <a:pt x="9076039" y="187099"/>
                </a:lnTo>
                <a:lnTo>
                  <a:pt x="9211503" y="184181"/>
                </a:lnTo>
                <a:lnTo>
                  <a:pt x="9346966" y="181412"/>
                </a:lnTo>
                <a:lnTo>
                  <a:pt x="9482429" y="178496"/>
                </a:lnTo>
                <a:lnTo>
                  <a:pt x="9617892" y="175092"/>
                </a:lnTo>
                <a:lnTo>
                  <a:pt x="9753356" y="170845"/>
                </a:lnTo>
                <a:lnTo>
                  <a:pt x="9888819" y="165425"/>
                </a:lnTo>
                <a:lnTo>
                  <a:pt x="10024282" y="158555"/>
                </a:lnTo>
                <a:lnTo>
                  <a:pt x="10159746" y="150040"/>
                </a:lnTo>
                <a:lnTo>
                  <a:pt x="10295209" y="139797"/>
                </a:lnTo>
                <a:lnTo>
                  <a:pt x="10430672" y="127865"/>
                </a:lnTo>
                <a:lnTo>
                  <a:pt x="10566135" y="114415"/>
                </a:lnTo>
                <a:lnTo>
                  <a:pt x="10701599" y="99751"/>
                </a:lnTo>
                <a:lnTo>
                  <a:pt x="10837062" y="84291"/>
                </a:lnTo>
                <a:lnTo>
                  <a:pt x="10972525" y="68554"/>
                </a:lnTo>
                <a:lnTo>
                  <a:pt x="11107988" y="53129"/>
                </a:lnTo>
                <a:lnTo>
                  <a:pt x="11243452" y="38641"/>
                </a:lnTo>
                <a:lnTo>
                  <a:pt x="11378915" y="25713"/>
                </a:lnTo>
                <a:lnTo>
                  <a:pt x="11514378" y="14931"/>
                </a:lnTo>
                <a:lnTo>
                  <a:pt x="11649842" y="6805"/>
                </a:lnTo>
                <a:lnTo>
                  <a:pt x="11785305" y="1738"/>
                </a:lnTo>
                <a:lnTo>
                  <a:pt x="11920768" y="0"/>
                </a:lnTo>
                <a:lnTo>
                  <a:pt x="12056231" y="1708"/>
                </a:lnTo>
                <a:lnTo>
                  <a:pt x="12191695" y="6822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6467906"/>
            <a:ext cx="12191695" cy="248613"/>
          </a:xfrm>
          <a:custGeom>
            <a:avLst/>
            <a:gdLst/>
            <a:ahLst/>
            <a:cxnLst/>
            <a:rect l="l" t="t" r="r" b="b"/>
            <a:pathLst>
              <a:path w="12191695" h="248613">
                <a:moveTo>
                  <a:pt x="0" y="169572"/>
                </a:moveTo>
                <a:lnTo>
                  <a:pt x="135463" y="187517"/>
                </a:lnTo>
                <a:lnTo>
                  <a:pt x="270926" y="204116"/>
                </a:lnTo>
                <a:lnTo>
                  <a:pt x="406389" y="218744"/>
                </a:lnTo>
                <a:lnTo>
                  <a:pt x="541853" y="230861"/>
                </a:lnTo>
                <a:lnTo>
                  <a:pt x="677316" y="240043"/>
                </a:lnTo>
                <a:lnTo>
                  <a:pt x="812779" y="246004"/>
                </a:lnTo>
                <a:lnTo>
                  <a:pt x="948242" y="248613"/>
                </a:lnTo>
                <a:lnTo>
                  <a:pt x="1083706" y="247896"/>
                </a:lnTo>
                <a:lnTo>
                  <a:pt x="1219169" y="244031"/>
                </a:lnTo>
                <a:lnTo>
                  <a:pt x="1354632" y="237338"/>
                </a:lnTo>
                <a:lnTo>
                  <a:pt x="1490096" y="228250"/>
                </a:lnTo>
                <a:lnTo>
                  <a:pt x="1625559" y="217286"/>
                </a:lnTo>
                <a:lnTo>
                  <a:pt x="1761022" y="205017"/>
                </a:lnTo>
                <a:lnTo>
                  <a:pt x="1896485" y="192024"/>
                </a:lnTo>
                <a:lnTo>
                  <a:pt x="2031949" y="178869"/>
                </a:lnTo>
                <a:lnTo>
                  <a:pt x="2167412" y="166053"/>
                </a:lnTo>
                <a:lnTo>
                  <a:pt x="2302875" y="153992"/>
                </a:lnTo>
                <a:lnTo>
                  <a:pt x="2438339" y="142992"/>
                </a:lnTo>
                <a:lnTo>
                  <a:pt x="2573802" y="133239"/>
                </a:lnTo>
                <a:lnTo>
                  <a:pt x="2709265" y="124790"/>
                </a:lnTo>
                <a:lnTo>
                  <a:pt x="2844728" y="117583"/>
                </a:lnTo>
                <a:lnTo>
                  <a:pt x="2980192" y="111449"/>
                </a:lnTo>
                <a:lnTo>
                  <a:pt x="3115655" y="106137"/>
                </a:lnTo>
                <a:lnTo>
                  <a:pt x="3251118" y="101335"/>
                </a:lnTo>
                <a:lnTo>
                  <a:pt x="3386582" y="96713"/>
                </a:lnTo>
                <a:lnTo>
                  <a:pt x="3522045" y="91945"/>
                </a:lnTo>
                <a:lnTo>
                  <a:pt x="3657508" y="86753"/>
                </a:lnTo>
                <a:lnTo>
                  <a:pt x="3792971" y="80928"/>
                </a:lnTo>
                <a:lnTo>
                  <a:pt x="3928435" y="74354"/>
                </a:lnTo>
                <a:lnTo>
                  <a:pt x="4063898" y="67031"/>
                </a:lnTo>
                <a:lnTo>
                  <a:pt x="4199361" y="59072"/>
                </a:lnTo>
                <a:lnTo>
                  <a:pt x="4334824" y="50711"/>
                </a:lnTo>
                <a:lnTo>
                  <a:pt x="4470288" y="42285"/>
                </a:lnTo>
                <a:lnTo>
                  <a:pt x="4605751" y="34213"/>
                </a:lnTo>
                <a:lnTo>
                  <a:pt x="4741214" y="26977"/>
                </a:lnTo>
                <a:lnTo>
                  <a:pt x="4876678" y="21080"/>
                </a:lnTo>
                <a:lnTo>
                  <a:pt x="5012141" y="17016"/>
                </a:lnTo>
                <a:lnTo>
                  <a:pt x="5147604" y="15233"/>
                </a:lnTo>
                <a:lnTo>
                  <a:pt x="5283067" y="16099"/>
                </a:lnTo>
                <a:lnTo>
                  <a:pt x="5418531" y="19870"/>
                </a:lnTo>
                <a:lnTo>
                  <a:pt x="5553994" y="26670"/>
                </a:lnTo>
                <a:lnTo>
                  <a:pt x="5689457" y="36475"/>
                </a:lnTo>
                <a:lnTo>
                  <a:pt x="5824921" y="49109"/>
                </a:lnTo>
                <a:lnTo>
                  <a:pt x="5960384" y="64247"/>
                </a:lnTo>
                <a:lnTo>
                  <a:pt x="6095847" y="81430"/>
                </a:lnTo>
                <a:lnTo>
                  <a:pt x="6231310" y="100088"/>
                </a:lnTo>
                <a:lnTo>
                  <a:pt x="6366774" y="119571"/>
                </a:lnTo>
                <a:lnTo>
                  <a:pt x="6502237" y="139187"/>
                </a:lnTo>
                <a:lnTo>
                  <a:pt x="6637700" y="158234"/>
                </a:lnTo>
                <a:lnTo>
                  <a:pt x="6773164" y="176047"/>
                </a:lnTo>
                <a:lnTo>
                  <a:pt x="6908627" y="192030"/>
                </a:lnTo>
                <a:lnTo>
                  <a:pt x="7044090" y="205690"/>
                </a:lnTo>
                <a:lnTo>
                  <a:pt x="7179553" y="216660"/>
                </a:lnTo>
                <a:lnTo>
                  <a:pt x="7315017" y="224721"/>
                </a:lnTo>
                <a:lnTo>
                  <a:pt x="7450480" y="229802"/>
                </a:lnTo>
                <a:lnTo>
                  <a:pt x="7585943" y="231983"/>
                </a:lnTo>
                <a:lnTo>
                  <a:pt x="7721406" y="231480"/>
                </a:lnTo>
                <a:lnTo>
                  <a:pt x="7856870" y="228626"/>
                </a:lnTo>
                <a:lnTo>
                  <a:pt x="7992333" y="223841"/>
                </a:lnTo>
                <a:lnTo>
                  <a:pt x="8127796" y="217601"/>
                </a:lnTo>
                <a:lnTo>
                  <a:pt x="8263260" y="210399"/>
                </a:lnTo>
                <a:lnTo>
                  <a:pt x="8398723" y="202714"/>
                </a:lnTo>
                <a:lnTo>
                  <a:pt x="8534186" y="194975"/>
                </a:lnTo>
                <a:lnTo>
                  <a:pt x="8669649" y="187531"/>
                </a:lnTo>
                <a:lnTo>
                  <a:pt x="8805113" y="180631"/>
                </a:lnTo>
                <a:lnTo>
                  <a:pt x="8940576" y="174414"/>
                </a:lnTo>
                <a:lnTo>
                  <a:pt x="9076039" y="168896"/>
                </a:lnTo>
                <a:lnTo>
                  <a:pt x="9211503" y="163983"/>
                </a:lnTo>
                <a:lnTo>
                  <a:pt x="9346966" y="159481"/>
                </a:lnTo>
                <a:lnTo>
                  <a:pt x="9482429" y="155122"/>
                </a:lnTo>
                <a:lnTo>
                  <a:pt x="9617892" y="150584"/>
                </a:lnTo>
                <a:lnTo>
                  <a:pt x="9753356" y="145531"/>
                </a:lnTo>
                <a:lnTo>
                  <a:pt x="9888819" y="139645"/>
                </a:lnTo>
                <a:lnTo>
                  <a:pt x="10024282" y="132654"/>
                </a:lnTo>
                <a:lnTo>
                  <a:pt x="10159746" y="124369"/>
                </a:lnTo>
                <a:lnTo>
                  <a:pt x="10295209" y="114699"/>
                </a:lnTo>
                <a:lnTo>
                  <a:pt x="10430672" y="103677"/>
                </a:lnTo>
                <a:lnTo>
                  <a:pt x="10566135" y="91461"/>
                </a:lnTo>
                <a:lnTo>
                  <a:pt x="10701599" y="78333"/>
                </a:lnTo>
                <a:lnTo>
                  <a:pt x="10837062" y="64691"/>
                </a:lnTo>
                <a:lnTo>
                  <a:pt x="10972525" y="51025"/>
                </a:lnTo>
                <a:lnTo>
                  <a:pt x="11107988" y="37893"/>
                </a:lnTo>
                <a:lnTo>
                  <a:pt x="11243452" y="25885"/>
                </a:lnTo>
                <a:lnTo>
                  <a:pt x="11378915" y="15588"/>
                </a:lnTo>
                <a:lnTo>
                  <a:pt x="11514378" y="7547"/>
                </a:lnTo>
                <a:lnTo>
                  <a:pt x="11649842" y="2231"/>
                </a:lnTo>
                <a:lnTo>
                  <a:pt x="11785305" y="0"/>
                </a:lnTo>
                <a:lnTo>
                  <a:pt x="11920768" y="1082"/>
                </a:lnTo>
                <a:lnTo>
                  <a:pt x="12056231" y="5551"/>
                </a:lnTo>
                <a:lnTo>
                  <a:pt x="12191695" y="13326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0" y="6533113"/>
            <a:ext cx="12191695" cy="246124"/>
          </a:xfrm>
          <a:custGeom>
            <a:avLst/>
            <a:gdLst/>
            <a:ahLst/>
            <a:cxnLst/>
            <a:rect l="l" t="t" r="r" b="b"/>
            <a:pathLst>
              <a:path w="12191695" h="246124">
                <a:moveTo>
                  <a:pt x="0" y="183172"/>
                </a:moveTo>
                <a:lnTo>
                  <a:pt x="135463" y="199432"/>
                </a:lnTo>
                <a:lnTo>
                  <a:pt x="270926" y="214077"/>
                </a:lnTo>
                <a:lnTo>
                  <a:pt x="406389" y="226514"/>
                </a:lnTo>
                <a:lnTo>
                  <a:pt x="541853" y="236236"/>
                </a:lnTo>
                <a:lnTo>
                  <a:pt x="677316" y="242855"/>
                </a:lnTo>
                <a:lnTo>
                  <a:pt x="812779" y="246124"/>
                </a:lnTo>
                <a:lnTo>
                  <a:pt x="948242" y="245951"/>
                </a:lnTo>
                <a:lnTo>
                  <a:pt x="1083706" y="242404"/>
                </a:lnTo>
                <a:lnTo>
                  <a:pt x="1219169" y="235707"/>
                </a:lnTo>
                <a:lnTo>
                  <a:pt x="1354632" y="226219"/>
                </a:lnTo>
                <a:lnTo>
                  <a:pt x="1490096" y="214417"/>
                </a:lnTo>
                <a:lnTo>
                  <a:pt x="1625559" y="200862"/>
                </a:lnTo>
                <a:lnTo>
                  <a:pt x="1761022" y="186161"/>
                </a:lnTo>
                <a:lnTo>
                  <a:pt x="1896485" y="170935"/>
                </a:lnTo>
                <a:lnTo>
                  <a:pt x="2031949" y="155777"/>
                </a:lnTo>
                <a:lnTo>
                  <a:pt x="2167412" y="141221"/>
                </a:lnTo>
                <a:lnTo>
                  <a:pt x="2302875" y="127707"/>
                </a:lnTo>
                <a:lnTo>
                  <a:pt x="2438339" y="115564"/>
                </a:lnTo>
                <a:lnTo>
                  <a:pt x="2573802" y="104994"/>
                </a:lnTo>
                <a:lnTo>
                  <a:pt x="2709265" y="96068"/>
                </a:lnTo>
                <a:lnTo>
                  <a:pt x="2844728" y="88731"/>
                </a:lnTo>
                <a:lnTo>
                  <a:pt x="2980192" y="82816"/>
                </a:lnTo>
                <a:lnTo>
                  <a:pt x="3115655" y="78067"/>
                </a:lnTo>
                <a:lnTo>
                  <a:pt x="3251118" y="74166"/>
                </a:lnTo>
                <a:lnTo>
                  <a:pt x="3386582" y="70766"/>
                </a:lnTo>
                <a:lnTo>
                  <a:pt x="3522045" y="67527"/>
                </a:lnTo>
                <a:lnTo>
                  <a:pt x="3657508" y="64145"/>
                </a:lnTo>
                <a:lnTo>
                  <a:pt x="3792971" y="60383"/>
                </a:lnTo>
                <a:lnTo>
                  <a:pt x="3928435" y="56096"/>
                </a:lnTo>
                <a:lnTo>
                  <a:pt x="4063898" y="51248"/>
                </a:lnTo>
                <a:lnTo>
                  <a:pt x="4199361" y="45917"/>
                </a:lnTo>
                <a:lnTo>
                  <a:pt x="4334824" y="40294"/>
                </a:lnTo>
                <a:lnTo>
                  <a:pt x="4470288" y="34675"/>
                </a:lnTo>
                <a:lnTo>
                  <a:pt x="4605751" y="29440"/>
                </a:lnTo>
                <a:lnTo>
                  <a:pt x="4741214" y="25025"/>
                </a:lnTo>
                <a:lnTo>
                  <a:pt x="4876678" y="21891"/>
                </a:lnTo>
                <a:lnTo>
                  <a:pt x="5012141" y="20491"/>
                </a:lnTo>
                <a:lnTo>
                  <a:pt x="5147604" y="21233"/>
                </a:lnTo>
                <a:lnTo>
                  <a:pt x="5283067" y="24445"/>
                </a:lnTo>
                <a:lnTo>
                  <a:pt x="5418531" y="30349"/>
                </a:lnTo>
                <a:lnTo>
                  <a:pt x="5553994" y="39037"/>
                </a:lnTo>
                <a:lnTo>
                  <a:pt x="5689457" y="50457"/>
                </a:lnTo>
                <a:lnTo>
                  <a:pt x="5824921" y="64407"/>
                </a:lnTo>
                <a:lnTo>
                  <a:pt x="5960384" y="80543"/>
                </a:lnTo>
                <a:lnTo>
                  <a:pt x="6095847" y="98390"/>
                </a:lnTo>
                <a:lnTo>
                  <a:pt x="6231310" y="117369"/>
                </a:lnTo>
                <a:lnTo>
                  <a:pt x="6366774" y="136826"/>
                </a:lnTo>
                <a:lnTo>
                  <a:pt x="6502237" y="156066"/>
                </a:lnTo>
                <a:lnTo>
                  <a:pt x="6637700" y="174397"/>
                </a:lnTo>
                <a:lnTo>
                  <a:pt x="6773164" y="191162"/>
                </a:lnTo>
                <a:lnTo>
                  <a:pt x="6908627" y="205782"/>
                </a:lnTo>
                <a:lnTo>
                  <a:pt x="7044090" y="217784"/>
                </a:lnTo>
                <a:lnTo>
                  <a:pt x="7179553" y="226827"/>
                </a:lnTo>
                <a:lnTo>
                  <a:pt x="7315017" y="232720"/>
                </a:lnTo>
                <a:lnTo>
                  <a:pt x="7450480" y="235424"/>
                </a:lnTo>
                <a:lnTo>
                  <a:pt x="7585943" y="235057"/>
                </a:lnTo>
                <a:lnTo>
                  <a:pt x="7721406" y="231872"/>
                </a:lnTo>
                <a:lnTo>
                  <a:pt x="7856870" y="226244"/>
                </a:lnTo>
                <a:lnTo>
                  <a:pt x="7992333" y="218632"/>
                </a:lnTo>
                <a:lnTo>
                  <a:pt x="8127796" y="209557"/>
                </a:lnTo>
                <a:lnTo>
                  <a:pt x="8263260" y="199555"/>
                </a:lnTo>
                <a:lnTo>
                  <a:pt x="8398723" y="189147"/>
                </a:lnTo>
                <a:lnTo>
                  <a:pt x="8534186" y="178801"/>
                </a:lnTo>
                <a:lnTo>
                  <a:pt x="8669649" y="168908"/>
                </a:lnTo>
                <a:lnTo>
                  <a:pt x="8805113" y="159754"/>
                </a:lnTo>
                <a:lnTo>
                  <a:pt x="8940576" y="151510"/>
                </a:lnTo>
                <a:lnTo>
                  <a:pt x="9076039" y="144224"/>
                </a:lnTo>
                <a:lnTo>
                  <a:pt x="9211503" y="137828"/>
                </a:lnTo>
                <a:lnTo>
                  <a:pt x="9346966" y="132152"/>
                </a:lnTo>
                <a:lnTo>
                  <a:pt x="9482429" y="126943"/>
                </a:lnTo>
                <a:lnTo>
                  <a:pt x="9617892" y="121894"/>
                </a:lnTo>
                <a:lnTo>
                  <a:pt x="9753356" y="116677"/>
                </a:lnTo>
                <a:lnTo>
                  <a:pt x="9888819" y="110975"/>
                </a:lnTo>
                <a:lnTo>
                  <a:pt x="10024282" y="104513"/>
                </a:lnTo>
                <a:lnTo>
                  <a:pt x="10159746" y="97095"/>
                </a:lnTo>
                <a:lnTo>
                  <a:pt x="10295209" y="88617"/>
                </a:lnTo>
                <a:lnTo>
                  <a:pt x="10430672" y="79094"/>
                </a:lnTo>
                <a:lnTo>
                  <a:pt x="10566135" y="68661"/>
                </a:lnTo>
                <a:lnTo>
                  <a:pt x="10701599" y="57573"/>
                </a:lnTo>
                <a:lnTo>
                  <a:pt x="10837062" y="46197"/>
                </a:lnTo>
                <a:lnTo>
                  <a:pt x="10972525" y="34990"/>
                </a:lnTo>
                <a:lnTo>
                  <a:pt x="11107988" y="24471"/>
                </a:lnTo>
                <a:lnTo>
                  <a:pt x="11243452" y="15192"/>
                </a:lnTo>
                <a:lnTo>
                  <a:pt x="11378915" y="7698"/>
                </a:lnTo>
                <a:lnTo>
                  <a:pt x="11514378" y="2492"/>
                </a:lnTo>
                <a:lnTo>
                  <a:pt x="11649842" y="0"/>
                </a:lnTo>
                <a:lnTo>
                  <a:pt x="11785305" y="541"/>
                </a:lnTo>
                <a:lnTo>
                  <a:pt x="11920768" y="4298"/>
                </a:lnTo>
                <a:lnTo>
                  <a:pt x="12056231" y="11307"/>
                </a:lnTo>
                <a:lnTo>
                  <a:pt x="12191695" y="21447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0" y="6600998"/>
            <a:ext cx="12191695" cy="238322"/>
          </a:xfrm>
          <a:custGeom>
            <a:avLst/>
            <a:gdLst/>
            <a:ahLst/>
            <a:cxnLst/>
            <a:rect l="l" t="t" r="r" b="b"/>
            <a:pathLst>
              <a:path w="12191695" h="238322">
                <a:moveTo>
                  <a:pt x="0" y="190722"/>
                </a:moveTo>
                <a:lnTo>
                  <a:pt x="135463" y="204821"/>
                </a:lnTo>
                <a:lnTo>
                  <a:pt x="270926" y="217096"/>
                </a:lnTo>
                <a:lnTo>
                  <a:pt x="406389" y="226989"/>
                </a:lnTo>
                <a:lnTo>
                  <a:pt x="541853" y="234032"/>
                </a:lnTo>
                <a:lnTo>
                  <a:pt x="677316" y="237878"/>
                </a:lnTo>
                <a:lnTo>
                  <a:pt x="812779" y="238322"/>
                </a:lnTo>
                <a:lnTo>
                  <a:pt x="948242" y="235314"/>
                </a:lnTo>
                <a:lnTo>
                  <a:pt x="1083706" y="228966"/>
                </a:lnTo>
                <a:lnTo>
                  <a:pt x="1219169" y="219541"/>
                </a:lnTo>
                <a:lnTo>
                  <a:pt x="1354632" y="207444"/>
                </a:lnTo>
                <a:lnTo>
                  <a:pt x="1490096" y="193188"/>
                </a:lnTo>
                <a:lnTo>
                  <a:pt x="1625559" y="177371"/>
                </a:lnTo>
                <a:lnTo>
                  <a:pt x="1761022" y="160636"/>
                </a:lnTo>
                <a:lnTo>
                  <a:pt x="1896485" y="143634"/>
                </a:lnTo>
                <a:lnTo>
                  <a:pt x="2031949" y="126985"/>
                </a:lnTo>
                <a:lnTo>
                  <a:pt x="2167412" y="111244"/>
                </a:lnTo>
                <a:lnTo>
                  <a:pt x="2302875" y="96871"/>
                </a:lnTo>
                <a:lnTo>
                  <a:pt x="2438339" y="84207"/>
                </a:lnTo>
                <a:lnTo>
                  <a:pt x="2573802" y="73462"/>
                </a:lnTo>
                <a:lnTo>
                  <a:pt x="2709265" y="64709"/>
                </a:lnTo>
                <a:lnTo>
                  <a:pt x="2844728" y="57891"/>
                </a:lnTo>
                <a:lnTo>
                  <a:pt x="2980192" y="52834"/>
                </a:lnTo>
                <a:lnTo>
                  <a:pt x="3115655" y="49267"/>
                </a:lnTo>
                <a:lnTo>
                  <a:pt x="3251118" y="46856"/>
                </a:lnTo>
                <a:lnTo>
                  <a:pt x="3386582" y="45231"/>
                </a:lnTo>
                <a:lnTo>
                  <a:pt x="3522045" y="44024"/>
                </a:lnTo>
                <a:lnTo>
                  <a:pt x="3657508" y="42902"/>
                </a:lnTo>
                <a:lnTo>
                  <a:pt x="3792971" y="41593"/>
                </a:lnTo>
                <a:lnTo>
                  <a:pt x="3928435" y="39916"/>
                </a:lnTo>
                <a:lnTo>
                  <a:pt x="4063898" y="37794"/>
                </a:lnTo>
                <a:lnTo>
                  <a:pt x="4199361" y="35264"/>
                </a:lnTo>
                <a:lnTo>
                  <a:pt x="4334824" y="32476"/>
                </a:lnTo>
                <a:lnTo>
                  <a:pt x="4470288" y="29683"/>
                </a:lnTo>
                <a:lnTo>
                  <a:pt x="4605751" y="27220"/>
                </a:lnTo>
                <a:lnTo>
                  <a:pt x="4741214" y="25484"/>
                </a:lnTo>
                <a:lnTo>
                  <a:pt x="4876678" y="24895"/>
                </a:lnTo>
                <a:lnTo>
                  <a:pt x="5012141" y="25867"/>
                </a:lnTo>
                <a:lnTo>
                  <a:pt x="5147604" y="28771"/>
                </a:lnTo>
                <a:lnTo>
                  <a:pt x="5283067" y="33905"/>
                </a:lnTo>
                <a:lnTo>
                  <a:pt x="5418531" y="41460"/>
                </a:lnTo>
                <a:lnTo>
                  <a:pt x="5553994" y="51504"/>
                </a:lnTo>
                <a:lnTo>
                  <a:pt x="5689457" y="63964"/>
                </a:lnTo>
                <a:lnTo>
                  <a:pt x="5824921" y="78622"/>
                </a:lnTo>
                <a:lnTo>
                  <a:pt x="5960384" y="95124"/>
                </a:lnTo>
                <a:lnTo>
                  <a:pt x="6095847" y="112989"/>
                </a:lnTo>
                <a:lnTo>
                  <a:pt x="6231310" y="131639"/>
                </a:lnTo>
                <a:lnTo>
                  <a:pt x="6366774" y="150423"/>
                </a:lnTo>
                <a:lnTo>
                  <a:pt x="6502237" y="168658"/>
                </a:lnTo>
                <a:lnTo>
                  <a:pt x="6637700" y="185665"/>
                </a:lnTo>
                <a:lnTo>
                  <a:pt x="6773164" y="200809"/>
                </a:lnTo>
                <a:lnTo>
                  <a:pt x="6908627" y="213535"/>
                </a:lnTo>
                <a:lnTo>
                  <a:pt x="7044090" y="223398"/>
                </a:lnTo>
                <a:lnTo>
                  <a:pt x="7179553" y="230090"/>
                </a:lnTo>
                <a:lnTo>
                  <a:pt x="7315017" y="233454"/>
                </a:lnTo>
                <a:lnTo>
                  <a:pt x="7450480" y="233492"/>
                </a:lnTo>
                <a:lnTo>
                  <a:pt x="7585943" y="230359"/>
                </a:lnTo>
                <a:lnTo>
                  <a:pt x="7721406" y="224353"/>
                </a:lnTo>
                <a:lnTo>
                  <a:pt x="7856870" y="215888"/>
                </a:lnTo>
                <a:lnTo>
                  <a:pt x="7992333" y="205470"/>
                </a:lnTo>
                <a:lnTo>
                  <a:pt x="8127796" y="193658"/>
                </a:lnTo>
                <a:lnTo>
                  <a:pt x="8263260" y="181033"/>
                </a:lnTo>
                <a:lnTo>
                  <a:pt x="8398723" y="168153"/>
                </a:lnTo>
                <a:lnTo>
                  <a:pt x="8534186" y="155526"/>
                </a:lnTo>
                <a:lnTo>
                  <a:pt x="8669649" y="143575"/>
                </a:lnTo>
                <a:lnTo>
                  <a:pt x="8805113" y="132618"/>
                </a:lnTo>
                <a:lnTo>
                  <a:pt x="8940576" y="122852"/>
                </a:lnTo>
                <a:lnTo>
                  <a:pt x="9076039" y="114351"/>
                </a:lnTo>
                <a:lnTo>
                  <a:pt x="9211503" y="107063"/>
                </a:lnTo>
                <a:lnTo>
                  <a:pt x="9346966" y="100832"/>
                </a:lnTo>
                <a:lnTo>
                  <a:pt x="9482429" y="95413"/>
                </a:lnTo>
                <a:lnTo>
                  <a:pt x="9617892" y="90502"/>
                </a:lnTo>
                <a:lnTo>
                  <a:pt x="9753356" y="85770"/>
                </a:lnTo>
                <a:lnTo>
                  <a:pt x="9888819" y="80892"/>
                </a:lnTo>
                <a:lnTo>
                  <a:pt x="10024282" y="75582"/>
                </a:lnTo>
                <a:lnTo>
                  <a:pt x="10159746" y="69623"/>
                </a:lnTo>
                <a:lnTo>
                  <a:pt x="10295209" y="62893"/>
                </a:lnTo>
                <a:lnTo>
                  <a:pt x="10430672" y="55378"/>
                </a:lnTo>
                <a:lnTo>
                  <a:pt x="10566135" y="47183"/>
                </a:lnTo>
                <a:lnTo>
                  <a:pt x="10701599" y="38531"/>
                </a:lnTo>
                <a:lnTo>
                  <a:pt x="10837062" y="29751"/>
                </a:lnTo>
                <a:lnTo>
                  <a:pt x="10972525" y="21260"/>
                </a:lnTo>
                <a:lnTo>
                  <a:pt x="11107988" y="13537"/>
                </a:lnTo>
                <a:lnTo>
                  <a:pt x="11243452" y="7091"/>
                </a:lnTo>
                <a:lnTo>
                  <a:pt x="11378915" y="2425"/>
                </a:lnTo>
                <a:lnTo>
                  <a:pt x="11514378" y="0"/>
                </a:lnTo>
                <a:lnTo>
                  <a:pt x="11649842" y="198"/>
                </a:lnTo>
                <a:lnTo>
                  <a:pt x="11785305" y="3299"/>
                </a:lnTo>
                <a:lnTo>
                  <a:pt x="11920768" y="9446"/>
                </a:lnTo>
                <a:lnTo>
                  <a:pt x="12056231" y="18641"/>
                </a:lnTo>
                <a:lnTo>
                  <a:pt x="12191695" y="30728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46304"/>
            <a:ext cx="11283696" cy="44805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当前场景：数据资产发现与解释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722376"/>
            <a:ext cx="585216" cy="41148"/>
          </a:xfrm>
          <a:prstGeom prst="rect">
            <a:avLst/>
          </a:prstGeom>
          <a:solidFill>
            <a:srgbClr val="EE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649224"/>
            <a:ext cx="10469880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2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从业务语言定位到真实资产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292608"/>
            <a:ext cx="896112" cy="20116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HiAgent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6647688"/>
            <a:ext cx="10241280" cy="1280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7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企业数据智能体建设规划  /  规划视图  /  2026.10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629400"/>
            <a:ext cx="585216" cy="17373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" y="1133856"/>
            <a:ext cx="11219688" cy="26517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7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示意问题：“客户状态字段在哪张表，其中01是什么意思？”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" y="1687068"/>
            <a:ext cx="1954530" cy="3941063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1655064"/>
            <a:ext cx="1954530" cy="39410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1847088"/>
            <a:ext cx="1716786" cy="23774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2231136"/>
            <a:ext cx="1716786" cy="36576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理解与澄清</a:t>
            </a:r>
          </a:p>
        </p:txBody>
      </p:sp>
      <p:sp>
        <p:nvSpPr>
          <p:cNvPr id="18" name="Oval 17"/>
          <p:cNvSpPr/>
          <p:nvPr/>
        </p:nvSpPr>
        <p:spPr>
          <a:xfrm>
            <a:off x="1059469" y="3591854"/>
            <a:ext cx="880567" cy="156545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72560" y="2877616"/>
            <a:ext cx="234817" cy="234817"/>
          </a:xfrm>
          <a:prstGeom prst="ellipse">
            <a:avLst/>
          </a:prstGeom>
          <a:solidFill>
            <a:srgbClr val="3BA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1255151" y="3102650"/>
            <a:ext cx="479420" cy="430500"/>
          </a:xfrm>
          <a:custGeom>
            <a:avLst/>
            <a:gdLst/>
            <a:ahLst/>
            <a:cxnLst/>
            <a:rect l="l" t="t" r="r" b="b"/>
            <a:pathLst>
              <a:path w="479420" h="430500">
                <a:moveTo>
                  <a:pt x="0" y="127193"/>
                </a:moveTo>
                <a:lnTo>
                  <a:pt x="234818" y="0"/>
                </a:lnTo>
                <a:lnTo>
                  <a:pt x="479420" y="136977"/>
                </a:lnTo>
                <a:lnTo>
                  <a:pt x="479420" y="430500"/>
                </a:lnTo>
                <a:lnTo>
                  <a:pt x="0" y="430500"/>
                </a:lnTo>
                <a:close/>
              </a:path>
            </a:pathLst>
          </a:custGeom>
          <a:solidFill>
            <a:srgbClr val="1E8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2648" y="4069080"/>
            <a:ext cx="1735074" cy="429768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4101084"/>
            <a:ext cx="1552194" cy="365759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目标对象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" y="4754880"/>
            <a:ext cx="1698498" cy="5852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确认业务对象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同名候选先澄清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480310" y="3273552"/>
            <a:ext cx="137160" cy="0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2559003" y="3273552"/>
            <a:ext cx="58467" cy="35845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2559003" y="3237706"/>
            <a:ext cx="58467" cy="35846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663190" y="1687068"/>
            <a:ext cx="1954530" cy="3941063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640330" y="1655064"/>
            <a:ext cx="1954530" cy="39410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59202" y="1847088"/>
            <a:ext cx="1716786" cy="23774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59202" y="2231136"/>
            <a:ext cx="1716786" cy="36576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定位与核验</a:t>
            </a:r>
          </a:p>
        </p:txBody>
      </p:sp>
      <p:sp>
        <p:nvSpPr>
          <p:cNvPr id="31" name="Oval 30"/>
          <p:cNvSpPr/>
          <p:nvPr/>
        </p:nvSpPr>
        <p:spPr>
          <a:xfrm>
            <a:off x="3196879" y="3591854"/>
            <a:ext cx="880567" cy="156545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3324072" y="2838480"/>
            <a:ext cx="626181" cy="166329"/>
          </a:xfrm>
          <a:custGeom>
            <a:avLst/>
            <a:gdLst/>
            <a:ahLst/>
            <a:cxnLst/>
            <a:rect l="l" t="t" r="r" b="b"/>
            <a:pathLst>
              <a:path w="626181" h="166329">
                <a:moveTo>
                  <a:pt x="0" y="68489"/>
                </a:moveTo>
                <a:lnTo>
                  <a:pt x="508772" y="0"/>
                </a:lnTo>
                <a:lnTo>
                  <a:pt x="626181" y="88057"/>
                </a:lnTo>
                <a:lnTo>
                  <a:pt x="117409" y="166329"/>
                </a:lnTo>
                <a:close/>
              </a:path>
            </a:pathLst>
          </a:custGeom>
          <a:solidFill>
            <a:srgbClr val="B1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3832844" y="2838480"/>
            <a:ext cx="117409" cy="694670"/>
          </a:xfrm>
          <a:custGeom>
            <a:avLst/>
            <a:gdLst/>
            <a:ahLst/>
            <a:cxnLst/>
            <a:rect l="l" t="t" r="r" b="b"/>
            <a:pathLst>
              <a:path w="117409" h="694670">
                <a:moveTo>
                  <a:pt x="0" y="0"/>
                </a:moveTo>
                <a:lnTo>
                  <a:pt x="117409" y="88057"/>
                </a:lnTo>
                <a:lnTo>
                  <a:pt x="117409" y="694670"/>
                </a:lnTo>
                <a:lnTo>
                  <a:pt x="0" y="626181"/>
                </a:lnTo>
                <a:close/>
              </a:path>
            </a:pathLst>
          </a:custGeom>
          <a:solidFill>
            <a:srgbClr val="147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3324072" y="2838480"/>
            <a:ext cx="508772" cy="704454"/>
          </a:xfrm>
          <a:custGeom>
            <a:avLst/>
            <a:gdLst/>
            <a:ahLst/>
            <a:cxnLst/>
            <a:rect l="l" t="t" r="r" b="b"/>
            <a:pathLst>
              <a:path w="508772" h="704454">
                <a:moveTo>
                  <a:pt x="0" y="68489"/>
                </a:moveTo>
                <a:lnTo>
                  <a:pt x="508772" y="0"/>
                </a:lnTo>
                <a:lnTo>
                  <a:pt x="508772" y="626181"/>
                </a:lnTo>
                <a:lnTo>
                  <a:pt x="0" y="704454"/>
                </a:lnTo>
                <a:close/>
              </a:path>
            </a:pathLst>
          </a:custGeom>
          <a:solidFill>
            <a:srgbClr val="52B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V="1">
            <a:off x="3412129" y="3034162"/>
            <a:ext cx="322874" cy="4892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412129" y="3171139"/>
            <a:ext cx="322874" cy="4892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412129" y="3308116"/>
            <a:ext cx="322874" cy="4892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2750058" y="4069080"/>
            <a:ext cx="1735074" cy="429768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41498" y="4101084"/>
            <a:ext cx="1552194" cy="365759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候选与标识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68346" y="4754880"/>
            <a:ext cx="1698498" cy="5852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知识库找候选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查询库核对记录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617720" y="3273552"/>
            <a:ext cx="137160" cy="0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4696413" y="3273552"/>
            <a:ext cx="58467" cy="35845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 flipV="1">
            <a:off x="4696413" y="3237706"/>
            <a:ext cx="58467" cy="35846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4800600" y="1687068"/>
            <a:ext cx="1954530" cy="3941063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777740" y="1655064"/>
            <a:ext cx="1954530" cy="39410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96612" y="1847088"/>
            <a:ext cx="1716786" cy="23774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96612" y="2231136"/>
            <a:ext cx="1716786" cy="36576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关联与解释</a:t>
            </a:r>
          </a:p>
        </p:txBody>
      </p:sp>
      <p:sp>
        <p:nvSpPr>
          <p:cNvPr id="48" name="Oval 47"/>
          <p:cNvSpPr/>
          <p:nvPr/>
        </p:nvSpPr>
        <p:spPr>
          <a:xfrm>
            <a:off x="5334289" y="3591854"/>
            <a:ext cx="880567" cy="156545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71266" y="2995025"/>
            <a:ext cx="596828" cy="567476"/>
          </a:xfrm>
          <a:prstGeom prst="rect">
            <a:avLst/>
          </a:prstGeom>
          <a:solidFill>
            <a:srgbClr val="168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471266" y="3484229"/>
            <a:ext cx="596828" cy="195681"/>
          </a:xfrm>
          <a:prstGeom prst="ellipse">
            <a:avLst/>
          </a:prstGeom>
          <a:solidFill>
            <a:srgbClr val="096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471266" y="2897184"/>
            <a:ext cx="596828" cy="195681"/>
          </a:xfrm>
          <a:prstGeom prst="ellipse">
            <a:avLst/>
          </a:prstGeom>
          <a:solidFill>
            <a:srgbClr val="76D8FF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471266" y="3122218"/>
            <a:ext cx="596828" cy="195681"/>
          </a:xfrm>
          <a:prstGeom prst="ellipse">
            <a:avLst/>
          </a:prstGeom>
          <a:solidFill>
            <a:srgbClr val="3AB2F8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471266" y="3347252"/>
            <a:ext cx="596828" cy="195681"/>
          </a:xfrm>
          <a:prstGeom prst="ellipse">
            <a:avLst/>
          </a:prstGeom>
          <a:solidFill>
            <a:srgbClr val="3AB2F8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529971" y="3014593"/>
            <a:ext cx="39136" cy="518556"/>
          </a:xfrm>
          <a:prstGeom prst="rect">
            <a:avLst/>
          </a:prstGeom>
          <a:solidFill>
            <a:srgbClr val="76D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887468" y="4069080"/>
            <a:ext cx="1735074" cy="429768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78908" y="4101084"/>
            <a:ext cx="1552194" cy="365759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表→字段→字典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05756" y="4754880"/>
            <a:ext cx="1698498" cy="5852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按父子对象推进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保留实际码值原值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755130" y="3273552"/>
            <a:ext cx="137160" cy="0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6833823" y="3273552"/>
            <a:ext cx="58467" cy="35845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 flipV="1">
            <a:off x="6833823" y="3237706"/>
            <a:ext cx="58467" cy="35846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6938010" y="1687068"/>
            <a:ext cx="1954530" cy="3941063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915150" y="1655064"/>
            <a:ext cx="1954530" cy="39410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034022" y="1847088"/>
            <a:ext cx="1716786" cy="23774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04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34022" y="2231136"/>
            <a:ext cx="1716786" cy="36576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返回与追问</a:t>
            </a:r>
          </a:p>
        </p:txBody>
      </p:sp>
      <p:sp>
        <p:nvSpPr>
          <p:cNvPr id="65" name="Oval 64"/>
          <p:cNvSpPr/>
          <p:nvPr/>
        </p:nvSpPr>
        <p:spPr>
          <a:xfrm>
            <a:off x="7471699" y="3591854"/>
            <a:ext cx="880567" cy="156545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7598892" y="2838480"/>
            <a:ext cx="626181" cy="166329"/>
          </a:xfrm>
          <a:custGeom>
            <a:avLst/>
            <a:gdLst/>
            <a:ahLst/>
            <a:cxnLst/>
            <a:rect l="l" t="t" r="r" b="b"/>
            <a:pathLst>
              <a:path w="626181" h="166329">
                <a:moveTo>
                  <a:pt x="0" y="68489"/>
                </a:moveTo>
                <a:lnTo>
                  <a:pt x="508772" y="0"/>
                </a:lnTo>
                <a:lnTo>
                  <a:pt x="626181" y="88057"/>
                </a:lnTo>
                <a:lnTo>
                  <a:pt x="117409" y="166329"/>
                </a:lnTo>
                <a:close/>
              </a:path>
            </a:pathLst>
          </a:custGeom>
          <a:solidFill>
            <a:srgbClr val="B1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8107664" y="2838480"/>
            <a:ext cx="117409" cy="694670"/>
          </a:xfrm>
          <a:custGeom>
            <a:avLst/>
            <a:gdLst/>
            <a:ahLst/>
            <a:cxnLst/>
            <a:rect l="l" t="t" r="r" b="b"/>
            <a:pathLst>
              <a:path w="117409" h="694670">
                <a:moveTo>
                  <a:pt x="0" y="0"/>
                </a:moveTo>
                <a:lnTo>
                  <a:pt x="117409" y="88057"/>
                </a:lnTo>
                <a:lnTo>
                  <a:pt x="117409" y="694670"/>
                </a:lnTo>
                <a:lnTo>
                  <a:pt x="0" y="626181"/>
                </a:lnTo>
                <a:close/>
              </a:path>
            </a:pathLst>
          </a:custGeom>
          <a:solidFill>
            <a:srgbClr val="147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7598892" y="2838480"/>
            <a:ext cx="508772" cy="704454"/>
          </a:xfrm>
          <a:custGeom>
            <a:avLst/>
            <a:gdLst/>
            <a:ahLst/>
            <a:cxnLst/>
            <a:rect l="l" t="t" r="r" b="b"/>
            <a:pathLst>
              <a:path w="508772" h="704454">
                <a:moveTo>
                  <a:pt x="0" y="68489"/>
                </a:moveTo>
                <a:lnTo>
                  <a:pt x="508772" y="0"/>
                </a:lnTo>
                <a:lnTo>
                  <a:pt x="508772" y="626181"/>
                </a:lnTo>
                <a:lnTo>
                  <a:pt x="0" y="704454"/>
                </a:lnTo>
                <a:close/>
              </a:path>
            </a:pathLst>
          </a:custGeom>
          <a:solidFill>
            <a:srgbClr val="52B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 flipV="1">
            <a:off x="7686949" y="3034162"/>
            <a:ext cx="322874" cy="4892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7686949" y="3171139"/>
            <a:ext cx="322874" cy="4892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7686949" y="3308116"/>
            <a:ext cx="322874" cy="4892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7024878" y="4069080"/>
            <a:ext cx="1735074" cy="429768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16318" y="4101084"/>
            <a:ext cx="1552194" cy="365759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来源与范围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43166" y="4754880"/>
            <a:ext cx="1698498" cy="5852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解释实际结果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缺失与反馈明确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194292" y="1687068"/>
            <a:ext cx="2505456" cy="1892807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9171432" y="1655064"/>
            <a:ext cx="2505456" cy="189280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326880" y="1792224"/>
            <a:ext cx="32004" cy="246888"/>
          </a:xfrm>
          <a:prstGeom prst="rect">
            <a:avLst/>
          </a:prstGeom>
          <a:solidFill>
            <a:srgbClr val="EE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473184" y="1773936"/>
            <a:ext cx="2057400" cy="31089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解决问题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363456" y="2313432"/>
            <a:ext cx="2121408" cy="2286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资料分散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63456" y="2606040"/>
            <a:ext cx="2121408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8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找表、查字典依赖人工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63456" y="2880360"/>
            <a:ext cx="2121408" cy="2286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同名与码值歧义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363456" y="3172968"/>
            <a:ext cx="2121408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8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易选错对象、误读原值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194292" y="3735324"/>
            <a:ext cx="2505456" cy="1892807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9171432" y="3703320"/>
            <a:ext cx="2505456" cy="189280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326880" y="3840480"/>
            <a:ext cx="32004" cy="246888"/>
          </a:xfrm>
          <a:prstGeom prst="rect">
            <a:avLst/>
          </a:prstGeom>
          <a:solidFill>
            <a:srgbClr val="EE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473184" y="3822191"/>
            <a:ext cx="2057400" cy="31089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应用价值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363456" y="4361688"/>
            <a:ext cx="2121408" cy="2286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078B9F"/>
                </a:solidFill>
                <a:latin typeface="Noto Sans CJK SC"/>
                <a:ea typeface="Noto Sans CJK SC"/>
              </a:defRPr>
            </a:pPr>
            <a:r>
              <a:t>定位更清晰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363456" y="4654296"/>
            <a:ext cx="2121408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8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自然语言连接真实资产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363456" y="4928616"/>
            <a:ext cx="2121408" cy="2286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078B9F"/>
                </a:solidFill>
                <a:latin typeface="Noto Sans CJK SC"/>
                <a:ea typeface="Noto Sans CJK SC"/>
              </a:defRPr>
            </a:pPr>
            <a:r>
              <a:t>结果更可信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363456" y="5221224"/>
            <a:ext cx="2121408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8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事实核验，资料缺口回流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61772" y="6112764"/>
            <a:ext cx="11247120" cy="33832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438912" y="6080760"/>
            <a:ext cx="11247120" cy="338328"/>
          </a:xfrm>
          <a:prstGeom prst="roundRect">
            <a:avLst>
              <a:gd name="adj" fmla="val 5500"/>
            </a:avLst>
          </a:prstGeom>
          <a:solidFill>
            <a:srgbClr val="EEF7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85216" y="6117336"/>
            <a:ext cx="10954512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当前建设：资产资料治理、主提示词与查询SKILL、知识索引、外部查询数据和真实问题验证。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6346471"/>
            <a:ext cx="12191695" cy="235953"/>
          </a:xfrm>
          <a:custGeom>
            <a:avLst/>
            <a:gdLst/>
            <a:ahLst/>
            <a:cxnLst/>
            <a:rect l="l" t="t" r="r" b="b"/>
            <a:pathLst>
              <a:path w="12191695" h="235953">
                <a:moveTo>
                  <a:pt x="0" y="127481"/>
                </a:moveTo>
                <a:lnTo>
                  <a:pt x="135463" y="147046"/>
                </a:lnTo>
                <a:lnTo>
                  <a:pt x="270926" y="165914"/>
                </a:lnTo>
                <a:lnTo>
                  <a:pt x="406389" y="183426"/>
                </a:lnTo>
                <a:lnTo>
                  <a:pt x="541853" y="199000"/>
                </a:lnTo>
                <a:lnTo>
                  <a:pt x="677316" y="212159"/>
                </a:lnTo>
                <a:lnTo>
                  <a:pt x="812779" y="222557"/>
                </a:lnTo>
                <a:lnTo>
                  <a:pt x="948242" y="229995"/>
                </a:lnTo>
                <a:lnTo>
                  <a:pt x="1083706" y="234426"/>
                </a:lnTo>
                <a:lnTo>
                  <a:pt x="1219169" y="235953"/>
                </a:lnTo>
                <a:lnTo>
                  <a:pt x="1354632" y="234812"/>
                </a:lnTo>
                <a:lnTo>
                  <a:pt x="1490096" y="231352"/>
                </a:lnTo>
                <a:lnTo>
                  <a:pt x="1625559" y="226009"/>
                </a:lnTo>
                <a:lnTo>
                  <a:pt x="1761022" y="219267"/>
                </a:lnTo>
                <a:lnTo>
                  <a:pt x="1896485" y="211626"/>
                </a:lnTo>
                <a:lnTo>
                  <a:pt x="2031949" y="203564"/>
                </a:lnTo>
                <a:lnTo>
                  <a:pt x="2167412" y="195508"/>
                </a:lnTo>
                <a:lnTo>
                  <a:pt x="2302875" y="187800"/>
                </a:lnTo>
                <a:lnTo>
                  <a:pt x="2438339" y="180682"/>
                </a:lnTo>
                <a:lnTo>
                  <a:pt x="2573802" y="174280"/>
                </a:lnTo>
                <a:lnTo>
                  <a:pt x="2709265" y="168601"/>
                </a:lnTo>
                <a:lnTo>
                  <a:pt x="2844728" y="163541"/>
                </a:lnTo>
                <a:lnTo>
                  <a:pt x="2980192" y="158900"/>
                </a:lnTo>
                <a:lnTo>
                  <a:pt x="3115655" y="154402"/>
                </a:lnTo>
                <a:lnTo>
                  <a:pt x="3251118" y="149724"/>
                </a:lnTo>
                <a:lnTo>
                  <a:pt x="3386582" y="144534"/>
                </a:lnTo>
                <a:lnTo>
                  <a:pt x="3522045" y="138515"/>
                </a:lnTo>
                <a:lnTo>
                  <a:pt x="3657508" y="131408"/>
                </a:lnTo>
                <a:lnTo>
                  <a:pt x="3792971" y="123031"/>
                </a:lnTo>
                <a:lnTo>
                  <a:pt x="3928435" y="113309"/>
                </a:lnTo>
                <a:lnTo>
                  <a:pt x="4063898" y="102287"/>
                </a:lnTo>
                <a:lnTo>
                  <a:pt x="4199361" y="90138"/>
                </a:lnTo>
                <a:lnTo>
                  <a:pt x="4334824" y="77155"/>
                </a:lnTo>
                <a:lnTo>
                  <a:pt x="4470288" y="63745"/>
                </a:lnTo>
                <a:lnTo>
                  <a:pt x="4605751" y="50406"/>
                </a:lnTo>
                <a:lnTo>
                  <a:pt x="4741214" y="37696"/>
                </a:lnTo>
                <a:lnTo>
                  <a:pt x="4876678" y="26202"/>
                </a:lnTo>
                <a:lnTo>
                  <a:pt x="5012141" y="16503"/>
                </a:lnTo>
                <a:lnTo>
                  <a:pt x="5147604" y="9131"/>
                </a:lnTo>
                <a:lnTo>
                  <a:pt x="5283067" y="4538"/>
                </a:lnTo>
                <a:lnTo>
                  <a:pt x="5418531" y="3064"/>
                </a:lnTo>
                <a:lnTo>
                  <a:pt x="5553994" y="4912"/>
                </a:lnTo>
                <a:lnTo>
                  <a:pt x="5689457" y="10132"/>
                </a:lnTo>
                <a:lnTo>
                  <a:pt x="5824921" y="18617"/>
                </a:lnTo>
                <a:lnTo>
                  <a:pt x="5960384" y="30106"/>
                </a:lnTo>
                <a:lnTo>
                  <a:pt x="6095847" y="44193"/>
                </a:lnTo>
                <a:lnTo>
                  <a:pt x="6231310" y="60357"/>
                </a:lnTo>
                <a:lnTo>
                  <a:pt x="6366774" y="77984"/>
                </a:lnTo>
                <a:lnTo>
                  <a:pt x="6502237" y="96410"/>
                </a:lnTo>
                <a:lnTo>
                  <a:pt x="6637700" y="114953"/>
                </a:lnTo>
                <a:lnTo>
                  <a:pt x="6773164" y="132954"/>
                </a:lnTo>
                <a:lnTo>
                  <a:pt x="6908627" y="149814"/>
                </a:lnTo>
                <a:lnTo>
                  <a:pt x="7044090" y="165027"/>
                </a:lnTo>
                <a:lnTo>
                  <a:pt x="7179553" y="178204"/>
                </a:lnTo>
                <a:lnTo>
                  <a:pt x="7315017" y="189090"/>
                </a:lnTo>
                <a:lnTo>
                  <a:pt x="7450480" y="197574"/>
                </a:lnTo>
                <a:lnTo>
                  <a:pt x="7585943" y="203682"/>
                </a:lnTo>
                <a:lnTo>
                  <a:pt x="7721406" y="207573"/>
                </a:lnTo>
                <a:lnTo>
                  <a:pt x="7856870" y="209512"/>
                </a:lnTo>
                <a:lnTo>
                  <a:pt x="7992333" y="209848"/>
                </a:lnTo>
                <a:lnTo>
                  <a:pt x="8127796" y="208978"/>
                </a:lnTo>
                <a:lnTo>
                  <a:pt x="8263260" y="207316"/>
                </a:lnTo>
                <a:lnTo>
                  <a:pt x="8398723" y="205256"/>
                </a:lnTo>
                <a:lnTo>
                  <a:pt x="8534186" y="203141"/>
                </a:lnTo>
                <a:lnTo>
                  <a:pt x="8669649" y="201238"/>
                </a:lnTo>
                <a:lnTo>
                  <a:pt x="8805113" y="199711"/>
                </a:lnTo>
                <a:lnTo>
                  <a:pt x="8940576" y="198616"/>
                </a:lnTo>
                <a:lnTo>
                  <a:pt x="9076039" y="197894"/>
                </a:lnTo>
                <a:lnTo>
                  <a:pt x="9211503" y="197378"/>
                </a:lnTo>
                <a:lnTo>
                  <a:pt x="9346966" y="196808"/>
                </a:lnTo>
                <a:lnTo>
                  <a:pt x="9482429" y="195855"/>
                </a:lnTo>
                <a:lnTo>
                  <a:pt x="9617892" y="194147"/>
                </a:lnTo>
                <a:lnTo>
                  <a:pt x="9753356" y="191305"/>
                </a:lnTo>
                <a:lnTo>
                  <a:pt x="9888819" y="186977"/>
                </a:lnTo>
                <a:lnTo>
                  <a:pt x="10024282" y="180869"/>
                </a:lnTo>
                <a:lnTo>
                  <a:pt x="10159746" y="172776"/>
                </a:lnTo>
                <a:lnTo>
                  <a:pt x="10295209" y="162608"/>
                </a:lnTo>
                <a:lnTo>
                  <a:pt x="10430672" y="150402"/>
                </a:lnTo>
                <a:lnTo>
                  <a:pt x="10566135" y="136335"/>
                </a:lnTo>
                <a:lnTo>
                  <a:pt x="10701599" y="120717"/>
                </a:lnTo>
                <a:lnTo>
                  <a:pt x="10837062" y="103984"/>
                </a:lnTo>
                <a:lnTo>
                  <a:pt x="10972525" y="86673"/>
                </a:lnTo>
                <a:lnTo>
                  <a:pt x="11107988" y="69396"/>
                </a:lnTo>
                <a:lnTo>
                  <a:pt x="11243452" y="52806"/>
                </a:lnTo>
                <a:lnTo>
                  <a:pt x="11378915" y="37558"/>
                </a:lnTo>
                <a:lnTo>
                  <a:pt x="11514378" y="24274"/>
                </a:lnTo>
                <a:lnTo>
                  <a:pt x="11649842" y="13501"/>
                </a:lnTo>
                <a:lnTo>
                  <a:pt x="11785305" y="5683"/>
                </a:lnTo>
                <a:lnTo>
                  <a:pt x="11920768" y="1129"/>
                </a:lnTo>
                <a:lnTo>
                  <a:pt x="12056231" y="0"/>
                </a:lnTo>
                <a:lnTo>
                  <a:pt x="12191695" y="2300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6405649"/>
            <a:ext cx="12191695" cy="245182"/>
          </a:xfrm>
          <a:custGeom>
            <a:avLst/>
            <a:gdLst/>
            <a:ahLst/>
            <a:cxnLst/>
            <a:rect l="l" t="t" r="r" b="b"/>
            <a:pathLst>
              <a:path w="12191695" h="245182">
                <a:moveTo>
                  <a:pt x="0" y="150669"/>
                </a:moveTo>
                <a:lnTo>
                  <a:pt x="135463" y="169737"/>
                </a:lnTo>
                <a:lnTo>
                  <a:pt x="270926" y="187768"/>
                </a:lnTo>
                <a:lnTo>
                  <a:pt x="406389" y="204118"/>
                </a:lnTo>
                <a:lnTo>
                  <a:pt x="541853" y="218220"/>
                </a:lnTo>
                <a:lnTo>
                  <a:pt x="677316" y="229621"/>
                </a:lnTo>
                <a:lnTo>
                  <a:pt x="812779" y="238002"/>
                </a:lnTo>
                <a:lnTo>
                  <a:pt x="948242" y="243193"/>
                </a:lnTo>
                <a:lnTo>
                  <a:pt x="1083706" y="245182"/>
                </a:lnTo>
                <a:lnTo>
                  <a:pt x="1219169" y="244108"/>
                </a:lnTo>
                <a:lnTo>
                  <a:pt x="1354632" y="240247"/>
                </a:lnTo>
                <a:lnTo>
                  <a:pt x="1490096" y="233989"/>
                </a:lnTo>
                <a:lnTo>
                  <a:pt x="1625559" y="225812"/>
                </a:lnTo>
                <a:lnTo>
                  <a:pt x="1761022" y="216243"/>
                </a:lnTo>
                <a:lnTo>
                  <a:pt x="1896485" y="205824"/>
                </a:lnTo>
                <a:lnTo>
                  <a:pt x="2031949" y="195076"/>
                </a:lnTo>
                <a:lnTo>
                  <a:pt x="2167412" y="184466"/>
                </a:lnTo>
                <a:lnTo>
                  <a:pt x="2302875" y="174375"/>
                </a:lnTo>
                <a:lnTo>
                  <a:pt x="2438339" y="165080"/>
                </a:lnTo>
                <a:lnTo>
                  <a:pt x="2573802" y="156740"/>
                </a:lnTo>
                <a:lnTo>
                  <a:pt x="2709265" y="149392"/>
                </a:lnTo>
                <a:lnTo>
                  <a:pt x="2844728" y="142958"/>
                </a:lnTo>
                <a:lnTo>
                  <a:pt x="2980192" y="137257"/>
                </a:lnTo>
                <a:lnTo>
                  <a:pt x="3115655" y="132030"/>
                </a:lnTo>
                <a:lnTo>
                  <a:pt x="3251118" y="126965"/>
                </a:lnTo>
                <a:lnTo>
                  <a:pt x="3386582" y="121734"/>
                </a:lnTo>
                <a:lnTo>
                  <a:pt x="3522045" y="116024"/>
                </a:lnTo>
                <a:lnTo>
                  <a:pt x="3657508" y="109568"/>
                </a:lnTo>
                <a:lnTo>
                  <a:pt x="3792971" y="102177"/>
                </a:lnTo>
                <a:lnTo>
                  <a:pt x="3928435" y="93759"/>
                </a:lnTo>
                <a:lnTo>
                  <a:pt x="4063898" y="84341"/>
                </a:lnTo>
                <a:lnTo>
                  <a:pt x="4199361" y="74069"/>
                </a:lnTo>
                <a:lnTo>
                  <a:pt x="4334824" y="63211"/>
                </a:lnTo>
                <a:lnTo>
                  <a:pt x="4470288" y="52141"/>
                </a:lnTo>
                <a:lnTo>
                  <a:pt x="4605751" y="41320"/>
                </a:lnTo>
                <a:lnTo>
                  <a:pt x="4741214" y="31269"/>
                </a:lnTo>
                <a:lnTo>
                  <a:pt x="4876678" y="22536"/>
                </a:lnTo>
                <a:lnTo>
                  <a:pt x="5012141" y="15656"/>
                </a:lnTo>
                <a:lnTo>
                  <a:pt x="5147604" y="11120"/>
                </a:lnTo>
                <a:lnTo>
                  <a:pt x="5283067" y="9338"/>
                </a:lnTo>
                <a:lnTo>
                  <a:pt x="5418531" y="10605"/>
                </a:lnTo>
                <a:lnTo>
                  <a:pt x="5553994" y="15085"/>
                </a:lnTo>
                <a:lnTo>
                  <a:pt x="5689457" y="22787"/>
                </a:lnTo>
                <a:lnTo>
                  <a:pt x="5824921" y="33567"/>
                </a:lnTo>
                <a:lnTo>
                  <a:pt x="5960384" y="47128"/>
                </a:lnTo>
                <a:lnTo>
                  <a:pt x="6095847" y="63035"/>
                </a:lnTo>
                <a:lnTo>
                  <a:pt x="6231310" y="80738"/>
                </a:lnTo>
                <a:lnTo>
                  <a:pt x="6366774" y="99601"/>
                </a:lnTo>
                <a:lnTo>
                  <a:pt x="6502237" y="118939"/>
                </a:lnTo>
                <a:lnTo>
                  <a:pt x="6637700" y="138058"/>
                </a:lnTo>
                <a:lnTo>
                  <a:pt x="6773164" y="156290"/>
                </a:lnTo>
                <a:lnTo>
                  <a:pt x="6908627" y="173034"/>
                </a:lnTo>
                <a:lnTo>
                  <a:pt x="7044090" y="187783"/>
                </a:lnTo>
                <a:lnTo>
                  <a:pt x="7179553" y="200156"/>
                </a:lnTo>
                <a:lnTo>
                  <a:pt x="7315017" y="209912"/>
                </a:lnTo>
                <a:lnTo>
                  <a:pt x="7450480" y="216953"/>
                </a:lnTo>
                <a:lnTo>
                  <a:pt x="7585943" y="221331"/>
                </a:lnTo>
                <a:lnTo>
                  <a:pt x="7721406" y="223229"/>
                </a:lnTo>
                <a:lnTo>
                  <a:pt x="7856870" y="222943"/>
                </a:lnTo>
                <a:lnTo>
                  <a:pt x="7992333" y="220854"/>
                </a:lnTo>
                <a:lnTo>
                  <a:pt x="8127796" y="217398"/>
                </a:lnTo>
                <a:lnTo>
                  <a:pt x="8263260" y="213025"/>
                </a:lnTo>
                <a:lnTo>
                  <a:pt x="8398723" y="208173"/>
                </a:lnTo>
                <a:lnTo>
                  <a:pt x="8534186" y="203226"/>
                </a:lnTo>
                <a:lnTo>
                  <a:pt x="8669649" y="198493"/>
                </a:lnTo>
                <a:lnTo>
                  <a:pt x="8805113" y="194182"/>
                </a:lnTo>
                <a:lnTo>
                  <a:pt x="8940576" y="190390"/>
                </a:lnTo>
                <a:lnTo>
                  <a:pt x="9076039" y="187099"/>
                </a:lnTo>
                <a:lnTo>
                  <a:pt x="9211503" y="184181"/>
                </a:lnTo>
                <a:lnTo>
                  <a:pt x="9346966" y="181412"/>
                </a:lnTo>
                <a:lnTo>
                  <a:pt x="9482429" y="178496"/>
                </a:lnTo>
                <a:lnTo>
                  <a:pt x="9617892" y="175092"/>
                </a:lnTo>
                <a:lnTo>
                  <a:pt x="9753356" y="170845"/>
                </a:lnTo>
                <a:lnTo>
                  <a:pt x="9888819" y="165425"/>
                </a:lnTo>
                <a:lnTo>
                  <a:pt x="10024282" y="158555"/>
                </a:lnTo>
                <a:lnTo>
                  <a:pt x="10159746" y="150040"/>
                </a:lnTo>
                <a:lnTo>
                  <a:pt x="10295209" y="139797"/>
                </a:lnTo>
                <a:lnTo>
                  <a:pt x="10430672" y="127865"/>
                </a:lnTo>
                <a:lnTo>
                  <a:pt x="10566135" y="114415"/>
                </a:lnTo>
                <a:lnTo>
                  <a:pt x="10701599" y="99751"/>
                </a:lnTo>
                <a:lnTo>
                  <a:pt x="10837062" y="84291"/>
                </a:lnTo>
                <a:lnTo>
                  <a:pt x="10972525" y="68554"/>
                </a:lnTo>
                <a:lnTo>
                  <a:pt x="11107988" y="53129"/>
                </a:lnTo>
                <a:lnTo>
                  <a:pt x="11243452" y="38641"/>
                </a:lnTo>
                <a:lnTo>
                  <a:pt x="11378915" y="25713"/>
                </a:lnTo>
                <a:lnTo>
                  <a:pt x="11514378" y="14931"/>
                </a:lnTo>
                <a:lnTo>
                  <a:pt x="11649842" y="6805"/>
                </a:lnTo>
                <a:lnTo>
                  <a:pt x="11785305" y="1738"/>
                </a:lnTo>
                <a:lnTo>
                  <a:pt x="11920768" y="0"/>
                </a:lnTo>
                <a:lnTo>
                  <a:pt x="12056231" y="1708"/>
                </a:lnTo>
                <a:lnTo>
                  <a:pt x="12191695" y="6822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6467906"/>
            <a:ext cx="12191695" cy="248613"/>
          </a:xfrm>
          <a:custGeom>
            <a:avLst/>
            <a:gdLst/>
            <a:ahLst/>
            <a:cxnLst/>
            <a:rect l="l" t="t" r="r" b="b"/>
            <a:pathLst>
              <a:path w="12191695" h="248613">
                <a:moveTo>
                  <a:pt x="0" y="169572"/>
                </a:moveTo>
                <a:lnTo>
                  <a:pt x="135463" y="187517"/>
                </a:lnTo>
                <a:lnTo>
                  <a:pt x="270926" y="204116"/>
                </a:lnTo>
                <a:lnTo>
                  <a:pt x="406389" y="218744"/>
                </a:lnTo>
                <a:lnTo>
                  <a:pt x="541853" y="230861"/>
                </a:lnTo>
                <a:lnTo>
                  <a:pt x="677316" y="240043"/>
                </a:lnTo>
                <a:lnTo>
                  <a:pt x="812779" y="246004"/>
                </a:lnTo>
                <a:lnTo>
                  <a:pt x="948242" y="248613"/>
                </a:lnTo>
                <a:lnTo>
                  <a:pt x="1083706" y="247896"/>
                </a:lnTo>
                <a:lnTo>
                  <a:pt x="1219169" y="244031"/>
                </a:lnTo>
                <a:lnTo>
                  <a:pt x="1354632" y="237338"/>
                </a:lnTo>
                <a:lnTo>
                  <a:pt x="1490096" y="228250"/>
                </a:lnTo>
                <a:lnTo>
                  <a:pt x="1625559" y="217286"/>
                </a:lnTo>
                <a:lnTo>
                  <a:pt x="1761022" y="205017"/>
                </a:lnTo>
                <a:lnTo>
                  <a:pt x="1896485" y="192024"/>
                </a:lnTo>
                <a:lnTo>
                  <a:pt x="2031949" y="178869"/>
                </a:lnTo>
                <a:lnTo>
                  <a:pt x="2167412" y="166053"/>
                </a:lnTo>
                <a:lnTo>
                  <a:pt x="2302875" y="153992"/>
                </a:lnTo>
                <a:lnTo>
                  <a:pt x="2438339" y="142992"/>
                </a:lnTo>
                <a:lnTo>
                  <a:pt x="2573802" y="133239"/>
                </a:lnTo>
                <a:lnTo>
                  <a:pt x="2709265" y="124790"/>
                </a:lnTo>
                <a:lnTo>
                  <a:pt x="2844728" y="117583"/>
                </a:lnTo>
                <a:lnTo>
                  <a:pt x="2980192" y="111449"/>
                </a:lnTo>
                <a:lnTo>
                  <a:pt x="3115655" y="106137"/>
                </a:lnTo>
                <a:lnTo>
                  <a:pt x="3251118" y="101335"/>
                </a:lnTo>
                <a:lnTo>
                  <a:pt x="3386582" y="96713"/>
                </a:lnTo>
                <a:lnTo>
                  <a:pt x="3522045" y="91945"/>
                </a:lnTo>
                <a:lnTo>
                  <a:pt x="3657508" y="86753"/>
                </a:lnTo>
                <a:lnTo>
                  <a:pt x="3792971" y="80928"/>
                </a:lnTo>
                <a:lnTo>
                  <a:pt x="3928435" y="74354"/>
                </a:lnTo>
                <a:lnTo>
                  <a:pt x="4063898" y="67031"/>
                </a:lnTo>
                <a:lnTo>
                  <a:pt x="4199361" y="59072"/>
                </a:lnTo>
                <a:lnTo>
                  <a:pt x="4334824" y="50711"/>
                </a:lnTo>
                <a:lnTo>
                  <a:pt x="4470288" y="42285"/>
                </a:lnTo>
                <a:lnTo>
                  <a:pt x="4605751" y="34213"/>
                </a:lnTo>
                <a:lnTo>
                  <a:pt x="4741214" y="26977"/>
                </a:lnTo>
                <a:lnTo>
                  <a:pt x="4876678" y="21080"/>
                </a:lnTo>
                <a:lnTo>
                  <a:pt x="5012141" y="17016"/>
                </a:lnTo>
                <a:lnTo>
                  <a:pt x="5147604" y="15233"/>
                </a:lnTo>
                <a:lnTo>
                  <a:pt x="5283067" y="16099"/>
                </a:lnTo>
                <a:lnTo>
                  <a:pt x="5418531" y="19870"/>
                </a:lnTo>
                <a:lnTo>
                  <a:pt x="5553994" y="26670"/>
                </a:lnTo>
                <a:lnTo>
                  <a:pt x="5689457" y="36475"/>
                </a:lnTo>
                <a:lnTo>
                  <a:pt x="5824921" y="49109"/>
                </a:lnTo>
                <a:lnTo>
                  <a:pt x="5960384" y="64247"/>
                </a:lnTo>
                <a:lnTo>
                  <a:pt x="6095847" y="81430"/>
                </a:lnTo>
                <a:lnTo>
                  <a:pt x="6231310" y="100088"/>
                </a:lnTo>
                <a:lnTo>
                  <a:pt x="6366774" y="119571"/>
                </a:lnTo>
                <a:lnTo>
                  <a:pt x="6502237" y="139187"/>
                </a:lnTo>
                <a:lnTo>
                  <a:pt x="6637700" y="158234"/>
                </a:lnTo>
                <a:lnTo>
                  <a:pt x="6773164" y="176047"/>
                </a:lnTo>
                <a:lnTo>
                  <a:pt x="6908627" y="192030"/>
                </a:lnTo>
                <a:lnTo>
                  <a:pt x="7044090" y="205690"/>
                </a:lnTo>
                <a:lnTo>
                  <a:pt x="7179553" y="216660"/>
                </a:lnTo>
                <a:lnTo>
                  <a:pt x="7315017" y="224721"/>
                </a:lnTo>
                <a:lnTo>
                  <a:pt x="7450480" y="229802"/>
                </a:lnTo>
                <a:lnTo>
                  <a:pt x="7585943" y="231983"/>
                </a:lnTo>
                <a:lnTo>
                  <a:pt x="7721406" y="231480"/>
                </a:lnTo>
                <a:lnTo>
                  <a:pt x="7856870" y="228626"/>
                </a:lnTo>
                <a:lnTo>
                  <a:pt x="7992333" y="223841"/>
                </a:lnTo>
                <a:lnTo>
                  <a:pt x="8127796" y="217601"/>
                </a:lnTo>
                <a:lnTo>
                  <a:pt x="8263260" y="210399"/>
                </a:lnTo>
                <a:lnTo>
                  <a:pt x="8398723" y="202714"/>
                </a:lnTo>
                <a:lnTo>
                  <a:pt x="8534186" y="194975"/>
                </a:lnTo>
                <a:lnTo>
                  <a:pt x="8669649" y="187531"/>
                </a:lnTo>
                <a:lnTo>
                  <a:pt x="8805113" y="180631"/>
                </a:lnTo>
                <a:lnTo>
                  <a:pt x="8940576" y="174414"/>
                </a:lnTo>
                <a:lnTo>
                  <a:pt x="9076039" y="168896"/>
                </a:lnTo>
                <a:lnTo>
                  <a:pt x="9211503" y="163983"/>
                </a:lnTo>
                <a:lnTo>
                  <a:pt x="9346966" y="159481"/>
                </a:lnTo>
                <a:lnTo>
                  <a:pt x="9482429" y="155122"/>
                </a:lnTo>
                <a:lnTo>
                  <a:pt x="9617892" y="150584"/>
                </a:lnTo>
                <a:lnTo>
                  <a:pt x="9753356" y="145531"/>
                </a:lnTo>
                <a:lnTo>
                  <a:pt x="9888819" y="139645"/>
                </a:lnTo>
                <a:lnTo>
                  <a:pt x="10024282" y="132654"/>
                </a:lnTo>
                <a:lnTo>
                  <a:pt x="10159746" y="124369"/>
                </a:lnTo>
                <a:lnTo>
                  <a:pt x="10295209" y="114699"/>
                </a:lnTo>
                <a:lnTo>
                  <a:pt x="10430672" y="103677"/>
                </a:lnTo>
                <a:lnTo>
                  <a:pt x="10566135" y="91461"/>
                </a:lnTo>
                <a:lnTo>
                  <a:pt x="10701599" y="78333"/>
                </a:lnTo>
                <a:lnTo>
                  <a:pt x="10837062" y="64691"/>
                </a:lnTo>
                <a:lnTo>
                  <a:pt x="10972525" y="51025"/>
                </a:lnTo>
                <a:lnTo>
                  <a:pt x="11107988" y="37893"/>
                </a:lnTo>
                <a:lnTo>
                  <a:pt x="11243452" y="25885"/>
                </a:lnTo>
                <a:lnTo>
                  <a:pt x="11378915" y="15588"/>
                </a:lnTo>
                <a:lnTo>
                  <a:pt x="11514378" y="7547"/>
                </a:lnTo>
                <a:lnTo>
                  <a:pt x="11649842" y="2231"/>
                </a:lnTo>
                <a:lnTo>
                  <a:pt x="11785305" y="0"/>
                </a:lnTo>
                <a:lnTo>
                  <a:pt x="11920768" y="1082"/>
                </a:lnTo>
                <a:lnTo>
                  <a:pt x="12056231" y="5551"/>
                </a:lnTo>
                <a:lnTo>
                  <a:pt x="12191695" y="13326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0" y="6533113"/>
            <a:ext cx="12191695" cy="246124"/>
          </a:xfrm>
          <a:custGeom>
            <a:avLst/>
            <a:gdLst/>
            <a:ahLst/>
            <a:cxnLst/>
            <a:rect l="l" t="t" r="r" b="b"/>
            <a:pathLst>
              <a:path w="12191695" h="246124">
                <a:moveTo>
                  <a:pt x="0" y="183172"/>
                </a:moveTo>
                <a:lnTo>
                  <a:pt x="135463" y="199432"/>
                </a:lnTo>
                <a:lnTo>
                  <a:pt x="270926" y="214077"/>
                </a:lnTo>
                <a:lnTo>
                  <a:pt x="406389" y="226514"/>
                </a:lnTo>
                <a:lnTo>
                  <a:pt x="541853" y="236236"/>
                </a:lnTo>
                <a:lnTo>
                  <a:pt x="677316" y="242855"/>
                </a:lnTo>
                <a:lnTo>
                  <a:pt x="812779" y="246124"/>
                </a:lnTo>
                <a:lnTo>
                  <a:pt x="948242" y="245951"/>
                </a:lnTo>
                <a:lnTo>
                  <a:pt x="1083706" y="242404"/>
                </a:lnTo>
                <a:lnTo>
                  <a:pt x="1219169" y="235707"/>
                </a:lnTo>
                <a:lnTo>
                  <a:pt x="1354632" y="226219"/>
                </a:lnTo>
                <a:lnTo>
                  <a:pt x="1490096" y="214417"/>
                </a:lnTo>
                <a:lnTo>
                  <a:pt x="1625559" y="200862"/>
                </a:lnTo>
                <a:lnTo>
                  <a:pt x="1761022" y="186161"/>
                </a:lnTo>
                <a:lnTo>
                  <a:pt x="1896485" y="170935"/>
                </a:lnTo>
                <a:lnTo>
                  <a:pt x="2031949" y="155777"/>
                </a:lnTo>
                <a:lnTo>
                  <a:pt x="2167412" y="141221"/>
                </a:lnTo>
                <a:lnTo>
                  <a:pt x="2302875" y="127707"/>
                </a:lnTo>
                <a:lnTo>
                  <a:pt x="2438339" y="115564"/>
                </a:lnTo>
                <a:lnTo>
                  <a:pt x="2573802" y="104994"/>
                </a:lnTo>
                <a:lnTo>
                  <a:pt x="2709265" y="96068"/>
                </a:lnTo>
                <a:lnTo>
                  <a:pt x="2844728" y="88731"/>
                </a:lnTo>
                <a:lnTo>
                  <a:pt x="2980192" y="82816"/>
                </a:lnTo>
                <a:lnTo>
                  <a:pt x="3115655" y="78067"/>
                </a:lnTo>
                <a:lnTo>
                  <a:pt x="3251118" y="74166"/>
                </a:lnTo>
                <a:lnTo>
                  <a:pt x="3386582" y="70766"/>
                </a:lnTo>
                <a:lnTo>
                  <a:pt x="3522045" y="67527"/>
                </a:lnTo>
                <a:lnTo>
                  <a:pt x="3657508" y="64145"/>
                </a:lnTo>
                <a:lnTo>
                  <a:pt x="3792971" y="60383"/>
                </a:lnTo>
                <a:lnTo>
                  <a:pt x="3928435" y="56096"/>
                </a:lnTo>
                <a:lnTo>
                  <a:pt x="4063898" y="51248"/>
                </a:lnTo>
                <a:lnTo>
                  <a:pt x="4199361" y="45917"/>
                </a:lnTo>
                <a:lnTo>
                  <a:pt x="4334824" y="40294"/>
                </a:lnTo>
                <a:lnTo>
                  <a:pt x="4470288" y="34675"/>
                </a:lnTo>
                <a:lnTo>
                  <a:pt x="4605751" y="29440"/>
                </a:lnTo>
                <a:lnTo>
                  <a:pt x="4741214" y="25025"/>
                </a:lnTo>
                <a:lnTo>
                  <a:pt x="4876678" y="21891"/>
                </a:lnTo>
                <a:lnTo>
                  <a:pt x="5012141" y="20491"/>
                </a:lnTo>
                <a:lnTo>
                  <a:pt x="5147604" y="21233"/>
                </a:lnTo>
                <a:lnTo>
                  <a:pt x="5283067" y="24445"/>
                </a:lnTo>
                <a:lnTo>
                  <a:pt x="5418531" y="30349"/>
                </a:lnTo>
                <a:lnTo>
                  <a:pt x="5553994" y="39037"/>
                </a:lnTo>
                <a:lnTo>
                  <a:pt x="5689457" y="50457"/>
                </a:lnTo>
                <a:lnTo>
                  <a:pt x="5824921" y="64407"/>
                </a:lnTo>
                <a:lnTo>
                  <a:pt x="5960384" y="80543"/>
                </a:lnTo>
                <a:lnTo>
                  <a:pt x="6095847" y="98390"/>
                </a:lnTo>
                <a:lnTo>
                  <a:pt x="6231310" y="117369"/>
                </a:lnTo>
                <a:lnTo>
                  <a:pt x="6366774" y="136826"/>
                </a:lnTo>
                <a:lnTo>
                  <a:pt x="6502237" y="156066"/>
                </a:lnTo>
                <a:lnTo>
                  <a:pt x="6637700" y="174397"/>
                </a:lnTo>
                <a:lnTo>
                  <a:pt x="6773164" y="191162"/>
                </a:lnTo>
                <a:lnTo>
                  <a:pt x="6908627" y="205782"/>
                </a:lnTo>
                <a:lnTo>
                  <a:pt x="7044090" y="217784"/>
                </a:lnTo>
                <a:lnTo>
                  <a:pt x="7179553" y="226827"/>
                </a:lnTo>
                <a:lnTo>
                  <a:pt x="7315017" y="232720"/>
                </a:lnTo>
                <a:lnTo>
                  <a:pt x="7450480" y="235424"/>
                </a:lnTo>
                <a:lnTo>
                  <a:pt x="7585943" y="235057"/>
                </a:lnTo>
                <a:lnTo>
                  <a:pt x="7721406" y="231872"/>
                </a:lnTo>
                <a:lnTo>
                  <a:pt x="7856870" y="226244"/>
                </a:lnTo>
                <a:lnTo>
                  <a:pt x="7992333" y="218632"/>
                </a:lnTo>
                <a:lnTo>
                  <a:pt x="8127796" y="209557"/>
                </a:lnTo>
                <a:lnTo>
                  <a:pt x="8263260" y="199555"/>
                </a:lnTo>
                <a:lnTo>
                  <a:pt x="8398723" y="189147"/>
                </a:lnTo>
                <a:lnTo>
                  <a:pt x="8534186" y="178801"/>
                </a:lnTo>
                <a:lnTo>
                  <a:pt x="8669649" y="168908"/>
                </a:lnTo>
                <a:lnTo>
                  <a:pt x="8805113" y="159754"/>
                </a:lnTo>
                <a:lnTo>
                  <a:pt x="8940576" y="151510"/>
                </a:lnTo>
                <a:lnTo>
                  <a:pt x="9076039" y="144224"/>
                </a:lnTo>
                <a:lnTo>
                  <a:pt x="9211503" y="137828"/>
                </a:lnTo>
                <a:lnTo>
                  <a:pt x="9346966" y="132152"/>
                </a:lnTo>
                <a:lnTo>
                  <a:pt x="9482429" y="126943"/>
                </a:lnTo>
                <a:lnTo>
                  <a:pt x="9617892" y="121894"/>
                </a:lnTo>
                <a:lnTo>
                  <a:pt x="9753356" y="116677"/>
                </a:lnTo>
                <a:lnTo>
                  <a:pt x="9888819" y="110975"/>
                </a:lnTo>
                <a:lnTo>
                  <a:pt x="10024282" y="104513"/>
                </a:lnTo>
                <a:lnTo>
                  <a:pt x="10159746" y="97095"/>
                </a:lnTo>
                <a:lnTo>
                  <a:pt x="10295209" y="88617"/>
                </a:lnTo>
                <a:lnTo>
                  <a:pt x="10430672" y="79094"/>
                </a:lnTo>
                <a:lnTo>
                  <a:pt x="10566135" y="68661"/>
                </a:lnTo>
                <a:lnTo>
                  <a:pt x="10701599" y="57573"/>
                </a:lnTo>
                <a:lnTo>
                  <a:pt x="10837062" y="46197"/>
                </a:lnTo>
                <a:lnTo>
                  <a:pt x="10972525" y="34990"/>
                </a:lnTo>
                <a:lnTo>
                  <a:pt x="11107988" y="24471"/>
                </a:lnTo>
                <a:lnTo>
                  <a:pt x="11243452" y="15192"/>
                </a:lnTo>
                <a:lnTo>
                  <a:pt x="11378915" y="7698"/>
                </a:lnTo>
                <a:lnTo>
                  <a:pt x="11514378" y="2492"/>
                </a:lnTo>
                <a:lnTo>
                  <a:pt x="11649842" y="0"/>
                </a:lnTo>
                <a:lnTo>
                  <a:pt x="11785305" y="541"/>
                </a:lnTo>
                <a:lnTo>
                  <a:pt x="11920768" y="4298"/>
                </a:lnTo>
                <a:lnTo>
                  <a:pt x="12056231" y="11307"/>
                </a:lnTo>
                <a:lnTo>
                  <a:pt x="12191695" y="21447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0" y="6600998"/>
            <a:ext cx="12191695" cy="238322"/>
          </a:xfrm>
          <a:custGeom>
            <a:avLst/>
            <a:gdLst/>
            <a:ahLst/>
            <a:cxnLst/>
            <a:rect l="l" t="t" r="r" b="b"/>
            <a:pathLst>
              <a:path w="12191695" h="238322">
                <a:moveTo>
                  <a:pt x="0" y="190722"/>
                </a:moveTo>
                <a:lnTo>
                  <a:pt x="135463" y="204821"/>
                </a:lnTo>
                <a:lnTo>
                  <a:pt x="270926" y="217096"/>
                </a:lnTo>
                <a:lnTo>
                  <a:pt x="406389" y="226989"/>
                </a:lnTo>
                <a:lnTo>
                  <a:pt x="541853" y="234032"/>
                </a:lnTo>
                <a:lnTo>
                  <a:pt x="677316" y="237878"/>
                </a:lnTo>
                <a:lnTo>
                  <a:pt x="812779" y="238322"/>
                </a:lnTo>
                <a:lnTo>
                  <a:pt x="948242" y="235314"/>
                </a:lnTo>
                <a:lnTo>
                  <a:pt x="1083706" y="228966"/>
                </a:lnTo>
                <a:lnTo>
                  <a:pt x="1219169" y="219541"/>
                </a:lnTo>
                <a:lnTo>
                  <a:pt x="1354632" y="207444"/>
                </a:lnTo>
                <a:lnTo>
                  <a:pt x="1490096" y="193188"/>
                </a:lnTo>
                <a:lnTo>
                  <a:pt x="1625559" y="177371"/>
                </a:lnTo>
                <a:lnTo>
                  <a:pt x="1761022" y="160636"/>
                </a:lnTo>
                <a:lnTo>
                  <a:pt x="1896485" y="143634"/>
                </a:lnTo>
                <a:lnTo>
                  <a:pt x="2031949" y="126985"/>
                </a:lnTo>
                <a:lnTo>
                  <a:pt x="2167412" y="111244"/>
                </a:lnTo>
                <a:lnTo>
                  <a:pt x="2302875" y="96871"/>
                </a:lnTo>
                <a:lnTo>
                  <a:pt x="2438339" y="84207"/>
                </a:lnTo>
                <a:lnTo>
                  <a:pt x="2573802" y="73462"/>
                </a:lnTo>
                <a:lnTo>
                  <a:pt x="2709265" y="64709"/>
                </a:lnTo>
                <a:lnTo>
                  <a:pt x="2844728" y="57891"/>
                </a:lnTo>
                <a:lnTo>
                  <a:pt x="2980192" y="52834"/>
                </a:lnTo>
                <a:lnTo>
                  <a:pt x="3115655" y="49267"/>
                </a:lnTo>
                <a:lnTo>
                  <a:pt x="3251118" y="46856"/>
                </a:lnTo>
                <a:lnTo>
                  <a:pt x="3386582" y="45231"/>
                </a:lnTo>
                <a:lnTo>
                  <a:pt x="3522045" y="44024"/>
                </a:lnTo>
                <a:lnTo>
                  <a:pt x="3657508" y="42902"/>
                </a:lnTo>
                <a:lnTo>
                  <a:pt x="3792971" y="41593"/>
                </a:lnTo>
                <a:lnTo>
                  <a:pt x="3928435" y="39916"/>
                </a:lnTo>
                <a:lnTo>
                  <a:pt x="4063898" y="37794"/>
                </a:lnTo>
                <a:lnTo>
                  <a:pt x="4199361" y="35264"/>
                </a:lnTo>
                <a:lnTo>
                  <a:pt x="4334824" y="32476"/>
                </a:lnTo>
                <a:lnTo>
                  <a:pt x="4470288" y="29683"/>
                </a:lnTo>
                <a:lnTo>
                  <a:pt x="4605751" y="27220"/>
                </a:lnTo>
                <a:lnTo>
                  <a:pt x="4741214" y="25484"/>
                </a:lnTo>
                <a:lnTo>
                  <a:pt x="4876678" y="24895"/>
                </a:lnTo>
                <a:lnTo>
                  <a:pt x="5012141" y="25867"/>
                </a:lnTo>
                <a:lnTo>
                  <a:pt x="5147604" y="28771"/>
                </a:lnTo>
                <a:lnTo>
                  <a:pt x="5283067" y="33905"/>
                </a:lnTo>
                <a:lnTo>
                  <a:pt x="5418531" y="41460"/>
                </a:lnTo>
                <a:lnTo>
                  <a:pt x="5553994" y="51504"/>
                </a:lnTo>
                <a:lnTo>
                  <a:pt x="5689457" y="63964"/>
                </a:lnTo>
                <a:lnTo>
                  <a:pt x="5824921" y="78622"/>
                </a:lnTo>
                <a:lnTo>
                  <a:pt x="5960384" y="95124"/>
                </a:lnTo>
                <a:lnTo>
                  <a:pt x="6095847" y="112989"/>
                </a:lnTo>
                <a:lnTo>
                  <a:pt x="6231310" y="131639"/>
                </a:lnTo>
                <a:lnTo>
                  <a:pt x="6366774" y="150423"/>
                </a:lnTo>
                <a:lnTo>
                  <a:pt x="6502237" y="168658"/>
                </a:lnTo>
                <a:lnTo>
                  <a:pt x="6637700" y="185665"/>
                </a:lnTo>
                <a:lnTo>
                  <a:pt x="6773164" y="200809"/>
                </a:lnTo>
                <a:lnTo>
                  <a:pt x="6908627" y="213535"/>
                </a:lnTo>
                <a:lnTo>
                  <a:pt x="7044090" y="223398"/>
                </a:lnTo>
                <a:lnTo>
                  <a:pt x="7179553" y="230090"/>
                </a:lnTo>
                <a:lnTo>
                  <a:pt x="7315017" y="233454"/>
                </a:lnTo>
                <a:lnTo>
                  <a:pt x="7450480" y="233492"/>
                </a:lnTo>
                <a:lnTo>
                  <a:pt x="7585943" y="230359"/>
                </a:lnTo>
                <a:lnTo>
                  <a:pt x="7721406" y="224353"/>
                </a:lnTo>
                <a:lnTo>
                  <a:pt x="7856870" y="215888"/>
                </a:lnTo>
                <a:lnTo>
                  <a:pt x="7992333" y="205470"/>
                </a:lnTo>
                <a:lnTo>
                  <a:pt x="8127796" y="193658"/>
                </a:lnTo>
                <a:lnTo>
                  <a:pt x="8263260" y="181033"/>
                </a:lnTo>
                <a:lnTo>
                  <a:pt x="8398723" y="168153"/>
                </a:lnTo>
                <a:lnTo>
                  <a:pt x="8534186" y="155526"/>
                </a:lnTo>
                <a:lnTo>
                  <a:pt x="8669649" y="143575"/>
                </a:lnTo>
                <a:lnTo>
                  <a:pt x="8805113" y="132618"/>
                </a:lnTo>
                <a:lnTo>
                  <a:pt x="8940576" y="122852"/>
                </a:lnTo>
                <a:lnTo>
                  <a:pt x="9076039" y="114351"/>
                </a:lnTo>
                <a:lnTo>
                  <a:pt x="9211503" y="107063"/>
                </a:lnTo>
                <a:lnTo>
                  <a:pt x="9346966" y="100832"/>
                </a:lnTo>
                <a:lnTo>
                  <a:pt x="9482429" y="95413"/>
                </a:lnTo>
                <a:lnTo>
                  <a:pt x="9617892" y="90502"/>
                </a:lnTo>
                <a:lnTo>
                  <a:pt x="9753356" y="85770"/>
                </a:lnTo>
                <a:lnTo>
                  <a:pt x="9888819" y="80892"/>
                </a:lnTo>
                <a:lnTo>
                  <a:pt x="10024282" y="75582"/>
                </a:lnTo>
                <a:lnTo>
                  <a:pt x="10159746" y="69623"/>
                </a:lnTo>
                <a:lnTo>
                  <a:pt x="10295209" y="62893"/>
                </a:lnTo>
                <a:lnTo>
                  <a:pt x="10430672" y="55378"/>
                </a:lnTo>
                <a:lnTo>
                  <a:pt x="10566135" y="47183"/>
                </a:lnTo>
                <a:lnTo>
                  <a:pt x="10701599" y="38531"/>
                </a:lnTo>
                <a:lnTo>
                  <a:pt x="10837062" y="29751"/>
                </a:lnTo>
                <a:lnTo>
                  <a:pt x="10972525" y="21260"/>
                </a:lnTo>
                <a:lnTo>
                  <a:pt x="11107988" y="13537"/>
                </a:lnTo>
                <a:lnTo>
                  <a:pt x="11243452" y="7091"/>
                </a:lnTo>
                <a:lnTo>
                  <a:pt x="11378915" y="2425"/>
                </a:lnTo>
                <a:lnTo>
                  <a:pt x="11514378" y="0"/>
                </a:lnTo>
                <a:lnTo>
                  <a:pt x="11649842" y="198"/>
                </a:lnTo>
                <a:lnTo>
                  <a:pt x="11785305" y="3299"/>
                </a:lnTo>
                <a:lnTo>
                  <a:pt x="11920768" y="9446"/>
                </a:lnTo>
                <a:lnTo>
                  <a:pt x="12056231" y="18641"/>
                </a:lnTo>
                <a:lnTo>
                  <a:pt x="12191695" y="30728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46304"/>
            <a:ext cx="11283696" cy="44805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规划场景：数据研发专业协作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722376"/>
            <a:ext cx="585216" cy="41148"/>
          </a:xfrm>
          <a:prstGeom prst="rect">
            <a:avLst/>
          </a:prstGeom>
          <a:solidFill>
            <a:srgbClr val="EE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649224"/>
            <a:ext cx="10469880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2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复用存量并形成验证证据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292608"/>
            <a:ext cx="896112" cy="20116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HiAgent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6647688"/>
            <a:ext cx="10241280" cy="1280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7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企业数据智能体建设规划  /  规划视图  /  2026.10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629400"/>
            <a:ext cx="585216" cy="17373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" y="1133856"/>
            <a:ext cx="11219688" cy="26517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7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示意：新增经营指标需求，先核对已有口径与实现，再进入原平台受控交付。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" y="1687068"/>
            <a:ext cx="1527048" cy="3941063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1655064"/>
            <a:ext cx="1527048" cy="39410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1847088"/>
            <a:ext cx="1289304" cy="23774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2231136"/>
            <a:ext cx="1289304" cy="36576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需求复用</a:t>
            </a:r>
          </a:p>
        </p:txBody>
      </p:sp>
      <p:sp>
        <p:nvSpPr>
          <p:cNvPr id="18" name="Oval 17"/>
          <p:cNvSpPr/>
          <p:nvPr/>
        </p:nvSpPr>
        <p:spPr>
          <a:xfrm>
            <a:off x="845728" y="3591854"/>
            <a:ext cx="880567" cy="156545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972921" y="2838480"/>
            <a:ext cx="626181" cy="166329"/>
          </a:xfrm>
          <a:custGeom>
            <a:avLst/>
            <a:gdLst/>
            <a:ahLst/>
            <a:cxnLst/>
            <a:rect l="l" t="t" r="r" b="b"/>
            <a:pathLst>
              <a:path w="626181" h="166329">
                <a:moveTo>
                  <a:pt x="0" y="68489"/>
                </a:moveTo>
                <a:lnTo>
                  <a:pt x="508772" y="0"/>
                </a:lnTo>
                <a:lnTo>
                  <a:pt x="626181" y="88057"/>
                </a:lnTo>
                <a:lnTo>
                  <a:pt x="117409" y="166329"/>
                </a:lnTo>
                <a:close/>
              </a:path>
            </a:pathLst>
          </a:custGeom>
          <a:solidFill>
            <a:srgbClr val="B1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1481693" y="2838480"/>
            <a:ext cx="117409" cy="694670"/>
          </a:xfrm>
          <a:custGeom>
            <a:avLst/>
            <a:gdLst/>
            <a:ahLst/>
            <a:cxnLst/>
            <a:rect l="l" t="t" r="r" b="b"/>
            <a:pathLst>
              <a:path w="117409" h="694670">
                <a:moveTo>
                  <a:pt x="0" y="0"/>
                </a:moveTo>
                <a:lnTo>
                  <a:pt x="117409" y="88057"/>
                </a:lnTo>
                <a:lnTo>
                  <a:pt x="117409" y="694670"/>
                </a:lnTo>
                <a:lnTo>
                  <a:pt x="0" y="626181"/>
                </a:lnTo>
                <a:close/>
              </a:path>
            </a:pathLst>
          </a:custGeom>
          <a:solidFill>
            <a:srgbClr val="147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972921" y="2838480"/>
            <a:ext cx="508772" cy="704454"/>
          </a:xfrm>
          <a:custGeom>
            <a:avLst/>
            <a:gdLst/>
            <a:ahLst/>
            <a:cxnLst/>
            <a:rect l="l" t="t" r="r" b="b"/>
            <a:pathLst>
              <a:path w="508772" h="704454">
                <a:moveTo>
                  <a:pt x="0" y="68489"/>
                </a:moveTo>
                <a:lnTo>
                  <a:pt x="508772" y="0"/>
                </a:lnTo>
                <a:lnTo>
                  <a:pt x="508772" y="626181"/>
                </a:lnTo>
                <a:lnTo>
                  <a:pt x="0" y="704454"/>
                </a:lnTo>
                <a:close/>
              </a:path>
            </a:pathLst>
          </a:custGeom>
          <a:solidFill>
            <a:srgbClr val="52B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1060978" y="3034162"/>
            <a:ext cx="322874" cy="4892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60978" y="3171139"/>
            <a:ext cx="322874" cy="4892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60978" y="3308116"/>
            <a:ext cx="322874" cy="4892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2648" y="4069080"/>
            <a:ext cx="1307592" cy="429768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4101084"/>
            <a:ext cx="1124712" cy="365759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已有指标与资产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" y="4754880"/>
            <a:ext cx="1271016" cy="5852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明确对象、口径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范围与验收要求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052827" y="3273552"/>
            <a:ext cx="137161" cy="0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2131521" y="3273552"/>
            <a:ext cx="58467" cy="35845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2131521" y="3237706"/>
            <a:ext cx="58467" cy="35846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235708" y="1687068"/>
            <a:ext cx="1527048" cy="3941063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212848" y="1655064"/>
            <a:ext cx="1527048" cy="39410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31720" y="1847088"/>
            <a:ext cx="1289304" cy="23774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2231136"/>
            <a:ext cx="1289304" cy="36576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模型设计</a:t>
            </a:r>
          </a:p>
        </p:txBody>
      </p:sp>
      <p:sp>
        <p:nvSpPr>
          <p:cNvPr id="35" name="Oval 34"/>
          <p:cNvSpPr/>
          <p:nvPr/>
        </p:nvSpPr>
        <p:spPr>
          <a:xfrm>
            <a:off x="2555656" y="3591854"/>
            <a:ext cx="880567" cy="156545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2682849" y="2838480"/>
            <a:ext cx="626181" cy="166329"/>
          </a:xfrm>
          <a:custGeom>
            <a:avLst/>
            <a:gdLst/>
            <a:ahLst/>
            <a:cxnLst/>
            <a:rect l="l" t="t" r="r" b="b"/>
            <a:pathLst>
              <a:path w="626181" h="166329">
                <a:moveTo>
                  <a:pt x="0" y="68489"/>
                </a:moveTo>
                <a:lnTo>
                  <a:pt x="508772" y="0"/>
                </a:lnTo>
                <a:lnTo>
                  <a:pt x="626181" y="88057"/>
                </a:lnTo>
                <a:lnTo>
                  <a:pt x="117409" y="166329"/>
                </a:lnTo>
                <a:close/>
              </a:path>
            </a:pathLst>
          </a:custGeom>
          <a:solidFill>
            <a:srgbClr val="B1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3191621" y="2838480"/>
            <a:ext cx="117409" cy="694670"/>
          </a:xfrm>
          <a:custGeom>
            <a:avLst/>
            <a:gdLst/>
            <a:ahLst/>
            <a:cxnLst/>
            <a:rect l="l" t="t" r="r" b="b"/>
            <a:pathLst>
              <a:path w="117409" h="694670">
                <a:moveTo>
                  <a:pt x="0" y="0"/>
                </a:moveTo>
                <a:lnTo>
                  <a:pt x="117409" y="88057"/>
                </a:lnTo>
                <a:lnTo>
                  <a:pt x="117409" y="694670"/>
                </a:lnTo>
                <a:lnTo>
                  <a:pt x="0" y="626181"/>
                </a:lnTo>
                <a:close/>
              </a:path>
            </a:pathLst>
          </a:custGeom>
          <a:solidFill>
            <a:srgbClr val="147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2682849" y="2838480"/>
            <a:ext cx="508772" cy="704454"/>
          </a:xfrm>
          <a:custGeom>
            <a:avLst/>
            <a:gdLst/>
            <a:ahLst/>
            <a:cxnLst/>
            <a:rect l="l" t="t" r="r" b="b"/>
            <a:pathLst>
              <a:path w="508772" h="704454">
                <a:moveTo>
                  <a:pt x="0" y="68489"/>
                </a:moveTo>
                <a:lnTo>
                  <a:pt x="508772" y="0"/>
                </a:lnTo>
                <a:lnTo>
                  <a:pt x="508772" y="626181"/>
                </a:lnTo>
                <a:lnTo>
                  <a:pt x="0" y="704454"/>
                </a:lnTo>
                <a:close/>
              </a:path>
            </a:pathLst>
          </a:custGeom>
          <a:solidFill>
            <a:srgbClr val="52B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 flipV="1">
            <a:off x="2770906" y="3034162"/>
            <a:ext cx="322874" cy="4892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770906" y="3171139"/>
            <a:ext cx="322874" cy="4892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770906" y="3308116"/>
            <a:ext cx="322874" cy="4892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2322576" y="4069080"/>
            <a:ext cx="1307592" cy="429768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14016" y="4101084"/>
            <a:ext cx="1124712" cy="365759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粒度与来源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40864" y="4754880"/>
            <a:ext cx="1271016" cy="5852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引用同域模型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确认字段与码值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762756" y="3273552"/>
            <a:ext cx="137159" cy="0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3841449" y="3273552"/>
            <a:ext cx="58466" cy="35845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3841449" y="3237706"/>
            <a:ext cx="58466" cy="35846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3945636" y="1687068"/>
            <a:ext cx="1527048" cy="3941063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922776" y="1655064"/>
            <a:ext cx="1527048" cy="39410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41648" y="1847088"/>
            <a:ext cx="1289304" cy="23774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41648" y="2231136"/>
            <a:ext cx="1289304" cy="36576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代码开发</a:t>
            </a:r>
          </a:p>
        </p:txBody>
      </p:sp>
      <p:sp>
        <p:nvSpPr>
          <p:cNvPr id="52" name="Oval 51"/>
          <p:cNvSpPr/>
          <p:nvPr/>
        </p:nvSpPr>
        <p:spPr>
          <a:xfrm>
            <a:off x="4265584" y="3591854"/>
            <a:ext cx="880567" cy="156545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4392777" y="2838480"/>
            <a:ext cx="626181" cy="166329"/>
          </a:xfrm>
          <a:custGeom>
            <a:avLst/>
            <a:gdLst/>
            <a:ahLst/>
            <a:cxnLst/>
            <a:rect l="l" t="t" r="r" b="b"/>
            <a:pathLst>
              <a:path w="626181" h="166329">
                <a:moveTo>
                  <a:pt x="0" y="68489"/>
                </a:moveTo>
                <a:lnTo>
                  <a:pt x="508772" y="0"/>
                </a:lnTo>
                <a:lnTo>
                  <a:pt x="626181" y="88057"/>
                </a:lnTo>
                <a:lnTo>
                  <a:pt x="117409" y="166329"/>
                </a:lnTo>
                <a:close/>
              </a:path>
            </a:pathLst>
          </a:custGeom>
          <a:solidFill>
            <a:srgbClr val="B1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4901549" y="2838480"/>
            <a:ext cx="117409" cy="694670"/>
          </a:xfrm>
          <a:custGeom>
            <a:avLst/>
            <a:gdLst/>
            <a:ahLst/>
            <a:cxnLst/>
            <a:rect l="l" t="t" r="r" b="b"/>
            <a:pathLst>
              <a:path w="117409" h="694670">
                <a:moveTo>
                  <a:pt x="0" y="0"/>
                </a:moveTo>
                <a:lnTo>
                  <a:pt x="117409" y="88057"/>
                </a:lnTo>
                <a:lnTo>
                  <a:pt x="117409" y="694670"/>
                </a:lnTo>
                <a:lnTo>
                  <a:pt x="0" y="626181"/>
                </a:lnTo>
                <a:close/>
              </a:path>
            </a:pathLst>
          </a:custGeom>
          <a:solidFill>
            <a:srgbClr val="147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4392777" y="2838480"/>
            <a:ext cx="508772" cy="704454"/>
          </a:xfrm>
          <a:custGeom>
            <a:avLst/>
            <a:gdLst/>
            <a:ahLst/>
            <a:cxnLst/>
            <a:rect l="l" t="t" r="r" b="b"/>
            <a:pathLst>
              <a:path w="508772" h="704454">
                <a:moveTo>
                  <a:pt x="0" y="68489"/>
                </a:moveTo>
                <a:lnTo>
                  <a:pt x="508772" y="0"/>
                </a:lnTo>
                <a:lnTo>
                  <a:pt x="508772" y="626181"/>
                </a:lnTo>
                <a:lnTo>
                  <a:pt x="0" y="704454"/>
                </a:lnTo>
                <a:close/>
              </a:path>
            </a:pathLst>
          </a:custGeom>
          <a:solidFill>
            <a:srgbClr val="52B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V="1">
            <a:off x="4480834" y="3034162"/>
            <a:ext cx="322874" cy="4892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4480834" y="3171139"/>
            <a:ext cx="322874" cy="4892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480834" y="3308116"/>
            <a:ext cx="322874" cy="4892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441698" y="3171139"/>
            <a:ext cx="420715" cy="205465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12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&lt;/&gt;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032504" y="4069080"/>
            <a:ext cx="1307592" cy="429768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23944" y="4101084"/>
            <a:ext cx="1124712" cy="365759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代码草稿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50791" y="4754880"/>
            <a:ext cx="1271016" cy="5852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依设计与规范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调用实际调试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472684" y="3273552"/>
            <a:ext cx="137160" cy="0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5551377" y="3273552"/>
            <a:ext cx="58467" cy="35845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 flipV="1">
            <a:off x="5551377" y="3237706"/>
            <a:ext cx="58467" cy="35846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5655564" y="1687068"/>
            <a:ext cx="1527048" cy="3941063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5632703" y="1655064"/>
            <a:ext cx="1527048" cy="39410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751575" y="1847088"/>
            <a:ext cx="1289304" cy="23774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04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751575" y="2231136"/>
            <a:ext cx="1289304" cy="36576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测试评审</a:t>
            </a:r>
          </a:p>
        </p:txBody>
      </p:sp>
      <p:sp>
        <p:nvSpPr>
          <p:cNvPr id="70" name="Oval 69"/>
          <p:cNvSpPr/>
          <p:nvPr/>
        </p:nvSpPr>
        <p:spPr>
          <a:xfrm>
            <a:off x="5975512" y="3591854"/>
            <a:ext cx="880567" cy="156545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6102705" y="2838480"/>
            <a:ext cx="626181" cy="166329"/>
          </a:xfrm>
          <a:custGeom>
            <a:avLst/>
            <a:gdLst/>
            <a:ahLst/>
            <a:cxnLst/>
            <a:rect l="l" t="t" r="r" b="b"/>
            <a:pathLst>
              <a:path w="626181" h="166329">
                <a:moveTo>
                  <a:pt x="0" y="68489"/>
                </a:moveTo>
                <a:lnTo>
                  <a:pt x="508772" y="0"/>
                </a:lnTo>
                <a:lnTo>
                  <a:pt x="626181" y="88057"/>
                </a:lnTo>
                <a:lnTo>
                  <a:pt x="117409" y="166329"/>
                </a:lnTo>
                <a:close/>
              </a:path>
            </a:pathLst>
          </a:custGeom>
          <a:solidFill>
            <a:srgbClr val="B1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6611477" y="2838480"/>
            <a:ext cx="117409" cy="694670"/>
          </a:xfrm>
          <a:custGeom>
            <a:avLst/>
            <a:gdLst/>
            <a:ahLst/>
            <a:cxnLst/>
            <a:rect l="l" t="t" r="r" b="b"/>
            <a:pathLst>
              <a:path w="117409" h="694670">
                <a:moveTo>
                  <a:pt x="0" y="0"/>
                </a:moveTo>
                <a:lnTo>
                  <a:pt x="117409" y="88057"/>
                </a:lnTo>
                <a:lnTo>
                  <a:pt x="117409" y="694670"/>
                </a:lnTo>
                <a:lnTo>
                  <a:pt x="0" y="626181"/>
                </a:lnTo>
                <a:close/>
              </a:path>
            </a:pathLst>
          </a:custGeom>
          <a:solidFill>
            <a:srgbClr val="147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6102705" y="2838480"/>
            <a:ext cx="508772" cy="704454"/>
          </a:xfrm>
          <a:custGeom>
            <a:avLst/>
            <a:gdLst/>
            <a:ahLst/>
            <a:cxnLst/>
            <a:rect l="l" t="t" r="r" b="b"/>
            <a:pathLst>
              <a:path w="508772" h="704454">
                <a:moveTo>
                  <a:pt x="0" y="68489"/>
                </a:moveTo>
                <a:lnTo>
                  <a:pt x="508772" y="0"/>
                </a:lnTo>
                <a:lnTo>
                  <a:pt x="508772" y="626181"/>
                </a:lnTo>
                <a:lnTo>
                  <a:pt x="0" y="704454"/>
                </a:lnTo>
                <a:close/>
              </a:path>
            </a:pathLst>
          </a:custGeom>
          <a:solidFill>
            <a:srgbClr val="52B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 flipV="1">
            <a:off x="6190762" y="3034162"/>
            <a:ext cx="322874" cy="4892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190762" y="3171139"/>
            <a:ext cx="322874" cy="4892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190762" y="3308116"/>
            <a:ext cx="322874" cy="4892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6239682" y="3239627"/>
            <a:ext cx="97841" cy="97841"/>
          </a:xfrm>
          <a:prstGeom prst="line">
            <a:avLst/>
          </a:prstGeom>
          <a:ln w="254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6337523" y="3102650"/>
            <a:ext cx="195682" cy="234818"/>
          </a:xfrm>
          <a:prstGeom prst="line">
            <a:avLst/>
          </a:prstGeom>
          <a:ln w="254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5742431" y="4069080"/>
            <a:ext cx="1307592" cy="429768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833871" y="4101084"/>
            <a:ext cx="1124712" cy="365759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检查与对账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760719" y="4754880"/>
            <a:ext cx="1271016" cy="5852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独立验证结果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核对血缘影响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7182612" y="3273552"/>
            <a:ext cx="137159" cy="0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H="1">
            <a:off x="7261305" y="3273552"/>
            <a:ext cx="58466" cy="35845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7261305" y="3237706"/>
            <a:ext cx="58466" cy="35846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84"/>
          <p:cNvSpPr/>
          <p:nvPr/>
        </p:nvSpPr>
        <p:spPr>
          <a:xfrm>
            <a:off x="7365492" y="1687068"/>
            <a:ext cx="1527048" cy="3941063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7342631" y="1655064"/>
            <a:ext cx="1527048" cy="39410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61504" y="1847088"/>
            <a:ext cx="1289304" cy="23774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05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461504" y="2231136"/>
            <a:ext cx="1289304" cy="36576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受控交付</a:t>
            </a:r>
          </a:p>
        </p:txBody>
      </p:sp>
      <p:sp>
        <p:nvSpPr>
          <p:cNvPr id="89" name="Oval 88"/>
          <p:cNvSpPr/>
          <p:nvPr/>
        </p:nvSpPr>
        <p:spPr>
          <a:xfrm>
            <a:off x="7685440" y="3591854"/>
            <a:ext cx="880567" cy="156545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7646304" y="3327684"/>
            <a:ext cx="900135" cy="378057"/>
          </a:xfrm>
          <a:custGeom>
            <a:avLst/>
            <a:gdLst/>
            <a:ahLst/>
            <a:cxnLst/>
            <a:rect l="l" t="t" r="r" b="b"/>
            <a:pathLst>
              <a:path w="900135" h="378057">
                <a:moveTo>
                  <a:pt x="0" y="189028"/>
                </a:moveTo>
                <a:lnTo>
                  <a:pt x="450067" y="0"/>
                </a:lnTo>
                <a:lnTo>
                  <a:pt x="900135" y="189028"/>
                </a:lnTo>
                <a:lnTo>
                  <a:pt x="450067" y="378057"/>
                </a:lnTo>
                <a:close/>
              </a:path>
            </a:pathLst>
          </a:custGeom>
          <a:solidFill>
            <a:srgbClr val="B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7646304" y="3516712"/>
            <a:ext cx="450067" cy="272194"/>
          </a:xfrm>
          <a:custGeom>
            <a:avLst/>
            <a:gdLst/>
            <a:ahLst/>
            <a:cxnLst/>
            <a:rect l="l" t="t" r="r" b="b"/>
            <a:pathLst>
              <a:path w="450067" h="272194">
                <a:moveTo>
                  <a:pt x="0" y="0"/>
                </a:moveTo>
                <a:lnTo>
                  <a:pt x="450067" y="189029"/>
                </a:lnTo>
                <a:lnTo>
                  <a:pt x="450067" y="272194"/>
                </a:lnTo>
                <a:lnTo>
                  <a:pt x="0" y="83165"/>
                </a:lnTo>
                <a:close/>
              </a:path>
            </a:pathLst>
          </a:custGeom>
          <a:solidFill>
            <a:srgbClr val="6D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8096371" y="3516712"/>
            <a:ext cx="450068" cy="272194"/>
          </a:xfrm>
          <a:custGeom>
            <a:avLst/>
            <a:gdLst/>
            <a:ahLst/>
            <a:cxnLst/>
            <a:rect l="l" t="t" r="r" b="b"/>
            <a:pathLst>
              <a:path w="450068" h="272194">
                <a:moveTo>
                  <a:pt x="0" y="189029"/>
                </a:moveTo>
                <a:lnTo>
                  <a:pt x="450068" y="0"/>
                </a:lnTo>
                <a:lnTo>
                  <a:pt x="450068" y="83165"/>
                </a:lnTo>
                <a:lnTo>
                  <a:pt x="0" y="272194"/>
                </a:lnTo>
                <a:close/>
              </a:path>
            </a:pathLst>
          </a:custGeom>
          <a:solidFill>
            <a:srgbClr val="30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7724576" y="3141786"/>
            <a:ext cx="743590" cy="312308"/>
          </a:xfrm>
          <a:custGeom>
            <a:avLst/>
            <a:gdLst/>
            <a:ahLst/>
            <a:cxnLst/>
            <a:rect l="l" t="t" r="r" b="b"/>
            <a:pathLst>
              <a:path w="743590" h="312308">
                <a:moveTo>
                  <a:pt x="0" y="156154"/>
                </a:moveTo>
                <a:lnTo>
                  <a:pt x="371795" y="0"/>
                </a:lnTo>
                <a:lnTo>
                  <a:pt x="743590" y="156154"/>
                </a:lnTo>
                <a:lnTo>
                  <a:pt x="371795" y="312308"/>
                </a:lnTo>
                <a:close/>
              </a:path>
            </a:pathLst>
          </a:custGeom>
          <a:solidFill>
            <a:srgbClr val="94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7724576" y="3297940"/>
            <a:ext cx="371795" cy="239319"/>
          </a:xfrm>
          <a:custGeom>
            <a:avLst/>
            <a:gdLst/>
            <a:ahLst/>
            <a:cxnLst/>
            <a:rect l="l" t="t" r="r" b="b"/>
            <a:pathLst>
              <a:path w="371795" h="239319">
                <a:moveTo>
                  <a:pt x="0" y="0"/>
                </a:moveTo>
                <a:lnTo>
                  <a:pt x="371795" y="156154"/>
                </a:lnTo>
                <a:lnTo>
                  <a:pt x="371795" y="239319"/>
                </a:lnTo>
                <a:lnTo>
                  <a:pt x="0" y="83165"/>
                </a:lnTo>
                <a:close/>
              </a:path>
            </a:pathLst>
          </a:custGeom>
          <a:solidFill>
            <a:srgbClr val="3F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8096371" y="3297940"/>
            <a:ext cx="371795" cy="239319"/>
          </a:xfrm>
          <a:custGeom>
            <a:avLst/>
            <a:gdLst/>
            <a:ahLst/>
            <a:cxnLst/>
            <a:rect l="l" t="t" r="r" b="b"/>
            <a:pathLst>
              <a:path w="371795" h="239319">
                <a:moveTo>
                  <a:pt x="0" y="156154"/>
                </a:moveTo>
                <a:lnTo>
                  <a:pt x="371795" y="0"/>
                </a:lnTo>
                <a:lnTo>
                  <a:pt x="371795" y="83165"/>
                </a:lnTo>
                <a:lnTo>
                  <a:pt x="0" y="239319"/>
                </a:lnTo>
                <a:close/>
              </a:path>
            </a:pathLst>
          </a:custGeom>
          <a:solidFill>
            <a:srgbClr val="197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7812633" y="2955889"/>
            <a:ext cx="567477" cy="238340"/>
          </a:xfrm>
          <a:custGeom>
            <a:avLst/>
            <a:gdLst/>
            <a:ahLst/>
            <a:cxnLst/>
            <a:rect l="l" t="t" r="r" b="b"/>
            <a:pathLst>
              <a:path w="567477" h="238340">
                <a:moveTo>
                  <a:pt x="0" y="119170"/>
                </a:moveTo>
                <a:lnTo>
                  <a:pt x="283738" y="0"/>
                </a:lnTo>
                <a:lnTo>
                  <a:pt x="567477" y="119170"/>
                </a:lnTo>
                <a:lnTo>
                  <a:pt x="283738" y="238340"/>
                </a:lnTo>
                <a:close/>
              </a:path>
            </a:pathLst>
          </a:custGeom>
          <a:solidFill>
            <a:srgbClr val="57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7812633" y="3075059"/>
            <a:ext cx="283738" cy="202335"/>
          </a:xfrm>
          <a:custGeom>
            <a:avLst/>
            <a:gdLst/>
            <a:ahLst/>
            <a:cxnLst/>
            <a:rect l="l" t="t" r="r" b="b"/>
            <a:pathLst>
              <a:path w="283738" h="202335">
                <a:moveTo>
                  <a:pt x="0" y="0"/>
                </a:moveTo>
                <a:lnTo>
                  <a:pt x="283738" y="119170"/>
                </a:lnTo>
                <a:lnTo>
                  <a:pt x="283738" y="202335"/>
                </a:lnTo>
                <a:lnTo>
                  <a:pt x="0" y="83165"/>
                </a:lnTo>
                <a:close/>
              </a:path>
            </a:pathLst>
          </a:custGeom>
          <a:solidFill>
            <a:srgbClr val="148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8096371" y="3075059"/>
            <a:ext cx="283739" cy="202335"/>
          </a:xfrm>
          <a:custGeom>
            <a:avLst/>
            <a:gdLst/>
            <a:ahLst/>
            <a:cxnLst/>
            <a:rect l="l" t="t" r="r" b="b"/>
            <a:pathLst>
              <a:path w="283739" h="202335">
                <a:moveTo>
                  <a:pt x="0" y="119170"/>
                </a:moveTo>
                <a:lnTo>
                  <a:pt x="283739" y="0"/>
                </a:lnTo>
                <a:lnTo>
                  <a:pt x="283739" y="83165"/>
                </a:lnTo>
                <a:lnTo>
                  <a:pt x="0" y="202335"/>
                </a:lnTo>
                <a:close/>
              </a:path>
            </a:pathLst>
          </a:custGeom>
          <a:solidFill>
            <a:srgbClr val="0A5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7949610" y="2916753"/>
            <a:ext cx="185898" cy="85512"/>
          </a:xfrm>
          <a:custGeom>
            <a:avLst/>
            <a:gdLst/>
            <a:ahLst/>
            <a:cxnLst/>
            <a:rect l="l" t="t" r="r" b="b"/>
            <a:pathLst>
              <a:path w="185898" h="85512">
                <a:moveTo>
                  <a:pt x="0" y="42756"/>
                </a:moveTo>
                <a:lnTo>
                  <a:pt x="92949" y="0"/>
                </a:lnTo>
                <a:lnTo>
                  <a:pt x="185898" y="42756"/>
                </a:lnTo>
                <a:lnTo>
                  <a:pt x="92949" y="85512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7949610" y="2959509"/>
            <a:ext cx="92949" cy="179734"/>
          </a:xfrm>
          <a:custGeom>
            <a:avLst/>
            <a:gdLst/>
            <a:ahLst/>
            <a:cxnLst/>
            <a:rect l="l" t="t" r="r" b="b"/>
            <a:pathLst>
              <a:path w="92949" h="179734">
                <a:moveTo>
                  <a:pt x="0" y="0"/>
                </a:moveTo>
                <a:lnTo>
                  <a:pt x="92949" y="42756"/>
                </a:lnTo>
                <a:lnTo>
                  <a:pt x="92949" y="179734"/>
                </a:lnTo>
                <a:lnTo>
                  <a:pt x="0" y="136977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8042559" y="2959509"/>
            <a:ext cx="92949" cy="179734"/>
          </a:xfrm>
          <a:custGeom>
            <a:avLst/>
            <a:gdLst/>
            <a:ahLst/>
            <a:cxnLst/>
            <a:rect l="l" t="t" r="r" b="b"/>
            <a:pathLst>
              <a:path w="92949" h="179734">
                <a:moveTo>
                  <a:pt x="0" y="42756"/>
                </a:moveTo>
                <a:lnTo>
                  <a:pt x="92949" y="0"/>
                </a:lnTo>
                <a:lnTo>
                  <a:pt x="92949" y="136977"/>
                </a:lnTo>
                <a:lnTo>
                  <a:pt x="0" y="179734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8194212" y="3004809"/>
            <a:ext cx="185898" cy="85513"/>
          </a:xfrm>
          <a:custGeom>
            <a:avLst/>
            <a:gdLst/>
            <a:ahLst/>
            <a:cxnLst/>
            <a:rect l="l" t="t" r="r" b="b"/>
            <a:pathLst>
              <a:path w="185898" h="85513">
                <a:moveTo>
                  <a:pt x="0" y="42757"/>
                </a:moveTo>
                <a:lnTo>
                  <a:pt x="92949" y="0"/>
                </a:lnTo>
                <a:lnTo>
                  <a:pt x="185898" y="42757"/>
                </a:lnTo>
                <a:lnTo>
                  <a:pt x="92949" y="85513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8194212" y="3047566"/>
            <a:ext cx="92949" cy="179733"/>
          </a:xfrm>
          <a:custGeom>
            <a:avLst/>
            <a:gdLst/>
            <a:ahLst/>
            <a:cxnLst/>
            <a:rect l="l" t="t" r="r" b="b"/>
            <a:pathLst>
              <a:path w="92949" h="179733">
                <a:moveTo>
                  <a:pt x="0" y="0"/>
                </a:moveTo>
                <a:lnTo>
                  <a:pt x="92949" y="42756"/>
                </a:lnTo>
                <a:lnTo>
                  <a:pt x="92949" y="179733"/>
                </a:lnTo>
                <a:lnTo>
                  <a:pt x="0" y="136977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8287161" y="3047566"/>
            <a:ext cx="92949" cy="179733"/>
          </a:xfrm>
          <a:custGeom>
            <a:avLst/>
            <a:gdLst/>
            <a:ahLst/>
            <a:cxnLst/>
            <a:rect l="l" t="t" r="r" b="b"/>
            <a:pathLst>
              <a:path w="92949" h="179733">
                <a:moveTo>
                  <a:pt x="0" y="42756"/>
                </a:moveTo>
                <a:lnTo>
                  <a:pt x="92949" y="0"/>
                </a:lnTo>
                <a:lnTo>
                  <a:pt x="92949" y="136977"/>
                </a:lnTo>
                <a:lnTo>
                  <a:pt x="0" y="179733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8037667" y="3122218"/>
            <a:ext cx="185897" cy="85513"/>
          </a:xfrm>
          <a:custGeom>
            <a:avLst/>
            <a:gdLst/>
            <a:ahLst/>
            <a:cxnLst/>
            <a:rect l="l" t="t" r="r" b="b"/>
            <a:pathLst>
              <a:path w="185897" h="85513">
                <a:moveTo>
                  <a:pt x="0" y="42757"/>
                </a:moveTo>
                <a:lnTo>
                  <a:pt x="92949" y="0"/>
                </a:lnTo>
                <a:lnTo>
                  <a:pt x="185897" y="42757"/>
                </a:lnTo>
                <a:lnTo>
                  <a:pt x="92949" y="85513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8037667" y="3164975"/>
            <a:ext cx="92949" cy="179733"/>
          </a:xfrm>
          <a:custGeom>
            <a:avLst/>
            <a:gdLst/>
            <a:ahLst/>
            <a:cxnLst/>
            <a:rect l="l" t="t" r="r" b="b"/>
            <a:pathLst>
              <a:path w="92949" h="179733">
                <a:moveTo>
                  <a:pt x="0" y="0"/>
                </a:moveTo>
                <a:lnTo>
                  <a:pt x="92949" y="42756"/>
                </a:lnTo>
                <a:lnTo>
                  <a:pt x="92949" y="179733"/>
                </a:lnTo>
                <a:lnTo>
                  <a:pt x="0" y="136977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8130616" y="3164975"/>
            <a:ext cx="92948" cy="179733"/>
          </a:xfrm>
          <a:custGeom>
            <a:avLst/>
            <a:gdLst/>
            <a:ahLst/>
            <a:cxnLst/>
            <a:rect l="l" t="t" r="r" b="b"/>
            <a:pathLst>
              <a:path w="92948" h="179733">
                <a:moveTo>
                  <a:pt x="0" y="42756"/>
                </a:moveTo>
                <a:lnTo>
                  <a:pt x="92948" y="0"/>
                </a:lnTo>
                <a:lnTo>
                  <a:pt x="92948" y="136977"/>
                </a:lnTo>
                <a:lnTo>
                  <a:pt x="0" y="179733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7452359" y="4069080"/>
            <a:ext cx="1307592" cy="429768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43799" y="4101084"/>
            <a:ext cx="1124712" cy="365759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原审批与发布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470648" y="4754880"/>
            <a:ext cx="1271016" cy="5852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责任人确认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原平台执行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9194292" y="1687068"/>
            <a:ext cx="2505456" cy="1892807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9171432" y="1655064"/>
            <a:ext cx="2505456" cy="189280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326880" y="1792224"/>
            <a:ext cx="32004" cy="246888"/>
          </a:xfrm>
          <a:prstGeom prst="rect">
            <a:avLst/>
          </a:prstGeom>
          <a:solidFill>
            <a:srgbClr val="EE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473184" y="1773936"/>
            <a:ext cx="2057400" cy="31089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解决问题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363456" y="2313432"/>
            <a:ext cx="2121408" cy="2286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重复调研与建设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363456" y="2606040"/>
            <a:ext cx="2121408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8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口径、模型复用不充分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363456" y="2880360"/>
            <a:ext cx="2121408" cy="2286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交接和规范遗漏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363456" y="3172968"/>
            <a:ext cx="2121408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8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代码能跑仍可能逻辑错误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9194292" y="3735324"/>
            <a:ext cx="2505456" cy="1892807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9171432" y="3703320"/>
            <a:ext cx="2505456" cy="189280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9326880" y="3840480"/>
            <a:ext cx="32004" cy="246888"/>
          </a:xfrm>
          <a:prstGeom prst="rect">
            <a:avLst/>
          </a:prstGeom>
          <a:solidFill>
            <a:srgbClr val="EE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473184" y="3822191"/>
            <a:ext cx="2057400" cy="31089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应用价值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363456" y="4361688"/>
            <a:ext cx="2121408" cy="2286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078B9F"/>
                </a:solidFill>
                <a:latin typeface="Noto Sans CJK SC"/>
                <a:ea typeface="Noto Sans CJK SC"/>
              </a:defRPr>
            </a:pPr>
            <a:r>
              <a:t>减少返工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363456" y="4654296"/>
            <a:ext cx="2121408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8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需求、设计与证据连续交接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363456" y="4928616"/>
            <a:ext cx="2121408" cy="2286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078B9F"/>
                </a:solidFill>
                <a:latin typeface="Noto Sans CJK SC"/>
                <a:ea typeface="Noto Sans CJK SC"/>
              </a:defRPr>
            </a:pPr>
            <a:r>
              <a:t>交付有依据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363456" y="5221224"/>
            <a:ext cx="2121408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8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验证后进入原平台流程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461772" y="6112764"/>
            <a:ext cx="11247120" cy="33832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438912" y="6080760"/>
            <a:ext cx="11247120" cy="338328"/>
          </a:xfrm>
          <a:prstGeom prst="roundRect">
            <a:avLst>
              <a:gd name="adj" fmla="val 5500"/>
            </a:avLst>
          </a:prstGeom>
          <a:solidFill>
            <a:srgbClr val="EEF7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85216" y="6117336"/>
            <a:ext cx="10954512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Agent按需引用同级角色；开发、质量和调度平台承担实际执行，关键设计与发布由人员确认。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6346471"/>
            <a:ext cx="12191695" cy="235953"/>
          </a:xfrm>
          <a:custGeom>
            <a:avLst/>
            <a:gdLst/>
            <a:ahLst/>
            <a:cxnLst/>
            <a:rect l="l" t="t" r="r" b="b"/>
            <a:pathLst>
              <a:path w="12191695" h="235953">
                <a:moveTo>
                  <a:pt x="0" y="127481"/>
                </a:moveTo>
                <a:lnTo>
                  <a:pt x="135463" y="147046"/>
                </a:lnTo>
                <a:lnTo>
                  <a:pt x="270926" y="165914"/>
                </a:lnTo>
                <a:lnTo>
                  <a:pt x="406389" y="183426"/>
                </a:lnTo>
                <a:lnTo>
                  <a:pt x="541853" y="199000"/>
                </a:lnTo>
                <a:lnTo>
                  <a:pt x="677316" y="212159"/>
                </a:lnTo>
                <a:lnTo>
                  <a:pt x="812779" y="222557"/>
                </a:lnTo>
                <a:lnTo>
                  <a:pt x="948242" y="229995"/>
                </a:lnTo>
                <a:lnTo>
                  <a:pt x="1083706" y="234426"/>
                </a:lnTo>
                <a:lnTo>
                  <a:pt x="1219169" y="235953"/>
                </a:lnTo>
                <a:lnTo>
                  <a:pt x="1354632" y="234812"/>
                </a:lnTo>
                <a:lnTo>
                  <a:pt x="1490096" y="231352"/>
                </a:lnTo>
                <a:lnTo>
                  <a:pt x="1625559" y="226009"/>
                </a:lnTo>
                <a:lnTo>
                  <a:pt x="1761022" y="219267"/>
                </a:lnTo>
                <a:lnTo>
                  <a:pt x="1896485" y="211626"/>
                </a:lnTo>
                <a:lnTo>
                  <a:pt x="2031949" y="203564"/>
                </a:lnTo>
                <a:lnTo>
                  <a:pt x="2167412" y="195508"/>
                </a:lnTo>
                <a:lnTo>
                  <a:pt x="2302875" y="187800"/>
                </a:lnTo>
                <a:lnTo>
                  <a:pt x="2438339" y="180682"/>
                </a:lnTo>
                <a:lnTo>
                  <a:pt x="2573802" y="174280"/>
                </a:lnTo>
                <a:lnTo>
                  <a:pt x="2709265" y="168601"/>
                </a:lnTo>
                <a:lnTo>
                  <a:pt x="2844728" y="163541"/>
                </a:lnTo>
                <a:lnTo>
                  <a:pt x="2980192" y="158900"/>
                </a:lnTo>
                <a:lnTo>
                  <a:pt x="3115655" y="154402"/>
                </a:lnTo>
                <a:lnTo>
                  <a:pt x="3251118" y="149724"/>
                </a:lnTo>
                <a:lnTo>
                  <a:pt x="3386582" y="144534"/>
                </a:lnTo>
                <a:lnTo>
                  <a:pt x="3522045" y="138515"/>
                </a:lnTo>
                <a:lnTo>
                  <a:pt x="3657508" y="131408"/>
                </a:lnTo>
                <a:lnTo>
                  <a:pt x="3792971" y="123031"/>
                </a:lnTo>
                <a:lnTo>
                  <a:pt x="3928435" y="113309"/>
                </a:lnTo>
                <a:lnTo>
                  <a:pt x="4063898" y="102287"/>
                </a:lnTo>
                <a:lnTo>
                  <a:pt x="4199361" y="90138"/>
                </a:lnTo>
                <a:lnTo>
                  <a:pt x="4334824" y="77155"/>
                </a:lnTo>
                <a:lnTo>
                  <a:pt x="4470288" y="63745"/>
                </a:lnTo>
                <a:lnTo>
                  <a:pt x="4605751" y="50406"/>
                </a:lnTo>
                <a:lnTo>
                  <a:pt x="4741214" y="37696"/>
                </a:lnTo>
                <a:lnTo>
                  <a:pt x="4876678" y="26202"/>
                </a:lnTo>
                <a:lnTo>
                  <a:pt x="5012141" y="16503"/>
                </a:lnTo>
                <a:lnTo>
                  <a:pt x="5147604" y="9131"/>
                </a:lnTo>
                <a:lnTo>
                  <a:pt x="5283067" y="4538"/>
                </a:lnTo>
                <a:lnTo>
                  <a:pt x="5418531" y="3064"/>
                </a:lnTo>
                <a:lnTo>
                  <a:pt x="5553994" y="4912"/>
                </a:lnTo>
                <a:lnTo>
                  <a:pt x="5689457" y="10132"/>
                </a:lnTo>
                <a:lnTo>
                  <a:pt x="5824921" y="18617"/>
                </a:lnTo>
                <a:lnTo>
                  <a:pt x="5960384" y="30106"/>
                </a:lnTo>
                <a:lnTo>
                  <a:pt x="6095847" y="44193"/>
                </a:lnTo>
                <a:lnTo>
                  <a:pt x="6231310" y="60357"/>
                </a:lnTo>
                <a:lnTo>
                  <a:pt x="6366774" y="77984"/>
                </a:lnTo>
                <a:lnTo>
                  <a:pt x="6502237" y="96410"/>
                </a:lnTo>
                <a:lnTo>
                  <a:pt x="6637700" y="114953"/>
                </a:lnTo>
                <a:lnTo>
                  <a:pt x="6773164" y="132954"/>
                </a:lnTo>
                <a:lnTo>
                  <a:pt x="6908627" y="149814"/>
                </a:lnTo>
                <a:lnTo>
                  <a:pt x="7044090" y="165027"/>
                </a:lnTo>
                <a:lnTo>
                  <a:pt x="7179553" y="178204"/>
                </a:lnTo>
                <a:lnTo>
                  <a:pt x="7315017" y="189090"/>
                </a:lnTo>
                <a:lnTo>
                  <a:pt x="7450480" y="197574"/>
                </a:lnTo>
                <a:lnTo>
                  <a:pt x="7585943" y="203682"/>
                </a:lnTo>
                <a:lnTo>
                  <a:pt x="7721406" y="207573"/>
                </a:lnTo>
                <a:lnTo>
                  <a:pt x="7856870" y="209512"/>
                </a:lnTo>
                <a:lnTo>
                  <a:pt x="7992333" y="209848"/>
                </a:lnTo>
                <a:lnTo>
                  <a:pt x="8127796" y="208978"/>
                </a:lnTo>
                <a:lnTo>
                  <a:pt x="8263260" y="207316"/>
                </a:lnTo>
                <a:lnTo>
                  <a:pt x="8398723" y="205256"/>
                </a:lnTo>
                <a:lnTo>
                  <a:pt x="8534186" y="203141"/>
                </a:lnTo>
                <a:lnTo>
                  <a:pt x="8669649" y="201238"/>
                </a:lnTo>
                <a:lnTo>
                  <a:pt x="8805113" y="199711"/>
                </a:lnTo>
                <a:lnTo>
                  <a:pt x="8940576" y="198616"/>
                </a:lnTo>
                <a:lnTo>
                  <a:pt x="9076039" y="197894"/>
                </a:lnTo>
                <a:lnTo>
                  <a:pt x="9211503" y="197378"/>
                </a:lnTo>
                <a:lnTo>
                  <a:pt x="9346966" y="196808"/>
                </a:lnTo>
                <a:lnTo>
                  <a:pt x="9482429" y="195855"/>
                </a:lnTo>
                <a:lnTo>
                  <a:pt x="9617892" y="194147"/>
                </a:lnTo>
                <a:lnTo>
                  <a:pt x="9753356" y="191305"/>
                </a:lnTo>
                <a:lnTo>
                  <a:pt x="9888819" y="186977"/>
                </a:lnTo>
                <a:lnTo>
                  <a:pt x="10024282" y="180869"/>
                </a:lnTo>
                <a:lnTo>
                  <a:pt x="10159746" y="172776"/>
                </a:lnTo>
                <a:lnTo>
                  <a:pt x="10295209" y="162608"/>
                </a:lnTo>
                <a:lnTo>
                  <a:pt x="10430672" y="150402"/>
                </a:lnTo>
                <a:lnTo>
                  <a:pt x="10566135" y="136335"/>
                </a:lnTo>
                <a:lnTo>
                  <a:pt x="10701599" y="120717"/>
                </a:lnTo>
                <a:lnTo>
                  <a:pt x="10837062" y="103984"/>
                </a:lnTo>
                <a:lnTo>
                  <a:pt x="10972525" y="86673"/>
                </a:lnTo>
                <a:lnTo>
                  <a:pt x="11107988" y="69396"/>
                </a:lnTo>
                <a:lnTo>
                  <a:pt x="11243452" y="52806"/>
                </a:lnTo>
                <a:lnTo>
                  <a:pt x="11378915" y="37558"/>
                </a:lnTo>
                <a:lnTo>
                  <a:pt x="11514378" y="24274"/>
                </a:lnTo>
                <a:lnTo>
                  <a:pt x="11649842" y="13501"/>
                </a:lnTo>
                <a:lnTo>
                  <a:pt x="11785305" y="5683"/>
                </a:lnTo>
                <a:lnTo>
                  <a:pt x="11920768" y="1129"/>
                </a:lnTo>
                <a:lnTo>
                  <a:pt x="12056231" y="0"/>
                </a:lnTo>
                <a:lnTo>
                  <a:pt x="12191695" y="2300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6405649"/>
            <a:ext cx="12191695" cy="245182"/>
          </a:xfrm>
          <a:custGeom>
            <a:avLst/>
            <a:gdLst/>
            <a:ahLst/>
            <a:cxnLst/>
            <a:rect l="l" t="t" r="r" b="b"/>
            <a:pathLst>
              <a:path w="12191695" h="245182">
                <a:moveTo>
                  <a:pt x="0" y="150669"/>
                </a:moveTo>
                <a:lnTo>
                  <a:pt x="135463" y="169737"/>
                </a:lnTo>
                <a:lnTo>
                  <a:pt x="270926" y="187768"/>
                </a:lnTo>
                <a:lnTo>
                  <a:pt x="406389" y="204118"/>
                </a:lnTo>
                <a:lnTo>
                  <a:pt x="541853" y="218220"/>
                </a:lnTo>
                <a:lnTo>
                  <a:pt x="677316" y="229621"/>
                </a:lnTo>
                <a:lnTo>
                  <a:pt x="812779" y="238002"/>
                </a:lnTo>
                <a:lnTo>
                  <a:pt x="948242" y="243193"/>
                </a:lnTo>
                <a:lnTo>
                  <a:pt x="1083706" y="245182"/>
                </a:lnTo>
                <a:lnTo>
                  <a:pt x="1219169" y="244108"/>
                </a:lnTo>
                <a:lnTo>
                  <a:pt x="1354632" y="240247"/>
                </a:lnTo>
                <a:lnTo>
                  <a:pt x="1490096" y="233989"/>
                </a:lnTo>
                <a:lnTo>
                  <a:pt x="1625559" y="225812"/>
                </a:lnTo>
                <a:lnTo>
                  <a:pt x="1761022" y="216243"/>
                </a:lnTo>
                <a:lnTo>
                  <a:pt x="1896485" y="205824"/>
                </a:lnTo>
                <a:lnTo>
                  <a:pt x="2031949" y="195076"/>
                </a:lnTo>
                <a:lnTo>
                  <a:pt x="2167412" y="184466"/>
                </a:lnTo>
                <a:lnTo>
                  <a:pt x="2302875" y="174375"/>
                </a:lnTo>
                <a:lnTo>
                  <a:pt x="2438339" y="165080"/>
                </a:lnTo>
                <a:lnTo>
                  <a:pt x="2573802" y="156740"/>
                </a:lnTo>
                <a:lnTo>
                  <a:pt x="2709265" y="149392"/>
                </a:lnTo>
                <a:lnTo>
                  <a:pt x="2844728" y="142958"/>
                </a:lnTo>
                <a:lnTo>
                  <a:pt x="2980192" y="137257"/>
                </a:lnTo>
                <a:lnTo>
                  <a:pt x="3115655" y="132030"/>
                </a:lnTo>
                <a:lnTo>
                  <a:pt x="3251118" y="126965"/>
                </a:lnTo>
                <a:lnTo>
                  <a:pt x="3386582" y="121734"/>
                </a:lnTo>
                <a:lnTo>
                  <a:pt x="3522045" y="116024"/>
                </a:lnTo>
                <a:lnTo>
                  <a:pt x="3657508" y="109568"/>
                </a:lnTo>
                <a:lnTo>
                  <a:pt x="3792971" y="102177"/>
                </a:lnTo>
                <a:lnTo>
                  <a:pt x="3928435" y="93759"/>
                </a:lnTo>
                <a:lnTo>
                  <a:pt x="4063898" y="84341"/>
                </a:lnTo>
                <a:lnTo>
                  <a:pt x="4199361" y="74069"/>
                </a:lnTo>
                <a:lnTo>
                  <a:pt x="4334824" y="63211"/>
                </a:lnTo>
                <a:lnTo>
                  <a:pt x="4470288" y="52141"/>
                </a:lnTo>
                <a:lnTo>
                  <a:pt x="4605751" y="41320"/>
                </a:lnTo>
                <a:lnTo>
                  <a:pt x="4741214" y="31269"/>
                </a:lnTo>
                <a:lnTo>
                  <a:pt x="4876678" y="22536"/>
                </a:lnTo>
                <a:lnTo>
                  <a:pt x="5012141" y="15656"/>
                </a:lnTo>
                <a:lnTo>
                  <a:pt x="5147604" y="11120"/>
                </a:lnTo>
                <a:lnTo>
                  <a:pt x="5283067" y="9338"/>
                </a:lnTo>
                <a:lnTo>
                  <a:pt x="5418531" y="10605"/>
                </a:lnTo>
                <a:lnTo>
                  <a:pt x="5553994" y="15085"/>
                </a:lnTo>
                <a:lnTo>
                  <a:pt x="5689457" y="22787"/>
                </a:lnTo>
                <a:lnTo>
                  <a:pt x="5824921" y="33567"/>
                </a:lnTo>
                <a:lnTo>
                  <a:pt x="5960384" y="47128"/>
                </a:lnTo>
                <a:lnTo>
                  <a:pt x="6095847" y="63035"/>
                </a:lnTo>
                <a:lnTo>
                  <a:pt x="6231310" y="80738"/>
                </a:lnTo>
                <a:lnTo>
                  <a:pt x="6366774" y="99601"/>
                </a:lnTo>
                <a:lnTo>
                  <a:pt x="6502237" y="118939"/>
                </a:lnTo>
                <a:lnTo>
                  <a:pt x="6637700" y="138058"/>
                </a:lnTo>
                <a:lnTo>
                  <a:pt x="6773164" y="156290"/>
                </a:lnTo>
                <a:lnTo>
                  <a:pt x="6908627" y="173034"/>
                </a:lnTo>
                <a:lnTo>
                  <a:pt x="7044090" y="187783"/>
                </a:lnTo>
                <a:lnTo>
                  <a:pt x="7179553" y="200156"/>
                </a:lnTo>
                <a:lnTo>
                  <a:pt x="7315017" y="209912"/>
                </a:lnTo>
                <a:lnTo>
                  <a:pt x="7450480" y="216953"/>
                </a:lnTo>
                <a:lnTo>
                  <a:pt x="7585943" y="221331"/>
                </a:lnTo>
                <a:lnTo>
                  <a:pt x="7721406" y="223229"/>
                </a:lnTo>
                <a:lnTo>
                  <a:pt x="7856870" y="222943"/>
                </a:lnTo>
                <a:lnTo>
                  <a:pt x="7992333" y="220854"/>
                </a:lnTo>
                <a:lnTo>
                  <a:pt x="8127796" y="217398"/>
                </a:lnTo>
                <a:lnTo>
                  <a:pt x="8263260" y="213025"/>
                </a:lnTo>
                <a:lnTo>
                  <a:pt x="8398723" y="208173"/>
                </a:lnTo>
                <a:lnTo>
                  <a:pt x="8534186" y="203226"/>
                </a:lnTo>
                <a:lnTo>
                  <a:pt x="8669649" y="198493"/>
                </a:lnTo>
                <a:lnTo>
                  <a:pt x="8805113" y="194182"/>
                </a:lnTo>
                <a:lnTo>
                  <a:pt x="8940576" y="190390"/>
                </a:lnTo>
                <a:lnTo>
                  <a:pt x="9076039" y="187099"/>
                </a:lnTo>
                <a:lnTo>
                  <a:pt x="9211503" y="184181"/>
                </a:lnTo>
                <a:lnTo>
                  <a:pt x="9346966" y="181412"/>
                </a:lnTo>
                <a:lnTo>
                  <a:pt x="9482429" y="178496"/>
                </a:lnTo>
                <a:lnTo>
                  <a:pt x="9617892" y="175092"/>
                </a:lnTo>
                <a:lnTo>
                  <a:pt x="9753356" y="170845"/>
                </a:lnTo>
                <a:lnTo>
                  <a:pt x="9888819" y="165425"/>
                </a:lnTo>
                <a:lnTo>
                  <a:pt x="10024282" y="158555"/>
                </a:lnTo>
                <a:lnTo>
                  <a:pt x="10159746" y="150040"/>
                </a:lnTo>
                <a:lnTo>
                  <a:pt x="10295209" y="139797"/>
                </a:lnTo>
                <a:lnTo>
                  <a:pt x="10430672" y="127865"/>
                </a:lnTo>
                <a:lnTo>
                  <a:pt x="10566135" y="114415"/>
                </a:lnTo>
                <a:lnTo>
                  <a:pt x="10701599" y="99751"/>
                </a:lnTo>
                <a:lnTo>
                  <a:pt x="10837062" y="84291"/>
                </a:lnTo>
                <a:lnTo>
                  <a:pt x="10972525" y="68554"/>
                </a:lnTo>
                <a:lnTo>
                  <a:pt x="11107988" y="53129"/>
                </a:lnTo>
                <a:lnTo>
                  <a:pt x="11243452" y="38641"/>
                </a:lnTo>
                <a:lnTo>
                  <a:pt x="11378915" y="25713"/>
                </a:lnTo>
                <a:lnTo>
                  <a:pt x="11514378" y="14931"/>
                </a:lnTo>
                <a:lnTo>
                  <a:pt x="11649842" y="6805"/>
                </a:lnTo>
                <a:lnTo>
                  <a:pt x="11785305" y="1738"/>
                </a:lnTo>
                <a:lnTo>
                  <a:pt x="11920768" y="0"/>
                </a:lnTo>
                <a:lnTo>
                  <a:pt x="12056231" y="1708"/>
                </a:lnTo>
                <a:lnTo>
                  <a:pt x="12191695" y="6822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6467906"/>
            <a:ext cx="12191695" cy="248613"/>
          </a:xfrm>
          <a:custGeom>
            <a:avLst/>
            <a:gdLst/>
            <a:ahLst/>
            <a:cxnLst/>
            <a:rect l="l" t="t" r="r" b="b"/>
            <a:pathLst>
              <a:path w="12191695" h="248613">
                <a:moveTo>
                  <a:pt x="0" y="169572"/>
                </a:moveTo>
                <a:lnTo>
                  <a:pt x="135463" y="187517"/>
                </a:lnTo>
                <a:lnTo>
                  <a:pt x="270926" y="204116"/>
                </a:lnTo>
                <a:lnTo>
                  <a:pt x="406389" y="218744"/>
                </a:lnTo>
                <a:lnTo>
                  <a:pt x="541853" y="230861"/>
                </a:lnTo>
                <a:lnTo>
                  <a:pt x="677316" y="240043"/>
                </a:lnTo>
                <a:lnTo>
                  <a:pt x="812779" y="246004"/>
                </a:lnTo>
                <a:lnTo>
                  <a:pt x="948242" y="248613"/>
                </a:lnTo>
                <a:lnTo>
                  <a:pt x="1083706" y="247896"/>
                </a:lnTo>
                <a:lnTo>
                  <a:pt x="1219169" y="244031"/>
                </a:lnTo>
                <a:lnTo>
                  <a:pt x="1354632" y="237338"/>
                </a:lnTo>
                <a:lnTo>
                  <a:pt x="1490096" y="228250"/>
                </a:lnTo>
                <a:lnTo>
                  <a:pt x="1625559" y="217286"/>
                </a:lnTo>
                <a:lnTo>
                  <a:pt x="1761022" y="205017"/>
                </a:lnTo>
                <a:lnTo>
                  <a:pt x="1896485" y="192024"/>
                </a:lnTo>
                <a:lnTo>
                  <a:pt x="2031949" y="178869"/>
                </a:lnTo>
                <a:lnTo>
                  <a:pt x="2167412" y="166053"/>
                </a:lnTo>
                <a:lnTo>
                  <a:pt x="2302875" y="153992"/>
                </a:lnTo>
                <a:lnTo>
                  <a:pt x="2438339" y="142992"/>
                </a:lnTo>
                <a:lnTo>
                  <a:pt x="2573802" y="133239"/>
                </a:lnTo>
                <a:lnTo>
                  <a:pt x="2709265" y="124790"/>
                </a:lnTo>
                <a:lnTo>
                  <a:pt x="2844728" y="117583"/>
                </a:lnTo>
                <a:lnTo>
                  <a:pt x="2980192" y="111449"/>
                </a:lnTo>
                <a:lnTo>
                  <a:pt x="3115655" y="106137"/>
                </a:lnTo>
                <a:lnTo>
                  <a:pt x="3251118" y="101335"/>
                </a:lnTo>
                <a:lnTo>
                  <a:pt x="3386582" y="96713"/>
                </a:lnTo>
                <a:lnTo>
                  <a:pt x="3522045" y="91945"/>
                </a:lnTo>
                <a:lnTo>
                  <a:pt x="3657508" y="86753"/>
                </a:lnTo>
                <a:lnTo>
                  <a:pt x="3792971" y="80928"/>
                </a:lnTo>
                <a:lnTo>
                  <a:pt x="3928435" y="74354"/>
                </a:lnTo>
                <a:lnTo>
                  <a:pt x="4063898" y="67031"/>
                </a:lnTo>
                <a:lnTo>
                  <a:pt x="4199361" y="59072"/>
                </a:lnTo>
                <a:lnTo>
                  <a:pt x="4334824" y="50711"/>
                </a:lnTo>
                <a:lnTo>
                  <a:pt x="4470288" y="42285"/>
                </a:lnTo>
                <a:lnTo>
                  <a:pt x="4605751" y="34213"/>
                </a:lnTo>
                <a:lnTo>
                  <a:pt x="4741214" y="26977"/>
                </a:lnTo>
                <a:lnTo>
                  <a:pt x="4876678" y="21080"/>
                </a:lnTo>
                <a:lnTo>
                  <a:pt x="5012141" y="17016"/>
                </a:lnTo>
                <a:lnTo>
                  <a:pt x="5147604" y="15233"/>
                </a:lnTo>
                <a:lnTo>
                  <a:pt x="5283067" y="16099"/>
                </a:lnTo>
                <a:lnTo>
                  <a:pt x="5418531" y="19870"/>
                </a:lnTo>
                <a:lnTo>
                  <a:pt x="5553994" y="26670"/>
                </a:lnTo>
                <a:lnTo>
                  <a:pt x="5689457" y="36475"/>
                </a:lnTo>
                <a:lnTo>
                  <a:pt x="5824921" y="49109"/>
                </a:lnTo>
                <a:lnTo>
                  <a:pt x="5960384" y="64247"/>
                </a:lnTo>
                <a:lnTo>
                  <a:pt x="6095847" y="81430"/>
                </a:lnTo>
                <a:lnTo>
                  <a:pt x="6231310" y="100088"/>
                </a:lnTo>
                <a:lnTo>
                  <a:pt x="6366774" y="119571"/>
                </a:lnTo>
                <a:lnTo>
                  <a:pt x="6502237" y="139187"/>
                </a:lnTo>
                <a:lnTo>
                  <a:pt x="6637700" y="158234"/>
                </a:lnTo>
                <a:lnTo>
                  <a:pt x="6773164" y="176047"/>
                </a:lnTo>
                <a:lnTo>
                  <a:pt x="6908627" y="192030"/>
                </a:lnTo>
                <a:lnTo>
                  <a:pt x="7044090" y="205690"/>
                </a:lnTo>
                <a:lnTo>
                  <a:pt x="7179553" y="216660"/>
                </a:lnTo>
                <a:lnTo>
                  <a:pt x="7315017" y="224721"/>
                </a:lnTo>
                <a:lnTo>
                  <a:pt x="7450480" y="229802"/>
                </a:lnTo>
                <a:lnTo>
                  <a:pt x="7585943" y="231983"/>
                </a:lnTo>
                <a:lnTo>
                  <a:pt x="7721406" y="231480"/>
                </a:lnTo>
                <a:lnTo>
                  <a:pt x="7856870" y="228626"/>
                </a:lnTo>
                <a:lnTo>
                  <a:pt x="7992333" y="223841"/>
                </a:lnTo>
                <a:lnTo>
                  <a:pt x="8127796" y="217601"/>
                </a:lnTo>
                <a:lnTo>
                  <a:pt x="8263260" y="210399"/>
                </a:lnTo>
                <a:lnTo>
                  <a:pt x="8398723" y="202714"/>
                </a:lnTo>
                <a:lnTo>
                  <a:pt x="8534186" y="194975"/>
                </a:lnTo>
                <a:lnTo>
                  <a:pt x="8669649" y="187531"/>
                </a:lnTo>
                <a:lnTo>
                  <a:pt x="8805113" y="180631"/>
                </a:lnTo>
                <a:lnTo>
                  <a:pt x="8940576" y="174414"/>
                </a:lnTo>
                <a:lnTo>
                  <a:pt x="9076039" y="168896"/>
                </a:lnTo>
                <a:lnTo>
                  <a:pt x="9211503" y="163983"/>
                </a:lnTo>
                <a:lnTo>
                  <a:pt x="9346966" y="159481"/>
                </a:lnTo>
                <a:lnTo>
                  <a:pt x="9482429" y="155122"/>
                </a:lnTo>
                <a:lnTo>
                  <a:pt x="9617892" y="150584"/>
                </a:lnTo>
                <a:lnTo>
                  <a:pt x="9753356" y="145531"/>
                </a:lnTo>
                <a:lnTo>
                  <a:pt x="9888819" y="139645"/>
                </a:lnTo>
                <a:lnTo>
                  <a:pt x="10024282" y="132654"/>
                </a:lnTo>
                <a:lnTo>
                  <a:pt x="10159746" y="124369"/>
                </a:lnTo>
                <a:lnTo>
                  <a:pt x="10295209" y="114699"/>
                </a:lnTo>
                <a:lnTo>
                  <a:pt x="10430672" y="103677"/>
                </a:lnTo>
                <a:lnTo>
                  <a:pt x="10566135" y="91461"/>
                </a:lnTo>
                <a:lnTo>
                  <a:pt x="10701599" y="78333"/>
                </a:lnTo>
                <a:lnTo>
                  <a:pt x="10837062" y="64691"/>
                </a:lnTo>
                <a:lnTo>
                  <a:pt x="10972525" y="51025"/>
                </a:lnTo>
                <a:lnTo>
                  <a:pt x="11107988" y="37893"/>
                </a:lnTo>
                <a:lnTo>
                  <a:pt x="11243452" y="25885"/>
                </a:lnTo>
                <a:lnTo>
                  <a:pt x="11378915" y="15588"/>
                </a:lnTo>
                <a:lnTo>
                  <a:pt x="11514378" y="7547"/>
                </a:lnTo>
                <a:lnTo>
                  <a:pt x="11649842" y="2231"/>
                </a:lnTo>
                <a:lnTo>
                  <a:pt x="11785305" y="0"/>
                </a:lnTo>
                <a:lnTo>
                  <a:pt x="11920768" y="1082"/>
                </a:lnTo>
                <a:lnTo>
                  <a:pt x="12056231" y="5551"/>
                </a:lnTo>
                <a:lnTo>
                  <a:pt x="12191695" y="13326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0" y="6533113"/>
            <a:ext cx="12191695" cy="246124"/>
          </a:xfrm>
          <a:custGeom>
            <a:avLst/>
            <a:gdLst/>
            <a:ahLst/>
            <a:cxnLst/>
            <a:rect l="l" t="t" r="r" b="b"/>
            <a:pathLst>
              <a:path w="12191695" h="246124">
                <a:moveTo>
                  <a:pt x="0" y="183172"/>
                </a:moveTo>
                <a:lnTo>
                  <a:pt x="135463" y="199432"/>
                </a:lnTo>
                <a:lnTo>
                  <a:pt x="270926" y="214077"/>
                </a:lnTo>
                <a:lnTo>
                  <a:pt x="406389" y="226514"/>
                </a:lnTo>
                <a:lnTo>
                  <a:pt x="541853" y="236236"/>
                </a:lnTo>
                <a:lnTo>
                  <a:pt x="677316" y="242855"/>
                </a:lnTo>
                <a:lnTo>
                  <a:pt x="812779" y="246124"/>
                </a:lnTo>
                <a:lnTo>
                  <a:pt x="948242" y="245951"/>
                </a:lnTo>
                <a:lnTo>
                  <a:pt x="1083706" y="242404"/>
                </a:lnTo>
                <a:lnTo>
                  <a:pt x="1219169" y="235707"/>
                </a:lnTo>
                <a:lnTo>
                  <a:pt x="1354632" y="226219"/>
                </a:lnTo>
                <a:lnTo>
                  <a:pt x="1490096" y="214417"/>
                </a:lnTo>
                <a:lnTo>
                  <a:pt x="1625559" y="200862"/>
                </a:lnTo>
                <a:lnTo>
                  <a:pt x="1761022" y="186161"/>
                </a:lnTo>
                <a:lnTo>
                  <a:pt x="1896485" y="170935"/>
                </a:lnTo>
                <a:lnTo>
                  <a:pt x="2031949" y="155777"/>
                </a:lnTo>
                <a:lnTo>
                  <a:pt x="2167412" y="141221"/>
                </a:lnTo>
                <a:lnTo>
                  <a:pt x="2302875" y="127707"/>
                </a:lnTo>
                <a:lnTo>
                  <a:pt x="2438339" y="115564"/>
                </a:lnTo>
                <a:lnTo>
                  <a:pt x="2573802" y="104994"/>
                </a:lnTo>
                <a:lnTo>
                  <a:pt x="2709265" y="96068"/>
                </a:lnTo>
                <a:lnTo>
                  <a:pt x="2844728" y="88731"/>
                </a:lnTo>
                <a:lnTo>
                  <a:pt x="2980192" y="82816"/>
                </a:lnTo>
                <a:lnTo>
                  <a:pt x="3115655" y="78067"/>
                </a:lnTo>
                <a:lnTo>
                  <a:pt x="3251118" y="74166"/>
                </a:lnTo>
                <a:lnTo>
                  <a:pt x="3386582" y="70766"/>
                </a:lnTo>
                <a:lnTo>
                  <a:pt x="3522045" y="67527"/>
                </a:lnTo>
                <a:lnTo>
                  <a:pt x="3657508" y="64145"/>
                </a:lnTo>
                <a:lnTo>
                  <a:pt x="3792971" y="60383"/>
                </a:lnTo>
                <a:lnTo>
                  <a:pt x="3928435" y="56096"/>
                </a:lnTo>
                <a:lnTo>
                  <a:pt x="4063898" y="51248"/>
                </a:lnTo>
                <a:lnTo>
                  <a:pt x="4199361" y="45917"/>
                </a:lnTo>
                <a:lnTo>
                  <a:pt x="4334824" y="40294"/>
                </a:lnTo>
                <a:lnTo>
                  <a:pt x="4470288" y="34675"/>
                </a:lnTo>
                <a:lnTo>
                  <a:pt x="4605751" y="29440"/>
                </a:lnTo>
                <a:lnTo>
                  <a:pt x="4741214" y="25025"/>
                </a:lnTo>
                <a:lnTo>
                  <a:pt x="4876678" y="21891"/>
                </a:lnTo>
                <a:lnTo>
                  <a:pt x="5012141" y="20491"/>
                </a:lnTo>
                <a:lnTo>
                  <a:pt x="5147604" y="21233"/>
                </a:lnTo>
                <a:lnTo>
                  <a:pt x="5283067" y="24445"/>
                </a:lnTo>
                <a:lnTo>
                  <a:pt x="5418531" y="30349"/>
                </a:lnTo>
                <a:lnTo>
                  <a:pt x="5553994" y="39037"/>
                </a:lnTo>
                <a:lnTo>
                  <a:pt x="5689457" y="50457"/>
                </a:lnTo>
                <a:lnTo>
                  <a:pt x="5824921" y="64407"/>
                </a:lnTo>
                <a:lnTo>
                  <a:pt x="5960384" y="80543"/>
                </a:lnTo>
                <a:lnTo>
                  <a:pt x="6095847" y="98390"/>
                </a:lnTo>
                <a:lnTo>
                  <a:pt x="6231310" y="117369"/>
                </a:lnTo>
                <a:lnTo>
                  <a:pt x="6366774" y="136826"/>
                </a:lnTo>
                <a:lnTo>
                  <a:pt x="6502237" y="156066"/>
                </a:lnTo>
                <a:lnTo>
                  <a:pt x="6637700" y="174397"/>
                </a:lnTo>
                <a:lnTo>
                  <a:pt x="6773164" y="191162"/>
                </a:lnTo>
                <a:lnTo>
                  <a:pt x="6908627" y="205782"/>
                </a:lnTo>
                <a:lnTo>
                  <a:pt x="7044090" y="217784"/>
                </a:lnTo>
                <a:lnTo>
                  <a:pt x="7179553" y="226827"/>
                </a:lnTo>
                <a:lnTo>
                  <a:pt x="7315017" y="232720"/>
                </a:lnTo>
                <a:lnTo>
                  <a:pt x="7450480" y="235424"/>
                </a:lnTo>
                <a:lnTo>
                  <a:pt x="7585943" y="235057"/>
                </a:lnTo>
                <a:lnTo>
                  <a:pt x="7721406" y="231872"/>
                </a:lnTo>
                <a:lnTo>
                  <a:pt x="7856870" y="226244"/>
                </a:lnTo>
                <a:lnTo>
                  <a:pt x="7992333" y="218632"/>
                </a:lnTo>
                <a:lnTo>
                  <a:pt x="8127796" y="209557"/>
                </a:lnTo>
                <a:lnTo>
                  <a:pt x="8263260" y="199555"/>
                </a:lnTo>
                <a:lnTo>
                  <a:pt x="8398723" y="189147"/>
                </a:lnTo>
                <a:lnTo>
                  <a:pt x="8534186" y="178801"/>
                </a:lnTo>
                <a:lnTo>
                  <a:pt x="8669649" y="168908"/>
                </a:lnTo>
                <a:lnTo>
                  <a:pt x="8805113" y="159754"/>
                </a:lnTo>
                <a:lnTo>
                  <a:pt x="8940576" y="151510"/>
                </a:lnTo>
                <a:lnTo>
                  <a:pt x="9076039" y="144224"/>
                </a:lnTo>
                <a:lnTo>
                  <a:pt x="9211503" y="137828"/>
                </a:lnTo>
                <a:lnTo>
                  <a:pt x="9346966" y="132152"/>
                </a:lnTo>
                <a:lnTo>
                  <a:pt x="9482429" y="126943"/>
                </a:lnTo>
                <a:lnTo>
                  <a:pt x="9617892" y="121894"/>
                </a:lnTo>
                <a:lnTo>
                  <a:pt x="9753356" y="116677"/>
                </a:lnTo>
                <a:lnTo>
                  <a:pt x="9888819" y="110975"/>
                </a:lnTo>
                <a:lnTo>
                  <a:pt x="10024282" y="104513"/>
                </a:lnTo>
                <a:lnTo>
                  <a:pt x="10159746" y="97095"/>
                </a:lnTo>
                <a:lnTo>
                  <a:pt x="10295209" y="88617"/>
                </a:lnTo>
                <a:lnTo>
                  <a:pt x="10430672" y="79094"/>
                </a:lnTo>
                <a:lnTo>
                  <a:pt x="10566135" y="68661"/>
                </a:lnTo>
                <a:lnTo>
                  <a:pt x="10701599" y="57573"/>
                </a:lnTo>
                <a:lnTo>
                  <a:pt x="10837062" y="46197"/>
                </a:lnTo>
                <a:lnTo>
                  <a:pt x="10972525" y="34990"/>
                </a:lnTo>
                <a:lnTo>
                  <a:pt x="11107988" y="24471"/>
                </a:lnTo>
                <a:lnTo>
                  <a:pt x="11243452" y="15192"/>
                </a:lnTo>
                <a:lnTo>
                  <a:pt x="11378915" y="7698"/>
                </a:lnTo>
                <a:lnTo>
                  <a:pt x="11514378" y="2492"/>
                </a:lnTo>
                <a:lnTo>
                  <a:pt x="11649842" y="0"/>
                </a:lnTo>
                <a:lnTo>
                  <a:pt x="11785305" y="541"/>
                </a:lnTo>
                <a:lnTo>
                  <a:pt x="11920768" y="4298"/>
                </a:lnTo>
                <a:lnTo>
                  <a:pt x="12056231" y="11307"/>
                </a:lnTo>
                <a:lnTo>
                  <a:pt x="12191695" y="21447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0" y="6600998"/>
            <a:ext cx="12191695" cy="238322"/>
          </a:xfrm>
          <a:custGeom>
            <a:avLst/>
            <a:gdLst/>
            <a:ahLst/>
            <a:cxnLst/>
            <a:rect l="l" t="t" r="r" b="b"/>
            <a:pathLst>
              <a:path w="12191695" h="238322">
                <a:moveTo>
                  <a:pt x="0" y="190722"/>
                </a:moveTo>
                <a:lnTo>
                  <a:pt x="135463" y="204821"/>
                </a:lnTo>
                <a:lnTo>
                  <a:pt x="270926" y="217096"/>
                </a:lnTo>
                <a:lnTo>
                  <a:pt x="406389" y="226989"/>
                </a:lnTo>
                <a:lnTo>
                  <a:pt x="541853" y="234032"/>
                </a:lnTo>
                <a:lnTo>
                  <a:pt x="677316" y="237878"/>
                </a:lnTo>
                <a:lnTo>
                  <a:pt x="812779" y="238322"/>
                </a:lnTo>
                <a:lnTo>
                  <a:pt x="948242" y="235314"/>
                </a:lnTo>
                <a:lnTo>
                  <a:pt x="1083706" y="228966"/>
                </a:lnTo>
                <a:lnTo>
                  <a:pt x="1219169" y="219541"/>
                </a:lnTo>
                <a:lnTo>
                  <a:pt x="1354632" y="207444"/>
                </a:lnTo>
                <a:lnTo>
                  <a:pt x="1490096" y="193188"/>
                </a:lnTo>
                <a:lnTo>
                  <a:pt x="1625559" y="177371"/>
                </a:lnTo>
                <a:lnTo>
                  <a:pt x="1761022" y="160636"/>
                </a:lnTo>
                <a:lnTo>
                  <a:pt x="1896485" y="143634"/>
                </a:lnTo>
                <a:lnTo>
                  <a:pt x="2031949" y="126985"/>
                </a:lnTo>
                <a:lnTo>
                  <a:pt x="2167412" y="111244"/>
                </a:lnTo>
                <a:lnTo>
                  <a:pt x="2302875" y="96871"/>
                </a:lnTo>
                <a:lnTo>
                  <a:pt x="2438339" y="84207"/>
                </a:lnTo>
                <a:lnTo>
                  <a:pt x="2573802" y="73462"/>
                </a:lnTo>
                <a:lnTo>
                  <a:pt x="2709265" y="64709"/>
                </a:lnTo>
                <a:lnTo>
                  <a:pt x="2844728" y="57891"/>
                </a:lnTo>
                <a:lnTo>
                  <a:pt x="2980192" y="52834"/>
                </a:lnTo>
                <a:lnTo>
                  <a:pt x="3115655" y="49267"/>
                </a:lnTo>
                <a:lnTo>
                  <a:pt x="3251118" y="46856"/>
                </a:lnTo>
                <a:lnTo>
                  <a:pt x="3386582" y="45231"/>
                </a:lnTo>
                <a:lnTo>
                  <a:pt x="3522045" y="44024"/>
                </a:lnTo>
                <a:lnTo>
                  <a:pt x="3657508" y="42902"/>
                </a:lnTo>
                <a:lnTo>
                  <a:pt x="3792971" y="41593"/>
                </a:lnTo>
                <a:lnTo>
                  <a:pt x="3928435" y="39916"/>
                </a:lnTo>
                <a:lnTo>
                  <a:pt x="4063898" y="37794"/>
                </a:lnTo>
                <a:lnTo>
                  <a:pt x="4199361" y="35264"/>
                </a:lnTo>
                <a:lnTo>
                  <a:pt x="4334824" y="32476"/>
                </a:lnTo>
                <a:lnTo>
                  <a:pt x="4470288" y="29683"/>
                </a:lnTo>
                <a:lnTo>
                  <a:pt x="4605751" y="27220"/>
                </a:lnTo>
                <a:lnTo>
                  <a:pt x="4741214" y="25484"/>
                </a:lnTo>
                <a:lnTo>
                  <a:pt x="4876678" y="24895"/>
                </a:lnTo>
                <a:lnTo>
                  <a:pt x="5012141" y="25867"/>
                </a:lnTo>
                <a:lnTo>
                  <a:pt x="5147604" y="28771"/>
                </a:lnTo>
                <a:lnTo>
                  <a:pt x="5283067" y="33905"/>
                </a:lnTo>
                <a:lnTo>
                  <a:pt x="5418531" y="41460"/>
                </a:lnTo>
                <a:lnTo>
                  <a:pt x="5553994" y="51504"/>
                </a:lnTo>
                <a:lnTo>
                  <a:pt x="5689457" y="63964"/>
                </a:lnTo>
                <a:lnTo>
                  <a:pt x="5824921" y="78622"/>
                </a:lnTo>
                <a:lnTo>
                  <a:pt x="5960384" y="95124"/>
                </a:lnTo>
                <a:lnTo>
                  <a:pt x="6095847" y="112989"/>
                </a:lnTo>
                <a:lnTo>
                  <a:pt x="6231310" y="131639"/>
                </a:lnTo>
                <a:lnTo>
                  <a:pt x="6366774" y="150423"/>
                </a:lnTo>
                <a:lnTo>
                  <a:pt x="6502237" y="168658"/>
                </a:lnTo>
                <a:lnTo>
                  <a:pt x="6637700" y="185665"/>
                </a:lnTo>
                <a:lnTo>
                  <a:pt x="6773164" y="200809"/>
                </a:lnTo>
                <a:lnTo>
                  <a:pt x="6908627" y="213535"/>
                </a:lnTo>
                <a:lnTo>
                  <a:pt x="7044090" y="223398"/>
                </a:lnTo>
                <a:lnTo>
                  <a:pt x="7179553" y="230090"/>
                </a:lnTo>
                <a:lnTo>
                  <a:pt x="7315017" y="233454"/>
                </a:lnTo>
                <a:lnTo>
                  <a:pt x="7450480" y="233492"/>
                </a:lnTo>
                <a:lnTo>
                  <a:pt x="7585943" y="230359"/>
                </a:lnTo>
                <a:lnTo>
                  <a:pt x="7721406" y="224353"/>
                </a:lnTo>
                <a:lnTo>
                  <a:pt x="7856870" y="215888"/>
                </a:lnTo>
                <a:lnTo>
                  <a:pt x="7992333" y="205470"/>
                </a:lnTo>
                <a:lnTo>
                  <a:pt x="8127796" y="193658"/>
                </a:lnTo>
                <a:lnTo>
                  <a:pt x="8263260" y="181033"/>
                </a:lnTo>
                <a:lnTo>
                  <a:pt x="8398723" y="168153"/>
                </a:lnTo>
                <a:lnTo>
                  <a:pt x="8534186" y="155526"/>
                </a:lnTo>
                <a:lnTo>
                  <a:pt x="8669649" y="143575"/>
                </a:lnTo>
                <a:lnTo>
                  <a:pt x="8805113" y="132618"/>
                </a:lnTo>
                <a:lnTo>
                  <a:pt x="8940576" y="122852"/>
                </a:lnTo>
                <a:lnTo>
                  <a:pt x="9076039" y="114351"/>
                </a:lnTo>
                <a:lnTo>
                  <a:pt x="9211503" y="107063"/>
                </a:lnTo>
                <a:lnTo>
                  <a:pt x="9346966" y="100832"/>
                </a:lnTo>
                <a:lnTo>
                  <a:pt x="9482429" y="95413"/>
                </a:lnTo>
                <a:lnTo>
                  <a:pt x="9617892" y="90502"/>
                </a:lnTo>
                <a:lnTo>
                  <a:pt x="9753356" y="85770"/>
                </a:lnTo>
                <a:lnTo>
                  <a:pt x="9888819" y="80892"/>
                </a:lnTo>
                <a:lnTo>
                  <a:pt x="10024282" y="75582"/>
                </a:lnTo>
                <a:lnTo>
                  <a:pt x="10159746" y="69623"/>
                </a:lnTo>
                <a:lnTo>
                  <a:pt x="10295209" y="62893"/>
                </a:lnTo>
                <a:lnTo>
                  <a:pt x="10430672" y="55378"/>
                </a:lnTo>
                <a:lnTo>
                  <a:pt x="10566135" y="47183"/>
                </a:lnTo>
                <a:lnTo>
                  <a:pt x="10701599" y="38531"/>
                </a:lnTo>
                <a:lnTo>
                  <a:pt x="10837062" y="29751"/>
                </a:lnTo>
                <a:lnTo>
                  <a:pt x="10972525" y="21260"/>
                </a:lnTo>
                <a:lnTo>
                  <a:pt x="11107988" y="13537"/>
                </a:lnTo>
                <a:lnTo>
                  <a:pt x="11243452" y="7091"/>
                </a:lnTo>
                <a:lnTo>
                  <a:pt x="11378915" y="2425"/>
                </a:lnTo>
                <a:lnTo>
                  <a:pt x="11514378" y="0"/>
                </a:lnTo>
                <a:lnTo>
                  <a:pt x="11649842" y="198"/>
                </a:lnTo>
                <a:lnTo>
                  <a:pt x="11785305" y="3299"/>
                </a:lnTo>
                <a:lnTo>
                  <a:pt x="11920768" y="9446"/>
                </a:lnTo>
                <a:lnTo>
                  <a:pt x="12056231" y="18641"/>
                </a:lnTo>
                <a:lnTo>
                  <a:pt x="12191695" y="30728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46304"/>
            <a:ext cx="11283696" cy="44805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规划场景：治理运维诊断闭环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722376"/>
            <a:ext cx="585216" cy="41148"/>
          </a:xfrm>
          <a:prstGeom prst="rect">
            <a:avLst/>
          </a:prstGeom>
          <a:solidFill>
            <a:srgbClr val="EE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649224"/>
            <a:ext cx="10469880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2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用平台事实组织原因线索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292608"/>
            <a:ext cx="896112" cy="20116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HiAgent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6647688"/>
            <a:ext cx="10241280" cy="1280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7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企业数据智能体建设规划  /  规划视图  /  2026.10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629400"/>
            <a:ext cx="585216" cy="17373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" y="1133856"/>
            <a:ext cx="11219688" cy="26517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7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示意：业务发现指标异常，先判断口径、质量与运行状态，再形成处置建议。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" y="1687068"/>
            <a:ext cx="1954530" cy="3941063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1655064"/>
            <a:ext cx="1954530" cy="39410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1847088"/>
            <a:ext cx="1716786" cy="23774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2231136"/>
            <a:ext cx="1716786" cy="36576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异常输入</a:t>
            </a:r>
          </a:p>
        </p:txBody>
      </p:sp>
      <p:sp>
        <p:nvSpPr>
          <p:cNvPr id="18" name="Oval 17"/>
          <p:cNvSpPr/>
          <p:nvPr/>
        </p:nvSpPr>
        <p:spPr>
          <a:xfrm>
            <a:off x="1059469" y="3591854"/>
            <a:ext cx="880567" cy="156545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069253" y="3454877"/>
            <a:ext cx="851215" cy="391559"/>
          </a:xfrm>
          <a:custGeom>
            <a:avLst/>
            <a:gdLst/>
            <a:ahLst/>
            <a:cxnLst/>
            <a:rect l="l" t="t" r="r" b="b"/>
            <a:pathLst>
              <a:path w="851215" h="391559">
                <a:moveTo>
                  <a:pt x="0" y="195779"/>
                </a:moveTo>
                <a:lnTo>
                  <a:pt x="425608" y="0"/>
                </a:lnTo>
                <a:lnTo>
                  <a:pt x="851215" y="195779"/>
                </a:lnTo>
                <a:lnTo>
                  <a:pt x="425608" y="391559"/>
                </a:lnTo>
                <a:close/>
              </a:path>
            </a:pathLst>
          </a:custGeom>
          <a:solidFill>
            <a:srgbClr val="B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1069253" y="3650656"/>
            <a:ext cx="425608" cy="234916"/>
          </a:xfrm>
          <a:custGeom>
            <a:avLst/>
            <a:gdLst/>
            <a:ahLst/>
            <a:cxnLst/>
            <a:rect l="l" t="t" r="r" b="b"/>
            <a:pathLst>
              <a:path w="425608" h="234916">
                <a:moveTo>
                  <a:pt x="0" y="0"/>
                </a:moveTo>
                <a:lnTo>
                  <a:pt x="425608" y="195780"/>
                </a:lnTo>
                <a:lnTo>
                  <a:pt x="425608" y="234916"/>
                </a:lnTo>
                <a:lnTo>
                  <a:pt x="0" y="39137"/>
                </a:lnTo>
                <a:close/>
              </a:path>
            </a:pathLst>
          </a:custGeom>
          <a:solidFill>
            <a:srgbClr val="7FC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1494861" y="3650656"/>
            <a:ext cx="425607" cy="234916"/>
          </a:xfrm>
          <a:custGeom>
            <a:avLst/>
            <a:gdLst/>
            <a:ahLst/>
            <a:cxnLst/>
            <a:rect l="l" t="t" r="r" b="b"/>
            <a:pathLst>
              <a:path w="425607" h="234916">
                <a:moveTo>
                  <a:pt x="0" y="195780"/>
                </a:moveTo>
                <a:lnTo>
                  <a:pt x="425607" y="0"/>
                </a:lnTo>
                <a:lnTo>
                  <a:pt x="425607" y="39137"/>
                </a:lnTo>
                <a:lnTo>
                  <a:pt x="0" y="234916"/>
                </a:lnTo>
                <a:close/>
              </a:path>
            </a:pathLst>
          </a:custGeom>
          <a:solidFill>
            <a:srgbClr val="5AA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1137742" y="3327684"/>
            <a:ext cx="185897" cy="78273"/>
          </a:xfrm>
          <a:custGeom>
            <a:avLst/>
            <a:gdLst/>
            <a:ahLst/>
            <a:cxnLst/>
            <a:rect l="l" t="t" r="r" b="b"/>
            <a:pathLst>
              <a:path w="185897" h="78273">
                <a:moveTo>
                  <a:pt x="0" y="39136"/>
                </a:moveTo>
                <a:lnTo>
                  <a:pt x="92948" y="0"/>
                </a:lnTo>
                <a:lnTo>
                  <a:pt x="185897" y="39136"/>
                </a:lnTo>
                <a:lnTo>
                  <a:pt x="92948" y="78273"/>
                </a:lnTo>
                <a:close/>
              </a:path>
            </a:pathLst>
          </a:custGeom>
          <a:solidFill>
            <a:srgbClr val="9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1137742" y="3366820"/>
            <a:ext cx="92948" cy="215250"/>
          </a:xfrm>
          <a:custGeom>
            <a:avLst/>
            <a:gdLst/>
            <a:ahLst/>
            <a:cxnLst/>
            <a:rect l="l" t="t" r="r" b="b"/>
            <a:pathLst>
              <a:path w="92948" h="215250">
                <a:moveTo>
                  <a:pt x="0" y="0"/>
                </a:moveTo>
                <a:lnTo>
                  <a:pt x="92948" y="39137"/>
                </a:lnTo>
                <a:lnTo>
                  <a:pt x="92948" y="215250"/>
                </a:lnTo>
                <a:lnTo>
                  <a:pt x="0" y="176114"/>
                </a:lnTo>
                <a:close/>
              </a:path>
            </a:pathLst>
          </a:custGeom>
          <a:solidFill>
            <a:srgbClr val="2AB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230690" y="3366820"/>
            <a:ext cx="92949" cy="215250"/>
          </a:xfrm>
          <a:custGeom>
            <a:avLst/>
            <a:gdLst/>
            <a:ahLst/>
            <a:cxnLst/>
            <a:rect l="l" t="t" r="r" b="b"/>
            <a:pathLst>
              <a:path w="92949" h="215250">
                <a:moveTo>
                  <a:pt x="0" y="39137"/>
                </a:moveTo>
                <a:lnTo>
                  <a:pt x="92949" y="0"/>
                </a:lnTo>
                <a:lnTo>
                  <a:pt x="92949" y="176114"/>
                </a:lnTo>
                <a:lnTo>
                  <a:pt x="0" y="215250"/>
                </a:lnTo>
                <a:close/>
              </a:path>
            </a:pathLst>
          </a:custGeom>
          <a:solidFill>
            <a:srgbClr val="11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1372560" y="3141786"/>
            <a:ext cx="185897" cy="78273"/>
          </a:xfrm>
          <a:custGeom>
            <a:avLst/>
            <a:gdLst/>
            <a:ahLst/>
            <a:cxnLst/>
            <a:rect l="l" t="t" r="r" b="b"/>
            <a:pathLst>
              <a:path w="185897" h="78273">
                <a:moveTo>
                  <a:pt x="0" y="39137"/>
                </a:moveTo>
                <a:lnTo>
                  <a:pt x="92948" y="0"/>
                </a:lnTo>
                <a:lnTo>
                  <a:pt x="185897" y="39137"/>
                </a:lnTo>
                <a:lnTo>
                  <a:pt x="92948" y="78273"/>
                </a:lnTo>
                <a:close/>
              </a:path>
            </a:pathLst>
          </a:custGeom>
          <a:solidFill>
            <a:srgbClr val="9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1372560" y="3180923"/>
            <a:ext cx="92948" cy="401147"/>
          </a:xfrm>
          <a:custGeom>
            <a:avLst/>
            <a:gdLst/>
            <a:ahLst/>
            <a:cxnLst/>
            <a:rect l="l" t="t" r="r" b="b"/>
            <a:pathLst>
              <a:path w="92948" h="401147">
                <a:moveTo>
                  <a:pt x="0" y="0"/>
                </a:moveTo>
                <a:lnTo>
                  <a:pt x="92948" y="39136"/>
                </a:lnTo>
                <a:lnTo>
                  <a:pt x="92948" y="401147"/>
                </a:lnTo>
                <a:lnTo>
                  <a:pt x="0" y="362011"/>
                </a:lnTo>
                <a:close/>
              </a:path>
            </a:pathLst>
          </a:custGeom>
          <a:solidFill>
            <a:srgbClr val="2AB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1465508" y="3180923"/>
            <a:ext cx="92949" cy="401147"/>
          </a:xfrm>
          <a:custGeom>
            <a:avLst/>
            <a:gdLst/>
            <a:ahLst/>
            <a:cxnLst/>
            <a:rect l="l" t="t" r="r" b="b"/>
            <a:pathLst>
              <a:path w="92949" h="401147">
                <a:moveTo>
                  <a:pt x="0" y="39136"/>
                </a:moveTo>
                <a:lnTo>
                  <a:pt x="92949" y="0"/>
                </a:lnTo>
                <a:lnTo>
                  <a:pt x="92949" y="362011"/>
                </a:lnTo>
                <a:lnTo>
                  <a:pt x="0" y="401147"/>
                </a:lnTo>
                <a:close/>
              </a:path>
            </a:pathLst>
          </a:custGeom>
          <a:solidFill>
            <a:srgbClr val="11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1607378" y="2897184"/>
            <a:ext cx="185897" cy="78273"/>
          </a:xfrm>
          <a:custGeom>
            <a:avLst/>
            <a:gdLst/>
            <a:ahLst/>
            <a:cxnLst/>
            <a:rect l="l" t="t" r="r" b="b"/>
            <a:pathLst>
              <a:path w="185897" h="78273">
                <a:moveTo>
                  <a:pt x="0" y="39137"/>
                </a:moveTo>
                <a:lnTo>
                  <a:pt x="92948" y="0"/>
                </a:lnTo>
                <a:lnTo>
                  <a:pt x="185897" y="39137"/>
                </a:lnTo>
                <a:lnTo>
                  <a:pt x="92948" y="78273"/>
                </a:lnTo>
                <a:close/>
              </a:path>
            </a:pathLst>
          </a:custGeom>
          <a:solidFill>
            <a:srgbClr val="9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607378" y="2936321"/>
            <a:ext cx="92948" cy="645749"/>
          </a:xfrm>
          <a:custGeom>
            <a:avLst/>
            <a:gdLst/>
            <a:ahLst/>
            <a:cxnLst/>
            <a:rect l="l" t="t" r="r" b="b"/>
            <a:pathLst>
              <a:path w="92948" h="645749">
                <a:moveTo>
                  <a:pt x="0" y="0"/>
                </a:moveTo>
                <a:lnTo>
                  <a:pt x="92948" y="39136"/>
                </a:lnTo>
                <a:lnTo>
                  <a:pt x="92948" y="645749"/>
                </a:lnTo>
                <a:lnTo>
                  <a:pt x="0" y="606613"/>
                </a:lnTo>
                <a:close/>
              </a:path>
            </a:pathLst>
          </a:custGeom>
          <a:solidFill>
            <a:srgbClr val="2AB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1700326" y="2936321"/>
            <a:ext cx="92949" cy="645749"/>
          </a:xfrm>
          <a:custGeom>
            <a:avLst/>
            <a:gdLst/>
            <a:ahLst/>
            <a:cxnLst/>
            <a:rect l="l" t="t" r="r" b="b"/>
            <a:pathLst>
              <a:path w="92949" h="645749">
                <a:moveTo>
                  <a:pt x="0" y="39136"/>
                </a:moveTo>
                <a:lnTo>
                  <a:pt x="92949" y="0"/>
                </a:lnTo>
                <a:lnTo>
                  <a:pt x="92949" y="606613"/>
                </a:lnTo>
                <a:lnTo>
                  <a:pt x="0" y="645749"/>
                </a:lnTo>
                <a:close/>
              </a:path>
            </a:pathLst>
          </a:custGeom>
          <a:solidFill>
            <a:srgbClr val="11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2648" y="4069080"/>
            <a:ext cx="1735074" cy="429768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" y="4101084"/>
            <a:ext cx="1552194" cy="365759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问题与影响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" y="4754880"/>
            <a:ext cx="1698498" cy="5852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平台告警或反馈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确定对象与期间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480310" y="3273552"/>
            <a:ext cx="137160" cy="0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2559003" y="3273552"/>
            <a:ext cx="58467" cy="35845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2559003" y="3237706"/>
            <a:ext cx="58467" cy="35846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2663190" y="1687068"/>
            <a:ext cx="1954530" cy="3941063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640330" y="1655064"/>
            <a:ext cx="1954530" cy="39410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59202" y="1847088"/>
            <a:ext cx="1716786" cy="23774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59202" y="2231136"/>
            <a:ext cx="1716786" cy="36576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权威取证</a:t>
            </a:r>
          </a:p>
        </p:txBody>
      </p:sp>
      <p:sp>
        <p:nvSpPr>
          <p:cNvPr id="41" name="Oval 40"/>
          <p:cNvSpPr/>
          <p:nvPr/>
        </p:nvSpPr>
        <p:spPr>
          <a:xfrm>
            <a:off x="3196879" y="3591854"/>
            <a:ext cx="880567" cy="156545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333856" y="2995025"/>
            <a:ext cx="596828" cy="567476"/>
          </a:xfrm>
          <a:prstGeom prst="rect">
            <a:avLst/>
          </a:prstGeom>
          <a:solidFill>
            <a:srgbClr val="168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333856" y="3484229"/>
            <a:ext cx="596828" cy="195681"/>
          </a:xfrm>
          <a:prstGeom prst="ellipse">
            <a:avLst/>
          </a:prstGeom>
          <a:solidFill>
            <a:srgbClr val="096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333856" y="2897184"/>
            <a:ext cx="596828" cy="195681"/>
          </a:xfrm>
          <a:prstGeom prst="ellipse">
            <a:avLst/>
          </a:prstGeom>
          <a:solidFill>
            <a:srgbClr val="76D8FF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333856" y="3122218"/>
            <a:ext cx="596828" cy="195681"/>
          </a:xfrm>
          <a:prstGeom prst="ellipse">
            <a:avLst/>
          </a:prstGeom>
          <a:solidFill>
            <a:srgbClr val="3AB2F8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333856" y="3347252"/>
            <a:ext cx="596828" cy="195681"/>
          </a:xfrm>
          <a:prstGeom prst="ellipse">
            <a:avLst/>
          </a:prstGeom>
          <a:solidFill>
            <a:srgbClr val="3AB2F8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392561" y="3014593"/>
            <a:ext cx="39136" cy="518556"/>
          </a:xfrm>
          <a:prstGeom prst="rect">
            <a:avLst/>
          </a:prstGeom>
          <a:solidFill>
            <a:srgbClr val="76D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750058" y="4069080"/>
            <a:ext cx="1735074" cy="429768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41498" y="4101084"/>
            <a:ext cx="1552194" cy="365759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口径、血缘、日志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68346" y="4754880"/>
            <a:ext cx="1698498" cy="5852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资产平台查血缘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质量调度提供事实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617720" y="3273552"/>
            <a:ext cx="137160" cy="0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4696413" y="3273552"/>
            <a:ext cx="58467" cy="35845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 flipV="1">
            <a:off x="4696413" y="3237706"/>
            <a:ext cx="58467" cy="35846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4800600" y="1687068"/>
            <a:ext cx="1954530" cy="3941063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777740" y="1655064"/>
            <a:ext cx="1954530" cy="39410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96612" y="1847088"/>
            <a:ext cx="1716786" cy="23774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03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96612" y="2231136"/>
            <a:ext cx="1716786" cy="36576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专业诊断</a:t>
            </a:r>
          </a:p>
        </p:txBody>
      </p:sp>
      <p:sp>
        <p:nvSpPr>
          <p:cNvPr id="58" name="Oval 57"/>
          <p:cNvSpPr/>
          <p:nvPr/>
        </p:nvSpPr>
        <p:spPr>
          <a:xfrm>
            <a:off x="5334289" y="3591854"/>
            <a:ext cx="880567" cy="156545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5295153" y="3327684"/>
            <a:ext cx="900135" cy="378057"/>
          </a:xfrm>
          <a:custGeom>
            <a:avLst/>
            <a:gdLst/>
            <a:ahLst/>
            <a:cxnLst/>
            <a:rect l="l" t="t" r="r" b="b"/>
            <a:pathLst>
              <a:path w="900135" h="378057">
                <a:moveTo>
                  <a:pt x="0" y="189028"/>
                </a:moveTo>
                <a:lnTo>
                  <a:pt x="450067" y="0"/>
                </a:lnTo>
                <a:lnTo>
                  <a:pt x="900135" y="189028"/>
                </a:lnTo>
                <a:lnTo>
                  <a:pt x="450067" y="378057"/>
                </a:lnTo>
                <a:close/>
              </a:path>
            </a:pathLst>
          </a:custGeom>
          <a:solidFill>
            <a:srgbClr val="B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5295153" y="3516712"/>
            <a:ext cx="450067" cy="272194"/>
          </a:xfrm>
          <a:custGeom>
            <a:avLst/>
            <a:gdLst/>
            <a:ahLst/>
            <a:cxnLst/>
            <a:rect l="l" t="t" r="r" b="b"/>
            <a:pathLst>
              <a:path w="450067" h="272194">
                <a:moveTo>
                  <a:pt x="0" y="0"/>
                </a:moveTo>
                <a:lnTo>
                  <a:pt x="450067" y="189029"/>
                </a:lnTo>
                <a:lnTo>
                  <a:pt x="450067" y="272194"/>
                </a:lnTo>
                <a:lnTo>
                  <a:pt x="0" y="83165"/>
                </a:lnTo>
                <a:close/>
              </a:path>
            </a:pathLst>
          </a:custGeom>
          <a:solidFill>
            <a:srgbClr val="6D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5745220" y="3516712"/>
            <a:ext cx="450068" cy="272194"/>
          </a:xfrm>
          <a:custGeom>
            <a:avLst/>
            <a:gdLst/>
            <a:ahLst/>
            <a:cxnLst/>
            <a:rect l="l" t="t" r="r" b="b"/>
            <a:pathLst>
              <a:path w="450068" h="272194">
                <a:moveTo>
                  <a:pt x="0" y="189029"/>
                </a:moveTo>
                <a:lnTo>
                  <a:pt x="450068" y="0"/>
                </a:lnTo>
                <a:lnTo>
                  <a:pt x="450068" y="83165"/>
                </a:lnTo>
                <a:lnTo>
                  <a:pt x="0" y="272194"/>
                </a:lnTo>
                <a:close/>
              </a:path>
            </a:pathLst>
          </a:custGeom>
          <a:solidFill>
            <a:srgbClr val="30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5373425" y="3141786"/>
            <a:ext cx="743590" cy="312308"/>
          </a:xfrm>
          <a:custGeom>
            <a:avLst/>
            <a:gdLst/>
            <a:ahLst/>
            <a:cxnLst/>
            <a:rect l="l" t="t" r="r" b="b"/>
            <a:pathLst>
              <a:path w="743590" h="312308">
                <a:moveTo>
                  <a:pt x="0" y="156154"/>
                </a:moveTo>
                <a:lnTo>
                  <a:pt x="371795" y="0"/>
                </a:lnTo>
                <a:lnTo>
                  <a:pt x="743590" y="156154"/>
                </a:lnTo>
                <a:lnTo>
                  <a:pt x="371795" y="312308"/>
                </a:lnTo>
                <a:close/>
              </a:path>
            </a:pathLst>
          </a:custGeom>
          <a:solidFill>
            <a:srgbClr val="94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5373425" y="3297940"/>
            <a:ext cx="371795" cy="239319"/>
          </a:xfrm>
          <a:custGeom>
            <a:avLst/>
            <a:gdLst/>
            <a:ahLst/>
            <a:cxnLst/>
            <a:rect l="l" t="t" r="r" b="b"/>
            <a:pathLst>
              <a:path w="371795" h="239319">
                <a:moveTo>
                  <a:pt x="0" y="0"/>
                </a:moveTo>
                <a:lnTo>
                  <a:pt x="371795" y="156154"/>
                </a:lnTo>
                <a:lnTo>
                  <a:pt x="371795" y="239319"/>
                </a:lnTo>
                <a:lnTo>
                  <a:pt x="0" y="83165"/>
                </a:lnTo>
                <a:close/>
              </a:path>
            </a:pathLst>
          </a:custGeom>
          <a:solidFill>
            <a:srgbClr val="3F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5745220" y="3297940"/>
            <a:ext cx="371795" cy="239319"/>
          </a:xfrm>
          <a:custGeom>
            <a:avLst/>
            <a:gdLst/>
            <a:ahLst/>
            <a:cxnLst/>
            <a:rect l="l" t="t" r="r" b="b"/>
            <a:pathLst>
              <a:path w="371795" h="239319">
                <a:moveTo>
                  <a:pt x="0" y="156154"/>
                </a:moveTo>
                <a:lnTo>
                  <a:pt x="371795" y="0"/>
                </a:lnTo>
                <a:lnTo>
                  <a:pt x="371795" y="83165"/>
                </a:lnTo>
                <a:lnTo>
                  <a:pt x="0" y="239319"/>
                </a:lnTo>
                <a:close/>
              </a:path>
            </a:pathLst>
          </a:custGeom>
          <a:solidFill>
            <a:srgbClr val="197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5461482" y="2955889"/>
            <a:ext cx="567477" cy="238340"/>
          </a:xfrm>
          <a:custGeom>
            <a:avLst/>
            <a:gdLst/>
            <a:ahLst/>
            <a:cxnLst/>
            <a:rect l="l" t="t" r="r" b="b"/>
            <a:pathLst>
              <a:path w="567477" h="238340">
                <a:moveTo>
                  <a:pt x="0" y="119170"/>
                </a:moveTo>
                <a:lnTo>
                  <a:pt x="283738" y="0"/>
                </a:lnTo>
                <a:lnTo>
                  <a:pt x="567477" y="119170"/>
                </a:lnTo>
                <a:lnTo>
                  <a:pt x="283738" y="238340"/>
                </a:lnTo>
                <a:close/>
              </a:path>
            </a:pathLst>
          </a:custGeom>
          <a:solidFill>
            <a:srgbClr val="57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5461482" y="3075059"/>
            <a:ext cx="283738" cy="202335"/>
          </a:xfrm>
          <a:custGeom>
            <a:avLst/>
            <a:gdLst/>
            <a:ahLst/>
            <a:cxnLst/>
            <a:rect l="l" t="t" r="r" b="b"/>
            <a:pathLst>
              <a:path w="283738" h="202335">
                <a:moveTo>
                  <a:pt x="0" y="0"/>
                </a:moveTo>
                <a:lnTo>
                  <a:pt x="283738" y="119170"/>
                </a:lnTo>
                <a:lnTo>
                  <a:pt x="283738" y="202335"/>
                </a:lnTo>
                <a:lnTo>
                  <a:pt x="0" y="83165"/>
                </a:lnTo>
                <a:close/>
              </a:path>
            </a:pathLst>
          </a:custGeom>
          <a:solidFill>
            <a:srgbClr val="148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5745220" y="3075059"/>
            <a:ext cx="283739" cy="202335"/>
          </a:xfrm>
          <a:custGeom>
            <a:avLst/>
            <a:gdLst/>
            <a:ahLst/>
            <a:cxnLst/>
            <a:rect l="l" t="t" r="r" b="b"/>
            <a:pathLst>
              <a:path w="283739" h="202335">
                <a:moveTo>
                  <a:pt x="0" y="119170"/>
                </a:moveTo>
                <a:lnTo>
                  <a:pt x="283739" y="0"/>
                </a:lnTo>
                <a:lnTo>
                  <a:pt x="283739" y="83165"/>
                </a:lnTo>
                <a:lnTo>
                  <a:pt x="0" y="202335"/>
                </a:lnTo>
                <a:close/>
              </a:path>
            </a:pathLst>
          </a:custGeom>
          <a:solidFill>
            <a:srgbClr val="0A5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5598459" y="2916753"/>
            <a:ext cx="185898" cy="85512"/>
          </a:xfrm>
          <a:custGeom>
            <a:avLst/>
            <a:gdLst/>
            <a:ahLst/>
            <a:cxnLst/>
            <a:rect l="l" t="t" r="r" b="b"/>
            <a:pathLst>
              <a:path w="185898" h="85512">
                <a:moveTo>
                  <a:pt x="0" y="42756"/>
                </a:moveTo>
                <a:lnTo>
                  <a:pt x="92949" y="0"/>
                </a:lnTo>
                <a:lnTo>
                  <a:pt x="185898" y="42756"/>
                </a:lnTo>
                <a:lnTo>
                  <a:pt x="92949" y="85512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5598459" y="2959509"/>
            <a:ext cx="92949" cy="179734"/>
          </a:xfrm>
          <a:custGeom>
            <a:avLst/>
            <a:gdLst/>
            <a:ahLst/>
            <a:cxnLst/>
            <a:rect l="l" t="t" r="r" b="b"/>
            <a:pathLst>
              <a:path w="92949" h="179734">
                <a:moveTo>
                  <a:pt x="0" y="0"/>
                </a:moveTo>
                <a:lnTo>
                  <a:pt x="92949" y="42756"/>
                </a:lnTo>
                <a:lnTo>
                  <a:pt x="92949" y="179734"/>
                </a:lnTo>
                <a:lnTo>
                  <a:pt x="0" y="136977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5691408" y="2959509"/>
            <a:ext cx="92949" cy="179734"/>
          </a:xfrm>
          <a:custGeom>
            <a:avLst/>
            <a:gdLst/>
            <a:ahLst/>
            <a:cxnLst/>
            <a:rect l="l" t="t" r="r" b="b"/>
            <a:pathLst>
              <a:path w="92949" h="179734">
                <a:moveTo>
                  <a:pt x="0" y="42756"/>
                </a:moveTo>
                <a:lnTo>
                  <a:pt x="92949" y="0"/>
                </a:lnTo>
                <a:lnTo>
                  <a:pt x="92949" y="136977"/>
                </a:lnTo>
                <a:lnTo>
                  <a:pt x="0" y="179734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5843061" y="3004809"/>
            <a:ext cx="185898" cy="85513"/>
          </a:xfrm>
          <a:custGeom>
            <a:avLst/>
            <a:gdLst/>
            <a:ahLst/>
            <a:cxnLst/>
            <a:rect l="l" t="t" r="r" b="b"/>
            <a:pathLst>
              <a:path w="185898" h="85513">
                <a:moveTo>
                  <a:pt x="0" y="42757"/>
                </a:moveTo>
                <a:lnTo>
                  <a:pt x="92949" y="0"/>
                </a:lnTo>
                <a:lnTo>
                  <a:pt x="185898" y="42757"/>
                </a:lnTo>
                <a:lnTo>
                  <a:pt x="92949" y="85513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5843061" y="3047566"/>
            <a:ext cx="92949" cy="179733"/>
          </a:xfrm>
          <a:custGeom>
            <a:avLst/>
            <a:gdLst/>
            <a:ahLst/>
            <a:cxnLst/>
            <a:rect l="l" t="t" r="r" b="b"/>
            <a:pathLst>
              <a:path w="92949" h="179733">
                <a:moveTo>
                  <a:pt x="0" y="0"/>
                </a:moveTo>
                <a:lnTo>
                  <a:pt x="92949" y="42756"/>
                </a:lnTo>
                <a:lnTo>
                  <a:pt x="92949" y="179733"/>
                </a:lnTo>
                <a:lnTo>
                  <a:pt x="0" y="136977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5936010" y="3047566"/>
            <a:ext cx="92949" cy="179733"/>
          </a:xfrm>
          <a:custGeom>
            <a:avLst/>
            <a:gdLst/>
            <a:ahLst/>
            <a:cxnLst/>
            <a:rect l="l" t="t" r="r" b="b"/>
            <a:pathLst>
              <a:path w="92949" h="179733">
                <a:moveTo>
                  <a:pt x="0" y="42756"/>
                </a:moveTo>
                <a:lnTo>
                  <a:pt x="92949" y="0"/>
                </a:lnTo>
                <a:lnTo>
                  <a:pt x="92949" y="136977"/>
                </a:lnTo>
                <a:lnTo>
                  <a:pt x="0" y="179733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5686516" y="3122218"/>
            <a:ext cx="185897" cy="85513"/>
          </a:xfrm>
          <a:custGeom>
            <a:avLst/>
            <a:gdLst/>
            <a:ahLst/>
            <a:cxnLst/>
            <a:rect l="l" t="t" r="r" b="b"/>
            <a:pathLst>
              <a:path w="185897" h="85513">
                <a:moveTo>
                  <a:pt x="0" y="42757"/>
                </a:moveTo>
                <a:lnTo>
                  <a:pt x="92949" y="0"/>
                </a:lnTo>
                <a:lnTo>
                  <a:pt x="185897" y="42757"/>
                </a:lnTo>
                <a:lnTo>
                  <a:pt x="92949" y="85513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5686516" y="3164975"/>
            <a:ext cx="92949" cy="179733"/>
          </a:xfrm>
          <a:custGeom>
            <a:avLst/>
            <a:gdLst/>
            <a:ahLst/>
            <a:cxnLst/>
            <a:rect l="l" t="t" r="r" b="b"/>
            <a:pathLst>
              <a:path w="92949" h="179733">
                <a:moveTo>
                  <a:pt x="0" y="0"/>
                </a:moveTo>
                <a:lnTo>
                  <a:pt x="92949" y="42756"/>
                </a:lnTo>
                <a:lnTo>
                  <a:pt x="92949" y="179733"/>
                </a:lnTo>
                <a:lnTo>
                  <a:pt x="0" y="136977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5779465" y="3164975"/>
            <a:ext cx="92948" cy="179733"/>
          </a:xfrm>
          <a:custGeom>
            <a:avLst/>
            <a:gdLst/>
            <a:ahLst/>
            <a:cxnLst/>
            <a:rect l="l" t="t" r="r" b="b"/>
            <a:pathLst>
              <a:path w="92948" h="179733">
                <a:moveTo>
                  <a:pt x="0" y="42756"/>
                </a:moveTo>
                <a:lnTo>
                  <a:pt x="92948" y="0"/>
                </a:lnTo>
                <a:lnTo>
                  <a:pt x="92948" y="136977"/>
                </a:lnTo>
                <a:lnTo>
                  <a:pt x="0" y="179733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4887468" y="4069080"/>
            <a:ext cx="1735074" cy="429768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978908" y="4101084"/>
            <a:ext cx="1552194" cy="365759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证据与假设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905756" y="4754880"/>
            <a:ext cx="1698498" cy="5852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治理、运维Agent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区分事实与线索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6755130" y="3273552"/>
            <a:ext cx="137160" cy="0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H="1">
            <a:off x="6833823" y="3273552"/>
            <a:ext cx="58467" cy="35845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 flipV="1">
            <a:off x="6833823" y="3237706"/>
            <a:ext cx="58467" cy="35846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ounded Rectangle 82"/>
          <p:cNvSpPr/>
          <p:nvPr/>
        </p:nvSpPr>
        <p:spPr>
          <a:xfrm>
            <a:off x="6938010" y="1687068"/>
            <a:ext cx="1954530" cy="3941063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6915150" y="1655064"/>
            <a:ext cx="1954530" cy="39410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034022" y="1847088"/>
            <a:ext cx="1716786" cy="23774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04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034022" y="2231136"/>
            <a:ext cx="1716786" cy="36576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确认与整改</a:t>
            </a:r>
          </a:p>
        </p:txBody>
      </p:sp>
      <p:sp>
        <p:nvSpPr>
          <p:cNvPr id="87" name="Oval 86"/>
          <p:cNvSpPr/>
          <p:nvPr/>
        </p:nvSpPr>
        <p:spPr>
          <a:xfrm>
            <a:off x="7471699" y="3591854"/>
            <a:ext cx="880567" cy="156545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7598892" y="2838480"/>
            <a:ext cx="626181" cy="166329"/>
          </a:xfrm>
          <a:custGeom>
            <a:avLst/>
            <a:gdLst/>
            <a:ahLst/>
            <a:cxnLst/>
            <a:rect l="l" t="t" r="r" b="b"/>
            <a:pathLst>
              <a:path w="626181" h="166329">
                <a:moveTo>
                  <a:pt x="0" y="68489"/>
                </a:moveTo>
                <a:lnTo>
                  <a:pt x="508772" y="0"/>
                </a:lnTo>
                <a:lnTo>
                  <a:pt x="626181" y="88057"/>
                </a:lnTo>
                <a:lnTo>
                  <a:pt x="117409" y="166329"/>
                </a:lnTo>
                <a:close/>
              </a:path>
            </a:pathLst>
          </a:custGeom>
          <a:solidFill>
            <a:srgbClr val="B1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8107664" y="2838480"/>
            <a:ext cx="117409" cy="694670"/>
          </a:xfrm>
          <a:custGeom>
            <a:avLst/>
            <a:gdLst/>
            <a:ahLst/>
            <a:cxnLst/>
            <a:rect l="l" t="t" r="r" b="b"/>
            <a:pathLst>
              <a:path w="117409" h="694670">
                <a:moveTo>
                  <a:pt x="0" y="0"/>
                </a:moveTo>
                <a:lnTo>
                  <a:pt x="117409" y="88057"/>
                </a:lnTo>
                <a:lnTo>
                  <a:pt x="117409" y="694670"/>
                </a:lnTo>
                <a:lnTo>
                  <a:pt x="0" y="626181"/>
                </a:lnTo>
                <a:close/>
              </a:path>
            </a:pathLst>
          </a:custGeom>
          <a:solidFill>
            <a:srgbClr val="147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7598892" y="2838480"/>
            <a:ext cx="508772" cy="704454"/>
          </a:xfrm>
          <a:custGeom>
            <a:avLst/>
            <a:gdLst/>
            <a:ahLst/>
            <a:cxnLst/>
            <a:rect l="l" t="t" r="r" b="b"/>
            <a:pathLst>
              <a:path w="508772" h="704454">
                <a:moveTo>
                  <a:pt x="0" y="68489"/>
                </a:moveTo>
                <a:lnTo>
                  <a:pt x="508772" y="0"/>
                </a:lnTo>
                <a:lnTo>
                  <a:pt x="508772" y="626181"/>
                </a:lnTo>
                <a:lnTo>
                  <a:pt x="0" y="704454"/>
                </a:lnTo>
                <a:close/>
              </a:path>
            </a:pathLst>
          </a:custGeom>
          <a:solidFill>
            <a:srgbClr val="52B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 flipV="1">
            <a:off x="7686949" y="3034162"/>
            <a:ext cx="322874" cy="4892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7686949" y="3171139"/>
            <a:ext cx="322874" cy="4892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7686949" y="3308116"/>
            <a:ext cx="322874" cy="4892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7735869" y="3239627"/>
            <a:ext cx="97841" cy="97841"/>
          </a:xfrm>
          <a:prstGeom prst="line">
            <a:avLst/>
          </a:prstGeom>
          <a:ln w="254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7833710" y="3102650"/>
            <a:ext cx="195682" cy="234818"/>
          </a:xfrm>
          <a:prstGeom prst="line">
            <a:avLst/>
          </a:prstGeom>
          <a:ln w="254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ounded Rectangle 95"/>
          <p:cNvSpPr/>
          <p:nvPr/>
        </p:nvSpPr>
        <p:spPr>
          <a:xfrm>
            <a:off x="7024878" y="4069080"/>
            <a:ext cx="1735074" cy="429768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116318" y="4101084"/>
            <a:ext cx="1552194" cy="365759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原平台处置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043166" y="4754880"/>
            <a:ext cx="1698498" cy="5852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责任人确认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验证结果并更新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194292" y="1687068"/>
            <a:ext cx="2505456" cy="1892807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9171432" y="1655064"/>
            <a:ext cx="2505456" cy="189280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326880" y="1792224"/>
            <a:ext cx="32004" cy="246888"/>
          </a:xfrm>
          <a:prstGeom prst="rect">
            <a:avLst/>
          </a:prstGeom>
          <a:solidFill>
            <a:srgbClr val="EE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473184" y="1773936"/>
            <a:ext cx="2057400" cy="31089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解决问题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363456" y="2313432"/>
            <a:ext cx="2121408" cy="2286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取证跨平台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363456" y="2606040"/>
            <a:ext cx="2121408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8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口径、质量和运行信息分散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363456" y="2880360"/>
            <a:ext cx="2121408" cy="2286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影响与责任不清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363456" y="3172968"/>
            <a:ext cx="2121408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8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依赖缺口容易被忽略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9194292" y="3735324"/>
            <a:ext cx="2505456" cy="1892807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9171432" y="3703320"/>
            <a:ext cx="2505456" cy="189280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326880" y="3840480"/>
            <a:ext cx="32004" cy="246888"/>
          </a:xfrm>
          <a:prstGeom prst="rect">
            <a:avLst/>
          </a:prstGeom>
          <a:solidFill>
            <a:srgbClr val="EE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473184" y="3822191"/>
            <a:ext cx="2057400" cy="31089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应用价值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363456" y="4361688"/>
            <a:ext cx="2121408" cy="2286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078B9F"/>
                </a:solidFill>
                <a:latin typeface="Noto Sans CJK SC"/>
                <a:ea typeface="Noto Sans CJK SC"/>
              </a:defRPr>
            </a:pPr>
            <a:r>
              <a:t>更快组织证据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363456" y="4654296"/>
            <a:ext cx="2121408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8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减少跨系统查询与反复核对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363456" y="4928616"/>
            <a:ext cx="2121408" cy="2286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078B9F"/>
                </a:solidFill>
                <a:latin typeface="Noto Sans CJK SC"/>
                <a:ea typeface="Noto Sans CJK SC"/>
              </a:defRPr>
            </a:pPr>
            <a:r>
              <a:t>整改可追溯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363456" y="5221224"/>
            <a:ext cx="2121408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8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范围、责任与复核形成闭环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461772" y="6112764"/>
            <a:ext cx="11247120" cy="33832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438912" y="6080760"/>
            <a:ext cx="11247120" cy="338328"/>
          </a:xfrm>
          <a:prstGeom prst="roundRect">
            <a:avLst>
              <a:gd name="adj" fmla="val 5500"/>
            </a:avLst>
          </a:prstGeom>
          <a:solidFill>
            <a:srgbClr val="EEF7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85216" y="6117336"/>
            <a:ext cx="10954512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血缘经数据资产平台查询；质量来自检查工具；运行事实来自调度平台；诊断范围以真实覆盖为界。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6346471"/>
            <a:ext cx="12191695" cy="235953"/>
          </a:xfrm>
          <a:custGeom>
            <a:avLst/>
            <a:gdLst/>
            <a:ahLst/>
            <a:cxnLst/>
            <a:rect l="l" t="t" r="r" b="b"/>
            <a:pathLst>
              <a:path w="12191695" h="235953">
                <a:moveTo>
                  <a:pt x="0" y="127481"/>
                </a:moveTo>
                <a:lnTo>
                  <a:pt x="135463" y="147046"/>
                </a:lnTo>
                <a:lnTo>
                  <a:pt x="270926" y="165914"/>
                </a:lnTo>
                <a:lnTo>
                  <a:pt x="406389" y="183426"/>
                </a:lnTo>
                <a:lnTo>
                  <a:pt x="541853" y="199000"/>
                </a:lnTo>
                <a:lnTo>
                  <a:pt x="677316" y="212159"/>
                </a:lnTo>
                <a:lnTo>
                  <a:pt x="812779" y="222557"/>
                </a:lnTo>
                <a:lnTo>
                  <a:pt x="948242" y="229995"/>
                </a:lnTo>
                <a:lnTo>
                  <a:pt x="1083706" y="234426"/>
                </a:lnTo>
                <a:lnTo>
                  <a:pt x="1219169" y="235953"/>
                </a:lnTo>
                <a:lnTo>
                  <a:pt x="1354632" y="234812"/>
                </a:lnTo>
                <a:lnTo>
                  <a:pt x="1490096" y="231352"/>
                </a:lnTo>
                <a:lnTo>
                  <a:pt x="1625559" y="226009"/>
                </a:lnTo>
                <a:lnTo>
                  <a:pt x="1761022" y="219267"/>
                </a:lnTo>
                <a:lnTo>
                  <a:pt x="1896485" y="211626"/>
                </a:lnTo>
                <a:lnTo>
                  <a:pt x="2031949" y="203564"/>
                </a:lnTo>
                <a:lnTo>
                  <a:pt x="2167412" y="195508"/>
                </a:lnTo>
                <a:lnTo>
                  <a:pt x="2302875" y="187800"/>
                </a:lnTo>
                <a:lnTo>
                  <a:pt x="2438339" y="180682"/>
                </a:lnTo>
                <a:lnTo>
                  <a:pt x="2573802" y="174280"/>
                </a:lnTo>
                <a:lnTo>
                  <a:pt x="2709265" y="168601"/>
                </a:lnTo>
                <a:lnTo>
                  <a:pt x="2844728" y="163541"/>
                </a:lnTo>
                <a:lnTo>
                  <a:pt x="2980192" y="158900"/>
                </a:lnTo>
                <a:lnTo>
                  <a:pt x="3115655" y="154402"/>
                </a:lnTo>
                <a:lnTo>
                  <a:pt x="3251118" y="149724"/>
                </a:lnTo>
                <a:lnTo>
                  <a:pt x="3386582" y="144534"/>
                </a:lnTo>
                <a:lnTo>
                  <a:pt x="3522045" y="138515"/>
                </a:lnTo>
                <a:lnTo>
                  <a:pt x="3657508" y="131408"/>
                </a:lnTo>
                <a:lnTo>
                  <a:pt x="3792971" y="123031"/>
                </a:lnTo>
                <a:lnTo>
                  <a:pt x="3928435" y="113309"/>
                </a:lnTo>
                <a:lnTo>
                  <a:pt x="4063898" y="102287"/>
                </a:lnTo>
                <a:lnTo>
                  <a:pt x="4199361" y="90138"/>
                </a:lnTo>
                <a:lnTo>
                  <a:pt x="4334824" y="77155"/>
                </a:lnTo>
                <a:lnTo>
                  <a:pt x="4470288" y="63745"/>
                </a:lnTo>
                <a:lnTo>
                  <a:pt x="4605751" y="50406"/>
                </a:lnTo>
                <a:lnTo>
                  <a:pt x="4741214" y="37696"/>
                </a:lnTo>
                <a:lnTo>
                  <a:pt x="4876678" y="26202"/>
                </a:lnTo>
                <a:lnTo>
                  <a:pt x="5012141" y="16503"/>
                </a:lnTo>
                <a:lnTo>
                  <a:pt x="5147604" y="9131"/>
                </a:lnTo>
                <a:lnTo>
                  <a:pt x="5283067" y="4538"/>
                </a:lnTo>
                <a:lnTo>
                  <a:pt x="5418531" y="3064"/>
                </a:lnTo>
                <a:lnTo>
                  <a:pt x="5553994" y="4912"/>
                </a:lnTo>
                <a:lnTo>
                  <a:pt x="5689457" y="10132"/>
                </a:lnTo>
                <a:lnTo>
                  <a:pt x="5824921" y="18617"/>
                </a:lnTo>
                <a:lnTo>
                  <a:pt x="5960384" y="30106"/>
                </a:lnTo>
                <a:lnTo>
                  <a:pt x="6095847" y="44193"/>
                </a:lnTo>
                <a:lnTo>
                  <a:pt x="6231310" y="60357"/>
                </a:lnTo>
                <a:lnTo>
                  <a:pt x="6366774" y="77984"/>
                </a:lnTo>
                <a:lnTo>
                  <a:pt x="6502237" y="96410"/>
                </a:lnTo>
                <a:lnTo>
                  <a:pt x="6637700" y="114953"/>
                </a:lnTo>
                <a:lnTo>
                  <a:pt x="6773164" y="132954"/>
                </a:lnTo>
                <a:lnTo>
                  <a:pt x="6908627" y="149814"/>
                </a:lnTo>
                <a:lnTo>
                  <a:pt x="7044090" y="165027"/>
                </a:lnTo>
                <a:lnTo>
                  <a:pt x="7179553" y="178204"/>
                </a:lnTo>
                <a:lnTo>
                  <a:pt x="7315017" y="189090"/>
                </a:lnTo>
                <a:lnTo>
                  <a:pt x="7450480" y="197574"/>
                </a:lnTo>
                <a:lnTo>
                  <a:pt x="7585943" y="203682"/>
                </a:lnTo>
                <a:lnTo>
                  <a:pt x="7721406" y="207573"/>
                </a:lnTo>
                <a:lnTo>
                  <a:pt x="7856870" y="209512"/>
                </a:lnTo>
                <a:lnTo>
                  <a:pt x="7992333" y="209848"/>
                </a:lnTo>
                <a:lnTo>
                  <a:pt x="8127796" y="208978"/>
                </a:lnTo>
                <a:lnTo>
                  <a:pt x="8263260" y="207316"/>
                </a:lnTo>
                <a:lnTo>
                  <a:pt x="8398723" y="205256"/>
                </a:lnTo>
                <a:lnTo>
                  <a:pt x="8534186" y="203141"/>
                </a:lnTo>
                <a:lnTo>
                  <a:pt x="8669649" y="201238"/>
                </a:lnTo>
                <a:lnTo>
                  <a:pt x="8805113" y="199711"/>
                </a:lnTo>
                <a:lnTo>
                  <a:pt x="8940576" y="198616"/>
                </a:lnTo>
                <a:lnTo>
                  <a:pt x="9076039" y="197894"/>
                </a:lnTo>
                <a:lnTo>
                  <a:pt x="9211503" y="197378"/>
                </a:lnTo>
                <a:lnTo>
                  <a:pt x="9346966" y="196808"/>
                </a:lnTo>
                <a:lnTo>
                  <a:pt x="9482429" y="195855"/>
                </a:lnTo>
                <a:lnTo>
                  <a:pt x="9617892" y="194147"/>
                </a:lnTo>
                <a:lnTo>
                  <a:pt x="9753356" y="191305"/>
                </a:lnTo>
                <a:lnTo>
                  <a:pt x="9888819" y="186977"/>
                </a:lnTo>
                <a:lnTo>
                  <a:pt x="10024282" y="180869"/>
                </a:lnTo>
                <a:lnTo>
                  <a:pt x="10159746" y="172776"/>
                </a:lnTo>
                <a:lnTo>
                  <a:pt x="10295209" y="162608"/>
                </a:lnTo>
                <a:lnTo>
                  <a:pt x="10430672" y="150402"/>
                </a:lnTo>
                <a:lnTo>
                  <a:pt x="10566135" y="136335"/>
                </a:lnTo>
                <a:lnTo>
                  <a:pt x="10701599" y="120717"/>
                </a:lnTo>
                <a:lnTo>
                  <a:pt x="10837062" y="103984"/>
                </a:lnTo>
                <a:lnTo>
                  <a:pt x="10972525" y="86673"/>
                </a:lnTo>
                <a:lnTo>
                  <a:pt x="11107988" y="69396"/>
                </a:lnTo>
                <a:lnTo>
                  <a:pt x="11243452" y="52806"/>
                </a:lnTo>
                <a:lnTo>
                  <a:pt x="11378915" y="37558"/>
                </a:lnTo>
                <a:lnTo>
                  <a:pt x="11514378" y="24274"/>
                </a:lnTo>
                <a:lnTo>
                  <a:pt x="11649842" y="13501"/>
                </a:lnTo>
                <a:lnTo>
                  <a:pt x="11785305" y="5683"/>
                </a:lnTo>
                <a:lnTo>
                  <a:pt x="11920768" y="1129"/>
                </a:lnTo>
                <a:lnTo>
                  <a:pt x="12056231" y="0"/>
                </a:lnTo>
                <a:lnTo>
                  <a:pt x="12191695" y="2300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6405649"/>
            <a:ext cx="12191695" cy="245182"/>
          </a:xfrm>
          <a:custGeom>
            <a:avLst/>
            <a:gdLst/>
            <a:ahLst/>
            <a:cxnLst/>
            <a:rect l="l" t="t" r="r" b="b"/>
            <a:pathLst>
              <a:path w="12191695" h="245182">
                <a:moveTo>
                  <a:pt x="0" y="150669"/>
                </a:moveTo>
                <a:lnTo>
                  <a:pt x="135463" y="169737"/>
                </a:lnTo>
                <a:lnTo>
                  <a:pt x="270926" y="187768"/>
                </a:lnTo>
                <a:lnTo>
                  <a:pt x="406389" y="204118"/>
                </a:lnTo>
                <a:lnTo>
                  <a:pt x="541853" y="218220"/>
                </a:lnTo>
                <a:lnTo>
                  <a:pt x="677316" y="229621"/>
                </a:lnTo>
                <a:lnTo>
                  <a:pt x="812779" y="238002"/>
                </a:lnTo>
                <a:lnTo>
                  <a:pt x="948242" y="243193"/>
                </a:lnTo>
                <a:lnTo>
                  <a:pt x="1083706" y="245182"/>
                </a:lnTo>
                <a:lnTo>
                  <a:pt x="1219169" y="244108"/>
                </a:lnTo>
                <a:lnTo>
                  <a:pt x="1354632" y="240247"/>
                </a:lnTo>
                <a:lnTo>
                  <a:pt x="1490096" y="233989"/>
                </a:lnTo>
                <a:lnTo>
                  <a:pt x="1625559" y="225812"/>
                </a:lnTo>
                <a:lnTo>
                  <a:pt x="1761022" y="216243"/>
                </a:lnTo>
                <a:lnTo>
                  <a:pt x="1896485" y="205824"/>
                </a:lnTo>
                <a:lnTo>
                  <a:pt x="2031949" y="195076"/>
                </a:lnTo>
                <a:lnTo>
                  <a:pt x="2167412" y="184466"/>
                </a:lnTo>
                <a:lnTo>
                  <a:pt x="2302875" y="174375"/>
                </a:lnTo>
                <a:lnTo>
                  <a:pt x="2438339" y="165080"/>
                </a:lnTo>
                <a:lnTo>
                  <a:pt x="2573802" y="156740"/>
                </a:lnTo>
                <a:lnTo>
                  <a:pt x="2709265" y="149392"/>
                </a:lnTo>
                <a:lnTo>
                  <a:pt x="2844728" y="142958"/>
                </a:lnTo>
                <a:lnTo>
                  <a:pt x="2980192" y="137257"/>
                </a:lnTo>
                <a:lnTo>
                  <a:pt x="3115655" y="132030"/>
                </a:lnTo>
                <a:lnTo>
                  <a:pt x="3251118" y="126965"/>
                </a:lnTo>
                <a:lnTo>
                  <a:pt x="3386582" y="121734"/>
                </a:lnTo>
                <a:lnTo>
                  <a:pt x="3522045" y="116024"/>
                </a:lnTo>
                <a:lnTo>
                  <a:pt x="3657508" y="109568"/>
                </a:lnTo>
                <a:lnTo>
                  <a:pt x="3792971" y="102177"/>
                </a:lnTo>
                <a:lnTo>
                  <a:pt x="3928435" y="93759"/>
                </a:lnTo>
                <a:lnTo>
                  <a:pt x="4063898" y="84341"/>
                </a:lnTo>
                <a:lnTo>
                  <a:pt x="4199361" y="74069"/>
                </a:lnTo>
                <a:lnTo>
                  <a:pt x="4334824" y="63211"/>
                </a:lnTo>
                <a:lnTo>
                  <a:pt x="4470288" y="52141"/>
                </a:lnTo>
                <a:lnTo>
                  <a:pt x="4605751" y="41320"/>
                </a:lnTo>
                <a:lnTo>
                  <a:pt x="4741214" y="31269"/>
                </a:lnTo>
                <a:lnTo>
                  <a:pt x="4876678" y="22536"/>
                </a:lnTo>
                <a:lnTo>
                  <a:pt x="5012141" y="15656"/>
                </a:lnTo>
                <a:lnTo>
                  <a:pt x="5147604" y="11120"/>
                </a:lnTo>
                <a:lnTo>
                  <a:pt x="5283067" y="9338"/>
                </a:lnTo>
                <a:lnTo>
                  <a:pt x="5418531" y="10605"/>
                </a:lnTo>
                <a:lnTo>
                  <a:pt x="5553994" y="15085"/>
                </a:lnTo>
                <a:lnTo>
                  <a:pt x="5689457" y="22787"/>
                </a:lnTo>
                <a:lnTo>
                  <a:pt x="5824921" y="33567"/>
                </a:lnTo>
                <a:lnTo>
                  <a:pt x="5960384" y="47128"/>
                </a:lnTo>
                <a:lnTo>
                  <a:pt x="6095847" y="63035"/>
                </a:lnTo>
                <a:lnTo>
                  <a:pt x="6231310" y="80738"/>
                </a:lnTo>
                <a:lnTo>
                  <a:pt x="6366774" y="99601"/>
                </a:lnTo>
                <a:lnTo>
                  <a:pt x="6502237" y="118939"/>
                </a:lnTo>
                <a:lnTo>
                  <a:pt x="6637700" y="138058"/>
                </a:lnTo>
                <a:lnTo>
                  <a:pt x="6773164" y="156290"/>
                </a:lnTo>
                <a:lnTo>
                  <a:pt x="6908627" y="173034"/>
                </a:lnTo>
                <a:lnTo>
                  <a:pt x="7044090" y="187783"/>
                </a:lnTo>
                <a:lnTo>
                  <a:pt x="7179553" y="200156"/>
                </a:lnTo>
                <a:lnTo>
                  <a:pt x="7315017" y="209912"/>
                </a:lnTo>
                <a:lnTo>
                  <a:pt x="7450480" y="216953"/>
                </a:lnTo>
                <a:lnTo>
                  <a:pt x="7585943" y="221331"/>
                </a:lnTo>
                <a:lnTo>
                  <a:pt x="7721406" y="223229"/>
                </a:lnTo>
                <a:lnTo>
                  <a:pt x="7856870" y="222943"/>
                </a:lnTo>
                <a:lnTo>
                  <a:pt x="7992333" y="220854"/>
                </a:lnTo>
                <a:lnTo>
                  <a:pt x="8127796" y="217398"/>
                </a:lnTo>
                <a:lnTo>
                  <a:pt x="8263260" y="213025"/>
                </a:lnTo>
                <a:lnTo>
                  <a:pt x="8398723" y="208173"/>
                </a:lnTo>
                <a:lnTo>
                  <a:pt x="8534186" y="203226"/>
                </a:lnTo>
                <a:lnTo>
                  <a:pt x="8669649" y="198493"/>
                </a:lnTo>
                <a:lnTo>
                  <a:pt x="8805113" y="194182"/>
                </a:lnTo>
                <a:lnTo>
                  <a:pt x="8940576" y="190390"/>
                </a:lnTo>
                <a:lnTo>
                  <a:pt x="9076039" y="187099"/>
                </a:lnTo>
                <a:lnTo>
                  <a:pt x="9211503" y="184181"/>
                </a:lnTo>
                <a:lnTo>
                  <a:pt x="9346966" y="181412"/>
                </a:lnTo>
                <a:lnTo>
                  <a:pt x="9482429" y="178496"/>
                </a:lnTo>
                <a:lnTo>
                  <a:pt x="9617892" y="175092"/>
                </a:lnTo>
                <a:lnTo>
                  <a:pt x="9753356" y="170845"/>
                </a:lnTo>
                <a:lnTo>
                  <a:pt x="9888819" y="165425"/>
                </a:lnTo>
                <a:lnTo>
                  <a:pt x="10024282" y="158555"/>
                </a:lnTo>
                <a:lnTo>
                  <a:pt x="10159746" y="150040"/>
                </a:lnTo>
                <a:lnTo>
                  <a:pt x="10295209" y="139797"/>
                </a:lnTo>
                <a:lnTo>
                  <a:pt x="10430672" y="127865"/>
                </a:lnTo>
                <a:lnTo>
                  <a:pt x="10566135" y="114415"/>
                </a:lnTo>
                <a:lnTo>
                  <a:pt x="10701599" y="99751"/>
                </a:lnTo>
                <a:lnTo>
                  <a:pt x="10837062" y="84291"/>
                </a:lnTo>
                <a:lnTo>
                  <a:pt x="10972525" y="68554"/>
                </a:lnTo>
                <a:lnTo>
                  <a:pt x="11107988" y="53129"/>
                </a:lnTo>
                <a:lnTo>
                  <a:pt x="11243452" y="38641"/>
                </a:lnTo>
                <a:lnTo>
                  <a:pt x="11378915" y="25713"/>
                </a:lnTo>
                <a:lnTo>
                  <a:pt x="11514378" y="14931"/>
                </a:lnTo>
                <a:lnTo>
                  <a:pt x="11649842" y="6805"/>
                </a:lnTo>
                <a:lnTo>
                  <a:pt x="11785305" y="1738"/>
                </a:lnTo>
                <a:lnTo>
                  <a:pt x="11920768" y="0"/>
                </a:lnTo>
                <a:lnTo>
                  <a:pt x="12056231" y="1708"/>
                </a:lnTo>
                <a:lnTo>
                  <a:pt x="12191695" y="6822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6467906"/>
            <a:ext cx="12191695" cy="248613"/>
          </a:xfrm>
          <a:custGeom>
            <a:avLst/>
            <a:gdLst/>
            <a:ahLst/>
            <a:cxnLst/>
            <a:rect l="l" t="t" r="r" b="b"/>
            <a:pathLst>
              <a:path w="12191695" h="248613">
                <a:moveTo>
                  <a:pt x="0" y="169572"/>
                </a:moveTo>
                <a:lnTo>
                  <a:pt x="135463" y="187517"/>
                </a:lnTo>
                <a:lnTo>
                  <a:pt x="270926" y="204116"/>
                </a:lnTo>
                <a:lnTo>
                  <a:pt x="406389" y="218744"/>
                </a:lnTo>
                <a:lnTo>
                  <a:pt x="541853" y="230861"/>
                </a:lnTo>
                <a:lnTo>
                  <a:pt x="677316" y="240043"/>
                </a:lnTo>
                <a:lnTo>
                  <a:pt x="812779" y="246004"/>
                </a:lnTo>
                <a:lnTo>
                  <a:pt x="948242" y="248613"/>
                </a:lnTo>
                <a:lnTo>
                  <a:pt x="1083706" y="247896"/>
                </a:lnTo>
                <a:lnTo>
                  <a:pt x="1219169" y="244031"/>
                </a:lnTo>
                <a:lnTo>
                  <a:pt x="1354632" y="237338"/>
                </a:lnTo>
                <a:lnTo>
                  <a:pt x="1490096" y="228250"/>
                </a:lnTo>
                <a:lnTo>
                  <a:pt x="1625559" y="217286"/>
                </a:lnTo>
                <a:lnTo>
                  <a:pt x="1761022" y="205017"/>
                </a:lnTo>
                <a:lnTo>
                  <a:pt x="1896485" y="192024"/>
                </a:lnTo>
                <a:lnTo>
                  <a:pt x="2031949" y="178869"/>
                </a:lnTo>
                <a:lnTo>
                  <a:pt x="2167412" y="166053"/>
                </a:lnTo>
                <a:lnTo>
                  <a:pt x="2302875" y="153992"/>
                </a:lnTo>
                <a:lnTo>
                  <a:pt x="2438339" y="142992"/>
                </a:lnTo>
                <a:lnTo>
                  <a:pt x="2573802" y="133239"/>
                </a:lnTo>
                <a:lnTo>
                  <a:pt x="2709265" y="124790"/>
                </a:lnTo>
                <a:lnTo>
                  <a:pt x="2844728" y="117583"/>
                </a:lnTo>
                <a:lnTo>
                  <a:pt x="2980192" y="111449"/>
                </a:lnTo>
                <a:lnTo>
                  <a:pt x="3115655" y="106137"/>
                </a:lnTo>
                <a:lnTo>
                  <a:pt x="3251118" y="101335"/>
                </a:lnTo>
                <a:lnTo>
                  <a:pt x="3386582" y="96713"/>
                </a:lnTo>
                <a:lnTo>
                  <a:pt x="3522045" y="91945"/>
                </a:lnTo>
                <a:lnTo>
                  <a:pt x="3657508" y="86753"/>
                </a:lnTo>
                <a:lnTo>
                  <a:pt x="3792971" y="80928"/>
                </a:lnTo>
                <a:lnTo>
                  <a:pt x="3928435" y="74354"/>
                </a:lnTo>
                <a:lnTo>
                  <a:pt x="4063898" y="67031"/>
                </a:lnTo>
                <a:lnTo>
                  <a:pt x="4199361" y="59072"/>
                </a:lnTo>
                <a:lnTo>
                  <a:pt x="4334824" y="50711"/>
                </a:lnTo>
                <a:lnTo>
                  <a:pt x="4470288" y="42285"/>
                </a:lnTo>
                <a:lnTo>
                  <a:pt x="4605751" y="34213"/>
                </a:lnTo>
                <a:lnTo>
                  <a:pt x="4741214" y="26977"/>
                </a:lnTo>
                <a:lnTo>
                  <a:pt x="4876678" y="21080"/>
                </a:lnTo>
                <a:lnTo>
                  <a:pt x="5012141" y="17016"/>
                </a:lnTo>
                <a:lnTo>
                  <a:pt x="5147604" y="15233"/>
                </a:lnTo>
                <a:lnTo>
                  <a:pt x="5283067" y="16099"/>
                </a:lnTo>
                <a:lnTo>
                  <a:pt x="5418531" y="19870"/>
                </a:lnTo>
                <a:lnTo>
                  <a:pt x="5553994" y="26670"/>
                </a:lnTo>
                <a:lnTo>
                  <a:pt x="5689457" y="36475"/>
                </a:lnTo>
                <a:lnTo>
                  <a:pt x="5824921" y="49109"/>
                </a:lnTo>
                <a:lnTo>
                  <a:pt x="5960384" y="64247"/>
                </a:lnTo>
                <a:lnTo>
                  <a:pt x="6095847" y="81430"/>
                </a:lnTo>
                <a:lnTo>
                  <a:pt x="6231310" y="100088"/>
                </a:lnTo>
                <a:lnTo>
                  <a:pt x="6366774" y="119571"/>
                </a:lnTo>
                <a:lnTo>
                  <a:pt x="6502237" y="139187"/>
                </a:lnTo>
                <a:lnTo>
                  <a:pt x="6637700" y="158234"/>
                </a:lnTo>
                <a:lnTo>
                  <a:pt x="6773164" y="176047"/>
                </a:lnTo>
                <a:lnTo>
                  <a:pt x="6908627" y="192030"/>
                </a:lnTo>
                <a:lnTo>
                  <a:pt x="7044090" y="205690"/>
                </a:lnTo>
                <a:lnTo>
                  <a:pt x="7179553" y="216660"/>
                </a:lnTo>
                <a:lnTo>
                  <a:pt x="7315017" y="224721"/>
                </a:lnTo>
                <a:lnTo>
                  <a:pt x="7450480" y="229802"/>
                </a:lnTo>
                <a:lnTo>
                  <a:pt x="7585943" y="231983"/>
                </a:lnTo>
                <a:lnTo>
                  <a:pt x="7721406" y="231480"/>
                </a:lnTo>
                <a:lnTo>
                  <a:pt x="7856870" y="228626"/>
                </a:lnTo>
                <a:lnTo>
                  <a:pt x="7992333" y="223841"/>
                </a:lnTo>
                <a:lnTo>
                  <a:pt x="8127796" y="217601"/>
                </a:lnTo>
                <a:lnTo>
                  <a:pt x="8263260" y="210399"/>
                </a:lnTo>
                <a:lnTo>
                  <a:pt x="8398723" y="202714"/>
                </a:lnTo>
                <a:lnTo>
                  <a:pt x="8534186" y="194975"/>
                </a:lnTo>
                <a:lnTo>
                  <a:pt x="8669649" y="187531"/>
                </a:lnTo>
                <a:lnTo>
                  <a:pt x="8805113" y="180631"/>
                </a:lnTo>
                <a:lnTo>
                  <a:pt x="8940576" y="174414"/>
                </a:lnTo>
                <a:lnTo>
                  <a:pt x="9076039" y="168896"/>
                </a:lnTo>
                <a:lnTo>
                  <a:pt x="9211503" y="163983"/>
                </a:lnTo>
                <a:lnTo>
                  <a:pt x="9346966" y="159481"/>
                </a:lnTo>
                <a:lnTo>
                  <a:pt x="9482429" y="155122"/>
                </a:lnTo>
                <a:lnTo>
                  <a:pt x="9617892" y="150584"/>
                </a:lnTo>
                <a:lnTo>
                  <a:pt x="9753356" y="145531"/>
                </a:lnTo>
                <a:lnTo>
                  <a:pt x="9888819" y="139645"/>
                </a:lnTo>
                <a:lnTo>
                  <a:pt x="10024282" y="132654"/>
                </a:lnTo>
                <a:lnTo>
                  <a:pt x="10159746" y="124369"/>
                </a:lnTo>
                <a:lnTo>
                  <a:pt x="10295209" y="114699"/>
                </a:lnTo>
                <a:lnTo>
                  <a:pt x="10430672" y="103677"/>
                </a:lnTo>
                <a:lnTo>
                  <a:pt x="10566135" y="91461"/>
                </a:lnTo>
                <a:lnTo>
                  <a:pt x="10701599" y="78333"/>
                </a:lnTo>
                <a:lnTo>
                  <a:pt x="10837062" y="64691"/>
                </a:lnTo>
                <a:lnTo>
                  <a:pt x="10972525" y="51025"/>
                </a:lnTo>
                <a:lnTo>
                  <a:pt x="11107988" y="37893"/>
                </a:lnTo>
                <a:lnTo>
                  <a:pt x="11243452" y="25885"/>
                </a:lnTo>
                <a:lnTo>
                  <a:pt x="11378915" y="15588"/>
                </a:lnTo>
                <a:lnTo>
                  <a:pt x="11514378" y="7547"/>
                </a:lnTo>
                <a:lnTo>
                  <a:pt x="11649842" y="2231"/>
                </a:lnTo>
                <a:lnTo>
                  <a:pt x="11785305" y="0"/>
                </a:lnTo>
                <a:lnTo>
                  <a:pt x="11920768" y="1082"/>
                </a:lnTo>
                <a:lnTo>
                  <a:pt x="12056231" y="5551"/>
                </a:lnTo>
                <a:lnTo>
                  <a:pt x="12191695" y="13326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0" y="6533113"/>
            <a:ext cx="12191695" cy="246124"/>
          </a:xfrm>
          <a:custGeom>
            <a:avLst/>
            <a:gdLst/>
            <a:ahLst/>
            <a:cxnLst/>
            <a:rect l="l" t="t" r="r" b="b"/>
            <a:pathLst>
              <a:path w="12191695" h="246124">
                <a:moveTo>
                  <a:pt x="0" y="183172"/>
                </a:moveTo>
                <a:lnTo>
                  <a:pt x="135463" y="199432"/>
                </a:lnTo>
                <a:lnTo>
                  <a:pt x="270926" y="214077"/>
                </a:lnTo>
                <a:lnTo>
                  <a:pt x="406389" y="226514"/>
                </a:lnTo>
                <a:lnTo>
                  <a:pt x="541853" y="236236"/>
                </a:lnTo>
                <a:lnTo>
                  <a:pt x="677316" y="242855"/>
                </a:lnTo>
                <a:lnTo>
                  <a:pt x="812779" y="246124"/>
                </a:lnTo>
                <a:lnTo>
                  <a:pt x="948242" y="245951"/>
                </a:lnTo>
                <a:lnTo>
                  <a:pt x="1083706" y="242404"/>
                </a:lnTo>
                <a:lnTo>
                  <a:pt x="1219169" y="235707"/>
                </a:lnTo>
                <a:lnTo>
                  <a:pt x="1354632" y="226219"/>
                </a:lnTo>
                <a:lnTo>
                  <a:pt x="1490096" y="214417"/>
                </a:lnTo>
                <a:lnTo>
                  <a:pt x="1625559" y="200862"/>
                </a:lnTo>
                <a:lnTo>
                  <a:pt x="1761022" y="186161"/>
                </a:lnTo>
                <a:lnTo>
                  <a:pt x="1896485" y="170935"/>
                </a:lnTo>
                <a:lnTo>
                  <a:pt x="2031949" y="155777"/>
                </a:lnTo>
                <a:lnTo>
                  <a:pt x="2167412" y="141221"/>
                </a:lnTo>
                <a:lnTo>
                  <a:pt x="2302875" y="127707"/>
                </a:lnTo>
                <a:lnTo>
                  <a:pt x="2438339" y="115564"/>
                </a:lnTo>
                <a:lnTo>
                  <a:pt x="2573802" y="104994"/>
                </a:lnTo>
                <a:lnTo>
                  <a:pt x="2709265" y="96068"/>
                </a:lnTo>
                <a:lnTo>
                  <a:pt x="2844728" y="88731"/>
                </a:lnTo>
                <a:lnTo>
                  <a:pt x="2980192" y="82816"/>
                </a:lnTo>
                <a:lnTo>
                  <a:pt x="3115655" y="78067"/>
                </a:lnTo>
                <a:lnTo>
                  <a:pt x="3251118" y="74166"/>
                </a:lnTo>
                <a:lnTo>
                  <a:pt x="3386582" y="70766"/>
                </a:lnTo>
                <a:lnTo>
                  <a:pt x="3522045" y="67527"/>
                </a:lnTo>
                <a:lnTo>
                  <a:pt x="3657508" y="64145"/>
                </a:lnTo>
                <a:lnTo>
                  <a:pt x="3792971" y="60383"/>
                </a:lnTo>
                <a:lnTo>
                  <a:pt x="3928435" y="56096"/>
                </a:lnTo>
                <a:lnTo>
                  <a:pt x="4063898" y="51248"/>
                </a:lnTo>
                <a:lnTo>
                  <a:pt x="4199361" y="45917"/>
                </a:lnTo>
                <a:lnTo>
                  <a:pt x="4334824" y="40294"/>
                </a:lnTo>
                <a:lnTo>
                  <a:pt x="4470288" y="34675"/>
                </a:lnTo>
                <a:lnTo>
                  <a:pt x="4605751" y="29440"/>
                </a:lnTo>
                <a:lnTo>
                  <a:pt x="4741214" y="25025"/>
                </a:lnTo>
                <a:lnTo>
                  <a:pt x="4876678" y="21891"/>
                </a:lnTo>
                <a:lnTo>
                  <a:pt x="5012141" y="20491"/>
                </a:lnTo>
                <a:lnTo>
                  <a:pt x="5147604" y="21233"/>
                </a:lnTo>
                <a:lnTo>
                  <a:pt x="5283067" y="24445"/>
                </a:lnTo>
                <a:lnTo>
                  <a:pt x="5418531" y="30349"/>
                </a:lnTo>
                <a:lnTo>
                  <a:pt x="5553994" y="39037"/>
                </a:lnTo>
                <a:lnTo>
                  <a:pt x="5689457" y="50457"/>
                </a:lnTo>
                <a:lnTo>
                  <a:pt x="5824921" y="64407"/>
                </a:lnTo>
                <a:lnTo>
                  <a:pt x="5960384" y="80543"/>
                </a:lnTo>
                <a:lnTo>
                  <a:pt x="6095847" y="98390"/>
                </a:lnTo>
                <a:lnTo>
                  <a:pt x="6231310" y="117369"/>
                </a:lnTo>
                <a:lnTo>
                  <a:pt x="6366774" y="136826"/>
                </a:lnTo>
                <a:lnTo>
                  <a:pt x="6502237" y="156066"/>
                </a:lnTo>
                <a:lnTo>
                  <a:pt x="6637700" y="174397"/>
                </a:lnTo>
                <a:lnTo>
                  <a:pt x="6773164" y="191162"/>
                </a:lnTo>
                <a:lnTo>
                  <a:pt x="6908627" y="205782"/>
                </a:lnTo>
                <a:lnTo>
                  <a:pt x="7044090" y="217784"/>
                </a:lnTo>
                <a:lnTo>
                  <a:pt x="7179553" y="226827"/>
                </a:lnTo>
                <a:lnTo>
                  <a:pt x="7315017" y="232720"/>
                </a:lnTo>
                <a:lnTo>
                  <a:pt x="7450480" y="235424"/>
                </a:lnTo>
                <a:lnTo>
                  <a:pt x="7585943" y="235057"/>
                </a:lnTo>
                <a:lnTo>
                  <a:pt x="7721406" y="231872"/>
                </a:lnTo>
                <a:lnTo>
                  <a:pt x="7856870" y="226244"/>
                </a:lnTo>
                <a:lnTo>
                  <a:pt x="7992333" y="218632"/>
                </a:lnTo>
                <a:lnTo>
                  <a:pt x="8127796" y="209557"/>
                </a:lnTo>
                <a:lnTo>
                  <a:pt x="8263260" y="199555"/>
                </a:lnTo>
                <a:lnTo>
                  <a:pt x="8398723" y="189147"/>
                </a:lnTo>
                <a:lnTo>
                  <a:pt x="8534186" y="178801"/>
                </a:lnTo>
                <a:lnTo>
                  <a:pt x="8669649" y="168908"/>
                </a:lnTo>
                <a:lnTo>
                  <a:pt x="8805113" y="159754"/>
                </a:lnTo>
                <a:lnTo>
                  <a:pt x="8940576" y="151510"/>
                </a:lnTo>
                <a:lnTo>
                  <a:pt x="9076039" y="144224"/>
                </a:lnTo>
                <a:lnTo>
                  <a:pt x="9211503" y="137828"/>
                </a:lnTo>
                <a:lnTo>
                  <a:pt x="9346966" y="132152"/>
                </a:lnTo>
                <a:lnTo>
                  <a:pt x="9482429" y="126943"/>
                </a:lnTo>
                <a:lnTo>
                  <a:pt x="9617892" y="121894"/>
                </a:lnTo>
                <a:lnTo>
                  <a:pt x="9753356" y="116677"/>
                </a:lnTo>
                <a:lnTo>
                  <a:pt x="9888819" y="110975"/>
                </a:lnTo>
                <a:lnTo>
                  <a:pt x="10024282" y="104513"/>
                </a:lnTo>
                <a:lnTo>
                  <a:pt x="10159746" y="97095"/>
                </a:lnTo>
                <a:lnTo>
                  <a:pt x="10295209" y="88617"/>
                </a:lnTo>
                <a:lnTo>
                  <a:pt x="10430672" y="79094"/>
                </a:lnTo>
                <a:lnTo>
                  <a:pt x="10566135" y="68661"/>
                </a:lnTo>
                <a:lnTo>
                  <a:pt x="10701599" y="57573"/>
                </a:lnTo>
                <a:lnTo>
                  <a:pt x="10837062" y="46197"/>
                </a:lnTo>
                <a:lnTo>
                  <a:pt x="10972525" y="34990"/>
                </a:lnTo>
                <a:lnTo>
                  <a:pt x="11107988" y="24471"/>
                </a:lnTo>
                <a:lnTo>
                  <a:pt x="11243452" y="15192"/>
                </a:lnTo>
                <a:lnTo>
                  <a:pt x="11378915" y="7698"/>
                </a:lnTo>
                <a:lnTo>
                  <a:pt x="11514378" y="2492"/>
                </a:lnTo>
                <a:lnTo>
                  <a:pt x="11649842" y="0"/>
                </a:lnTo>
                <a:lnTo>
                  <a:pt x="11785305" y="541"/>
                </a:lnTo>
                <a:lnTo>
                  <a:pt x="11920768" y="4298"/>
                </a:lnTo>
                <a:lnTo>
                  <a:pt x="12056231" y="11307"/>
                </a:lnTo>
                <a:lnTo>
                  <a:pt x="12191695" y="21447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0" y="6600998"/>
            <a:ext cx="12191695" cy="238322"/>
          </a:xfrm>
          <a:custGeom>
            <a:avLst/>
            <a:gdLst/>
            <a:ahLst/>
            <a:cxnLst/>
            <a:rect l="l" t="t" r="r" b="b"/>
            <a:pathLst>
              <a:path w="12191695" h="238322">
                <a:moveTo>
                  <a:pt x="0" y="190722"/>
                </a:moveTo>
                <a:lnTo>
                  <a:pt x="135463" y="204821"/>
                </a:lnTo>
                <a:lnTo>
                  <a:pt x="270926" y="217096"/>
                </a:lnTo>
                <a:lnTo>
                  <a:pt x="406389" y="226989"/>
                </a:lnTo>
                <a:lnTo>
                  <a:pt x="541853" y="234032"/>
                </a:lnTo>
                <a:lnTo>
                  <a:pt x="677316" y="237878"/>
                </a:lnTo>
                <a:lnTo>
                  <a:pt x="812779" y="238322"/>
                </a:lnTo>
                <a:lnTo>
                  <a:pt x="948242" y="235314"/>
                </a:lnTo>
                <a:lnTo>
                  <a:pt x="1083706" y="228966"/>
                </a:lnTo>
                <a:lnTo>
                  <a:pt x="1219169" y="219541"/>
                </a:lnTo>
                <a:lnTo>
                  <a:pt x="1354632" y="207444"/>
                </a:lnTo>
                <a:lnTo>
                  <a:pt x="1490096" y="193188"/>
                </a:lnTo>
                <a:lnTo>
                  <a:pt x="1625559" y="177371"/>
                </a:lnTo>
                <a:lnTo>
                  <a:pt x="1761022" y="160636"/>
                </a:lnTo>
                <a:lnTo>
                  <a:pt x="1896485" y="143634"/>
                </a:lnTo>
                <a:lnTo>
                  <a:pt x="2031949" y="126985"/>
                </a:lnTo>
                <a:lnTo>
                  <a:pt x="2167412" y="111244"/>
                </a:lnTo>
                <a:lnTo>
                  <a:pt x="2302875" y="96871"/>
                </a:lnTo>
                <a:lnTo>
                  <a:pt x="2438339" y="84207"/>
                </a:lnTo>
                <a:lnTo>
                  <a:pt x="2573802" y="73462"/>
                </a:lnTo>
                <a:lnTo>
                  <a:pt x="2709265" y="64709"/>
                </a:lnTo>
                <a:lnTo>
                  <a:pt x="2844728" y="57891"/>
                </a:lnTo>
                <a:lnTo>
                  <a:pt x="2980192" y="52834"/>
                </a:lnTo>
                <a:lnTo>
                  <a:pt x="3115655" y="49267"/>
                </a:lnTo>
                <a:lnTo>
                  <a:pt x="3251118" y="46856"/>
                </a:lnTo>
                <a:lnTo>
                  <a:pt x="3386582" y="45231"/>
                </a:lnTo>
                <a:lnTo>
                  <a:pt x="3522045" y="44024"/>
                </a:lnTo>
                <a:lnTo>
                  <a:pt x="3657508" y="42902"/>
                </a:lnTo>
                <a:lnTo>
                  <a:pt x="3792971" y="41593"/>
                </a:lnTo>
                <a:lnTo>
                  <a:pt x="3928435" y="39916"/>
                </a:lnTo>
                <a:lnTo>
                  <a:pt x="4063898" y="37794"/>
                </a:lnTo>
                <a:lnTo>
                  <a:pt x="4199361" y="35264"/>
                </a:lnTo>
                <a:lnTo>
                  <a:pt x="4334824" y="32476"/>
                </a:lnTo>
                <a:lnTo>
                  <a:pt x="4470288" y="29683"/>
                </a:lnTo>
                <a:lnTo>
                  <a:pt x="4605751" y="27220"/>
                </a:lnTo>
                <a:lnTo>
                  <a:pt x="4741214" y="25484"/>
                </a:lnTo>
                <a:lnTo>
                  <a:pt x="4876678" y="24895"/>
                </a:lnTo>
                <a:lnTo>
                  <a:pt x="5012141" y="25867"/>
                </a:lnTo>
                <a:lnTo>
                  <a:pt x="5147604" y="28771"/>
                </a:lnTo>
                <a:lnTo>
                  <a:pt x="5283067" y="33905"/>
                </a:lnTo>
                <a:lnTo>
                  <a:pt x="5418531" y="41460"/>
                </a:lnTo>
                <a:lnTo>
                  <a:pt x="5553994" y="51504"/>
                </a:lnTo>
                <a:lnTo>
                  <a:pt x="5689457" y="63964"/>
                </a:lnTo>
                <a:lnTo>
                  <a:pt x="5824921" y="78622"/>
                </a:lnTo>
                <a:lnTo>
                  <a:pt x="5960384" y="95124"/>
                </a:lnTo>
                <a:lnTo>
                  <a:pt x="6095847" y="112989"/>
                </a:lnTo>
                <a:lnTo>
                  <a:pt x="6231310" y="131639"/>
                </a:lnTo>
                <a:lnTo>
                  <a:pt x="6366774" y="150423"/>
                </a:lnTo>
                <a:lnTo>
                  <a:pt x="6502237" y="168658"/>
                </a:lnTo>
                <a:lnTo>
                  <a:pt x="6637700" y="185665"/>
                </a:lnTo>
                <a:lnTo>
                  <a:pt x="6773164" y="200809"/>
                </a:lnTo>
                <a:lnTo>
                  <a:pt x="6908627" y="213535"/>
                </a:lnTo>
                <a:lnTo>
                  <a:pt x="7044090" y="223398"/>
                </a:lnTo>
                <a:lnTo>
                  <a:pt x="7179553" y="230090"/>
                </a:lnTo>
                <a:lnTo>
                  <a:pt x="7315017" y="233454"/>
                </a:lnTo>
                <a:lnTo>
                  <a:pt x="7450480" y="233492"/>
                </a:lnTo>
                <a:lnTo>
                  <a:pt x="7585943" y="230359"/>
                </a:lnTo>
                <a:lnTo>
                  <a:pt x="7721406" y="224353"/>
                </a:lnTo>
                <a:lnTo>
                  <a:pt x="7856870" y="215888"/>
                </a:lnTo>
                <a:lnTo>
                  <a:pt x="7992333" y="205470"/>
                </a:lnTo>
                <a:lnTo>
                  <a:pt x="8127796" y="193658"/>
                </a:lnTo>
                <a:lnTo>
                  <a:pt x="8263260" y="181033"/>
                </a:lnTo>
                <a:lnTo>
                  <a:pt x="8398723" y="168153"/>
                </a:lnTo>
                <a:lnTo>
                  <a:pt x="8534186" y="155526"/>
                </a:lnTo>
                <a:lnTo>
                  <a:pt x="8669649" y="143575"/>
                </a:lnTo>
                <a:lnTo>
                  <a:pt x="8805113" y="132618"/>
                </a:lnTo>
                <a:lnTo>
                  <a:pt x="8940576" y="122852"/>
                </a:lnTo>
                <a:lnTo>
                  <a:pt x="9076039" y="114351"/>
                </a:lnTo>
                <a:lnTo>
                  <a:pt x="9211503" y="107063"/>
                </a:lnTo>
                <a:lnTo>
                  <a:pt x="9346966" y="100832"/>
                </a:lnTo>
                <a:lnTo>
                  <a:pt x="9482429" y="95413"/>
                </a:lnTo>
                <a:lnTo>
                  <a:pt x="9617892" y="90502"/>
                </a:lnTo>
                <a:lnTo>
                  <a:pt x="9753356" y="85770"/>
                </a:lnTo>
                <a:lnTo>
                  <a:pt x="9888819" y="80892"/>
                </a:lnTo>
                <a:lnTo>
                  <a:pt x="10024282" y="75582"/>
                </a:lnTo>
                <a:lnTo>
                  <a:pt x="10159746" y="69623"/>
                </a:lnTo>
                <a:lnTo>
                  <a:pt x="10295209" y="62893"/>
                </a:lnTo>
                <a:lnTo>
                  <a:pt x="10430672" y="55378"/>
                </a:lnTo>
                <a:lnTo>
                  <a:pt x="10566135" y="47183"/>
                </a:lnTo>
                <a:lnTo>
                  <a:pt x="10701599" y="38531"/>
                </a:lnTo>
                <a:lnTo>
                  <a:pt x="10837062" y="29751"/>
                </a:lnTo>
                <a:lnTo>
                  <a:pt x="10972525" y="21260"/>
                </a:lnTo>
                <a:lnTo>
                  <a:pt x="11107988" y="13537"/>
                </a:lnTo>
                <a:lnTo>
                  <a:pt x="11243452" y="7091"/>
                </a:lnTo>
                <a:lnTo>
                  <a:pt x="11378915" y="2425"/>
                </a:lnTo>
                <a:lnTo>
                  <a:pt x="11514378" y="0"/>
                </a:lnTo>
                <a:lnTo>
                  <a:pt x="11649842" y="198"/>
                </a:lnTo>
                <a:lnTo>
                  <a:pt x="11785305" y="3299"/>
                </a:lnTo>
                <a:lnTo>
                  <a:pt x="11920768" y="9446"/>
                </a:lnTo>
                <a:lnTo>
                  <a:pt x="12056231" y="18641"/>
                </a:lnTo>
                <a:lnTo>
                  <a:pt x="12191695" y="30728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46304"/>
            <a:ext cx="11283696" cy="44805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规划场景：指标分析与业务解释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722376"/>
            <a:ext cx="585216" cy="41148"/>
          </a:xfrm>
          <a:prstGeom prst="rect">
            <a:avLst/>
          </a:prstGeom>
          <a:solidFill>
            <a:srgbClr val="EE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649224"/>
            <a:ext cx="10469880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2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以统一口径连接计算和洞察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292608"/>
            <a:ext cx="896112" cy="20116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HiAgent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6647688"/>
            <a:ext cx="10241280" cy="1280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7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企业数据智能体建设规划  /  规划视图  /  2026.10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629400"/>
            <a:ext cx="585216" cy="17373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23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" y="1687068"/>
            <a:ext cx="1954530" cy="3941063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1655064"/>
            <a:ext cx="1954530" cy="39410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1847088"/>
            <a:ext cx="1716786" cy="23774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2231136"/>
            <a:ext cx="1716786" cy="36576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定义问题</a:t>
            </a:r>
          </a:p>
        </p:txBody>
      </p:sp>
      <p:sp>
        <p:nvSpPr>
          <p:cNvPr id="17" name="Oval 16"/>
          <p:cNvSpPr/>
          <p:nvPr/>
        </p:nvSpPr>
        <p:spPr>
          <a:xfrm>
            <a:off x="1059469" y="3591854"/>
            <a:ext cx="880567" cy="156545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72560" y="2877616"/>
            <a:ext cx="234817" cy="234817"/>
          </a:xfrm>
          <a:prstGeom prst="ellipse">
            <a:avLst/>
          </a:prstGeom>
          <a:solidFill>
            <a:srgbClr val="3BA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255151" y="3102650"/>
            <a:ext cx="479420" cy="430500"/>
          </a:xfrm>
          <a:custGeom>
            <a:avLst/>
            <a:gdLst/>
            <a:ahLst/>
            <a:cxnLst/>
            <a:rect l="l" t="t" r="r" b="b"/>
            <a:pathLst>
              <a:path w="479420" h="430500">
                <a:moveTo>
                  <a:pt x="0" y="127193"/>
                </a:moveTo>
                <a:lnTo>
                  <a:pt x="234818" y="0"/>
                </a:lnTo>
                <a:lnTo>
                  <a:pt x="479420" y="136977"/>
                </a:lnTo>
                <a:lnTo>
                  <a:pt x="479420" y="430500"/>
                </a:lnTo>
                <a:lnTo>
                  <a:pt x="0" y="430500"/>
                </a:lnTo>
                <a:close/>
              </a:path>
            </a:pathLst>
          </a:custGeom>
          <a:solidFill>
            <a:srgbClr val="1E8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2648" y="4069080"/>
            <a:ext cx="1735074" cy="429768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4101084"/>
            <a:ext cx="1552194" cy="365759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对象与目标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" y="4754880"/>
            <a:ext cx="1698498" cy="5852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确认比较期间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明确可比口径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80310" y="3273552"/>
            <a:ext cx="137160" cy="0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2559003" y="3273552"/>
            <a:ext cx="58467" cy="35845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2559003" y="3237706"/>
            <a:ext cx="58467" cy="35846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663190" y="1687068"/>
            <a:ext cx="1954530" cy="3941063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640330" y="1655064"/>
            <a:ext cx="1954530" cy="39410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59202" y="1847088"/>
            <a:ext cx="1716786" cy="23774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59202" y="2231136"/>
            <a:ext cx="1716786" cy="36576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确定指标</a:t>
            </a:r>
          </a:p>
        </p:txBody>
      </p:sp>
      <p:sp>
        <p:nvSpPr>
          <p:cNvPr id="30" name="Oval 29"/>
          <p:cNvSpPr/>
          <p:nvPr/>
        </p:nvSpPr>
        <p:spPr>
          <a:xfrm>
            <a:off x="3196879" y="3591854"/>
            <a:ext cx="880567" cy="156545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33856" y="2995025"/>
            <a:ext cx="596828" cy="567476"/>
          </a:xfrm>
          <a:prstGeom prst="rect">
            <a:avLst/>
          </a:prstGeom>
          <a:solidFill>
            <a:srgbClr val="168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33856" y="3484229"/>
            <a:ext cx="596828" cy="195681"/>
          </a:xfrm>
          <a:prstGeom prst="ellipse">
            <a:avLst/>
          </a:prstGeom>
          <a:solidFill>
            <a:srgbClr val="096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333856" y="2897184"/>
            <a:ext cx="596828" cy="195681"/>
          </a:xfrm>
          <a:prstGeom prst="ellipse">
            <a:avLst/>
          </a:prstGeom>
          <a:solidFill>
            <a:srgbClr val="76D8FF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333856" y="3122218"/>
            <a:ext cx="596828" cy="195681"/>
          </a:xfrm>
          <a:prstGeom prst="ellipse">
            <a:avLst/>
          </a:prstGeom>
          <a:solidFill>
            <a:srgbClr val="3AB2F8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333856" y="3347252"/>
            <a:ext cx="596828" cy="195681"/>
          </a:xfrm>
          <a:prstGeom prst="ellipse">
            <a:avLst/>
          </a:prstGeom>
          <a:solidFill>
            <a:srgbClr val="3AB2F8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392561" y="3014593"/>
            <a:ext cx="39136" cy="518556"/>
          </a:xfrm>
          <a:prstGeom prst="rect">
            <a:avLst/>
          </a:prstGeom>
          <a:solidFill>
            <a:srgbClr val="76D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750058" y="4069080"/>
            <a:ext cx="1735074" cy="429768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41498" y="4101084"/>
            <a:ext cx="1552194" cy="365759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受控指标契约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68346" y="4754880"/>
            <a:ext cx="1698498" cy="5852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核对维度、权限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数据时效与质量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617720" y="3273552"/>
            <a:ext cx="137160" cy="0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4696413" y="3273552"/>
            <a:ext cx="58467" cy="35845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 flipV="1">
            <a:off x="4696413" y="3237706"/>
            <a:ext cx="58467" cy="35846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4800600" y="1687068"/>
            <a:ext cx="1954530" cy="3941063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777740" y="1655064"/>
            <a:ext cx="1954530" cy="39410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96612" y="1847088"/>
            <a:ext cx="1716786" cy="23774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96612" y="2231136"/>
            <a:ext cx="1716786" cy="36576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受控计算</a:t>
            </a:r>
          </a:p>
        </p:txBody>
      </p:sp>
      <p:sp>
        <p:nvSpPr>
          <p:cNvPr id="47" name="Oval 46"/>
          <p:cNvSpPr/>
          <p:nvPr/>
        </p:nvSpPr>
        <p:spPr>
          <a:xfrm>
            <a:off x="5334289" y="3591854"/>
            <a:ext cx="880567" cy="156545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5461482" y="2838480"/>
            <a:ext cx="626181" cy="166329"/>
          </a:xfrm>
          <a:custGeom>
            <a:avLst/>
            <a:gdLst/>
            <a:ahLst/>
            <a:cxnLst/>
            <a:rect l="l" t="t" r="r" b="b"/>
            <a:pathLst>
              <a:path w="626181" h="166329">
                <a:moveTo>
                  <a:pt x="0" y="68489"/>
                </a:moveTo>
                <a:lnTo>
                  <a:pt x="508772" y="0"/>
                </a:lnTo>
                <a:lnTo>
                  <a:pt x="626181" y="88057"/>
                </a:lnTo>
                <a:lnTo>
                  <a:pt x="117409" y="166329"/>
                </a:lnTo>
                <a:close/>
              </a:path>
            </a:pathLst>
          </a:custGeom>
          <a:solidFill>
            <a:srgbClr val="B1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5970254" y="2838480"/>
            <a:ext cx="117409" cy="694670"/>
          </a:xfrm>
          <a:custGeom>
            <a:avLst/>
            <a:gdLst/>
            <a:ahLst/>
            <a:cxnLst/>
            <a:rect l="l" t="t" r="r" b="b"/>
            <a:pathLst>
              <a:path w="117409" h="694670">
                <a:moveTo>
                  <a:pt x="0" y="0"/>
                </a:moveTo>
                <a:lnTo>
                  <a:pt x="117409" y="88057"/>
                </a:lnTo>
                <a:lnTo>
                  <a:pt x="117409" y="694670"/>
                </a:lnTo>
                <a:lnTo>
                  <a:pt x="0" y="626181"/>
                </a:lnTo>
                <a:close/>
              </a:path>
            </a:pathLst>
          </a:custGeom>
          <a:solidFill>
            <a:srgbClr val="147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5461482" y="2838480"/>
            <a:ext cx="508772" cy="704454"/>
          </a:xfrm>
          <a:custGeom>
            <a:avLst/>
            <a:gdLst/>
            <a:ahLst/>
            <a:cxnLst/>
            <a:rect l="l" t="t" r="r" b="b"/>
            <a:pathLst>
              <a:path w="508772" h="704454">
                <a:moveTo>
                  <a:pt x="0" y="68489"/>
                </a:moveTo>
                <a:lnTo>
                  <a:pt x="508772" y="0"/>
                </a:lnTo>
                <a:lnTo>
                  <a:pt x="508772" y="626181"/>
                </a:lnTo>
                <a:lnTo>
                  <a:pt x="0" y="704454"/>
                </a:lnTo>
                <a:close/>
              </a:path>
            </a:pathLst>
          </a:custGeom>
          <a:solidFill>
            <a:srgbClr val="52B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 flipV="1">
            <a:off x="5549539" y="3034162"/>
            <a:ext cx="322874" cy="4892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549539" y="3171139"/>
            <a:ext cx="322874" cy="4892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549539" y="3308116"/>
            <a:ext cx="322874" cy="48920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510403" y="3171139"/>
            <a:ext cx="420715" cy="205465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12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&lt;/&gt;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887468" y="4069080"/>
            <a:ext cx="1735074" cy="429768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78908" y="4101084"/>
            <a:ext cx="1552194" cy="365759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实际查询结果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05756" y="4754880"/>
            <a:ext cx="1698498" cy="5852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复用指标API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或已验证的SQL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755130" y="3273552"/>
            <a:ext cx="137160" cy="0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6833823" y="3273552"/>
            <a:ext cx="58467" cy="35845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 flipV="1">
            <a:off x="6833823" y="3237706"/>
            <a:ext cx="58467" cy="35846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6938010" y="1687068"/>
            <a:ext cx="1954530" cy="3941063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915150" y="1655064"/>
            <a:ext cx="1954530" cy="39410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034022" y="1847088"/>
            <a:ext cx="1716786" cy="23774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04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34022" y="2231136"/>
            <a:ext cx="1716786" cy="36576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解释与建议</a:t>
            </a:r>
          </a:p>
        </p:txBody>
      </p:sp>
      <p:sp>
        <p:nvSpPr>
          <p:cNvPr id="65" name="Oval 64"/>
          <p:cNvSpPr/>
          <p:nvPr/>
        </p:nvSpPr>
        <p:spPr>
          <a:xfrm>
            <a:off x="7471699" y="3591854"/>
            <a:ext cx="880567" cy="156545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7481483" y="3454877"/>
            <a:ext cx="851215" cy="391559"/>
          </a:xfrm>
          <a:custGeom>
            <a:avLst/>
            <a:gdLst/>
            <a:ahLst/>
            <a:cxnLst/>
            <a:rect l="l" t="t" r="r" b="b"/>
            <a:pathLst>
              <a:path w="851215" h="391559">
                <a:moveTo>
                  <a:pt x="0" y="195779"/>
                </a:moveTo>
                <a:lnTo>
                  <a:pt x="425608" y="0"/>
                </a:lnTo>
                <a:lnTo>
                  <a:pt x="851215" y="195779"/>
                </a:lnTo>
                <a:lnTo>
                  <a:pt x="425608" y="391559"/>
                </a:lnTo>
                <a:close/>
              </a:path>
            </a:pathLst>
          </a:custGeom>
          <a:solidFill>
            <a:srgbClr val="B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7481483" y="3650656"/>
            <a:ext cx="425608" cy="234916"/>
          </a:xfrm>
          <a:custGeom>
            <a:avLst/>
            <a:gdLst/>
            <a:ahLst/>
            <a:cxnLst/>
            <a:rect l="l" t="t" r="r" b="b"/>
            <a:pathLst>
              <a:path w="425608" h="234916">
                <a:moveTo>
                  <a:pt x="0" y="0"/>
                </a:moveTo>
                <a:lnTo>
                  <a:pt x="425608" y="195780"/>
                </a:lnTo>
                <a:lnTo>
                  <a:pt x="425608" y="234916"/>
                </a:lnTo>
                <a:lnTo>
                  <a:pt x="0" y="39137"/>
                </a:lnTo>
                <a:close/>
              </a:path>
            </a:pathLst>
          </a:custGeom>
          <a:solidFill>
            <a:srgbClr val="7FC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7907091" y="3650656"/>
            <a:ext cx="425607" cy="234916"/>
          </a:xfrm>
          <a:custGeom>
            <a:avLst/>
            <a:gdLst/>
            <a:ahLst/>
            <a:cxnLst/>
            <a:rect l="l" t="t" r="r" b="b"/>
            <a:pathLst>
              <a:path w="425607" h="234916">
                <a:moveTo>
                  <a:pt x="0" y="195780"/>
                </a:moveTo>
                <a:lnTo>
                  <a:pt x="425607" y="0"/>
                </a:lnTo>
                <a:lnTo>
                  <a:pt x="425607" y="39137"/>
                </a:lnTo>
                <a:lnTo>
                  <a:pt x="0" y="234916"/>
                </a:lnTo>
                <a:close/>
              </a:path>
            </a:pathLst>
          </a:custGeom>
          <a:solidFill>
            <a:srgbClr val="5AA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7549972" y="3327684"/>
            <a:ext cx="185897" cy="78273"/>
          </a:xfrm>
          <a:custGeom>
            <a:avLst/>
            <a:gdLst/>
            <a:ahLst/>
            <a:cxnLst/>
            <a:rect l="l" t="t" r="r" b="b"/>
            <a:pathLst>
              <a:path w="185897" h="78273">
                <a:moveTo>
                  <a:pt x="0" y="39136"/>
                </a:moveTo>
                <a:lnTo>
                  <a:pt x="92948" y="0"/>
                </a:lnTo>
                <a:lnTo>
                  <a:pt x="185897" y="39136"/>
                </a:lnTo>
                <a:lnTo>
                  <a:pt x="92948" y="78273"/>
                </a:lnTo>
                <a:close/>
              </a:path>
            </a:pathLst>
          </a:custGeom>
          <a:solidFill>
            <a:srgbClr val="9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7549972" y="3366820"/>
            <a:ext cx="92948" cy="215250"/>
          </a:xfrm>
          <a:custGeom>
            <a:avLst/>
            <a:gdLst/>
            <a:ahLst/>
            <a:cxnLst/>
            <a:rect l="l" t="t" r="r" b="b"/>
            <a:pathLst>
              <a:path w="92948" h="215250">
                <a:moveTo>
                  <a:pt x="0" y="0"/>
                </a:moveTo>
                <a:lnTo>
                  <a:pt x="92948" y="39137"/>
                </a:lnTo>
                <a:lnTo>
                  <a:pt x="92948" y="215250"/>
                </a:lnTo>
                <a:lnTo>
                  <a:pt x="0" y="176114"/>
                </a:lnTo>
                <a:close/>
              </a:path>
            </a:pathLst>
          </a:custGeom>
          <a:solidFill>
            <a:srgbClr val="2AB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7642920" y="3366820"/>
            <a:ext cx="92949" cy="215250"/>
          </a:xfrm>
          <a:custGeom>
            <a:avLst/>
            <a:gdLst/>
            <a:ahLst/>
            <a:cxnLst/>
            <a:rect l="l" t="t" r="r" b="b"/>
            <a:pathLst>
              <a:path w="92949" h="215250">
                <a:moveTo>
                  <a:pt x="0" y="39137"/>
                </a:moveTo>
                <a:lnTo>
                  <a:pt x="92949" y="0"/>
                </a:lnTo>
                <a:lnTo>
                  <a:pt x="92949" y="176114"/>
                </a:lnTo>
                <a:lnTo>
                  <a:pt x="0" y="215250"/>
                </a:lnTo>
                <a:close/>
              </a:path>
            </a:pathLst>
          </a:custGeom>
          <a:solidFill>
            <a:srgbClr val="11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7784790" y="3141786"/>
            <a:ext cx="185897" cy="78273"/>
          </a:xfrm>
          <a:custGeom>
            <a:avLst/>
            <a:gdLst/>
            <a:ahLst/>
            <a:cxnLst/>
            <a:rect l="l" t="t" r="r" b="b"/>
            <a:pathLst>
              <a:path w="185897" h="78273">
                <a:moveTo>
                  <a:pt x="0" y="39137"/>
                </a:moveTo>
                <a:lnTo>
                  <a:pt x="92948" y="0"/>
                </a:lnTo>
                <a:lnTo>
                  <a:pt x="185897" y="39137"/>
                </a:lnTo>
                <a:lnTo>
                  <a:pt x="92948" y="78273"/>
                </a:lnTo>
                <a:close/>
              </a:path>
            </a:pathLst>
          </a:custGeom>
          <a:solidFill>
            <a:srgbClr val="9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7784790" y="3180923"/>
            <a:ext cx="92948" cy="401147"/>
          </a:xfrm>
          <a:custGeom>
            <a:avLst/>
            <a:gdLst/>
            <a:ahLst/>
            <a:cxnLst/>
            <a:rect l="l" t="t" r="r" b="b"/>
            <a:pathLst>
              <a:path w="92948" h="401147">
                <a:moveTo>
                  <a:pt x="0" y="0"/>
                </a:moveTo>
                <a:lnTo>
                  <a:pt x="92948" y="39136"/>
                </a:lnTo>
                <a:lnTo>
                  <a:pt x="92948" y="401147"/>
                </a:lnTo>
                <a:lnTo>
                  <a:pt x="0" y="362011"/>
                </a:lnTo>
                <a:close/>
              </a:path>
            </a:pathLst>
          </a:custGeom>
          <a:solidFill>
            <a:srgbClr val="2AB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7877738" y="3180923"/>
            <a:ext cx="92949" cy="401147"/>
          </a:xfrm>
          <a:custGeom>
            <a:avLst/>
            <a:gdLst/>
            <a:ahLst/>
            <a:cxnLst/>
            <a:rect l="l" t="t" r="r" b="b"/>
            <a:pathLst>
              <a:path w="92949" h="401147">
                <a:moveTo>
                  <a:pt x="0" y="39136"/>
                </a:moveTo>
                <a:lnTo>
                  <a:pt x="92949" y="0"/>
                </a:lnTo>
                <a:lnTo>
                  <a:pt x="92949" y="362011"/>
                </a:lnTo>
                <a:lnTo>
                  <a:pt x="0" y="401147"/>
                </a:lnTo>
                <a:close/>
              </a:path>
            </a:pathLst>
          </a:custGeom>
          <a:solidFill>
            <a:srgbClr val="11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8019608" y="2897184"/>
            <a:ext cx="185897" cy="78273"/>
          </a:xfrm>
          <a:custGeom>
            <a:avLst/>
            <a:gdLst/>
            <a:ahLst/>
            <a:cxnLst/>
            <a:rect l="l" t="t" r="r" b="b"/>
            <a:pathLst>
              <a:path w="185897" h="78273">
                <a:moveTo>
                  <a:pt x="0" y="39137"/>
                </a:moveTo>
                <a:lnTo>
                  <a:pt x="92948" y="0"/>
                </a:lnTo>
                <a:lnTo>
                  <a:pt x="185897" y="39137"/>
                </a:lnTo>
                <a:lnTo>
                  <a:pt x="92948" y="78273"/>
                </a:lnTo>
                <a:close/>
              </a:path>
            </a:pathLst>
          </a:custGeom>
          <a:solidFill>
            <a:srgbClr val="9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8019608" y="2936321"/>
            <a:ext cx="92948" cy="645749"/>
          </a:xfrm>
          <a:custGeom>
            <a:avLst/>
            <a:gdLst/>
            <a:ahLst/>
            <a:cxnLst/>
            <a:rect l="l" t="t" r="r" b="b"/>
            <a:pathLst>
              <a:path w="92948" h="645749">
                <a:moveTo>
                  <a:pt x="0" y="0"/>
                </a:moveTo>
                <a:lnTo>
                  <a:pt x="92948" y="39136"/>
                </a:lnTo>
                <a:lnTo>
                  <a:pt x="92948" y="645749"/>
                </a:lnTo>
                <a:lnTo>
                  <a:pt x="0" y="606613"/>
                </a:lnTo>
                <a:close/>
              </a:path>
            </a:pathLst>
          </a:custGeom>
          <a:solidFill>
            <a:srgbClr val="2AB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8112556" y="2936321"/>
            <a:ext cx="92949" cy="645749"/>
          </a:xfrm>
          <a:custGeom>
            <a:avLst/>
            <a:gdLst/>
            <a:ahLst/>
            <a:cxnLst/>
            <a:rect l="l" t="t" r="r" b="b"/>
            <a:pathLst>
              <a:path w="92949" h="645749">
                <a:moveTo>
                  <a:pt x="0" y="39136"/>
                </a:moveTo>
                <a:lnTo>
                  <a:pt x="92949" y="0"/>
                </a:lnTo>
                <a:lnTo>
                  <a:pt x="92949" y="606613"/>
                </a:lnTo>
                <a:lnTo>
                  <a:pt x="0" y="645749"/>
                </a:lnTo>
                <a:close/>
              </a:path>
            </a:pathLst>
          </a:custGeom>
          <a:solidFill>
            <a:srgbClr val="11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7024878" y="4069080"/>
            <a:ext cx="1735074" cy="429768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116318" y="4101084"/>
            <a:ext cx="1552194" cy="365759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1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图表与分析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043166" y="4754880"/>
            <a:ext cx="1698498" cy="5852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结果关联来源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区分事实与假设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194292" y="1687068"/>
            <a:ext cx="2505456" cy="1892807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9171432" y="1655064"/>
            <a:ext cx="2505456" cy="189280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326880" y="1792224"/>
            <a:ext cx="32004" cy="246888"/>
          </a:xfrm>
          <a:prstGeom prst="rect">
            <a:avLst/>
          </a:prstGeom>
          <a:solidFill>
            <a:srgbClr val="EE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473184" y="1773936"/>
            <a:ext cx="2057400" cy="31089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解决问题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363456" y="2313432"/>
            <a:ext cx="2121408" cy="2286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问数口径不一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363456" y="2606040"/>
            <a:ext cx="2121408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8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同名指标或维度选择不同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363456" y="2880360"/>
            <a:ext cx="2121408" cy="2286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结果难复核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363456" y="3172968"/>
            <a:ext cx="2121408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8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文字结论缺少计算依据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194292" y="3735324"/>
            <a:ext cx="2505456" cy="1892807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9171432" y="3703320"/>
            <a:ext cx="2505456" cy="189280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326880" y="3840480"/>
            <a:ext cx="32004" cy="246888"/>
          </a:xfrm>
          <a:prstGeom prst="rect">
            <a:avLst/>
          </a:prstGeom>
          <a:solidFill>
            <a:srgbClr val="EE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473184" y="3822191"/>
            <a:ext cx="2057400" cy="31089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应用价值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363456" y="4361688"/>
            <a:ext cx="2121408" cy="2286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078B9F"/>
                </a:solidFill>
                <a:latin typeface="Noto Sans CJK SC"/>
                <a:ea typeface="Noto Sans CJK SC"/>
              </a:defRPr>
            </a:pPr>
            <a:r>
              <a:t>统一理解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363456" y="4654296"/>
            <a:ext cx="2121408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8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指标定义和范围贯穿分析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363456" y="4928616"/>
            <a:ext cx="2121408" cy="22860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00" b="1">
                <a:solidFill>
                  <a:srgbClr val="078B9F"/>
                </a:solidFill>
                <a:latin typeface="Noto Sans CJK SC"/>
                <a:ea typeface="Noto Sans CJK SC"/>
              </a:defRPr>
            </a:pPr>
            <a:r>
              <a:t>解释有据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363456" y="5221224"/>
            <a:ext cx="2121408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8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实际计算结果支撑业务表达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61772" y="6112764"/>
            <a:ext cx="11247120" cy="33832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438912" y="6080760"/>
            <a:ext cx="11247120" cy="338328"/>
          </a:xfrm>
          <a:prstGeom prst="roundRect">
            <a:avLst>
              <a:gd name="adj" fmla="val 5500"/>
            </a:avLst>
          </a:prstGeom>
          <a:solidFill>
            <a:srgbClr val="EEF7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85216" y="6117336"/>
            <a:ext cx="10954512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模型组织方法与表达，引擎执行计算；相关性与贡献拆解不直接作为因果证明。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6346471"/>
            <a:ext cx="12191695" cy="235953"/>
          </a:xfrm>
          <a:custGeom>
            <a:avLst/>
            <a:gdLst/>
            <a:ahLst/>
            <a:cxnLst/>
            <a:rect l="l" t="t" r="r" b="b"/>
            <a:pathLst>
              <a:path w="12191695" h="235953">
                <a:moveTo>
                  <a:pt x="0" y="127481"/>
                </a:moveTo>
                <a:lnTo>
                  <a:pt x="135463" y="147046"/>
                </a:lnTo>
                <a:lnTo>
                  <a:pt x="270926" y="165914"/>
                </a:lnTo>
                <a:lnTo>
                  <a:pt x="406389" y="183426"/>
                </a:lnTo>
                <a:lnTo>
                  <a:pt x="541853" y="199000"/>
                </a:lnTo>
                <a:lnTo>
                  <a:pt x="677316" y="212159"/>
                </a:lnTo>
                <a:lnTo>
                  <a:pt x="812779" y="222557"/>
                </a:lnTo>
                <a:lnTo>
                  <a:pt x="948242" y="229995"/>
                </a:lnTo>
                <a:lnTo>
                  <a:pt x="1083706" y="234426"/>
                </a:lnTo>
                <a:lnTo>
                  <a:pt x="1219169" y="235953"/>
                </a:lnTo>
                <a:lnTo>
                  <a:pt x="1354632" y="234812"/>
                </a:lnTo>
                <a:lnTo>
                  <a:pt x="1490096" y="231352"/>
                </a:lnTo>
                <a:lnTo>
                  <a:pt x="1625559" y="226009"/>
                </a:lnTo>
                <a:lnTo>
                  <a:pt x="1761022" y="219267"/>
                </a:lnTo>
                <a:lnTo>
                  <a:pt x="1896485" y="211626"/>
                </a:lnTo>
                <a:lnTo>
                  <a:pt x="2031949" y="203564"/>
                </a:lnTo>
                <a:lnTo>
                  <a:pt x="2167412" y="195508"/>
                </a:lnTo>
                <a:lnTo>
                  <a:pt x="2302875" y="187800"/>
                </a:lnTo>
                <a:lnTo>
                  <a:pt x="2438339" y="180682"/>
                </a:lnTo>
                <a:lnTo>
                  <a:pt x="2573802" y="174280"/>
                </a:lnTo>
                <a:lnTo>
                  <a:pt x="2709265" y="168601"/>
                </a:lnTo>
                <a:lnTo>
                  <a:pt x="2844728" y="163541"/>
                </a:lnTo>
                <a:lnTo>
                  <a:pt x="2980192" y="158900"/>
                </a:lnTo>
                <a:lnTo>
                  <a:pt x="3115655" y="154402"/>
                </a:lnTo>
                <a:lnTo>
                  <a:pt x="3251118" y="149724"/>
                </a:lnTo>
                <a:lnTo>
                  <a:pt x="3386582" y="144534"/>
                </a:lnTo>
                <a:lnTo>
                  <a:pt x="3522045" y="138515"/>
                </a:lnTo>
                <a:lnTo>
                  <a:pt x="3657508" y="131408"/>
                </a:lnTo>
                <a:lnTo>
                  <a:pt x="3792971" y="123031"/>
                </a:lnTo>
                <a:lnTo>
                  <a:pt x="3928435" y="113309"/>
                </a:lnTo>
                <a:lnTo>
                  <a:pt x="4063898" y="102287"/>
                </a:lnTo>
                <a:lnTo>
                  <a:pt x="4199361" y="90138"/>
                </a:lnTo>
                <a:lnTo>
                  <a:pt x="4334824" y="77155"/>
                </a:lnTo>
                <a:lnTo>
                  <a:pt x="4470288" y="63745"/>
                </a:lnTo>
                <a:lnTo>
                  <a:pt x="4605751" y="50406"/>
                </a:lnTo>
                <a:lnTo>
                  <a:pt x="4741214" y="37696"/>
                </a:lnTo>
                <a:lnTo>
                  <a:pt x="4876678" y="26202"/>
                </a:lnTo>
                <a:lnTo>
                  <a:pt x="5012141" y="16503"/>
                </a:lnTo>
                <a:lnTo>
                  <a:pt x="5147604" y="9131"/>
                </a:lnTo>
                <a:lnTo>
                  <a:pt x="5283067" y="4538"/>
                </a:lnTo>
                <a:lnTo>
                  <a:pt x="5418531" y="3064"/>
                </a:lnTo>
                <a:lnTo>
                  <a:pt x="5553994" y="4912"/>
                </a:lnTo>
                <a:lnTo>
                  <a:pt x="5689457" y="10132"/>
                </a:lnTo>
                <a:lnTo>
                  <a:pt x="5824921" y="18617"/>
                </a:lnTo>
                <a:lnTo>
                  <a:pt x="5960384" y="30106"/>
                </a:lnTo>
                <a:lnTo>
                  <a:pt x="6095847" y="44193"/>
                </a:lnTo>
                <a:lnTo>
                  <a:pt x="6231310" y="60357"/>
                </a:lnTo>
                <a:lnTo>
                  <a:pt x="6366774" y="77984"/>
                </a:lnTo>
                <a:lnTo>
                  <a:pt x="6502237" y="96410"/>
                </a:lnTo>
                <a:lnTo>
                  <a:pt x="6637700" y="114953"/>
                </a:lnTo>
                <a:lnTo>
                  <a:pt x="6773164" y="132954"/>
                </a:lnTo>
                <a:lnTo>
                  <a:pt x="6908627" y="149814"/>
                </a:lnTo>
                <a:lnTo>
                  <a:pt x="7044090" y="165027"/>
                </a:lnTo>
                <a:lnTo>
                  <a:pt x="7179553" y="178204"/>
                </a:lnTo>
                <a:lnTo>
                  <a:pt x="7315017" y="189090"/>
                </a:lnTo>
                <a:lnTo>
                  <a:pt x="7450480" y="197574"/>
                </a:lnTo>
                <a:lnTo>
                  <a:pt x="7585943" y="203682"/>
                </a:lnTo>
                <a:lnTo>
                  <a:pt x="7721406" y="207573"/>
                </a:lnTo>
                <a:lnTo>
                  <a:pt x="7856870" y="209512"/>
                </a:lnTo>
                <a:lnTo>
                  <a:pt x="7992333" y="209848"/>
                </a:lnTo>
                <a:lnTo>
                  <a:pt x="8127796" y="208978"/>
                </a:lnTo>
                <a:lnTo>
                  <a:pt x="8263260" y="207316"/>
                </a:lnTo>
                <a:lnTo>
                  <a:pt x="8398723" y="205256"/>
                </a:lnTo>
                <a:lnTo>
                  <a:pt x="8534186" y="203141"/>
                </a:lnTo>
                <a:lnTo>
                  <a:pt x="8669649" y="201238"/>
                </a:lnTo>
                <a:lnTo>
                  <a:pt x="8805113" y="199711"/>
                </a:lnTo>
                <a:lnTo>
                  <a:pt x="8940576" y="198616"/>
                </a:lnTo>
                <a:lnTo>
                  <a:pt x="9076039" y="197894"/>
                </a:lnTo>
                <a:lnTo>
                  <a:pt x="9211503" y="197378"/>
                </a:lnTo>
                <a:lnTo>
                  <a:pt x="9346966" y="196808"/>
                </a:lnTo>
                <a:lnTo>
                  <a:pt x="9482429" y="195855"/>
                </a:lnTo>
                <a:lnTo>
                  <a:pt x="9617892" y="194147"/>
                </a:lnTo>
                <a:lnTo>
                  <a:pt x="9753356" y="191305"/>
                </a:lnTo>
                <a:lnTo>
                  <a:pt x="9888819" y="186977"/>
                </a:lnTo>
                <a:lnTo>
                  <a:pt x="10024282" y="180869"/>
                </a:lnTo>
                <a:lnTo>
                  <a:pt x="10159746" y="172776"/>
                </a:lnTo>
                <a:lnTo>
                  <a:pt x="10295209" y="162608"/>
                </a:lnTo>
                <a:lnTo>
                  <a:pt x="10430672" y="150402"/>
                </a:lnTo>
                <a:lnTo>
                  <a:pt x="10566135" y="136335"/>
                </a:lnTo>
                <a:lnTo>
                  <a:pt x="10701599" y="120717"/>
                </a:lnTo>
                <a:lnTo>
                  <a:pt x="10837062" y="103984"/>
                </a:lnTo>
                <a:lnTo>
                  <a:pt x="10972525" y="86673"/>
                </a:lnTo>
                <a:lnTo>
                  <a:pt x="11107988" y="69396"/>
                </a:lnTo>
                <a:lnTo>
                  <a:pt x="11243452" y="52806"/>
                </a:lnTo>
                <a:lnTo>
                  <a:pt x="11378915" y="37558"/>
                </a:lnTo>
                <a:lnTo>
                  <a:pt x="11514378" y="24274"/>
                </a:lnTo>
                <a:lnTo>
                  <a:pt x="11649842" y="13501"/>
                </a:lnTo>
                <a:lnTo>
                  <a:pt x="11785305" y="5683"/>
                </a:lnTo>
                <a:lnTo>
                  <a:pt x="11920768" y="1129"/>
                </a:lnTo>
                <a:lnTo>
                  <a:pt x="12056231" y="0"/>
                </a:lnTo>
                <a:lnTo>
                  <a:pt x="12191695" y="2300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6405649"/>
            <a:ext cx="12191695" cy="245182"/>
          </a:xfrm>
          <a:custGeom>
            <a:avLst/>
            <a:gdLst/>
            <a:ahLst/>
            <a:cxnLst/>
            <a:rect l="l" t="t" r="r" b="b"/>
            <a:pathLst>
              <a:path w="12191695" h="245182">
                <a:moveTo>
                  <a:pt x="0" y="150669"/>
                </a:moveTo>
                <a:lnTo>
                  <a:pt x="135463" y="169737"/>
                </a:lnTo>
                <a:lnTo>
                  <a:pt x="270926" y="187768"/>
                </a:lnTo>
                <a:lnTo>
                  <a:pt x="406389" y="204118"/>
                </a:lnTo>
                <a:lnTo>
                  <a:pt x="541853" y="218220"/>
                </a:lnTo>
                <a:lnTo>
                  <a:pt x="677316" y="229621"/>
                </a:lnTo>
                <a:lnTo>
                  <a:pt x="812779" y="238002"/>
                </a:lnTo>
                <a:lnTo>
                  <a:pt x="948242" y="243193"/>
                </a:lnTo>
                <a:lnTo>
                  <a:pt x="1083706" y="245182"/>
                </a:lnTo>
                <a:lnTo>
                  <a:pt x="1219169" y="244108"/>
                </a:lnTo>
                <a:lnTo>
                  <a:pt x="1354632" y="240247"/>
                </a:lnTo>
                <a:lnTo>
                  <a:pt x="1490096" y="233989"/>
                </a:lnTo>
                <a:lnTo>
                  <a:pt x="1625559" y="225812"/>
                </a:lnTo>
                <a:lnTo>
                  <a:pt x="1761022" y="216243"/>
                </a:lnTo>
                <a:lnTo>
                  <a:pt x="1896485" y="205824"/>
                </a:lnTo>
                <a:lnTo>
                  <a:pt x="2031949" y="195076"/>
                </a:lnTo>
                <a:lnTo>
                  <a:pt x="2167412" y="184466"/>
                </a:lnTo>
                <a:lnTo>
                  <a:pt x="2302875" y="174375"/>
                </a:lnTo>
                <a:lnTo>
                  <a:pt x="2438339" y="165080"/>
                </a:lnTo>
                <a:lnTo>
                  <a:pt x="2573802" y="156740"/>
                </a:lnTo>
                <a:lnTo>
                  <a:pt x="2709265" y="149392"/>
                </a:lnTo>
                <a:lnTo>
                  <a:pt x="2844728" y="142958"/>
                </a:lnTo>
                <a:lnTo>
                  <a:pt x="2980192" y="137257"/>
                </a:lnTo>
                <a:lnTo>
                  <a:pt x="3115655" y="132030"/>
                </a:lnTo>
                <a:lnTo>
                  <a:pt x="3251118" y="126965"/>
                </a:lnTo>
                <a:lnTo>
                  <a:pt x="3386582" y="121734"/>
                </a:lnTo>
                <a:lnTo>
                  <a:pt x="3522045" y="116024"/>
                </a:lnTo>
                <a:lnTo>
                  <a:pt x="3657508" y="109568"/>
                </a:lnTo>
                <a:lnTo>
                  <a:pt x="3792971" y="102177"/>
                </a:lnTo>
                <a:lnTo>
                  <a:pt x="3928435" y="93759"/>
                </a:lnTo>
                <a:lnTo>
                  <a:pt x="4063898" y="84341"/>
                </a:lnTo>
                <a:lnTo>
                  <a:pt x="4199361" y="74069"/>
                </a:lnTo>
                <a:lnTo>
                  <a:pt x="4334824" y="63211"/>
                </a:lnTo>
                <a:lnTo>
                  <a:pt x="4470288" y="52141"/>
                </a:lnTo>
                <a:lnTo>
                  <a:pt x="4605751" y="41320"/>
                </a:lnTo>
                <a:lnTo>
                  <a:pt x="4741214" y="31269"/>
                </a:lnTo>
                <a:lnTo>
                  <a:pt x="4876678" y="22536"/>
                </a:lnTo>
                <a:lnTo>
                  <a:pt x="5012141" y="15656"/>
                </a:lnTo>
                <a:lnTo>
                  <a:pt x="5147604" y="11120"/>
                </a:lnTo>
                <a:lnTo>
                  <a:pt x="5283067" y="9338"/>
                </a:lnTo>
                <a:lnTo>
                  <a:pt x="5418531" y="10605"/>
                </a:lnTo>
                <a:lnTo>
                  <a:pt x="5553994" y="15085"/>
                </a:lnTo>
                <a:lnTo>
                  <a:pt x="5689457" y="22787"/>
                </a:lnTo>
                <a:lnTo>
                  <a:pt x="5824921" y="33567"/>
                </a:lnTo>
                <a:lnTo>
                  <a:pt x="5960384" y="47128"/>
                </a:lnTo>
                <a:lnTo>
                  <a:pt x="6095847" y="63035"/>
                </a:lnTo>
                <a:lnTo>
                  <a:pt x="6231310" y="80738"/>
                </a:lnTo>
                <a:lnTo>
                  <a:pt x="6366774" y="99601"/>
                </a:lnTo>
                <a:lnTo>
                  <a:pt x="6502237" y="118939"/>
                </a:lnTo>
                <a:lnTo>
                  <a:pt x="6637700" y="138058"/>
                </a:lnTo>
                <a:lnTo>
                  <a:pt x="6773164" y="156290"/>
                </a:lnTo>
                <a:lnTo>
                  <a:pt x="6908627" y="173034"/>
                </a:lnTo>
                <a:lnTo>
                  <a:pt x="7044090" y="187783"/>
                </a:lnTo>
                <a:lnTo>
                  <a:pt x="7179553" y="200156"/>
                </a:lnTo>
                <a:lnTo>
                  <a:pt x="7315017" y="209912"/>
                </a:lnTo>
                <a:lnTo>
                  <a:pt x="7450480" y="216953"/>
                </a:lnTo>
                <a:lnTo>
                  <a:pt x="7585943" y="221331"/>
                </a:lnTo>
                <a:lnTo>
                  <a:pt x="7721406" y="223229"/>
                </a:lnTo>
                <a:lnTo>
                  <a:pt x="7856870" y="222943"/>
                </a:lnTo>
                <a:lnTo>
                  <a:pt x="7992333" y="220854"/>
                </a:lnTo>
                <a:lnTo>
                  <a:pt x="8127796" y="217398"/>
                </a:lnTo>
                <a:lnTo>
                  <a:pt x="8263260" y="213025"/>
                </a:lnTo>
                <a:lnTo>
                  <a:pt x="8398723" y="208173"/>
                </a:lnTo>
                <a:lnTo>
                  <a:pt x="8534186" y="203226"/>
                </a:lnTo>
                <a:lnTo>
                  <a:pt x="8669649" y="198493"/>
                </a:lnTo>
                <a:lnTo>
                  <a:pt x="8805113" y="194182"/>
                </a:lnTo>
                <a:lnTo>
                  <a:pt x="8940576" y="190390"/>
                </a:lnTo>
                <a:lnTo>
                  <a:pt x="9076039" y="187099"/>
                </a:lnTo>
                <a:lnTo>
                  <a:pt x="9211503" y="184181"/>
                </a:lnTo>
                <a:lnTo>
                  <a:pt x="9346966" y="181412"/>
                </a:lnTo>
                <a:lnTo>
                  <a:pt x="9482429" y="178496"/>
                </a:lnTo>
                <a:lnTo>
                  <a:pt x="9617892" y="175092"/>
                </a:lnTo>
                <a:lnTo>
                  <a:pt x="9753356" y="170845"/>
                </a:lnTo>
                <a:lnTo>
                  <a:pt x="9888819" y="165425"/>
                </a:lnTo>
                <a:lnTo>
                  <a:pt x="10024282" y="158555"/>
                </a:lnTo>
                <a:lnTo>
                  <a:pt x="10159746" y="150040"/>
                </a:lnTo>
                <a:lnTo>
                  <a:pt x="10295209" y="139797"/>
                </a:lnTo>
                <a:lnTo>
                  <a:pt x="10430672" y="127865"/>
                </a:lnTo>
                <a:lnTo>
                  <a:pt x="10566135" y="114415"/>
                </a:lnTo>
                <a:lnTo>
                  <a:pt x="10701599" y="99751"/>
                </a:lnTo>
                <a:lnTo>
                  <a:pt x="10837062" y="84291"/>
                </a:lnTo>
                <a:lnTo>
                  <a:pt x="10972525" y="68554"/>
                </a:lnTo>
                <a:lnTo>
                  <a:pt x="11107988" y="53129"/>
                </a:lnTo>
                <a:lnTo>
                  <a:pt x="11243452" y="38641"/>
                </a:lnTo>
                <a:lnTo>
                  <a:pt x="11378915" y="25713"/>
                </a:lnTo>
                <a:lnTo>
                  <a:pt x="11514378" y="14931"/>
                </a:lnTo>
                <a:lnTo>
                  <a:pt x="11649842" y="6805"/>
                </a:lnTo>
                <a:lnTo>
                  <a:pt x="11785305" y="1738"/>
                </a:lnTo>
                <a:lnTo>
                  <a:pt x="11920768" y="0"/>
                </a:lnTo>
                <a:lnTo>
                  <a:pt x="12056231" y="1708"/>
                </a:lnTo>
                <a:lnTo>
                  <a:pt x="12191695" y="6822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6467906"/>
            <a:ext cx="12191695" cy="248613"/>
          </a:xfrm>
          <a:custGeom>
            <a:avLst/>
            <a:gdLst/>
            <a:ahLst/>
            <a:cxnLst/>
            <a:rect l="l" t="t" r="r" b="b"/>
            <a:pathLst>
              <a:path w="12191695" h="248613">
                <a:moveTo>
                  <a:pt x="0" y="169572"/>
                </a:moveTo>
                <a:lnTo>
                  <a:pt x="135463" y="187517"/>
                </a:lnTo>
                <a:lnTo>
                  <a:pt x="270926" y="204116"/>
                </a:lnTo>
                <a:lnTo>
                  <a:pt x="406389" y="218744"/>
                </a:lnTo>
                <a:lnTo>
                  <a:pt x="541853" y="230861"/>
                </a:lnTo>
                <a:lnTo>
                  <a:pt x="677316" y="240043"/>
                </a:lnTo>
                <a:lnTo>
                  <a:pt x="812779" y="246004"/>
                </a:lnTo>
                <a:lnTo>
                  <a:pt x="948242" y="248613"/>
                </a:lnTo>
                <a:lnTo>
                  <a:pt x="1083706" y="247896"/>
                </a:lnTo>
                <a:lnTo>
                  <a:pt x="1219169" y="244031"/>
                </a:lnTo>
                <a:lnTo>
                  <a:pt x="1354632" y="237338"/>
                </a:lnTo>
                <a:lnTo>
                  <a:pt x="1490096" y="228250"/>
                </a:lnTo>
                <a:lnTo>
                  <a:pt x="1625559" y="217286"/>
                </a:lnTo>
                <a:lnTo>
                  <a:pt x="1761022" y="205017"/>
                </a:lnTo>
                <a:lnTo>
                  <a:pt x="1896485" y="192024"/>
                </a:lnTo>
                <a:lnTo>
                  <a:pt x="2031949" y="178869"/>
                </a:lnTo>
                <a:lnTo>
                  <a:pt x="2167412" y="166053"/>
                </a:lnTo>
                <a:lnTo>
                  <a:pt x="2302875" y="153992"/>
                </a:lnTo>
                <a:lnTo>
                  <a:pt x="2438339" y="142992"/>
                </a:lnTo>
                <a:lnTo>
                  <a:pt x="2573802" y="133239"/>
                </a:lnTo>
                <a:lnTo>
                  <a:pt x="2709265" y="124790"/>
                </a:lnTo>
                <a:lnTo>
                  <a:pt x="2844728" y="117583"/>
                </a:lnTo>
                <a:lnTo>
                  <a:pt x="2980192" y="111449"/>
                </a:lnTo>
                <a:lnTo>
                  <a:pt x="3115655" y="106137"/>
                </a:lnTo>
                <a:lnTo>
                  <a:pt x="3251118" y="101335"/>
                </a:lnTo>
                <a:lnTo>
                  <a:pt x="3386582" y="96713"/>
                </a:lnTo>
                <a:lnTo>
                  <a:pt x="3522045" y="91945"/>
                </a:lnTo>
                <a:lnTo>
                  <a:pt x="3657508" y="86753"/>
                </a:lnTo>
                <a:lnTo>
                  <a:pt x="3792971" y="80928"/>
                </a:lnTo>
                <a:lnTo>
                  <a:pt x="3928435" y="74354"/>
                </a:lnTo>
                <a:lnTo>
                  <a:pt x="4063898" y="67031"/>
                </a:lnTo>
                <a:lnTo>
                  <a:pt x="4199361" y="59072"/>
                </a:lnTo>
                <a:lnTo>
                  <a:pt x="4334824" y="50711"/>
                </a:lnTo>
                <a:lnTo>
                  <a:pt x="4470288" y="42285"/>
                </a:lnTo>
                <a:lnTo>
                  <a:pt x="4605751" y="34213"/>
                </a:lnTo>
                <a:lnTo>
                  <a:pt x="4741214" y="26977"/>
                </a:lnTo>
                <a:lnTo>
                  <a:pt x="4876678" y="21080"/>
                </a:lnTo>
                <a:lnTo>
                  <a:pt x="5012141" y="17016"/>
                </a:lnTo>
                <a:lnTo>
                  <a:pt x="5147604" y="15233"/>
                </a:lnTo>
                <a:lnTo>
                  <a:pt x="5283067" y="16099"/>
                </a:lnTo>
                <a:lnTo>
                  <a:pt x="5418531" y="19870"/>
                </a:lnTo>
                <a:lnTo>
                  <a:pt x="5553994" y="26670"/>
                </a:lnTo>
                <a:lnTo>
                  <a:pt x="5689457" y="36475"/>
                </a:lnTo>
                <a:lnTo>
                  <a:pt x="5824921" y="49109"/>
                </a:lnTo>
                <a:lnTo>
                  <a:pt x="5960384" y="64247"/>
                </a:lnTo>
                <a:lnTo>
                  <a:pt x="6095847" y="81430"/>
                </a:lnTo>
                <a:lnTo>
                  <a:pt x="6231310" y="100088"/>
                </a:lnTo>
                <a:lnTo>
                  <a:pt x="6366774" y="119571"/>
                </a:lnTo>
                <a:lnTo>
                  <a:pt x="6502237" y="139187"/>
                </a:lnTo>
                <a:lnTo>
                  <a:pt x="6637700" y="158234"/>
                </a:lnTo>
                <a:lnTo>
                  <a:pt x="6773164" y="176047"/>
                </a:lnTo>
                <a:lnTo>
                  <a:pt x="6908627" y="192030"/>
                </a:lnTo>
                <a:lnTo>
                  <a:pt x="7044090" y="205690"/>
                </a:lnTo>
                <a:lnTo>
                  <a:pt x="7179553" y="216660"/>
                </a:lnTo>
                <a:lnTo>
                  <a:pt x="7315017" y="224721"/>
                </a:lnTo>
                <a:lnTo>
                  <a:pt x="7450480" y="229802"/>
                </a:lnTo>
                <a:lnTo>
                  <a:pt x="7585943" y="231983"/>
                </a:lnTo>
                <a:lnTo>
                  <a:pt x="7721406" y="231480"/>
                </a:lnTo>
                <a:lnTo>
                  <a:pt x="7856870" y="228626"/>
                </a:lnTo>
                <a:lnTo>
                  <a:pt x="7992333" y="223841"/>
                </a:lnTo>
                <a:lnTo>
                  <a:pt x="8127796" y="217601"/>
                </a:lnTo>
                <a:lnTo>
                  <a:pt x="8263260" y="210399"/>
                </a:lnTo>
                <a:lnTo>
                  <a:pt x="8398723" y="202714"/>
                </a:lnTo>
                <a:lnTo>
                  <a:pt x="8534186" y="194975"/>
                </a:lnTo>
                <a:lnTo>
                  <a:pt x="8669649" y="187531"/>
                </a:lnTo>
                <a:lnTo>
                  <a:pt x="8805113" y="180631"/>
                </a:lnTo>
                <a:lnTo>
                  <a:pt x="8940576" y="174414"/>
                </a:lnTo>
                <a:lnTo>
                  <a:pt x="9076039" y="168896"/>
                </a:lnTo>
                <a:lnTo>
                  <a:pt x="9211503" y="163983"/>
                </a:lnTo>
                <a:lnTo>
                  <a:pt x="9346966" y="159481"/>
                </a:lnTo>
                <a:lnTo>
                  <a:pt x="9482429" y="155122"/>
                </a:lnTo>
                <a:lnTo>
                  <a:pt x="9617892" y="150584"/>
                </a:lnTo>
                <a:lnTo>
                  <a:pt x="9753356" y="145531"/>
                </a:lnTo>
                <a:lnTo>
                  <a:pt x="9888819" y="139645"/>
                </a:lnTo>
                <a:lnTo>
                  <a:pt x="10024282" y="132654"/>
                </a:lnTo>
                <a:lnTo>
                  <a:pt x="10159746" y="124369"/>
                </a:lnTo>
                <a:lnTo>
                  <a:pt x="10295209" y="114699"/>
                </a:lnTo>
                <a:lnTo>
                  <a:pt x="10430672" y="103677"/>
                </a:lnTo>
                <a:lnTo>
                  <a:pt x="10566135" y="91461"/>
                </a:lnTo>
                <a:lnTo>
                  <a:pt x="10701599" y="78333"/>
                </a:lnTo>
                <a:lnTo>
                  <a:pt x="10837062" y="64691"/>
                </a:lnTo>
                <a:lnTo>
                  <a:pt x="10972525" y="51025"/>
                </a:lnTo>
                <a:lnTo>
                  <a:pt x="11107988" y="37893"/>
                </a:lnTo>
                <a:lnTo>
                  <a:pt x="11243452" y="25885"/>
                </a:lnTo>
                <a:lnTo>
                  <a:pt x="11378915" y="15588"/>
                </a:lnTo>
                <a:lnTo>
                  <a:pt x="11514378" y="7547"/>
                </a:lnTo>
                <a:lnTo>
                  <a:pt x="11649842" y="2231"/>
                </a:lnTo>
                <a:lnTo>
                  <a:pt x="11785305" y="0"/>
                </a:lnTo>
                <a:lnTo>
                  <a:pt x="11920768" y="1082"/>
                </a:lnTo>
                <a:lnTo>
                  <a:pt x="12056231" y="5551"/>
                </a:lnTo>
                <a:lnTo>
                  <a:pt x="12191695" y="13326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0" y="6533113"/>
            <a:ext cx="12191695" cy="246124"/>
          </a:xfrm>
          <a:custGeom>
            <a:avLst/>
            <a:gdLst/>
            <a:ahLst/>
            <a:cxnLst/>
            <a:rect l="l" t="t" r="r" b="b"/>
            <a:pathLst>
              <a:path w="12191695" h="246124">
                <a:moveTo>
                  <a:pt x="0" y="183172"/>
                </a:moveTo>
                <a:lnTo>
                  <a:pt x="135463" y="199432"/>
                </a:lnTo>
                <a:lnTo>
                  <a:pt x="270926" y="214077"/>
                </a:lnTo>
                <a:lnTo>
                  <a:pt x="406389" y="226514"/>
                </a:lnTo>
                <a:lnTo>
                  <a:pt x="541853" y="236236"/>
                </a:lnTo>
                <a:lnTo>
                  <a:pt x="677316" y="242855"/>
                </a:lnTo>
                <a:lnTo>
                  <a:pt x="812779" y="246124"/>
                </a:lnTo>
                <a:lnTo>
                  <a:pt x="948242" y="245951"/>
                </a:lnTo>
                <a:lnTo>
                  <a:pt x="1083706" y="242404"/>
                </a:lnTo>
                <a:lnTo>
                  <a:pt x="1219169" y="235707"/>
                </a:lnTo>
                <a:lnTo>
                  <a:pt x="1354632" y="226219"/>
                </a:lnTo>
                <a:lnTo>
                  <a:pt x="1490096" y="214417"/>
                </a:lnTo>
                <a:lnTo>
                  <a:pt x="1625559" y="200862"/>
                </a:lnTo>
                <a:lnTo>
                  <a:pt x="1761022" y="186161"/>
                </a:lnTo>
                <a:lnTo>
                  <a:pt x="1896485" y="170935"/>
                </a:lnTo>
                <a:lnTo>
                  <a:pt x="2031949" y="155777"/>
                </a:lnTo>
                <a:lnTo>
                  <a:pt x="2167412" y="141221"/>
                </a:lnTo>
                <a:lnTo>
                  <a:pt x="2302875" y="127707"/>
                </a:lnTo>
                <a:lnTo>
                  <a:pt x="2438339" y="115564"/>
                </a:lnTo>
                <a:lnTo>
                  <a:pt x="2573802" y="104994"/>
                </a:lnTo>
                <a:lnTo>
                  <a:pt x="2709265" y="96068"/>
                </a:lnTo>
                <a:lnTo>
                  <a:pt x="2844728" y="88731"/>
                </a:lnTo>
                <a:lnTo>
                  <a:pt x="2980192" y="82816"/>
                </a:lnTo>
                <a:lnTo>
                  <a:pt x="3115655" y="78067"/>
                </a:lnTo>
                <a:lnTo>
                  <a:pt x="3251118" y="74166"/>
                </a:lnTo>
                <a:lnTo>
                  <a:pt x="3386582" y="70766"/>
                </a:lnTo>
                <a:lnTo>
                  <a:pt x="3522045" y="67527"/>
                </a:lnTo>
                <a:lnTo>
                  <a:pt x="3657508" y="64145"/>
                </a:lnTo>
                <a:lnTo>
                  <a:pt x="3792971" y="60383"/>
                </a:lnTo>
                <a:lnTo>
                  <a:pt x="3928435" y="56096"/>
                </a:lnTo>
                <a:lnTo>
                  <a:pt x="4063898" y="51248"/>
                </a:lnTo>
                <a:lnTo>
                  <a:pt x="4199361" y="45917"/>
                </a:lnTo>
                <a:lnTo>
                  <a:pt x="4334824" y="40294"/>
                </a:lnTo>
                <a:lnTo>
                  <a:pt x="4470288" y="34675"/>
                </a:lnTo>
                <a:lnTo>
                  <a:pt x="4605751" y="29440"/>
                </a:lnTo>
                <a:lnTo>
                  <a:pt x="4741214" y="25025"/>
                </a:lnTo>
                <a:lnTo>
                  <a:pt x="4876678" y="21891"/>
                </a:lnTo>
                <a:lnTo>
                  <a:pt x="5012141" y="20491"/>
                </a:lnTo>
                <a:lnTo>
                  <a:pt x="5147604" y="21233"/>
                </a:lnTo>
                <a:lnTo>
                  <a:pt x="5283067" y="24445"/>
                </a:lnTo>
                <a:lnTo>
                  <a:pt x="5418531" y="30349"/>
                </a:lnTo>
                <a:lnTo>
                  <a:pt x="5553994" y="39037"/>
                </a:lnTo>
                <a:lnTo>
                  <a:pt x="5689457" y="50457"/>
                </a:lnTo>
                <a:lnTo>
                  <a:pt x="5824921" y="64407"/>
                </a:lnTo>
                <a:lnTo>
                  <a:pt x="5960384" y="80543"/>
                </a:lnTo>
                <a:lnTo>
                  <a:pt x="6095847" y="98390"/>
                </a:lnTo>
                <a:lnTo>
                  <a:pt x="6231310" y="117369"/>
                </a:lnTo>
                <a:lnTo>
                  <a:pt x="6366774" y="136826"/>
                </a:lnTo>
                <a:lnTo>
                  <a:pt x="6502237" y="156066"/>
                </a:lnTo>
                <a:lnTo>
                  <a:pt x="6637700" y="174397"/>
                </a:lnTo>
                <a:lnTo>
                  <a:pt x="6773164" y="191162"/>
                </a:lnTo>
                <a:lnTo>
                  <a:pt x="6908627" y="205782"/>
                </a:lnTo>
                <a:lnTo>
                  <a:pt x="7044090" y="217784"/>
                </a:lnTo>
                <a:lnTo>
                  <a:pt x="7179553" y="226827"/>
                </a:lnTo>
                <a:lnTo>
                  <a:pt x="7315017" y="232720"/>
                </a:lnTo>
                <a:lnTo>
                  <a:pt x="7450480" y="235424"/>
                </a:lnTo>
                <a:lnTo>
                  <a:pt x="7585943" y="235057"/>
                </a:lnTo>
                <a:lnTo>
                  <a:pt x="7721406" y="231872"/>
                </a:lnTo>
                <a:lnTo>
                  <a:pt x="7856870" y="226244"/>
                </a:lnTo>
                <a:lnTo>
                  <a:pt x="7992333" y="218632"/>
                </a:lnTo>
                <a:lnTo>
                  <a:pt x="8127796" y="209557"/>
                </a:lnTo>
                <a:lnTo>
                  <a:pt x="8263260" y="199555"/>
                </a:lnTo>
                <a:lnTo>
                  <a:pt x="8398723" y="189147"/>
                </a:lnTo>
                <a:lnTo>
                  <a:pt x="8534186" y="178801"/>
                </a:lnTo>
                <a:lnTo>
                  <a:pt x="8669649" y="168908"/>
                </a:lnTo>
                <a:lnTo>
                  <a:pt x="8805113" y="159754"/>
                </a:lnTo>
                <a:lnTo>
                  <a:pt x="8940576" y="151510"/>
                </a:lnTo>
                <a:lnTo>
                  <a:pt x="9076039" y="144224"/>
                </a:lnTo>
                <a:lnTo>
                  <a:pt x="9211503" y="137828"/>
                </a:lnTo>
                <a:lnTo>
                  <a:pt x="9346966" y="132152"/>
                </a:lnTo>
                <a:lnTo>
                  <a:pt x="9482429" y="126943"/>
                </a:lnTo>
                <a:lnTo>
                  <a:pt x="9617892" y="121894"/>
                </a:lnTo>
                <a:lnTo>
                  <a:pt x="9753356" y="116677"/>
                </a:lnTo>
                <a:lnTo>
                  <a:pt x="9888819" y="110975"/>
                </a:lnTo>
                <a:lnTo>
                  <a:pt x="10024282" y="104513"/>
                </a:lnTo>
                <a:lnTo>
                  <a:pt x="10159746" y="97095"/>
                </a:lnTo>
                <a:lnTo>
                  <a:pt x="10295209" y="88617"/>
                </a:lnTo>
                <a:lnTo>
                  <a:pt x="10430672" y="79094"/>
                </a:lnTo>
                <a:lnTo>
                  <a:pt x="10566135" y="68661"/>
                </a:lnTo>
                <a:lnTo>
                  <a:pt x="10701599" y="57573"/>
                </a:lnTo>
                <a:lnTo>
                  <a:pt x="10837062" y="46197"/>
                </a:lnTo>
                <a:lnTo>
                  <a:pt x="10972525" y="34990"/>
                </a:lnTo>
                <a:lnTo>
                  <a:pt x="11107988" y="24471"/>
                </a:lnTo>
                <a:lnTo>
                  <a:pt x="11243452" y="15192"/>
                </a:lnTo>
                <a:lnTo>
                  <a:pt x="11378915" y="7698"/>
                </a:lnTo>
                <a:lnTo>
                  <a:pt x="11514378" y="2492"/>
                </a:lnTo>
                <a:lnTo>
                  <a:pt x="11649842" y="0"/>
                </a:lnTo>
                <a:lnTo>
                  <a:pt x="11785305" y="541"/>
                </a:lnTo>
                <a:lnTo>
                  <a:pt x="11920768" y="4298"/>
                </a:lnTo>
                <a:lnTo>
                  <a:pt x="12056231" y="11307"/>
                </a:lnTo>
                <a:lnTo>
                  <a:pt x="12191695" y="21447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0" y="6600998"/>
            <a:ext cx="12191695" cy="238322"/>
          </a:xfrm>
          <a:custGeom>
            <a:avLst/>
            <a:gdLst/>
            <a:ahLst/>
            <a:cxnLst/>
            <a:rect l="l" t="t" r="r" b="b"/>
            <a:pathLst>
              <a:path w="12191695" h="238322">
                <a:moveTo>
                  <a:pt x="0" y="190722"/>
                </a:moveTo>
                <a:lnTo>
                  <a:pt x="135463" y="204821"/>
                </a:lnTo>
                <a:lnTo>
                  <a:pt x="270926" y="217096"/>
                </a:lnTo>
                <a:lnTo>
                  <a:pt x="406389" y="226989"/>
                </a:lnTo>
                <a:lnTo>
                  <a:pt x="541853" y="234032"/>
                </a:lnTo>
                <a:lnTo>
                  <a:pt x="677316" y="237878"/>
                </a:lnTo>
                <a:lnTo>
                  <a:pt x="812779" y="238322"/>
                </a:lnTo>
                <a:lnTo>
                  <a:pt x="948242" y="235314"/>
                </a:lnTo>
                <a:lnTo>
                  <a:pt x="1083706" y="228966"/>
                </a:lnTo>
                <a:lnTo>
                  <a:pt x="1219169" y="219541"/>
                </a:lnTo>
                <a:lnTo>
                  <a:pt x="1354632" y="207444"/>
                </a:lnTo>
                <a:lnTo>
                  <a:pt x="1490096" y="193188"/>
                </a:lnTo>
                <a:lnTo>
                  <a:pt x="1625559" y="177371"/>
                </a:lnTo>
                <a:lnTo>
                  <a:pt x="1761022" y="160636"/>
                </a:lnTo>
                <a:lnTo>
                  <a:pt x="1896485" y="143634"/>
                </a:lnTo>
                <a:lnTo>
                  <a:pt x="2031949" y="126985"/>
                </a:lnTo>
                <a:lnTo>
                  <a:pt x="2167412" y="111244"/>
                </a:lnTo>
                <a:lnTo>
                  <a:pt x="2302875" y="96871"/>
                </a:lnTo>
                <a:lnTo>
                  <a:pt x="2438339" y="84207"/>
                </a:lnTo>
                <a:lnTo>
                  <a:pt x="2573802" y="73462"/>
                </a:lnTo>
                <a:lnTo>
                  <a:pt x="2709265" y="64709"/>
                </a:lnTo>
                <a:lnTo>
                  <a:pt x="2844728" y="57891"/>
                </a:lnTo>
                <a:lnTo>
                  <a:pt x="2980192" y="52834"/>
                </a:lnTo>
                <a:lnTo>
                  <a:pt x="3115655" y="49267"/>
                </a:lnTo>
                <a:lnTo>
                  <a:pt x="3251118" y="46856"/>
                </a:lnTo>
                <a:lnTo>
                  <a:pt x="3386582" y="45231"/>
                </a:lnTo>
                <a:lnTo>
                  <a:pt x="3522045" y="44024"/>
                </a:lnTo>
                <a:lnTo>
                  <a:pt x="3657508" y="42902"/>
                </a:lnTo>
                <a:lnTo>
                  <a:pt x="3792971" y="41593"/>
                </a:lnTo>
                <a:lnTo>
                  <a:pt x="3928435" y="39916"/>
                </a:lnTo>
                <a:lnTo>
                  <a:pt x="4063898" y="37794"/>
                </a:lnTo>
                <a:lnTo>
                  <a:pt x="4199361" y="35264"/>
                </a:lnTo>
                <a:lnTo>
                  <a:pt x="4334824" y="32476"/>
                </a:lnTo>
                <a:lnTo>
                  <a:pt x="4470288" y="29683"/>
                </a:lnTo>
                <a:lnTo>
                  <a:pt x="4605751" y="27220"/>
                </a:lnTo>
                <a:lnTo>
                  <a:pt x="4741214" y="25484"/>
                </a:lnTo>
                <a:lnTo>
                  <a:pt x="4876678" y="24895"/>
                </a:lnTo>
                <a:lnTo>
                  <a:pt x="5012141" y="25867"/>
                </a:lnTo>
                <a:lnTo>
                  <a:pt x="5147604" y="28771"/>
                </a:lnTo>
                <a:lnTo>
                  <a:pt x="5283067" y="33905"/>
                </a:lnTo>
                <a:lnTo>
                  <a:pt x="5418531" y="41460"/>
                </a:lnTo>
                <a:lnTo>
                  <a:pt x="5553994" y="51504"/>
                </a:lnTo>
                <a:lnTo>
                  <a:pt x="5689457" y="63964"/>
                </a:lnTo>
                <a:lnTo>
                  <a:pt x="5824921" y="78622"/>
                </a:lnTo>
                <a:lnTo>
                  <a:pt x="5960384" y="95124"/>
                </a:lnTo>
                <a:lnTo>
                  <a:pt x="6095847" y="112989"/>
                </a:lnTo>
                <a:lnTo>
                  <a:pt x="6231310" y="131639"/>
                </a:lnTo>
                <a:lnTo>
                  <a:pt x="6366774" y="150423"/>
                </a:lnTo>
                <a:lnTo>
                  <a:pt x="6502237" y="168658"/>
                </a:lnTo>
                <a:lnTo>
                  <a:pt x="6637700" y="185665"/>
                </a:lnTo>
                <a:lnTo>
                  <a:pt x="6773164" y="200809"/>
                </a:lnTo>
                <a:lnTo>
                  <a:pt x="6908627" y="213535"/>
                </a:lnTo>
                <a:lnTo>
                  <a:pt x="7044090" y="223398"/>
                </a:lnTo>
                <a:lnTo>
                  <a:pt x="7179553" y="230090"/>
                </a:lnTo>
                <a:lnTo>
                  <a:pt x="7315017" y="233454"/>
                </a:lnTo>
                <a:lnTo>
                  <a:pt x="7450480" y="233492"/>
                </a:lnTo>
                <a:lnTo>
                  <a:pt x="7585943" y="230359"/>
                </a:lnTo>
                <a:lnTo>
                  <a:pt x="7721406" y="224353"/>
                </a:lnTo>
                <a:lnTo>
                  <a:pt x="7856870" y="215888"/>
                </a:lnTo>
                <a:lnTo>
                  <a:pt x="7992333" y="205470"/>
                </a:lnTo>
                <a:lnTo>
                  <a:pt x="8127796" y="193658"/>
                </a:lnTo>
                <a:lnTo>
                  <a:pt x="8263260" y="181033"/>
                </a:lnTo>
                <a:lnTo>
                  <a:pt x="8398723" y="168153"/>
                </a:lnTo>
                <a:lnTo>
                  <a:pt x="8534186" y="155526"/>
                </a:lnTo>
                <a:lnTo>
                  <a:pt x="8669649" y="143575"/>
                </a:lnTo>
                <a:lnTo>
                  <a:pt x="8805113" y="132618"/>
                </a:lnTo>
                <a:lnTo>
                  <a:pt x="8940576" y="122852"/>
                </a:lnTo>
                <a:lnTo>
                  <a:pt x="9076039" y="114351"/>
                </a:lnTo>
                <a:lnTo>
                  <a:pt x="9211503" y="107063"/>
                </a:lnTo>
                <a:lnTo>
                  <a:pt x="9346966" y="100832"/>
                </a:lnTo>
                <a:lnTo>
                  <a:pt x="9482429" y="95413"/>
                </a:lnTo>
                <a:lnTo>
                  <a:pt x="9617892" y="90502"/>
                </a:lnTo>
                <a:lnTo>
                  <a:pt x="9753356" y="85770"/>
                </a:lnTo>
                <a:lnTo>
                  <a:pt x="9888819" y="80892"/>
                </a:lnTo>
                <a:lnTo>
                  <a:pt x="10024282" y="75582"/>
                </a:lnTo>
                <a:lnTo>
                  <a:pt x="10159746" y="69623"/>
                </a:lnTo>
                <a:lnTo>
                  <a:pt x="10295209" y="62893"/>
                </a:lnTo>
                <a:lnTo>
                  <a:pt x="10430672" y="55378"/>
                </a:lnTo>
                <a:lnTo>
                  <a:pt x="10566135" y="47183"/>
                </a:lnTo>
                <a:lnTo>
                  <a:pt x="10701599" y="38531"/>
                </a:lnTo>
                <a:lnTo>
                  <a:pt x="10837062" y="29751"/>
                </a:lnTo>
                <a:lnTo>
                  <a:pt x="10972525" y="21260"/>
                </a:lnTo>
                <a:lnTo>
                  <a:pt x="11107988" y="13537"/>
                </a:lnTo>
                <a:lnTo>
                  <a:pt x="11243452" y="7091"/>
                </a:lnTo>
                <a:lnTo>
                  <a:pt x="11378915" y="2425"/>
                </a:lnTo>
                <a:lnTo>
                  <a:pt x="11514378" y="0"/>
                </a:lnTo>
                <a:lnTo>
                  <a:pt x="11649842" y="198"/>
                </a:lnTo>
                <a:lnTo>
                  <a:pt x="11785305" y="3299"/>
                </a:lnTo>
                <a:lnTo>
                  <a:pt x="11920768" y="9446"/>
                </a:lnTo>
                <a:lnTo>
                  <a:pt x="12056231" y="18641"/>
                </a:lnTo>
                <a:lnTo>
                  <a:pt x="12191695" y="30728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46304"/>
            <a:ext cx="11283696" cy="44805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逻辑部署架构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722376"/>
            <a:ext cx="585216" cy="41148"/>
          </a:xfrm>
          <a:prstGeom prst="rect">
            <a:avLst/>
          </a:prstGeom>
          <a:solidFill>
            <a:srgbClr val="EE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649224"/>
            <a:ext cx="10469880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2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明确服务位置与访问边界，复用既有环境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292608"/>
            <a:ext cx="896112" cy="20116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HiAgent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6647688"/>
            <a:ext cx="10241280" cy="1280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7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企业数据智能体建设规划  /  规划视图  /  2026.10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629400"/>
            <a:ext cx="585216" cy="17373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" y="1133856"/>
            <a:ext cx="11219688" cy="26517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7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部署规划视图：表达逻辑区域与访问关系，实际网络、模型位置和资源规格按现有条件细化。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" y="1732788"/>
            <a:ext cx="2103120" cy="4005072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1480" y="1700784"/>
            <a:ext cx="2103120" cy="4005072"/>
          </a:xfrm>
          <a:prstGeom prst="roundRect">
            <a:avLst>
              <a:gd name="adj" fmla="val 5500"/>
            </a:avLst>
          </a:prstGeom>
          <a:solidFill>
            <a:srgbClr val="F5FA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1819656"/>
            <a:ext cx="1773936" cy="31089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用户接入区域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6072" y="2231136"/>
            <a:ext cx="1773936" cy="0"/>
          </a:xfrm>
          <a:prstGeom prst="line">
            <a:avLst/>
          </a:prstGeom>
          <a:ln w="8890">
            <a:solidFill>
              <a:srgbClr val="D4E7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921508" y="1732788"/>
            <a:ext cx="4764024" cy="4005072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98648" y="1700784"/>
            <a:ext cx="4764024" cy="4005072"/>
          </a:xfrm>
          <a:prstGeom prst="roundRect">
            <a:avLst>
              <a:gd name="adj" fmla="val 5500"/>
            </a:avLst>
          </a:prstGeom>
          <a:solidFill>
            <a:srgbClr val="F5FA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3240" y="1819656"/>
            <a:ext cx="4434840" cy="31089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智能服务与配套区域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063240" y="2231136"/>
            <a:ext cx="4434839" cy="0"/>
          </a:xfrm>
          <a:prstGeom prst="line">
            <a:avLst/>
          </a:prstGeom>
          <a:ln w="8890">
            <a:solidFill>
              <a:srgbClr val="D4E7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069580" y="1732788"/>
            <a:ext cx="3730752" cy="4005072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0" y="1700784"/>
            <a:ext cx="3730752" cy="4005072"/>
          </a:xfrm>
          <a:prstGeom prst="roundRect">
            <a:avLst>
              <a:gd name="adj" fmla="val 5500"/>
            </a:avLst>
          </a:prstGeom>
          <a:solidFill>
            <a:srgbClr val="F5FA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2" y="1819656"/>
            <a:ext cx="3401568" cy="31089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既有数据平台区域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11312" y="2231136"/>
            <a:ext cx="3401568" cy="0"/>
          </a:xfrm>
          <a:prstGeom prst="line">
            <a:avLst/>
          </a:prstGeom>
          <a:ln w="8890">
            <a:solidFill>
              <a:srgbClr val="D4E7F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17220" y="2491740"/>
            <a:ext cx="1737360" cy="1362456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94360" y="2459736"/>
            <a:ext cx="1737360" cy="136245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0664" y="2606040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" y="2542032"/>
            <a:ext cx="1344168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业务用户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3017520"/>
            <a:ext cx="1371600" cy="7040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门户 / 平台入口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会话与身份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04388" y="2308860"/>
            <a:ext cx="1965960" cy="1408176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081528" y="2276856"/>
            <a:ext cx="1965960" cy="140817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27832" y="2423160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37560" y="2359152"/>
            <a:ext cx="1572768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HiAgent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64408" y="2834640"/>
            <a:ext cx="1600200" cy="74980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专业Agent / 会话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知识库与检索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53812" y="2308860"/>
            <a:ext cx="2148840" cy="1408176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330952" y="2276856"/>
            <a:ext cx="2148840" cy="140817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77256" y="2423160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86984" y="2359152"/>
            <a:ext cx="1755648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平台接入服务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13832" y="2834640"/>
            <a:ext cx="1783080" cy="74980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接口适配与权限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审计与结果验证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104388" y="4201668"/>
            <a:ext cx="1965960" cy="102412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081528" y="4169663"/>
            <a:ext cx="1965960" cy="1024128"/>
          </a:xfrm>
          <a:prstGeom prst="roundRect">
            <a:avLst>
              <a:gd name="adj" fmla="val 5500"/>
            </a:avLst>
          </a:prstGeom>
          <a:solidFill>
            <a:srgbClr val="EAF9FA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27832" y="4315968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37560" y="4251959"/>
            <a:ext cx="1572768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外部查询数据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64408" y="4727448"/>
            <a:ext cx="1600200" cy="36576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5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治理后的资产事实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53812" y="4201668"/>
            <a:ext cx="2148840" cy="102412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330952" y="4169663"/>
            <a:ext cx="2148840" cy="10241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77256" y="4315968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86984" y="4251959"/>
            <a:ext cx="1755648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模型服务依赖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13832" y="4727448"/>
            <a:ext cx="1783080" cy="36576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5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经批准的模型访问路径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52460" y="2308860"/>
            <a:ext cx="3364992" cy="1408176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229600" y="2276856"/>
            <a:ext cx="3364992" cy="140817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403244" y="2846618"/>
            <a:ext cx="469087" cy="8339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76213" y="2528681"/>
            <a:ext cx="317936" cy="302300"/>
          </a:xfrm>
          <a:prstGeom prst="rect">
            <a:avLst/>
          </a:prstGeom>
          <a:solidFill>
            <a:srgbClr val="168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476213" y="2789285"/>
            <a:ext cx="317936" cy="104241"/>
          </a:xfrm>
          <a:prstGeom prst="ellipse">
            <a:avLst/>
          </a:prstGeom>
          <a:solidFill>
            <a:srgbClr val="096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476213" y="2476560"/>
            <a:ext cx="317936" cy="104241"/>
          </a:xfrm>
          <a:prstGeom prst="ellipse">
            <a:avLst/>
          </a:prstGeom>
          <a:solidFill>
            <a:srgbClr val="76D8FF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476213" y="2596438"/>
            <a:ext cx="317936" cy="104241"/>
          </a:xfrm>
          <a:prstGeom prst="ellipse">
            <a:avLst/>
          </a:prstGeom>
          <a:solidFill>
            <a:srgbClr val="3AB2F8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476213" y="2716316"/>
            <a:ext cx="317936" cy="104241"/>
          </a:xfrm>
          <a:prstGeom prst="ellipse">
            <a:avLst/>
          </a:prstGeom>
          <a:solidFill>
            <a:srgbClr val="3AB2F8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507486" y="2539105"/>
            <a:ext cx="20848" cy="276240"/>
          </a:xfrm>
          <a:prstGeom prst="rect">
            <a:avLst/>
          </a:prstGeom>
          <a:solidFill>
            <a:srgbClr val="76D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06840" y="2450592"/>
            <a:ext cx="2432304" cy="3931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开发 / 资产 / 调度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39912" y="3081528"/>
            <a:ext cx="2944368" cy="53035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原平台服务与操作入口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原身份与执行控制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252460" y="4201668"/>
            <a:ext cx="3364992" cy="102412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229600" y="4169663"/>
            <a:ext cx="3364992" cy="10241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375904" y="4315968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85632" y="4251959"/>
            <a:ext cx="2971800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质量 / 血缘 / 计算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12480" y="4727448"/>
            <a:ext cx="2999232" cy="36576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依赖原平台事实与工具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2551176" y="3136392"/>
            <a:ext cx="310896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>
            <a:off x="2803605" y="3136392"/>
            <a:ext cx="58467" cy="35845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 flipV="1">
            <a:off x="2803605" y="3100546"/>
            <a:ext cx="58467" cy="3584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5084064" y="2980944"/>
            <a:ext cx="210312" cy="0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5235909" y="2980944"/>
            <a:ext cx="58467" cy="35845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 flipV="1">
            <a:off x="5235909" y="2945098"/>
            <a:ext cx="58467" cy="35846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699248" y="2980944"/>
            <a:ext cx="310896" cy="0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7951677" y="2980944"/>
            <a:ext cx="58467" cy="35845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 flipV="1">
            <a:off x="7951677" y="2945098"/>
            <a:ext cx="58467" cy="35846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069080" y="3721608"/>
            <a:ext cx="0" cy="411479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 flipV="1">
            <a:off x="4033234" y="4074621"/>
            <a:ext cx="35846" cy="58466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069080" y="4074621"/>
            <a:ext cx="35845" cy="58466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5047488" y="3456432"/>
            <a:ext cx="137160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5184648" y="3456432"/>
            <a:ext cx="0" cy="521207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5184648" y="3977639"/>
            <a:ext cx="1216152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6400800" y="3977639"/>
            <a:ext cx="0" cy="155448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H="1" flipV="1">
            <a:off x="6364954" y="4074621"/>
            <a:ext cx="35846" cy="5846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6400800" y="4074621"/>
            <a:ext cx="35845" cy="5846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9912096" y="3721608"/>
            <a:ext cx="0" cy="411479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 flipV="1">
            <a:off x="9876250" y="4074621"/>
            <a:ext cx="35846" cy="58466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9912096" y="4074621"/>
            <a:ext cx="35845" cy="58466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ounded Rectangle 87"/>
          <p:cNvSpPr/>
          <p:nvPr/>
        </p:nvSpPr>
        <p:spPr>
          <a:xfrm>
            <a:off x="461772" y="6112764"/>
            <a:ext cx="11247120" cy="33832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438912" y="6080760"/>
            <a:ext cx="11247120" cy="338328"/>
          </a:xfrm>
          <a:prstGeom prst="roundRect">
            <a:avLst>
              <a:gd name="adj" fmla="val 5500"/>
            </a:avLst>
          </a:prstGeom>
          <a:solidFill>
            <a:srgbClr val="EEF7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85216" y="6117336"/>
            <a:ext cx="10954512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跨区域访问受控；应用配置与适配按验证/生产环境隔离；模型服务的实际部署位置另行确认。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6346471"/>
            <a:ext cx="12191695" cy="235953"/>
          </a:xfrm>
          <a:custGeom>
            <a:avLst/>
            <a:gdLst/>
            <a:ahLst/>
            <a:cxnLst/>
            <a:rect l="l" t="t" r="r" b="b"/>
            <a:pathLst>
              <a:path w="12191695" h="235953">
                <a:moveTo>
                  <a:pt x="0" y="127481"/>
                </a:moveTo>
                <a:lnTo>
                  <a:pt x="135463" y="147046"/>
                </a:lnTo>
                <a:lnTo>
                  <a:pt x="270926" y="165914"/>
                </a:lnTo>
                <a:lnTo>
                  <a:pt x="406389" y="183426"/>
                </a:lnTo>
                <a:lnTo>
                  <a:pt x="541853" y="199000"/>
                </a:lnTo>
                <a:lnTo>
                  <a:pt x="677316" y="212159"/>
                </a:lnTo>
                <a:lnTo>
                  <a:pt x="812779" y="222557"/>
                </a:lnTo>
                <a:lnTo>
                  <a:pt x="948242" y="229995"/>
                </a:lnTo>
                <a:lnTo>
                  <a:pt x="1083706" y="234426"/>
                </a:lnTo>
                <a:lnTo>
                  <a:pt x="1219169" y="235953"/>
                </a:lnTo>
                <a:lnTo>
                  <a:pt x="1354632" y="234812"/>
                </a:lnTo>
                <a:lnTo>
                  <a:pt x="1490096" y="231352"/>
                </a:lnTo>
                <a:lnTo>
                  <a:pt x="1625559" y="226009"/>
                </a:lnTo>
                <a:lnTo>
                  <a:pt x="1761022" y="219267"/>
                </a:lnTo>
                <a:lnTo>
                  <a:pt x="1896485" y="211626"/>
                </a:lnTo>
                <a:lnTo>
                  <a:pt x="2031949" y="203564"/>
                </a:lnTo>
                <a:lnTo>
                  <a:pt x="2167412" y="195508"/>
                </a:lnTo>
                <a:lnTo>
                  <a:pt x="2302875" y="187800"/>
                </a:lnTo>
                <a:lnTo>
                  <a:pt x="2438339" y="180682"/>
                </a:lnTo>
                <a:lnTo>
                  <a:pt x="2573802" y="174280"/>
                </a:lnTo>
                <a:lnTo>
                  <a:pt x="2709265" y="168601"/>
                </a:lnTo>
                <a:lnTo>
                  <a:pt x="2844728" y="163541"/>
                </a:lnTo>
                <a:lnTo>
                  <a:pt x="2980192" y="158900"/>
                </a:lnTo>
                <a:lnTo>
                  <a:pt x="3115655" y="154402"/>
                </a:lnTo>
                <a:lnTo>
                  <a:pt x="3251118" y="149724"/>
                </a:lnTo>
                <a:lnTo>
                  <a:pt x="3386582" y="144534"/>
                </a:lnTo>
                <a:lnTo>
                  <a:pt x="3522045" y="138515"/>
                </a:lnTo>
                <a:lnTo>
                  <a:pt x="3657508" y="131408"/>
                </a:lnTo>
                <a:lnTo>
                  <a:pt x="3792971" y="123031"/>
                </a:lnTo>
                <a:lnTo>
                  <a:pt x="3928435" y="113309"/>
                </a:lnTo>
                <a:lnTo>
                  <a:pt x="4063898" y="102287"/>
                </a:lnTo>
                <a:lnTo>
                  <a:pt x="4199361" y="90138"/>
                </a:lnTo>
                <a:lnTo>
                  <a:pt x="4334824" y="77155"/>
                </a:lnTo>
                <a:lnTo>
                  <a:pt x="4470288" y="63745"/>
                </a:lnTo>
                <a:lnTo>
                  <a:pt x="4605751" y="50406"/>
                </a:lnTo>
                <a:lnTo>
                  <a:pt x="4741214" y="37696"/>
                </a:lnTo>
                <a:lnTo>
                  <a:pt x="4876678" y="26202"/>
                </a:lnTo>
                <a:lnTo>
                  <a:pt x="5012141" y="16503"/>
                </a:lnTo>
                <a:lnTo>
                  <a:pt x="5147604" y="9131"/>
                </a:lnTo>
                <a:lnTo>
                  <a:pt x="5283067" y="4538"/>
                </a:lnTo>
                <a:lnTo>
                  <a:pt x="5418531" y="3064"/>
                </a:lnTo>
                <a:lnTo>
                  <a:pt x="5553994" y="4912"/>
                </a:lnTo>
                <a:lnTo>
                  <a:pt x="5689457" y="10132"/>
                </a:lnTo>
                <a:lnTo>
                  <a:pt x="5824921" y="18617"/>
                </a:lnTo>
                <a:lnTo>
                  <a:pt x="5960384" y="30106"/>
                </a:lnTo>
                <a:lnTo>
                  <a:pt x="6095847" y="44193"/>
                </a:lnTo>
                <a:lnTo>
                  <a:pt x="6231310" y="60357"/>
                </a:lnTo>
                <a:lnTo>
                  <a:pt x="6366774" y="77984"/>
                </a:lnTo>
                <a:lnTo>
                  <a:pt x="6502237" y="96410"/>
                </a:lnTo>
                <a:lnTo>
                  <a:pt x="6637700" y="114953"/>
                </a:lnTo>
                <a:lnTo>
                  <a:pt x="6773164" y="132954"/>
                </a:lnTo>
                <a:lnTo>
                  <a:pt x="6908627" y="149814"/>
                </a:lnTo>
                <a:lnTo>
                  <a:pt x="7044090" y="165027"/>
                </a:lnTo>
                <a:lnTo>
                  <a:pt x="7179553" y="178204"/>
                </a:lnTo>
                <a:lnTo>
                  <a:pt x="7315017" y="189090"/>
                </a:lnTo>
                <a:lnTo>
                  <a:pt x="7450480" y="197574"/>
                </a:lnTo>
                <a:lnTo>
                  <a:pt x="7585943" y="203682"/>
                </a:lnTo>
                <a:lnTo>
                  <a:pt x="7721406" y="207573"/>
                </a:lnTo>
                <a:lnTo>
                  <a:pt x="7856870" y="209512"/>
                </a:lnTo>
                <a:lnTo>
                  <a:pt x="7992333" y="209848"/>
                </a:lnTo>
                <a:lnTo>
                  <a:pt x="8127796" y="208978"/>
                </a:lnTo>
                <a:lnTo>
                  <a:pt x="8263260" y="207316"/>
                </a:lnTo>
                <a:lnTo>
                  <a:pt x="8398723" y="205256"/>
                </a:lnTo>
                <a:lnTo>
                  <a:pt x="8534186" y="203141"/>
                </a:lnTo>
                <a:lnTo>
                  <a:pt x="8669649" y="201238"/>
                </a:lnTo>
                <a:lnTo>
                  <a:pt x="8805113" y="199711"/>
                </a:lnTo>
                <a:lnTo>
                  <a:pt x="8940576" y="198616"/>
                </a:lnTo>
                <a:lnTo>
                  <a:pt x="9076039" y="197894"/>
                </a:lnTo>
                <a:lnTo>
                  <a:pt x="9211503" y="197378"/>
                </a:lnTo>
                <a:lnTo>
                  <a:pt x="9346966" y="196808"/>
                </a:lnTo>
                <a:lnTo>
                  <a:pt x="9482429" y="195855"/>
                </a:lnTo>
                <a:lnTo>
                  <a:pt x="9617892" y="194147"/>
                </a:lnTo>
                <a:lnTo>
                  <a:pt x="9753356" y="191305"/>
                </a:lnTo>
                <a:lnTo>
                  <a:pt x="9888819" y="186977"/>
                </a:lnTo>
                <a:lnTo>
                  <a:pt x="10024282" y="180869"/>
                </a:lnTo>
                <a:lnTo>
                  <a:pt x="10159746" y="172776"/>
                </a:lnTo>
                <a:lnTo>
                  <a:pt x="10295209" y="162608"/>
                </a:lnTo>
                <a:lnTo>
                  <a:pt x="10430672" y="150402"/>
                </a:lnTo>
                <a:lnTo>
                  <a:pt x="10566135" y="136335"/>
                </a:lnTo>
                <a:lnTo>
                  <a:pt x="10701599" y="120717"/>
                </a:lnTo>
                <a:lnTo>
                  <a:pt x="10837062" y="103984"/>
                </a:lnTo>
                <a:lnTo>
                  <a:pt x="10972525" y="86673"/>
                </a:lnTo>
                <a:lnTo>
                  <a:pt x="11107988" y="69396"/>
                </a:lnTo>
                <a:lnTo>
                  <a:pt x="11243452" y="52806"/>
                </a:lnTo>
                <a:lnTo>
                  <a:pt x="11378915" y="37558"/>
                </a:lnTo>
                <a:lnTo>
                  <a:pt x="11514378" y="24274"/>
                </a:lnTo>
                <a:lnTo>
                  <a:pt x="11649842" y="13501"/>
                </a:lnTo>
                <a:lnTo>
                  <a:pt x="11785305" y="5683"/>
                </a:lnTo>
                <a:lnTo>
                  <a:pt x="11920768" y="1129"/>
                </a:lnTo>
                <a:lnTo>
                  <a:pt x="12056231" y="0"/>
                </a:lnTo>
                <a:lnTo>
                  <a:pt x="12191695" y="2300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6405649"/>
            <a:ext cx="12191695" cy="245182"/>
          </a:xfrm>
          <a:custGeom>
            <a:avLst/>
            <a:gdLst/>
            <a:ahLst/>
            <a:cxnLst/>
            <a:rect l="l" t="t" r="r" b="b"/>
            <a:pathLst>
              <a:path w="12191695" h="245182">
                <a:moveTo>
                  <a:pt x="0" y="150669"/>
                </a:moveTo>
                <a:lnTo>
                  <a:pt x="135463" y="169737"/>
                </a:lnTo>
                <a:lnTo>
                  <a:pt x="270926" y="187768"/>
                </a:lnTo>
                <a:lnTo>
                  <a:pt x="406389" y="204118"/>
                </a:lnTo>
                <a:lnTo>
                  <a:pt x="541853" y="218220"/>
                </a:lnTo>
                <a:lnTo>
                  <a:pt x="677316" y="229621"/>
                </a:lnTo>
                <a:lnTo>
                  <a:pt x="812779" y="238002"/>
                </a:lnTo>
                <a:lnTo>
                  <a:pt x="948242" y="243193"/>
                </a:lnTo>
                <a:lnTo>
                  <a:pt x="1083706" y="245182"/>
                </a:lnTo>
                <a:lnTo>
                  <a:pt x="1219169" y="244108"/>
                </a:lnTo>
                <a:lnTo>
                  <a:pt x="1354632" y="240247"/>
                </a:lnTo>
                <a:lnTo>
                  <a:pt x="1490096" y="233989"/>
                </a:lnTo>
                <a:lnTo>
                  <a:pt x="1625559" y="225812"/>
                </a:lnTo>
                <a:lnTo>
                  <a:pt x="1761022" y="216243"/>
                </a:lnTo>
                <a:lnTo>
                  <a:pt x="1896485" y="205824"/>
                </a:lnTo>
                <a:lnTo>
                  <a:pt x="2031949" y="195076"/>
                </a:lnTo>
                <a:lnTo>
                  <a:pt x="2167412" y="184466"/>
                </a:lnTo>
                <a:lnTo>
                  <a:pt x="2302875" y="174375"/>
                </a:lnTo>
                <a:lnTo>
                  <a:pt x="2438339" y="165080"/>
                </a:lnTo>
                <a:lnTo>
                  <a:pt x="2573802" y="156740"/>
                </a:lnTo>
                <a:lnTo>
                  <a:pt x="2709265" y="149392"/>
                </a:lnTo>
                <a:lnTo>
                  <a:pt x="2844728" y="142958"/>
                </a:lnTo>
                <a:lnTo>
                  <a:pt x="2980192" y="137257"/>
                </a:lnTo>
                <a:lnTo>
                  <a:pt x="3115655" y="132030"/>
                </a:lnTo>
                <a:lnTo>
                  <a:pt x="3251118" y="126965"/>
                </a:lnTo>
                <a:lnTo>
                  <a:pt x="3386582" y="121734"/>
                </a:lnTo>
                <a:lnTo>
                  <a:pt x="3522045" y="116024"/>
                </a:lnTo>
                <a:lnTo>
                  <a:pt x="3657508" y="109568"/>
                </a:lnTo>
                <a:lnTo>
                  <a:pt x="3792971" y="102177"/>
                </a:lnTo>
                <a:lnTo>
                  <a:pt x="3928435" y="93759"/>
                </a:lnTo>
                <a:lnTo>
                  <a:pt x="4063898" y="84341"/>
                </a:lnTo>
                <a:lnTo>
                  <a:pt x="4199361" y="74069"/>
                </a:lnTo>
                <a:lnTo>
                  <a:pt x="4334824" y="63211"/>
                </a:lnTo>
                <a:lnTo>
                  <a:pt x="4470288" y="52141"/>
                </a:lnTo>
                <a:lnTo>
                  <a:pt x="4605751" y="41320"/>
                </a:lnTo>
                <a:lnTo>
                  <a:pt x="4741214" y="31269"/>
                </a:lnTo>
                <a:lnTo>
                  <a:pt x="4876678" y="22536"/>
                </a:lnTo>
                <a:lnTo>
                  <a:pt x="5012141" y="15656"/>
                </a:lnTo>
                <a:lnTo>
                  <a:pt x="5147604" y="11120"/>
                </a:lnTo>
                <a:lnTo>
                  <a:pt x="5283067" y="9338"/>
                </a:lnTo>
                <a:lnTo>
                  <a:pt x="5418531" y="10605"/>
                </a:lnTo>
                <a:lnTo>
                  <a:pt x="5553994" y="15085"/>
                </a:lnTo>
                <a:lnTo>
                  <a:pt x="5689457" y="22787"/>
                </a:lnTo>
                <a:lnTo>
                  <a:pt x="5824921" y="33567"/>
                </a:lnTo>
                <a:lnTo>
                  <a:pt x="5960384" y="47128"/>
                </a:lnTo>
                <a:lnTo>
                  <a:pt x="6095847" y="63035"/>
                </a:lnTo>
                <a:lnTo>
                  <a:pt x="6231310" y="80738"/>
                </a:lnTo>
                <a:lnTo>
                  <a:pt x="6366774" y="99601"/>
                </a:lnTo>
                <a:lnTo>
                  <a:pt x="6502237" y="118939"/>
                </a:lnTo>
                <a:lnTo>
                  <a:pt x="6637700" y="138058"/>
                </a:lnTo>
                <a:lnTo>
                  <a:pt x="6773164" y="156290"/>
                </a:lnTo>
                <a:lnTo>
                  <a:pt x="6908627" y="173034"/>
                </a:lnTo>
                <a:lnTo>
                  <a:pt x="7044090" y="187783"/>
                </a:lnTo>
                <a:lnTo>
                  <a:pt x="7179553" y="200156"/>
                </a:lnTo>
                <a:lnTo>
                  <a:pt x="7315017" y="209912"/>
                </a:lnTo>
                <a:lnTo>
                  <a:pt x="7450480" y="216953"/>
                </a:lnTo>
                <a:lnTo>
                  <a:pt x="7585943" y="221331"/>
                </a:lnTo>
                <a:lnTo>
                  <a:pt x="7721406" y="223229"/>
                </a:lnTo>
                <a:lnTo>
                  <a:pt x="7856870" y="222943"/>
                </a:lnTo>
                <a:lnTo>
                  <a:pt x="7992333" y="220854"/>
                </a:lnTo>
                <a:lnTo>
                  <a:pt x="8127796" y="217398"/>
                </a:lnTo>
                <a:lnTo>
                  <a:pt x="8263260" y="213025"/>
                </a:lnTo>
                <a:lnTo>
                  <a:pt x="8398723" y="208173"/>
                </a:lnTo>
                <a:lnTo>
                  <a:pt x="8534186" y="203226"/>
                </a:lnTo>
                <a:lnTo>
                  <a:pt x="8669649" y="198493"/>
                </a:lnTo>
                <a:lnTo>
                  <a:pt x="8805113" y="194182"/>
                </a:lnTo>
                <a:lnTo>
                  <a:pt x="8940576" y="190390"/>
                </a:lnTo>
                <a:lnTo>
                  <a:pt x="9076039" y="187099"/>
                </a:lnTo>
                <a:lnTo>
                  <a:pt x="9211503" y="184181"/>
                </a:lnTo>
                <a:lnTo>
                  <a:pt x="9346966" y="181412"/>
                </a:lnTo>
                <a:lnTo>
                  <a:pt x="9482429" y="178496"/>
                </a:lnTo>
                <a:lnTo>
                  <a:pt x="9617892" y="175092"/>
                </a:lnTo>
                <a:lnTo>
                  <a:pt x="9753356" y="170845"/>
                </a:lnTo>
                <a:lnTo>
                  <a:pt x="9888819" y="165425"/>
                </a:lnTo>
                <a:lnTo>
                  <a:pt x="10024282" y="158555"/>
                </a:lnTo>
                <a:lnTo>
                  <a:pt x="10159746" y="150040"/>
                </a:lnTo>
                <a:lnTo>
                  <a:pt x="10295209" y="139797"/>
                </a:lnTo>
                <a:lnTo>
                  <a:pt x="10430672" y="127865"/>
                </a:lnTo>
                <a:lnTo>
                  <a:pt x="10566135" y="114415"/>
                </a:lnTo>
                <a:lnTo>
                  <a:pt x="10701599" y="99751"/>
                </a:lnTo>
                <a:lnTo>
                  <a:pt x="10837062" y="84291"/>
                </a:lnTo>
                <a:lnTo>
                  <a:pt x="10972525" y="68554"/>
                </a:lnTo>
                <a:lnTo>
                  <a:pt x="11107988" y="53129"/>
                </a:lnTo>
                <a:lnTo>
                  <a:pt x="11243452" y="38641"/>
                </a:lnTo>
                <a:lnTo>
                  <a:pt x="11378915" y="25713"/>
                </a:lnTo>
                <a:lnTo>
                  <a:pt x="11514378" y="14931"/>
                </a:lnTo>
                <a:lnTo>
                  <a:pt x="11649842" y="6805"/>
                </a:lnTo>
                <a:lnTo>
                  <a:pt x="11785305" y="1738"/>
                </a:lnTo>
                <a:lnTo>
                  <a:pt x="11920768" y="0"/>
                </a:lnTo>
                <a:lnTo>
                  <a:pt x="12056231" y="1708"/>
                </a:lnTo>
                <a:lnTo>
                  <a:pt x="12191695" y="6822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6467906"/>
            <a:ext cx="12191695" cy="248613"/>
          </a:xfrm>
          <a:custGeom>
            <a:avLst/>
            <a:gdLst/>
            <a:ahLst/>
            <a:cxnLst/>
            <a:rect l="l" t="t" r="r" b="b"/>
            <a:pathLst>
              <a:path w="12191695" h="248613">
                <a:moveTo>
                  <a:pt x="0" y="169572"/>
                </a:moveTo>
                <a:lnTo>
                  <a:pt x="135463" y="187517"/>
                </a:lnTo>
                <a:lnTo>
                  <a:pt x="270926" y="204116"/>
                </a:lnTo>
                <a:lnTo>
                  <a:pt x="406389" y="218744"/>
                </a:lnTo>
                <a:lnTo>
                  <a:pt x="541853" y="230861"/>
                </a:lnTo>
                <a:lnTo>
                  <a:pt x="677316" y="240043"/>
                </a:lnTo>
                <a:lnTo>
                  <a:pt x="812779" y="246004"/>
                </a:lnTo>
                <a:lnTo>
                  <a:pt x="948242" y="248613"/>
                </a:lnTo>
                <a:lnTo>
                  <a:pt x="1083706" y="247896"/>
                </a:lnTo>
                <a:lnTo>
                  <a:pt x="1219169" y="244031"/>
                </a:lnTo>
                <a:lnTo>
                  <a:pt x="1354632" y="237338"/>
                </a:lnTo>
                <a:lnTo>
                  <a:pt x="1490096" y="228250"/>
                </a:lnTo>
                <a:lnTo>
                  <a:pt x="1625559" y="217286"/>
                </a:lnTo>
                <a:lnTo>
                  <a:pt x="1761022" y="205017"/>
                </a:lnTo>
                <a:lnTo>
                  <a:pt x="1896485" y="192024"/>
                </a:lnTo>
                <a:lnTo>
                  <a:pt x="2031949" y="178869"/>
                </a:lnTo>
                <a:lnTo>
                  <a:pt x="2167412" y="166053"/>
                </a:lnTo>
                <a:lnTo>
                  <a:pt x="2302875" y="153992"/>
                </a:lnTo>
                <a:lnTo>
                  <a:pt x="2438339" y="142992"/>
                </a:lnTo>
                <a:lnTo>
                  <a:pt x="2573802" y="133239"/>
                </a:lnTo>
                <a:lnTo>
                  <a:pt x="2709265" y="124790"/>
                </a:lnTo>
                <a:lnTo>
                  <a:pt x="2844728" y="117583"/>
                </a:lnTo>
                <a:lnTo>
                  <a:pt x="2980192" y="111449"/>
                </a:lnTo>
                <a:lnTo>
                  <a:pt x="3115655" y="106137"/>
                </a:lnTo>
                <a:lnTo>
                  <a:pt x="3251118" y="101335"/>
                </a:lnTo>
                <a:lnTo>
                  <a:pt x="3386582" y="96713"/>
                </a:lnTo>
                <a:lnTo>
                  <a:pt x="3522045" y="91945"/>
                </a:lnTo>
                <a:lnTo>
                  <a:pt x="3657508" y="86753"/>
                </a:lnTo>
                <a:lnTo>
                  <a:pt x="3792971" y="80928"/>
                </a:lnTo>
                <a:lnTo>
                  <a:pt x="3928435" y="74354"/>
                </a:lnTo>
                <a:lnTo>
                  <a:pt x="4063898" y="67031"/>
                </a:lnTo>
                <a:lnTo>
                  <a:pt x="4199361" y="59072"/>
                </a:lnTo>
                <a:lnTo>
                  <a:pt x="4334824" y="50711"/>
                </a:lnTo>
                <a:lnTo>
                  <a:pt x="4470288" y="42285"/>
                </a:lnTo>
                <a:lnTo>
                  <a:pt x="4605751" y="34213"/>
                </a:lnTo>
                <a:lnTo>
                  <a:pt x="4741214" y="26977"/>
                </a:lnTo>
                <a:lnTo>
                  <a:pt x="4876678" y="21080"/>
                </a:lnTo>
                <a:lnTo>
                  <a:pt x="5012141" y="17016"/>
                </a:lnTo>
                <a:lnTo>
                  <a:pt x="5147604" y="15233"/>
                </a:lnTo>
                <a:lnTo>
                  <a:pt x="5283067" y="16099"/>
                </a:lnTo>
                <a:lnTo>
                  <a:pt x="5418531" y="19870"/>
                </a:lnTo>
                <a:lnTo>
                  <a:pt x="5553994" y="26670"/>
                </a:lnTo>
                <a:lnTo>
                  <a:pt x="5689457" y="36475"/>
                </a:lnTo>
                <a:lnTo>
                  <a:pt x="5824921" y="49109"/>
                </a:lnTo>
                <a:lnTo>
                  <a:pt x="5960384" y="64247"/>
                </a:lnTo>
                <a:lnTo>
                  <a:pt x="6095847" y="81430"/>
                </a:lnTo>
                <a:lnTo>
                  <a:pt x="6231310" y="100088"/>
                </a:lnTo>
                <a:lnTo>
                  <a:pt x="6366774" y="119571"/>
                </a:lnTo>
                <a:lnTo>
                  <a:pt x="6502237" y="139187"/>
                </a:lnTo>
                <a:lnTo>
                  <a:pt x="6637700" y="158234"/>
                </a:lnTo>
                <a:lnTo>
                  <a:pt x="6773164" y="176047"/>
                </a:lnTo>
                <a:lnTo>
                  <a:pt x="6908627" y="192030"/>
                </a:lnTo>
                <a:lnTo>
                  <a:pt x="7044090" y="205690"/>
                </a:lnTo>
                <a:lnTo>
                  <a:pt x="7179553" y="216660"/>
                </a:lnTo>
                <a:lnTo>
                  <a:pt x="7315017" y="224721"/>
                </a:lnTo>
                <a:lnTo>
                  <a:pt x="7450480" y="229802"/>
                </a:lnTo>
                <a:lnTo>
                  <a:pt x="7585943" y="231983"/>
                </a:lnTo>
                <a:lnTo>
                  <a:pt x="7721406" y="231480"/>
                </a:lnTo>
                <a:lnTo>
                  <a:pt x="7856870" y="228626"/>
                </a:lnTo>
                <a:lnTo>
                  <a:pt x="7992333" y="223841"/>
                </a:lnTo>
                <a:lnTo>
                  <a:pt x="8127796" y="217601"/>
                </a:lnTo>
                <a:lnTo>
                  <a:pt x="8263260" y="210399"/>
                </a:lnTo>
                <a:lnTo>
                  <a:pt x="8398723" y="202714"/>
                </a:lnTo>
                <a:lnTo>
                  <a:pt x="8534186" y="194975"/>
                </a:lnTo>
                <a:lnTo>
                  <a:pt x="8669649" y="187531"/>
                </a:lnTo>
                <a:lnTo>
                  <a:pt x="8805113" y="180631"/>
                </a:lnTo>
                <a:lnTo>
                  <a:pt x="8940576" y="174414"/>
                </a:lnTo>
                <a:lnTo>
                  <a:pt x="9076039" y="168896"/>
                </a:lnTo>
                <a:lnTo>
                  <a:pt x="9211503" y="163983"/>
                </a:lnTo>
                <a:lnTo>
                  <a:pt x="9346966" y="159481"/>
                </a:lnTo>
                <a:lnTo>
                  <a:pt x="9482429" y="155122"/>
                </a:lnTo>
                <a:lnTo>
                  <a:pt x="9617892" y="150584"/>
                </a:lnTo>
                <a:lnTo>
                  <a:pt x="9753356" y="145531"/>
                </a:lnTo>
                <a:lnTo>
                  <a:pt x="9888819" y="139645"/>
                </a:lnTo>
                <a:lnTo>
                  <a:pt x="10024282" y="132654"/>
                </a:lnTo>
                <a:lnTo>
                  <a:pt x="10159746" y="124369"/>
                </a:lnTo>
                <a:lnTo>
                  <a:pt x="10295209" y="114699"/>
                </a:lnTo>
                <a:lnTo>
                  <a:pt x="10430672" y="103677"/>
                </a:lnTo>
                <a:lnTo>
                  <a:pt x="10566135" y="91461"/>
                </a:lnTo>
                <a:lnTo>
                  <a:pt x="10701599" y="78333"/>
                </a:lnTo>
                <a:lnTo>
                  <a:pt x="10837062" y="64691"/>
                </a:lnTo>
                <a:lnTo>
                  <a:pt x="10972525" y="51025"/>
                </a:lnTo>
                <a:lnTo>
                  <a:pt x="11107988" y="37893"/>
                </a:lnTo>
                <a:lnTo>
                  <a:pt x="11243452" y="25885"/>
                </a:lnTo>
                <a:lnTo>
                  <a:pt x="11378915" y="15588"/>
                </a:lnTo>
                <a:lnTo>
                  <a:pt x="11514378" y="7547"/>
                </a:lnTo>
                <a:lnTo>
                  <a:pt x="11649842" y="2231"/>
                </a:lnTo>
                <a:lnTo>
                  <a:pt x="11785305" y="0"/>
                </a:lnTo>
                <a:lnTo>
                  <a:pt x="11920768" y="1082"/>
                </a:lnTo>
                <a:lnTo>
                  <a:pt x="12056231" y="5551"/>
                </a:lnTo>
                <a:lnTo>
                  <a:pt x="12191695" y="13326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0" y="6533113"/>
            <a:ext cx="12191695" cy="246124"/>
          </a:xfrm>
          <a:custGeom>
            <a:avLst/>
            <a:gdLst/>
            <a:ahLst/>
            <a:cxnLst/>
            <a:rect l="l" t="t" r="r" b="b"/>
            <a:pathLst>
              <a:path w="12191695" h="246124">
                <a:moveTo>
                  <a:pt x="0" y="183172"/>
                </a:moveTo>
                <a:lnTo>
                  <a:pt x="135463" y="199432"/>
                </a:lnTo>
                <a:lnTo>
                  <a:pt x="270926" y="214077"/>
                </a:lnTo>
                <a:lnTo>
                  <a:pt x="406389" y="226514"/>
                </a:lnTo>
                <a:lnTo>
                  <a:pt x="541853" y="236236"/>
                </a:lnTo>
                <a:lnTo>
                  <a:pt x="677316" y="242855"/>
                </a:lnTo>
                <a:lnTo>
                  <a:pt x="812779" y="246124"/>
                </a:lnTo>
                <a:lnTo>
                  <a:pt x="948242" y="245951"/>
                </a:lnTo>
                <a:lnTo>
                  <a:pt x="1083706" y="242404"/>
                </a:lnTo>
                <a:lnTo>
                  <a:pt x="1219169" y="235707"/>
                </a:lnTo>
                <a:lnTo>
                  <a:pt x="1354632" y="226219"/>
                </a:lnTo>
                <a:lnTo>
                  <a:pt x="1490096" y="214417"/>
                </a:lnTo>
                <a:lnTo>
                  <a:pt x="1625559" y="200862"/>
                </a:lnTo>
                <a:lnTo>
                  <a:pt x="1761022" y="186161"/>
                </a:lnTo>
                <a:lnTo>
                  <a:pt x="1896485" y="170935"/>
                </a:lnTo>
                <a:lnTo>
                  <a:pt x="2031949" y="155777"/>
                </a:lnTo>
                <a:lnTo>
                  <a:pt x="2167412" y="141221"/>
                </a:lnTo>
                <a:lnTo>
                  <a:pt x="2302875" y="127707"/>
                </a:lnTo>
                <a:lnTo>
                  <a:pt x="2438339" y="115564"/>
                </a:lnTo>
                <a:lnTo>
                  <a:pt x="2573802" y="104994"/>
                </a:lnTo>
                <a:lnTo>
                  <a:pt x="2709265" y="96068"/>
                </a:lnTo>
                <a:lnTo>
                  <a:pt x="2844728" y="88731"/>
                </a:lnTo>
                <a:lnTo>
                  <a:pt x="2980192" y="82816"/>
                </a:lnTo>
                <a:lnTo>
                  <a:pt x="3115655" y="78067"/>
                </a:lnTo>
                <a:lnTo>
                  <a:pt x="3251118" y="74166"/>
                </a:lnTo>
                <a:lnTo>
                  <a:pt x="3386582" y="70766"/>
                </a:lnTo>
                <a:lnTo>
                  <a:pt x="3522045" y="67527"/>
                </a:lnTo>
                <a:lnTo>
                  <a:pt x="3657508" y="64145"/>
                </a:lnTo>
                <a:lnTo>
                  <a:pt x="3792971" y="60383"/>
                </a:lnTo>
                <a:lnTo>
                  <a:pt x="3928435" y="56096"/>
                </a:lnTo>
                <a:lnTo>
                  <a:pt x="4063898" y="51248"/>
                </a:lnTo>
                <a:lnTo>
                  <a:pt x="4199361" y="45917"/>
                </a:lnTo>
                <a:lnTo>
                  <a:pt x="4334824" y="40294"/>
                </a:lnTo>
                <a:lnTo>
                  <a:pt x="4470288" y="34675"/>
                </a:lnTo>
                <a:lnTo>
                  <a:pt x="4605751" y="29440"/>
                </a:lnTo>
                <a:lnTo>
                  <a:pt x="4741214" y="25025"/>
                </a:lnTo>
                <a:lnTo>
                  <a:pt x="4876678" y="21891"/>
                </a:lnTo>
                <a:lnTo>
                  <a:pt x="5012141" y="20491"/>
                </a:lnTo>
                <a:lnTo>
                  <a:pt x="5147604" y="21233"/>
                </a:lnTo>
                <a:lnTo>
                  <a:pt x="5283067" y="24445"/>
                </a:lnTo>
                <a:lnTo>
                  <a:pt x="5418531" y="30349"/>
                </a:lnTo>
                <a:lnTo>
                  <a:pt x="5553994" y="39037"/>
                </a:lnTo>
                <a:lnTo>
                  <a:pt x="5689457" y="50457"/>
                </a:lnTo>
                <a:lnTo>
                  <a:pt x="5824921" y="64407"/>
                </a:lnTo>
                <a:lnTo>
                  <a:pt x="5960384" y="80543"/>
                </a:lnTo>
                <a:lnTo>
                  <a:pt x="6095847" y="98390"/>
                </a:lnTo>
                <a:lnTo>
                  <a:pt x="6231310" y="117369"/>
                </a:lnTo>
                <a:lnTo>
                  <a:pt x="6366774" y="136826"/>
                </a:lnTo>
                <a:lnTo>
                  <a:pt x="6502237" y="156066"/>
                </a:lnTo>
                <a:lnTo>
                  <a:pt x="6637700" y="174397"/>
                </a:lnTo>
                <a:lnTo>
                  <a:pt x="6773164" y="191162"/>
                </a:lnTo>
                <a:lnTo>
                  <a:pt x="6908627" y="205782"/>
                </a:lnTo>
                <a:lnTo>
                  <a:pt x="7044090" y="217784"/>
                </a:lnTo>
                <a:lnTo>
                  <a:pt x="7179553" y="226827"/>
                </a:lnTo>
                <a:lnTo>
                  <a:pt x="7315017" y="232720"/>
                </a:lnTo>
                <a:lnTo>
                  <a:pt x="7450480" y="235424"/>
                </a:lnTo>
                <a:lnTo>
                  <a:pt x="7585943" y="235057"/>
                </a:lnTo>
                <a:lnTo>
                  <a:pt x="7721406" y="231872"/>
                </a:lnTo>
                <a:lnTo>
                  <a:pt x="7856870" y="226244"/>
                </a:lnTo>
                <a:lnTo>
                  <a:pt x="7992333" y="218632"/>
                </a:lnTo>
                <a:lnTo>
                  <a:pt x="8127796" y="209557"/>
                </a:lnTo>
                <a:lnTo>
                  <a:pt x="8263260" y="199555"/>
                </a:lnTo>
                <a:lnTo>
                  <a:pt x="8398723" y="189147"/>
                </a:lnTo>
                <a:lnTo>
                  <a:pt x="8534186" y="178801"/>
                </a:lnTo>
                <a:lnTo>
                  <a:pt x="8669649" y="168908"/>
                </a:lnTo>
                <a:lnTo>
                  <a:pt x="8805113" y="159754"/>
                </a:lnTo>
                <a:lnTo>
                  <a:pt x="8940576" y="151510"/>
                </a:lnTo>
                <a:lnTo>
                  <a:pt x="9076039" y="144224"/>
                </a:lnTo>
                <a:lnTo>
                  <a:pt x="9211503" y="137828"/>
                </a:lnTo>
                <a:lnTo>
                  <a:pt x="9346966" y="132152"/>
                </a:lnTo>
                <a:lnTo>
                  <a:pt x="9482429" y="126943"/>
                </a:lnTo>
                <a:lnTo>
                  <a:pt x="9617892" y="121894"/>
                </a:lnTo>
                <a:lnTo>
                  <a:pt x="9753356" y="116677"/>
                </a:lnTo>
                <a:lnTo>
                  <a:pt x="9888819" y="110975"/>
                </a:lnTo>
                <a:lnTo>
                  <a:pt x="10024282" y="104513"/>
                </a:lnTo>
                <a:lnTo>
                  <a:pt x="10159746" y="97095"/>
                </a:lnTo>
                <a:lnTo>
                  <a:pt x="10295209" y="88617"/>
                </a:lnTo>
                <a:lnTo>
                  <a:pt x="10430672" y="79094"/>
                </a:lnTo>
                <a:lnTo>
                  <a:pt x="10566135" y="68661"/>
                </a:lnTo>
                <a:lnTo>
                  <a:pt x="10701599" y="57573"/>
                </a:lnTo>
                <a:lnTo>
                  <a:pt x="10837062" y="46197"/>
                </a:lnTo>
                <a:lnTo>
                  <a:pt x="10972525" y="34990"/>
                </a:lnTo>
                <a:lnTo>
                  <a:pt x="11107988" y="24471"/>
                </a:lnTo>
                <a:lnTo>
                  <a:pt x="11243452" y="15192"/>
                </a:lnTo>
                <a:lnTo>
                  <a:pt x="11378915" y="7698"/>
                </a:lnTo>
                <a:lnTo>
                  <a:pt x="11514378" y="2492"/>
                </a:lnTo>
                <a:lnTo>
                  <a:pt x="11649842" y="0"/>
                </a:lnTo>
                <a:lnTo>
                  <a:pt x="11785305" y="541"/>
                </a:lnTo>
                <a:lnTo>
                  <a:pt x="11920768" y="4298"/>
                </a:lnTo>
                <a:lnTo>
                  <a:pt x="12056231" y="11307"/>
                </a:lnTo>
                <a:lnTo>
                  <a:pt x="12191695" y="21447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0" y="6600998"/>
            <a:ext cx="12191695" cy="238322"/>
          </a:xfrm>
          <a:custGeom>
            <a:avLst/>
            <a:gdLst/>
            <a:ahLst/>
            <a:cxnLst/>
            <a:rect l="l" t="t" r="r" b="b"/>
            <a:pathLst>
              <a:path w="12191695" h="238322">
                <a:moveTo>
                  <a:pt x="0" y="190722"/>
                </a:moveTo>
                <a:lnTo>
                  <a:pt x="135463" y="204821"/>
                </a:lnTo>
                <a:lnTo>
                  <a:pt x="270926" y="217096"/>
                </a:lnTo>
                <a:lnTo>
                  <a:pt x="406389" y="226989"/>
                </a:lnTo>
                <a:lnTo>
                  <a:pt x="541853" y="234032"/>
                </a:lnTo>
                <a:lnTo>
                  <a:pt x="677316" y="237878"/>
                </a:lnTo>
                <a:lnTo>
                  <a:pt x="812779" y="238322"/>
                </a:lnTo>
                <a:lnTo>
                  <a:pt x="948242" y="235314"/>
                </a:lnTo>
                <a:lnTo>
                  <a:pt x="1083706" y="228966"/>
                </a:lnTo>
                <a:lnTo>
                  <a:pt x="1219169" y="219541"/>
                </a:lnTo>
                <a:lnTo>
                  <a:pt x="1354632" y="207444"/>
                </a:lnTo>
                <a:lnTo>
                  <a:pt x="1490096" y="193188"/>
                </a:lnTo>
                <a:lnTo>
                  <a:pt x="1625559" y="177371"/>
                </a:lnTo>
                <a:lnTo>
                  <a:pt x="1761022" y="160636"/>
                </a:lnTo>
                <a:lnTo>
                  <a:pt x="1896485" y="143634"/>
                </a:lnTo>
                <a:lnTo>
                  <a:pt x="2031949" y="126985"/>
                </a:lnTo>
                <a:lnTo>
                  <a:pt x="2167412" y="111244"/>
                </a:lnTo>
                <a:lnTo>
                  <a:pt x="2302875" y="96871"/>
                </a:lnTo>
                <a:lnTo>
                  <a:pt x="2438339" y="84207"/>
                </a:lnTo>
                <a:lnTo>
                  <a:pt x="2573802" y="73462"/>
                </a:lnTo>
                <a:lnTo>
                  <a:pt x="2709265" y="64709"/>
                </a:lnTo>
                <a:lnTo>
                  <a:pt x="2844728" y="57891"/>
                </a:lnTo>
                <a:lnTo>
                  <a:pt x="2980192" y="52834"/>
                </a:lnTo>
                <a:lnTo>
                  <a:pt x="3115655" y="49267"/>
                </a:lnTo>
                <a:lnTo>
                  <a:pt x="3251118" y="46856"/>
                </a:lnTo>
                <a:lnTo>
                  <a:pt x="3386582" y="45231"/>
                </a:lnTo>
                <a:lnTo>
                  <a:pt x="3522045" y="44024"/>
                </a:lnTo>
                <a:lnTo>
                  <a:pt x="3657508" y="42902"/>
                </a:lnTo>
                <a:lnTo>
                  <a:pt x="3792971" y="41593"/>
                </a:lnTo>
                <a:lnTo>
                  <a:pt x="3928435" y="39916"/>
                </a:lnTo>
                <a:lnTo>
                  <a:pt x="4063898" y="37794"/>
                </a:lnTo>
                <a:lnTo>
                  <a:pt x="4199361" y="35264"/>
                </a:lnTo>
                <a:lnTo>
                  <a:pt x="4334824" y="32476"/>
                </a:lnTo>
                <a:lnTo>
                  <a:pt x="4470288" y="29683"/>
                </a:lnTo>
                <a:lnTo>
                  <a:pt x="4605751" y="27220"/>
                </a:lnTo>
                <a:lnTo>
                  <a:pt x="4741214" y="25484"/>
                </a:lnTo>
                <a:lnTo>
                  <a:pt x="4876678" y="24895"/>
                </a:lnTo>
                <a:lnTo>
                  <a:pt x="5012141" y="25867"/>
                </a:lnTo>
                <a:lnTo>
                  <a:pt x="5147604" y="28771"/>
                </a:lnTo>
                <a:lnTo>
                  <a:pt x="5283067" y="33905"/>
                </a:lnTo>
                <a:lnTo>
                  <a:pt x="5418531" y="41460"/>
                </a:lnTo>
                <a:lnTo>
                  <a:pt x="5553994" y="51504"/>
                </a:lnTo>
                <a:lnTo>
                  <a:pt x="5689457" y="63964"/>
                </a:lnTo>
                <a:lnTo>
                  <a:pt x="5824921" y="78622"/>
                </a:lnTo>
                <a:lnTo>
                  <a:pt x="5960384" y="95124"/>
                </a:lnTo>
                <a:lnTo>
                  <a:pt x="6095847" y="112989"/>
                </a:lnTo>
                <a:lnTo>
                  <a:pt x="6231310" y="131639"/>
                </a:lnTo>
                <a:lnTo>
                  <a:pt x="6366774" y="150423"/>
                </a:lnTo>
                <a:lnTo>
                  <a:pt x="6502237" y="168658"/>
                </a:lnTo>
                <a:lnTo>
                  <a:pt x="6637700" y="185665"/>
                </a:lnTo>
                <a:lnTo>
                  <a:pt x="6773164" y="200809"/>
                </a:lnTo>
                <a:lnTo>
                  <a:pt x="6908627" y="213535"/>
                </a:lnTo>
                <a:lnTo>
                  <a:pt x="7044090" y="223398"/>
                </a:lnTo>
                <a:lnTo>
                  <a:pt x="7179553" y="230090"/>
                </a:lnTo>
                <a:lnTo>
                  <a:pt x="7315017" y="233454"/>
                </a:lnTo>
                <a:lnTo>
                  <a:pt x="7450480" y="233492"/>
                </a:lnTo>
                <a:lnTo>
                  <a:pt x="7585943" y="230359"/>
                </a:lnTo>
                <a:lnTo>
                  <a:pt x="7721406" y="224353"/>
                </a:lnTo>
                <a:lnTo>
                  <a:pt x="7856870" y="215888"/>
                </a:lnTo>
                <a:lnTo>
                  <a:pt x="7992333" y="205470"/>
                </a:lnTo>
                <a:lnTo>
                  <a:pt x="8127796" y="193658"/>
                </a:lnTo>
                <a:lnTo>
                  <a:pt x="8263260" y="181033"/>
                </a:lnTo>
                <a:lnTo>
                  <a:pt x="8398723" y="168153"/>
                </a:lnTo>
                <a:lnTo>
                  <a:pt x="8534186" y="155526"/>
                </a:lnTo>
                <a:lnTo>
                  <a:pt x="8669649" y="143575"/>
                </a:lnTo>
                <a:lnTo>
                  <a:pt x="8805113" y="132618"/>
                </a:lnTo>
                <a:lnTo>
                  <a:pt x="8940576" y="122852"/>
                </a:lnTo>
                <a:lnTo>
                  <a:pt x="9076039" y="114351"/>
                </a:lnTo>
                <a:lnTo>
                  <a:pt x="9211503" y="107063"/>
                </a:lnTo>
                <a:lnTo>
                  <a:pt x="9346966" y="100832"/>
                </a:lnTo>
                <a:lnTo>
                  <a:pt x="9482429" y="95413"/>
                </a:lnTo>
                <a:lnTo>
                  <a:pt x="9617892" y="90502"/>
                </a:lnTo>
                <a:lnTo>
                  <a:pt x="9753356" y="85770"/>
                </a:lnTo>
                <a:lnTo>
                  <a:pt x="9888819" y="80892"/>
                </a:lnTo>
                <a:lnTo>
                  <a:pt x="10024282" y="75582"/>
                </a:lnTo>
                <a:lnTo>
                  <a:pt x="10159746" y="69623"/>
                </a:lnTo>
                <a:lnTo>
                  <a:pt x="10295209" y="62893"/>
                </a:lnTo>
                <a:lnTo>
                  <a:pt x="10430672" y="55378"/>
                </a:lnTo>
                <a:lnTo>
                  <a:pt x="10566135" y="47183"/>
                </a:lnTo>
                <a:lnTo>
                  <a:pt x="10701599" y="38531"/>
                </a:lnTo>
                <a:lnTo>
                  <a:pt x="10837062" y="29751"/>
                </a:lnTo>
                <a:lnTo>
                  <a:pt x="10972525" y="21260"/>
                </a:lnTo>
                <a:lnTo>
                  <a:pt x="11107988" y="13537"/>
                </a:lnTo>
                <a:lnTo>
                  <a:pt x="11243452" y="7091"/>
                </a:lnTo>
                <a:lnTo>
                  <a:pt x="11378915" y="2425"/>
                </a:lnTo>
                <a:lnTo>
                  <a:pt x="11514378" y="0"/>
                </a:lnTo>
                <a:lnTo>
                  <a:pt x="11649842" y="198"/>
                </a:lnTo>
                <a:lnTo>
                  <a:pt x="11785305" y="3299"/>
                </a:lnTo>
                <a:lnTo>
                  <a:pt x="11920768" y="9446"/>
                </a:lnTo>
                <a:lnTo>
                  <a:pt x="12056231" y="18641"/>
                </a:lnTo>
                <a:lnTo>
                  <a:pt x="12191695" y="30728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46304"/>
            <a:ext cx="11283696" cy="44805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可信运行机制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722376"/>
            <a:ext cx="585216" cy="41148"/>
          </a:xfrm>
          <a:prstGeom prst="rect">
            <a:avLst/>
          </a:prstGeom>
          <a:solidFill>
            <a:srgbClr val="EE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649224"/>
            <a:ext cx="10469880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2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将证据、权限与确认嵌入任务过程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292608"/>
            <a:ext cx="896112" cy="20116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HiAgent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6647688"/>
            <a:ext cx="10241280" cy="1280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7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企业数据智能体建设规划  /  规划视图  /  2026.10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629400"/>
            <a:ext cx="585216" cy="17373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" y="1284732"/>
            <a:ext cx="3496055" cy="1911095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1480" y="1252728"/>
            <a:ext cx="3496055" cy="1911095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5124" y="1822490"/>
            <a:ext cx="469087" cy="8339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564276" y="1681764"/>
            <a:ext cx="479511" cy="201395"/>
          </a:xfrm>
          <a:custGeom>
            <a:avLst/>
            <a:gdLst/>
            <a:ahLst/>
            <a:cxnLst/>
            <a:rect l="l" t="t" r="r" b="b"/>
            <a:pathLst>
              <a:path w="479511" h="201395">
                <a:moveTo>
                  <a:pt x="0" y="100697"/>
                </a:moveTo>
                <a:lnTo>
                  <a:pt x="239755" y="0"/>
                </a:lnTo>
                <a:lnTo>
                  <a:pt x="479511" y="100697"/>
                </a:lnTo>
                <a:lnTo>
                  <a:pt x="239755" y="201395"/>
                </a:lnTo>
                <a:close/>
              </a:path>
            </a:pathLst>
          </a:custGeom>
          <a:solidFill>
            <a:srgbClr val="B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564276" y="1782461"/>
            <a:ext cx="239755" cy="145000"/>
          </a:xfrm>
          <a:custGeom>
            <a:avLst/>
            <a:gdLst/>
            <a:ahLst/>
            <a:cxnLst/>
            <a:rect l="l" t="t" r="r" b="b"/>
            <a:pathLst>
              <a:path w="239755" h="145000">
                <a:moveTo>
                  <a:pt x="0" y="0"/>
                </a:moveTo>
                <a:lnTo>
                  <a:pt x="239755" y="100698"/>
                </a:lnTo>
                <a:lnTo>
                  <a:pt x="239755" y="145000"/>
                </a:lnTo>
                <a:lnTo>
                  <a:pt x="0" y="44303"/>
                </a:lnTo>
                <a:close/>
              </a:path>
            </a:pathLst>
          </a:custGeom>
          <a:solidFill>
            <a:srgbClr val="6D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804031" y="1782461"/>
            <a:ext cx="239756" cy="145000"/>
          </a:xfrm>
          <a:custGeom>
            <a:avLst/>
            <a:gdLst/>
            <a:ahLst/>
            <a:cxnLst/>
            <a:rect l="l" t="t" r="r" b="b"/>
            <a:pathLst>
              <a:path w="239756" h="145000">
                <a:moveTo>
                  <a:pt x="0" y="100698"/>
                </a:moveTo>
                <a:lnTo>
                  <a:pt x="239756" y="0"/>
                </a:lnTo>
                <a:lnTo>
                  <a:pt x="239756" y="44303"/>
                </a:lnTo>
                <a:lnTo>
                  <a:pt x="0" y="145000"/>
                </a:lnTo>
                <a:close/>
              </a:path>
            </a:pathLst>
          </a:custGeom>
          <a:solidFill>
            <a:srgbClr val="30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605972" y="1582734"/>
            <a:ext cx="396118" cy="166370"/>
          </a:xfrm>
          <a:custGeom>
            <a:avLst/>
            <a:gdLst/>
            <a:ahLst/>
            <a:cxnLst/>
            <a:rect l="l" t="t" r="r" b="b"/>
            <a:pathLst>
              <a:path w="396118" h="166370">
                <a:moveTo>
                  <a:pt x="0" y="83185"/>
                </a:moveTo>
                <a:lnTo>
                  <a:pt x="198059" y="0"/>
                </a:lnTo>
                <a:lnTo>
                  <a:pt x="396118" y="83185"/>
                </a:lnTo>
                <a:lnTo>
                  <a:pt x="198059" y="166370"/>
                </a:lnTo>
                <a:close/>
              </a:path>
            </a:pathLst>
          </a:custGeom>
          <a:solidFill>
            <a:srgbClr val="94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605972" y="1665919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0"/>
                </a:moveTo>
                <a:lnTo>
                  <a:pt x="198059" y="83185"/>
                </a:lnTo>
                <a:lnTo>
                  <a:pt x="198059" y="127488"/>
                </a:lnTo>
                <a:lnTo>
                  <a:pt x="0" y="44303"/>
                </a:lnTo>
                <a:close/>
              </a:path>
            </a:pathLst>
          </a:custGeom>
          <a:solidFill>
            <a:srgbClr val="3F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804031" y="1665919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83185"/>
                </a:moveTo>
                <a:lnTo>
                  <a:pt x="198059" y="0"/>
                </a:lnTo>
                <a:lnTo>
                  <a:pt x="198059" y="44303"/>
                </a:lnTo>
                <a:lnTo>
                  <a:pt x="0" y="127488"/>
                </a:lnTo>
                <a:close/>
              </a:path>
            </a:pathLst>
          </a:custGeom>
          <a:solidFill>
            <a:srgbClr val="197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652881" y="1483705"/>
            <a:ext cx="302301" cy="126966"/>
          </a:xfrm>
          <a:custGeom>
            <a:avLst/>
            <a:gdLst/>
            <a:ahLst/>
            <a:cxnLst/>
            <a:rect l="l" t="t" r="r" b="b"/>
            <a:pathLst>
              <a:path w="302301" h="126966">
                <a:moveTo>
                  <a:pt x="0" y="63483"/>
                </a:moveTo>
                <a:lnTo>
                  <a:pt x="151150" y="0"/>
                </a:lnTo>
                <a:lnTo>
                  <a:pt x="302301" y="63483"/>
                </a:lnTo>
                <a:lnTo>
                  <a:pt x="151150" y="126966"/>
                </a:lnTo>
                <a:close/>
              </a:path>
            </a:pathLst>
          </a:custGeom>
          <a:solidFill>
            <a:srgbClr val="57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652881" y="1547188"/>
            <a:ext cx="151150" cy="107786"/>
          </a:xfrm>
          <a:custGeom>
            <a:avLst/>
            <a:gdLst/>
            <a:ahLst/>
            <a:cxnLst/>
            <a:rect l="l" t="t" r="r" b="b"/>
            <a:pathLst>
              <a:path w="151150" h="107786">
                <a:moveTo>
                  <a:pt x="0" y="0"/>
                </a:moveTo>
                <a:lnTo>
                  <a:pt x="151150" y="63483"/>
                </a:lnTo>
                <a:lnTo>
                  <a:pt x="151150" y="107786"/>
                </a:lnTo>
                <a:lnTo>
                  <a:pt x="0" y="44303"/>
                </a:lnTo>
                <a:close/>
              </a:path>
            </a:pathLst>
          </a:custGeom>
          <a:solidFill>
            <a:srgbClr val="148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804031" y="1547188"/>
            <a:ext cx="151151" cy="107786"/>
          </a:xfrm>
          <a:custGeom>
            <a:avLst/>
            <a:gdLst/>
            <a:ahLst/>
            <a:cxnLst/>
            <a:rect l="l" t="t" r="r" b="b"/>
            <a:pathLst>
              <a:path w="151151" h="107786">
                <a:moveTo>
                  <a:pt x="0" y="63483"/>
                </a:moveTo>
                <a:lnTo>
                  <a:pt x="151151" y="0"/>
                </a:lnTo>
                <a:lnTo>
                  <a:pt x="151151" y="44303"/>
                </a:lnTo>
                <a:lnTo>
                  <a:pt x="0" y="107786"/>
                </a:lnTo>
                <a:close/>
              </a:path>
            </a:pathLst>
          </a:custGeom>
          <a:solidFill>
            <a:srgbClr val="0A5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725850" y="1462857"/>
            <a:ext cx="99030" cy="45553"/>
          </a:xfrm>
          <a:custGeom>
            <a:avLst/>
            <a:gdLst/>
            <a:ahLst/>
            <a:cxnLst/>
            <a:rect l="l" t="t" r="r" b="b"/>
            <a:pathLst>
              <a:path w="99030" h="45553">
                <a:moveTo>
                  <a:pt x="0" y="22776"/>
                </a:moveTo>
                <a:lnTo>
                  <a:pt x="49515" y="0"/>
                </a:lnTo>
                <a:lnTo>
                  <a:pt x="99030" y="22776"/>
                </a:lnTo>
                <a:lnTo>
                  <a:pt x="49515" y="45553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725850" y="1485633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70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775365" y="1485633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70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856152" y="1509765"/>
            <a:ext cx="99030" cy="45554"/>
          </a:xfrm>
          <a:custGeom>
            <a:avLst/>
            <a:gdLst/>
            <a:ahLst/>
            <a:cxnLst/>
            <a:rect l="l" t="t" r="r" b="b"/>
            <a:pathLst>
              <a:path w="99030" h="45554">
                <a:moveTo>
                  <a:pt x="0" y="22777"/>
                </a:moveTo>
                <a:lnTo>
                  <a:pt x="49515" y="0"/>
                </a:lnTo>
                <a:lnTo>
                  <a:pt x="99030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856152" y="1532542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905667" y="1532542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772759" y="1572310"/>
            <a:ext cx="99029" cy="45554"/>
          </a:xfrm>
          <a:custGeom>
            <a:avLst/>
            <a:gdLst/>
            <a:ahLst/>
            <a:cxnLst/>
            <a:rect l="l" t="t" r="r" b="b"/>
            <a:pathLst>
              <a:path w="99029" h="45554">
                <a:moveTo>
                  <a:pt x="0" y="22777"/>
                </a:moveTo>
                <a:lnTo>
                  <a:pt x="49515" y="0"/>
                </a:lnTo>
                <a:lnTo>
                  <a:pt x="99029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772759" y="1595087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822274" y="1595087"/>
            <a:ext cx="49514" cy="95746"/>
          </a:xfrm>
          <a:custGeom>
            <a:avLst/>
            <a:gdLst/>
            <a:ahLst/>
            <a:cxnLst/>
            <a:rect l="l" t="t" r="r" b="b"/>
            <a:pathLst>
              <a:path w="49514" h="95746">
                <a:moveTo>
                  <a:pt x="0" y="22777"/>
                </a:moveTo>
                <a:lnTo>
                  <a:pt x="49514" y="0"/>
                </a:lnTo>
                <a:lnTo>
                  <a:pt x="49514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20" y="1426464"/>
            <a:ext cx="2563367" cy="3931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可信输入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2157984"/>
            <a:ext cx="3075431" cy="93268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权威来源 / 版本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对象与口径确认</a:t>
            </a:r>
          </a:p>
        </p:txBody>
      </p:sp>
      <p:sp>
        <p:nvSpPr>
          <p:cNvPr id="36" name="Oval 35"/>
          <p:cNvSpPr/>
          <p:nvPr/>
        </p:nvSpPr>
        <p:spPr>
          <a:xfrm>
            <a:off x="566928" y="1124712"/>
            <a:ext cx="274320" cy="274320"/>
          </a:xfrm>
          <a:prstGeom prst="ellipse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1147572"/>
            <a:ext cx="274320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01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944111" y="2208276"/>
            <a:ext cx="365760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4251405" y="2208276"/>
            <a:ext cx="58466" cy="35845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4251405" y="2172430"/>
            <a:ext cx="58466" cy="3584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4369308" y="1284732"/>
            <a:ext cx="3496055" cy="1911095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346448" y="1252728"/>
            <a:ext cx="3496055" cy="1911095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520092" y="1822490"/>
            <a:ext cx="469087" cy="8339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4499244" y="1681764"/>
            <a:ext cx="479511" cy="201395"/>
          </a:xfrm>
          <a:custGeom>
            <a:avLst/>
            <a:gdLst/>
            <a:ahLst/>
            <a:cxnLst/>
            <a:rect l="l" t="t" r="r" b="b"/>
            <a:pathLst>
              <a:path w="479511" h="201395">
                <a:moveTo>
                  <a:pt x="0" y="100697"/>
                </a:moveTo>
                <a:lnTo>
                  <a:pt x="239755" y="0"/>
                </a:lnTo>
                <a:lnTo>
                  <a:pt x="479511" y="100697"/>
                </a:lnTo>
                <a:lnTo>
                  <a:pt x="239755" y="201395"/>
                </a:lnTo>
                <a:close/>
              </a:path>
            </a:pathLst>
          </a:custGeom>
          <a:solidFill>
            <a:srgbClr val="B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4499244" y="1782461"/>
            <a:ext cx="239755" cy="145000"/>
          </a:xfrm>
          <a:custGeom>
            <a:avLst/>
            <a:gdLst/>
            <a:ahLst/>
            <a:cxnLst/>
            <a:rect l="l" t="t" r="r" b="b"/>
            <a:pathLst>
              <a:path w="239755" h="145000">
                <a:moveTo>
                  <a:pt x="0" y="0"/>
                </a:moveTo>
                <a:lnTo>
                  <a:pt x="239755" y="100698"/>
                </a:lnTo>
                <a:lnTo>
                  <a:pt x="239755" y="145000"/>
                </a:lnTo>
                <a:lnTo>
                  <a:pt x="0" y="44303"/>
                </a:lnTo>
                <a:close/>
              </a:path>
            </a:pathLst>
          </a:custGeom>
          <a:solidFill>
            <a:srgbClr val="6D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4738999" y="1782461"/>
            <a:ext cx="239756" cy="145000"/>
          </a:xfrm>
          <a:custGeom>
            <a:avLst/>
            <a:gdLst/>
            <a:ahLst/>
            <a:cxnLst/>
            <a:rect l="l" t="t" r="r" b="b"/>
            <a:pathLst>
              <a:path w="239756" h="145000">
                <a:moveTo>
                  <a:pt x="0" y="100698"/>
                </a:moveTo>
                <a:lnTo>
                  <a:pt x="239756" y="0"/>
                </a:lnTo>
                <a:lnTo>
                  <a:pt x="239756" y="44303"/>
                </a:lnTo>
                <a:lnTo>
                  <a:pt x="0" y="145000"/>
                </a:lnTo>
                <a:close/>
              </a:path>
            </a:pathLst>
          </a:custGeom>
          <a:solidFill>
            <a:srgbClr val="30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4540940" y="1582734"/>
            <a:ext cx="396118" cy="166370"/>
          </a:xfrm>
          <a:custGeom>
            <a:avLst/>
            <a:gdLst/>
            <a:ahLst/>
            <a:cxnLst/>
            <a:rect l="l" t="t" r="r" b="b"/>
            <a:pathLst>
              <a:path w="396118" h="166370">
                <a:moveTo>
                  <a:pt x="0" y="83185"/>
                </a:moveTo>
                <a:lnTo>
                  <a:pt x="198059" y="0"/>
                </a:lnTo>
                <a:lnTo>
                  <a:pt x="396118" y="83185"/>
                </a:lnTo>
                <a:lnTo>
                  <a:pt x="198059" y="166370"/>
                </a:lnTo>
                <a:close/>
              </a:path>
            </a:pathLst>
          </a:custGeom>
          <a:solidFill>
            <a:srgbClr val="94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4540940" y="1665919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0"/>
                </a:moveTo>
                <a:lnTo>
                  <a:pt x="198059" y="83185"/>
                </a:lnTo>
                <a:lnTo>
                  <a:pt x="198059" y="127488"/>
                </a:lnTo>
                <a:lnTo>
                  <a:pt x="0" y="44303"/>
                </a:lnTo>
                <a:close/>
              </a:path>
            </a:pathLst>
          </a:custGeom>
          <a:solidFill>
            <a:srgbClr val="3F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4738999" y="1665919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83185"/>
                </a:moveTo>
                <a:lnTo>
                  <a:pt x="198059" y="0"/>
                </a:lnTo>
                <a:lnTo>
                  <a:pt x="198059" y="44303"/>
                </a:lnTo>
                <a:lnTo>
                  <a:pt x="0" y="127488"/>
                </a:lnTo>
                <a:close/>
              </a:path>
            </a:pathLst>
          </a:custGeom>
          <a:solidFill>
            <a:srgbClr val="197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4587849" y="1483705"/>
            <a:ext cx="302301" cy="126966"/>
          </a:xfrm>
          <a:custGeom>
            <a:avLst/>
            <a:gdLst/>
            <a:ahLst/>
            <a:cxnLst/>
            <a:rect l="l" t="t" r="r" b="b"/>
            <a:pathLst>
              <a:path w="302301" h="126966">
                <a:moveTo>
                  <a:pt x="0" y="63483"/>
                </a:moveTo>
                <a:lnTo>
                  <a:pt x="151150" y="0"/>
                </a:lnTo>
                <a:lnTo>
                  <a:pt x="302301" y="63483"/>
                </a:lnTo>
                <a:lnTo>
                  <a:pt x="151150" y="126966"/>
                </a:lnTo>
                <a:close/>
              </a:path>
            </a:pathLst>
          </a:custGeom>
          <a:solidFill>
            <a:srgbClr val="57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4587849" y="1547188"/>
            <a:ext cx="151150" cy="107786"/>
          </a:xfrm>
          <a:custGeom>
            <a:avLst/>
            <a:gdLst/>
            <a:ahLst/>
            <a:cxnLst/>
            <a:rect l="l" t="t" r="r" b="b"/>
            <a:pathLst>
              <a:path w="151150" h="107786">
                <a:moveTo>
                  <a:pt x="0" y="0"/>
                </a:moveTo>
                <a:lnTo>
                  <a:pt x="151150" y="63483"/>
                </a:lnTo>
                <a:lnTo>
                  <a:pt x="151150" y="107786"/>
                </a:lnTo>
                <a:lnTo>
                  <a:pt x="0" y="44303"/>
                </a:lnTo>
                <a:close/>
              </a:path>
            </a:pathLst>
          </a:custGeom>
          <a:solidFill>
            <a:srgbClr val="148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4738999" y="1547188"/>
            <a:ext cx="151151" cy="107786"/>
          </a:xfrm>
          <a:custGeom>
            <a:avLst/>
            <a:gdLst/>
            <a:ahLst/>
            <a:cxnLst/>
            <a:rect l="l" t="t" r="r" b="b"/>
            <a:pathLst>
              <a:path w="151151" h="107786">
                <a:moveTo>
                  <a:pt x="0" y="63483"/>
                </a:moveTo>
                <a:lnTo>
                  <a:pt x="151151" y="0"/>
                </a:lnTo>
                <a:lnTo>
                  <a:pt x="151151" y="44303"/>
                </a:lnTo>
                <a:lnTo>
                  <a:pt x="0" y="107786"/>
                </a:lnTo>
                <a:close/>
              </a:path>
            </a:pathLst>
          </a:custGeom>
          <a:solidFill>
            <a:srgbClr val="0A5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4660818" y="1462857"/>
            <a:ext cx="99030" cy="45553"/>
          </a:xfrm>
          <a:custGeom>
            <a:avLst/>
            <a:gdLst/>
            <a:ahLst/>
            <a:cxnLst/>
            <a:rect l="l" t="t" r="r" b="b"/>
            <a:pathLst>
              <a:path w="99030" h="45553">
                <a:moveTo>
                  <a:pt x="0" y="22776"/>
                </a:moveTo>
                <a:lnTo>
                  <a:pt x="49515" y="0"/>
                </a:lnTo>
                <a:lnTo>
                  <a:pt x="99030" y="22776"/>
                </a:lnTo>
                <a:lnTo>
                  <a:pt x="49515" y="45553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4660818" y="1485633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70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4710333" y="1485633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70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4791120" y="1509765"/>
            <a:ext cx="99030" cy="45554"/>
          </a:xfrm>
          <a:custGeom>
            <a:avLst/>
            <a:gdLst/>
            <a:ahLst/>
            <a:cxnLst/>
            <a:rect l="l" t="t" r="r" b="b"/>
            <a:pathLst>
              <a:path w="99030" h="45554">
                <a:moveTo>
                  <a:pt x="0" y="22777"/>
                </a:moveTo>
                <a:lnTo>
                  <a:pt x="49515" y="0"/>
                </a:lnTo>
                <a:lnTo>
                  <a:pt x="99030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4791120" y="1532542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4840635" y="1532542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4707727" y="1572310"/>
            <a:ext cx="99029" cy="45554"/>
          </a:xfrm>
          <a:custGeom>
            <a:avLst/>
            <a:gdLst/>
            <a:ahLst/>
            <a:cxnLst/>
            <a:rect l="l" t="t" r="r" b="b"/>
            <a:pathLst>
              <a:path w="99029" h="45554">
                <a:moveTo>
                  <a:pt x="0" y="22777"/>
                </a:moveTo>
                <a:lnTo>
                  <a:pt x="49515" y="0"/>
                </a:lnTo>
                <a:lnTo>
                  <a:pt x="99029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4707727" y="1595087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4757242" y="1595087"/>
            <a:ext cx="49514" cy="95746"/>
          </a:xfrm>
          <a:custGeom>
            <a:avLst/>
            <a:gdLst/>
            <a:ahLst/>
            <a:cxnLst/>
            <a:rect l="l" t="t" r="r" b="b"/>
            <a:pathLst>
              <a:path w="49514" h="95746">
                <a:moveTo>
                  <a:pt x="0" y="22777"/>
                </a:moveTo>
                <a:lnTo>
                  <a:pt x="49514" y="0"/>
                </a:lnTo>
                <a:lnTo>
                  <a:pt x="49514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23687" y="1426464"/>
            <a:ext cx="2563367" cy="3931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受控过程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56760" y="2157984"/>
            <a:ext cx="3075431" cy="93268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身份贯穿 / 范围约束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工具规则 / 人工确认</a:t>
            </a:r>
          </a:p>
        </p:txBody>
      </p:sp>
      <p:sp>
        <p:nvSpPr>
          <p:cNvPr id="64" name="Oval 63"/>
          <p:cNvSpPr/>
          <p:nvPr/>
        </p:nvSpPr>
        <p:spPr>
          <a:xfrm>
            <a:off x="4501896" y="1124712"/>
            <a:ext cx="274320" cy="274320"/>
          </a:xfrm>
          <a:prstGeom prst="ellipse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01896" y="1147572"/>
            <a:ext cx="274320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02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7879079" y="2208276"/>
            <a:ext cx="365761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8186373" y="2208276"/>
            <a:ext cx="58467" cy="35845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8186373" y="2172430"/>
            <a:ext cx="58467" cy="3584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8304275" y="1284732"/>
            <a:ext cx="3496055" cy="1911095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8281415" y="1252728"/>
            <a:ext cx="3496055" cy="1911095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455060" y="1822490"/>
            <a:ext cx="469087" cy="8339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8460272" y="1749521"/>
            <a:ext cx="453451" cy="208587"/>
          </a:xfrm>
          <a:custGeom>
            <a:avLst/>
            <a:gdLst/>
            <a:ahLst/>
            <a:cxnLst/>
            <a:rect l="l" t="t" r="r" b="b"/>
            <a:pathLst>
              <a:path w="453451" h="208587">
                <a:moveTo>
                  <a:pt x="0" y="104294"/>
                </a:moveTo>
                <a:lnTo>
                  <a:pt x="226726" y="0"/>
                </a:lnTo>
                <a:lnTo>
                  <a:pt x="453451" y="104294"/>
                </a:lnTo>
                <a:lnTo>
                  <a:pt x="226726" y="208587"/>
                </a:lnTo>
                <a:close/>
              </a:path>
            </a:pathLst>
          </a:custGeom>
          <a:solidFill>
            <a:srgbClr val="B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8460272" y="1853815"/>
            <a:ext cx="226726" cy="125142"/>
          </a:xfrm>
          <a:custGeom>
            <a:avLst/>
            <a:gdLst/>
            <a:ahLst/>
            <a:cxnLst/>
            <a:rect l="l" t="t" r="r" b="b"/>
            <a:pathLst>
              <a:path w="226726" h="125142">
                <a:moveTo>
                  <a:pt x="0" y="0"/>
                </a:moveTo>
                <a:lnTo>
                  <a:pt x="226726" y="104293"/>
                </a:lnTo>
                <a:lnTo>
                  <a:pt x="226726" y="125142"/>
                </a:lnTo>
                <a:lnTo>
                  <a:pt x="0" y="20848"/>
                </a:lnTo>
                <a:close/>
              </a:path>
            </a:pathLst>
          </a:custGeom>
          <a:solidFill>
            <a:srgbClr val="7FC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8686998" y="1853815"/>
            <a:ext cx="226725" cy="125142"/>
          </a:xfrm>
          <a:custGeom>
            <a:avLst/>
            <a:gdLst/>
            <a:ahLst/>
            <a:cxnLst/>
            <a:rect l="l" t="t" r="r" b="b"/>
            <a:pathLst>
              <a:path w="226725" h="125142">
                <a:moveTo>
                  <a:pt x="0" y="104293"/>
                </a:moveTo>
                <a:lnTo>
                  <a:pt x="226725" y="0"/>
                </a:lnTo>
                <a:lnTo>
                  <a:pt x="226725" y="20848"/>
                </a:lnTo>
                <a:lnTo>
                  <a:pt x="0" y="125142"/>
                </a:lnTo>
                <a:close/>
              </a:path>
            </a:pathLst>
          </a:custGeom>
          <a:solidFill>
            <a:srgbClr val="5AA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8496757" y="1681764"/>
            <a:ext cx="99029" cy="41697"/>
          </a:xfrm>
          <a:custGeom>
            <a:avLst/>
            <a:gdLst/>
            <a:ahLst/>
            <a:cxnLst/>
            <a:rect l="l" t="t" r="r" b="b"/>
            <a:pathLst>
              <a:path w="99029" h="41697">
                <a:moveTo>
                  <a:pt x="0" y="20848"/>
                </a:moveTo>
                <a:lnTo>
                  <a:pt x="49514" y="0"/>
                </a:lnTo>
                <a:lnTo>
                  <a:pt x="99029" y="20848"/>
                </a:lnTo>
                <a:lnTo>
                  <a:pt x="49514" y="41697"/>
                </a:lnTo>
                <a:close/>
              </a:path>
            </a:pathLst>
          </a:custGeom>
          <a:solidFill>
            <a:srgbClr val="9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8496757" y="1702612"/>
            <a:ext cx="49514" cy="114666"/>
          </a:xfrm>
          <a:custGeom>
            <a:avLst/>
            <a:gdLst/>
            <a:ahLst/>
            <a:cxnLst/>
            <a:rect l="l" t="t" r="r" b="b"/>
            <a:pathLst>
              <a:path w="49514" h="114666">
                <a:moveTo>
                  <a:pt x="0" y="0"/>
                </a:moveTo>
                <a:lnTo>
                  <a:pt x="49514" y="20849"/>
                </a:lnTo>
                <a:lnTo>
                  <a:pt x="49514" y="114666"/>
                </a:lnTo>
                <a:lnTo>
                  <a:pt x="0" y="93818"/>
                </a:lnTo>
                <a:close/>
              </a:path>
            </a:pathLst>
          </a:custGeom>
          <a:solidFill>
            <a:srgbClr val="2AB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8546271" y="1702612"/>
            <a:ext cx="49515" cy="114666"/>
          </a:xfrm>
          <a:custGeom>
            <a:avLst/>
            <a:gdLst/>
            <a:ahLst/>
            <a:cxnLst/>
            <a:rect l="l" t="t" r="r" b="b"/>
            <a:pathLst>
              <a:path w="49515" h="114666">
                <a:moveTo>
                  <a:pt x="0" y="20849"/>
                </a:moveTo>
                <a:lnTo>
                  <a:pt x="49515" y="0"/>
                </a:lnTo>
                <a:lnTo>
                  <a:pt x="49515" y="93818"/>
                </a:lnTo>
                <a:lnTo>
                  <a:pt x="0" y="114666"/>
                </a:lnTo>
                <a:close/>
              </a:path>
            </a:pathLst>
          </a:custGeom>
          <a:solidFill>
            <a:srgbClr val="11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8621847" y="1582734"/>
            <a:ext cx="99029" cy="41697"/>
          </a:xfrm>
          <a:custGeom>
            <a:avLst/>
            <a:gdLst/>
            <a:ahLst/>
            <a:cxnLst/>
            <a:rect l="l" t="t" r="r" b="b"/>
            <a:pathLst>
              <a:path w="99029" h="41697">
                <a:moveTo>
                  <a:pt x="0" y="20849"/>
                </a:moveTo>
                <a:lnTo>
                  <a:pt x="49514" y="0"/>
                </a:lnTo>
                <a:lnTo>
                  <a:pt x="99029" y="20849"/>
                </a:lnTo>
                <a:lnTo>
                  <a:pt x="49514" y="41697"/>
                </a:lnTo>
                <a:close/>
              </a:path>
            </a:pathLst>
          </a:custGeom>
          <a:solidFill>
            <a:srgbClr val="9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8621847" y="1603583"/>
            <a:ext cx="49514" cy="213695"/>
          </a:xfrm>
          <a:custGeom>
            <a:avLst/>
            <a:gdLst/>
            <a:ahLst/>
            <a:cxnLst/>
            <a:rect l="l" t="t" r="r" b="b"/>
            <a:pathLst>
              <a:path w="49514" h="213695">
                <a:moveTo>
                  <a:pt x="0" y="0"/>
                </a:moveTo>
                <a:lnTo>
                  <a:pt x="49514" y="20848"/>
                </a:lnTo>
                <a:lnTo>
                  <a:pt x="49514" y="213695"/>
                </a:lnTo>
                <a:lnTo>
                  <a:pt x="0" y="192847"/>
                </a:lnTo>
                <a:close/>
              </a:path>
            </a:pathLst>
          </a:custGeom>
          <a:solidFill>
            <a:srgbClr val="2AB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8671361" y="1603583"/>
            <a:ext cx="49515" cy="213695"/>
          </a:xfrm>
          <a:custGeom>
            <a:avLst/>
            <a:gdLst/>
            <a:ahLst/>
            <a:cxnLst/>
            <a:rect l="l" t="t" r="r" b="b"/>
            <a:pathLst>
              <a:path w="49515" h="213695">
                <a:moveTo>
                  <a:pt x="0" y="20848"/>
                </a:moveTo>
                <a:lnTo>
                  <a:pt x="49515" y="0"/>
                </a:lnTo>
                <a:lnTo>
                  <a:pt x="49515" y="192847"/>
                </a:lnTo>
                <a:lnTo>
                  <a:pt x="0" y="213695"/>
                </a:lnTo>
                <a:close/>
              </a:path>
            </a:pathLst>
          </a:custGeom>
          <a:solidFill>
            <a:srgbClr val="11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8746937" y="1452432"/>
            <a:ext cx="99029" cy="41697"/>
          </a:xfrm>
          <a:custGeom>
            <a:avLst/>
            <a:gdLst/>
            <a:ahLst/>
            <a:cxnLst/>
            <a:rect l="l" t="t" r="r" b="b"/>
            <a:pathLst>
              <a:path w="99029" h="41697">
                <a:moveTo>
                  <a:pt x="0" y="20849"/>
                </a:moveTo>
                <a:lnTo>
                  <a:pt x="49514" y="0"/>
                </a:lnTo>
                <a:lnTo>
                  <a:pt x="99029" y="20849"/>
                </a:lnTo>
                <a:lnTo>
                  <a:pt x="49514" y="41697"/>
                </a:lnTo>
                <a:close/>
              </a:path>
            </a:pathLst>
          </a:custGeom>
          <a:solidFill>
            <a:srgbClr val="9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8746937" y="1473281"/>
            <a:ext cx="49514" cy="343997"/>
          </a:xfrm>
          <a:custGeom>
            <a:avLst/>
            <a:gdLst/>
            <a:ahLst/>
            <a:cxnLst/>
            <a:rect l="l" t="t" r="r" b="b"/>
            <a:pathLst>
              <a:path w="49514" h="343997">
                <a:moveTo>
                  <a:pt x="0" y="0"/>
                </a:moveTo>
                <a:lnTo>
                  <a:pt x="49514" y="20848"/>
                </a:lnTo>
                <a:lnTo>
                  <a:pt x="49514" y="343997"/>
                </a:lnTo>
                <a:lnTo>
                  <a:pt x="0" y="323149"/>
                </a:lnTo>
                <a:close/>
              </a:path>
            </a:pathLst>
          </a:custGeom>
          <a:solidFill>
            <a:srgbClr val="2AB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8796451" y="1473281"/>
            <a:ext cx="49515" cy="343997"/>
          </a:xfrm>
          <a:custGeom>
            <a:avLst/>
            <a:gdLst/>
            <a:ahLst/>
            <a:cxnLst/>
            <a:rect l="l" t="t" r="r" b="b"/>
            <a:pathLst>
              <a:path w="49515" h="343997">
                <a:moveTo>
                  <a:pt x="0" y="20848"/>
                </a:moveTo>
                <a:lnTo>
                  <a:pt x="49515" y="0"/>
                </a:lnTo>
                <a:lnTo>
                  <a:pt x="49515" y="323149"/>
                </a:lnTo>
                <a:lnTo>
                  <a:pt x="0" y="343997"/>
                </a:lnTo>
                <a:close/>
              </a:path>
            </a:pathLst>
          </a:custGeom>
          <a:solidFill>
            <a:srgbClr val="11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058655" y="1426464"/>
            <a:ext cx="2563367" cy="3931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可验成果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91727" y="2157984"/>
            <a:ext cx="3075431" cy="93268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真实结果 / 来源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覆盖范围 / 缺口</a:t>
            </a:r>
          </a:p>
        </p:txBody>
      </p:sp>
      <p:sp>
        <p:nvSpPr>
          <p:cNvPr id="86" name="Oval 85"/>
          <p:cNvSpPr/>
          <p:nvPr/>
        </p:nvSpPr>
        <p:spPr>
          <a:xfrm>
            <a:off x="8436863" y="1124712"/>
            <a:ext cx="274320" cy="274320"/>
          </a:xfrm>
          <a:prstGeom prst="ellipse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436863" y="1147572"/>
            <a:ext cx="274320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03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21207" y="3557016"/>
            <a:ext cx="11137392" cy="612648"/>
          </a:xfrm>
          <a:prstGeom prst="roundRect">
            <a:avLst>
              <a:gd name="adj" fmla="val 3500"/>
            </a:avLst>
          </a:prstGeom>
          <a:solidFill>
            <a:srgbClr val="082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2647" y="3589020"/>
            <a:ext cx="10954512" cy="54864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读取 → 草稿 → 调试 → 提交 → 发布 / 生产操作：按风险分级设置控制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44068" y="4622292"/>
            <a:ext cx="5376672" cy="1088136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521207" y="4590288"/>
            <a:ext cx="5376672" cy="108813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67512" y="4736592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77240" y="4672583"/>
            <a:ext cx="4983480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平台强制控制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4088" y="5148072"/>
            <a:ext cx="5010912" cy="42976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权限与门禁在实际网关、引擎和执行平台生效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323076" y="4622292"/>
            <a:ext cx="5358384" cy="1088136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6300216" y="4590288"/>
            <a:ext cx="5358384" cy="108813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446520" y="4736592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556248" y="4672583"/>
            <a:ext cx="4965192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任务追踪与回归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483096" y="5148072"/>
            <a:ext cx="4992624" cy="42976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保留调用、版本、状态、结果和失败原因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61772" y="6112764"/>
            <a:ext cx="11247120" cy="33832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438912" y="6080760"/>
            <a:ext cx="11247120" cy="338328"/>
          </a:xfrm>
          <a:prstGeom prst="roundRect">
            <a:avLst>
              <a:gd name="adj" fmla="val 5500"/>
            </a:avLst>
          </a:prstGeom>
          <a:solidFill>
            <a:srgbClr val="EEF7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85216" y="6117336"/>
            <a:ext cx="10954512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提示词约束与模型自评不能替代执行控制；关键口径、设计取舍与变更有明确责任人。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6346471"/>
            <a:ext cx="12191695" cy="235953"/>
          </a:xfrm>
          <a:custGeom>
            <a:avLst/>
            <a:gdLst/>
            <a:ahLst/>
            <a:cxnLst/>
            <a:rect l="l" t="t" r="r" b="b"/>
            <a:pathLst>
              <a:path w="12191695" h="235953">
                <a:moveTo>
                  <a:pt x="0" y="127481"/>
                </a:moveTo>
                <a:lnTo>
                  <a:pt x="135463" y="147046"/>
                </a:lnTo>
                <a:lnTo>
                  <a:pt x="270926" y="165914"/>
                </a:lnTo>
                <a:lnTo>
                  <a:pt x="406389" y="183426"/>
                </a:lnTo>
                <a:lnTo>
                  <a:pt x="541853" y="199000"/>
                </a:lnTo>
                <a:lnTo>
                  <a:pt x="677316" y="212159"/>
                </a:lnTo>
                <a:lnTo>
                  <a:pt x="812779" y="222557"/>
                </a:lnTo>
                <a:lnTo>
                  <a:pt x="948242" y="229995"/>
                </a:lnTo>
                <a:lnTo>
                  <a:pt x="1083706" y="234426"/>
                </a:lnTo>
                <a:lnTo>
                  <a:pt x="1219169" y="235953"/>
                </a:lnTo>
                <a:lnTo>
                  <a:pt x="1354632" y="234812"/>
                </a:lnTo>
                <a:lnTo>
                  <a:pt x="1490096" y="231352"/>
                </a:lnTo>
                <a:lnTo>
                  <a:pt x="1625559" y="226009"/>
                </a:lnTo>
                <a:lnTo>
                  <a:pt x="1761022" y="219267"/>
                </a:lnTo>
                <a:lnTo>
                  <a:pt x="1896485" y="211626"/>
                </a:lnTo>
                <a:lnTo>
                  <a:pt x="2031949" y="203564"/>
                </a:lnTo>
                <a:lnTo>
                  <a:pt x="2167412" y="195508"/>
                </a:lnTo>
                <a:lnTo>
                  <a:pt x="2302875" y="187800"/>
                </a:lnTo>
                <a:lnTo>
                  <a:pt x="2438339" y="180682"/>
                </a:lnTo>
                <a:lnTo>
                  <a:pt x="2573802" y="174280"/>
                </a:lnTo>
                <a:lnTo>
                  <a:pt x="2709265" y="168601"/>
                </a:lnTo>
                <a:lnTo>
                  <a:pt x="2844728" y="163541"/>
                </a:lnTo>
                <a:lnTo>
                  <a:pt x="2980192" y="158900"/>
                </a:lnTo>
                <a:lnTo>
                  <a:pt x="3115655" y="154402"/>
                </a:lnTo>
                <a:lnTo>
                  <a:pt x="3251118" y="149724"/>
                </a:lnTo>
                <a:lnTo>
                  <a:pt x="3386582" y="144534"/>
                </a:lnTo>
                <a:lnTo>
                  <a:pt x="3522045" y="138515"/>
                </a:lnTo>
                <a:lnTo>
                  <a:pt x="3657508" y="131408"/>
                </a:lnTo>
                <a:lnTo>
                  <a:pt x="3792971" y="123031"/>
                </a:lnTo>
                <a:lnTo>
                  <a:pt x="3928435" y="113309"/>
                </a:lnTo>
                <a:lnTo>
                  <a:pt x="4063898" y="102287"/>
                </a:lnTo>
                <a:lnTo>
                  <a:pt x="4199361" y="90138"/>
                </a:lnTo>
                <a:lnTo>
                  <a:pt x="4334824" y="77155"/>
                </a:lnTo>
                <a:lnTo>
                  <a:pt x="4470288" y="63745"/>
                </a:lnTo>
                <a:lnTo>
                  <a:pt x="4605751" y="50406"/>
                </a:lnTo>
                <a:lnTo>
                  <a:pt x="4741214" y="37696"/>
                </a:lnTo>
                <a:lnTo>
                  <a:pt x="4876678" y="26202"/>
                </a:lnTo>
                <a:lnTo>
                  <a:pt x="5012141" y="16503"/>
                </a:lnTo>
                <a:lnTo>
                  <a:pt x="5147604" y="9131"/>
                </a:lnTo>
                <a:lnTo>
                  <a:pt x="5283067" y="4538"/>
                </a:lnTo>
                <a:lnTo>
                  <a:pt x="5418531" y="3064"/>
                </a:lnTo>
                <a:lnTo>
                  <a:pt x="5553994" y="4912"/>
                </a:lnTo>
                <a:lnTo>
                  <a:pt x="5689457" y="10132"/>
                </a:lnTo>
                <a:lnTo>
                  <a:pt x="5824921" y="18617"/>
                </a:lnTo>
                <a:lnTo>
                  <a:pt x="5960384" y="30106"/>
                </a:lnTo>
                <a:lnTo>
                  <a:pt x="6095847" y="44193"/>
                </a:lnTo>
                <a:lnTo>
                  <a:pt x="6231310" y="60357"/>
                </a:lnTo>
                <a:lnTo>
                  <a:pt x="6366774" y="77984"/>
                </a:lnTo>
                <a:lnTo>
                  <a:pt x="6502237" y="96410"/>
                </a:lnTo>
                <a:lnTo>
                  <a:pt x="6637700" y="114953"/>
                </a:lnTo>
                <a:lnTo>
                  <a:pt x="6773164" y="132954"/>
                </a:lnTo>
                <a:lnTo>
                  <a:pt x="6908627" y="149814"/>
                </a:lnTo>
                <a:lnTo>
                  <a:pt x="7044090" y="165027"/>
                </a:lnTo>
                <a:lnTo>
                  <a:pt x="7179553" y="178204"/>
                </a:lnTo>
                <a:lnTo>
                  <a:pt x="7315017" y="189090"/>
                </a:lnTo>
                <a:lnTo>
                  <a:pt x="7450480" y="197574"/>
                </a:lnTo>
                <a:lnTo>
                  <a:pt x="7585943" y="203682"/>
                </a:lnTo>
                <a:lnTo>
                  <a:pt x="7721406" y="207573"/>
                </a:lnTo>
                <a:lnTo>
                  <a:pt x="7856870" y="209512"/>
                </a:lnTo>
                <a:lnTo>
                  <a:pt x="7992333" y="209848"/>
                </a:lnTo>
                <a:lnTo>
                  <a:pt x="8127796" y="208978"/>
                </a:lnTo>
                <a:lnTo>
                  <a:pt x="8263260" y="207316"/>
                </a:lnTo>
                <a:lnTo>
                  <a:pt x="8398723" y="205256"/>
                </a:lnTo>
                <a:lnTo>
                  <a:pt x="8534186" y="203141"/>
                </a:lnTo>
                <a:lnTo>
                  <a:pt x="8669649" y="201238"/>
                </a:lnTo>
                <a:lnTo>
                  <a:pt x="8805113" y="199711"/>
                </a:lnTo>
                <a:lnTo>
                  <a:pt x="8940576" y="198616"/>
                </a:lnTo>
                <a:lnTo>
                  <a:pt x="9076039" y="197894"/>
                </a:lnTo>
                <a:lnTo>
                  <a:pt x="9211503" y="197378"/>
                </a:lnTo>
                <a:lnTo>
                  <a:pt x="9346966" y="196808"/>
                </a:lnTo>
                <a:lnTo>
                  <a:pt x="9482429" y="195855"/>
                </a:lnTo>
                <a:lnTo>
                  <a:pt x="9617892" y="194147"/>
                </a:lnTo>
                <a:lnTo>
                  <a:pt x="9753356" y="191305"/>
                </a:lnTo>
                <a:lnTo>
                  <a:pt x="9888819" y="186977"/>
                </a:lnTo>
                <a:lnTo>
                  <a:pt x="10024282" y="180869"/>
                </a:lnTo>
                <a:lnTo>
                  <a:pt x="10159746" y="172776"/>
                </a:lnTo>
                <a:lnTo>
                  <a:pt x="10295209" y="162608"/>
                </a:lnTo>
                <a:lnTo>
                  <a:pt x="10430672" y="150402"/>
                </a:lnTo>
                <a:lnTo>
                  <a:pt x="10566135" y="136335"/>
                </a:lnTo>
                <a:lnTo>
                  <a:pt x="10701599" y="120717"/>
                </a:lnTo>
                <a:lnTo>
                  <a:pt x="10837062" y="103984"/>
                </a:lnTo>
                <a:lnTo>
                  <a:pt x="10972525" y="86673"/>
                </a:lnTo>
                <a:lnTo>
                  <a:pt x="11107988" y="69396"/>
                </a:lnTo>
                <a:lnTo>
                  <a:pt x="11243452" y="52806"/>
                </a:lnTo>
                <a:lnTo>
                  <a:pt x="11378915" y="37558"/>
                </a:lnTo>
                <a:lnTo>
                  <a:pt x="11514378" y="24274"/>
                </a:lnTo>
                <a:lnTo>
                  <a:pt x="11649842" y="13501"/>
                </a:lnTo>
                <a:lnTo>
                  <a:pt x="11785305" y="5683"/>
                </a:lnTo>
                <a:lnTo>
                  <a:pt x="11920768" y="1129"/>
                </a:lnTo>
                <a:lnTo>
                  <a:pt x="12056231" y="0"/>
                </a:lnTo>
                <a:lnTo>
                  <a:pt x="12191695" y="2300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6405649"/>
            <a:ext cx="12191695" cy="245182"/>
          </a:xfrm>
          <a:custGeom>
            <a:avLst/>
            <a:gdLst/>
            <a:ahLst/>
            <a:cxnLst/>
            <a:rect l="l" t="t" r="r" b="b"/>
            <a:pathLst>
              <a:path w="12191695" h="245182">
                <a:moveTo>
                  <a:pt x="0" y="150669"/>
                </a:moveTo>
                <a:lnTo>
                  <a:pt x="135463" y="169737"/>
                </a:lnTo>
                <a:lnTo>
                  <a:pt x="270926" y="187768"/>
                </a:lnTo>
                <a:lnTo>
                  <a:pt x="406389" y="204118"/>
                </a:lnTo>
                <a:lnTo>
                  <a:pt x="541853" y="218220"/>
                </a:lnTo>
                <a:lnTo>
                  <a:pt x="677316" y="229621"/>
                </a:lnTo>
                <a:lnTo>
                  <a:pt x="812779" y="238002"/>
                </a:lnTo>
                <a:lnTo>
                  <a:pt x="948242" y="243193"/>
                </a:lnTo>
                <a:lnTo>
                  <a:pt x="1083706" y="245182"/>
                </a:lnTo>
                <a:lnTo>
                  <a:pt x="1219169" y="244108"/>
                </a:lnTo>
                <a:lnTo>
                  <a:pt x="1354632" y="240247"/>
                </a:lnTo>
                <a:lnTo>
                  <a:pt x="1490096" y="233989"/>
                </a:lnTo>
                <a:lnTo>
                  <a:pt x="1625559" y="225812"/>
                </a:lnTo>
                <a:lnTo>
                  <a:pt x="1761022" y="216243"/>
                </a:lnTo>
                <a:lnTo>
                  <a:pt x="1896485" y="205824"/>
                </a:lnTo>
                <a:lnTo>
                  <a:pt x="2031949" y="195076"/>
                </a:lnTo>
                <a:lnTo>
                  <a:pt x="2167412" y="184466"/>
                </a:lnTo>
                <a:lnTo>
                  <a:pt x="2302875" y="174375"/>
                </a:lnTo>
                <a:lnTo>
                  <a:pt x="2438339" y="165080"/>
                </a:lnTo>
                <a:lnTo>
                  <a:pt x="2573802" y="156740"/>
                </a:lnTo>
                <a:lnTo>
                  <a:pt x="2709265" y="149392"/>
                </a:lnTo>
                <a:lnTo>
                  <a:pt x="2844728" y="142958"/>
                </a:lnTo>
                <a:lnTo>
                  <a:pt x="2980192" y="137257"/>
                </a:lnTo>
                <a:lnTo>
                  <a:pt x="3115655" y="132030"/>
                </a:lnTo>
                <a:lnTo>
                  <a:pt x="3251118" y="126965"/>
                </a:lnTo>
                <a:lnTo>
                  <a:pt x="3386582" y="121734"/>
                </a:lnTo>
                <a:lnTo>
                  <a:pt x="3522045" y="116024"/>
                </a:lnTo>
                <a:lnTo>
                  <a:pt x="3657508" y="109568"/>
                </a:lnTo>
                <a:lnTo>
                  <a:pt x="3792971" y="102177"/>
                </a:lnTo>
                <a:lnTo>
                  <a:pt x="3928435" y="93759"/>
                </a:lnTo>
                <a:lnTo>
                  <a:pt x="4063898" y="84341"/>
                </a:lnTo>
                <a:lnTo>
                  <a:pt x="4199361" y="74069"/>
                </a:lnTo>
                <a:lnTo>
                  <a:pt x="4334824" y="63211"/>
                </a:lnTo>
                <a:lnTo>
                  <a:pt x="4470288" y="52141"/>
                </a:lnTo>
                <a:lnTo>
                  <a:pt x="4605751" y="41320"/>
                </a:lnTo>
                <a:lnTo>
                  <a:pt x="4741214" y="31269"/>
                </a:lnTo>
                <a:lnTo>
                  <a:pt x="4876678" y="22536"/>
                </a:lnTo>
                <a:lnTo>
                  <a:pt x="5012141" y="15656"/>
                </a:lnTo>
                <a:lnTo>
                  <a:pt x="5147604" y="11120"/>
                </a:lnTo>
                <a:lnTo>
                  <a:pt x="5283067" y="9338"/>
                </a:lnTo>
                <a:lnTo>
                  <a:pt x="5418531" y="10605"/>
                </a:lnTo>
                <a:lnTo>
                  <a:pt x="5553994" y="15085"/>
                </a:lnTo>
                <a:lnTo>
                  <a:pt x="5689457" y="22787"/>
                </a:lnTo>
                <a:lnTo>
                  <a:pt x="5824921" y="33567"/>
                </a:lnTo>
                <a:lnTo>
                  <a:pt x="5960384" y="47128"/>
                </a:lnTo>
                <a:lnTo>
                  <a:pt x="6095847" y="63035"/>
                </a:lnTo>
                <a:lnTo>
                  <a:pt x="6231310" y="80738"/>
                </a:lnTo>
                <a:lnTo>
                  <a:pt x="6366774" y="99601"/>
                </a:lnTo>
                <a:lnTo>
                  <a:pt x="6502237" y="118939"/>
                </a:lnTo>
                <a:lnTo>
                  <a:pt x="6637700" y="138058"/>
                </a:lnTo>
                <a:lnTo>
                  <a:pt x="6773164" y="156290"/>
                </a:lnTo>
                <a:lnTo>
                  <a:pt x="6908627" y="173034"/>
                </a:lnTo>
                <a:lnTo>
                  <a:pt x="7044090" y="187783"/>
                </a:lnTo>
                <a:lnTo>
                  <a:pt x="7179553" y="200156"/>
                </a:lnTo>
                <a:lnTo>
                  <a:pt x="7315017" y="209912"/>
                </a:lnTo>
                <a:lnTo>
                  <a:pt x="7450480" y="216953"/>
                </a:lnTo>
                <a:lnTo>
                  <a:pt x="7585943" y="221331"/>
                </a:lnTo>
                <a:lnTo>
                  <a:pt x="7721406" y="223229"/>
                </a:lnTo>
                <a:lnTo>
                  <a:pt x="7856870" y="222943"/>
                </a:lnTo>
                <a:lnTo>
                  <a:pt x="7992333" y="220854"/>
                </a:lnTo>
                <a:lnTo>
                  <a:pt x="8127796" y="217398"/>
                </a:lnTo>
                <a:lnTo>
                  <a:pt x="8263260" y="213025"/>
                </a:lnTo>
                <a:lnTo>
                  <a:pt x="8398723" y="208173"/>
                </a:lnTo>
                <a:lnTo>
                  <a:pt x="8534186" y="203226"/>
                </a:lnTo>
                <a:lnTo>
                  <a:pt x="8669649" y="198493"/>
                </a:lnTo>
                <a:lnTo>
                  <a:pt x="8805113" y="194182"/>
                </a:lnTo>
                <a:lnTo>
                  <a:pt x="8940576" y="190390"/>
                </a:lnTo>
                <a:lnTo>
                  <a:pt x="9076039" y="187099"/>
                </a:lnTo>
                <a:lnTo>
                  <a:pt x="9211503" y="184181"/>
                </a:lnTo>
                <a:lnTo>
                  <a:pt x="9346966" y="181412"/>
                </a:lnTo>
                <a:lnTo>
                  <a:pt x="9482429" y="178496"/>
                </a:lnTo>
                <a:lnTo>
                  <a:pt x="9617892" y="175092"/>
                </a:lnTo>
                <a:lnTo>
                  <a:pt x="9753356" y="170845"/>
                </a:lnTo>
                <a:lnTo>
                  <a:pt x="9888819" y="165425"/>
                </a:lnTo>
                <a:lnTo>
                  <a:pt x="10024282" y="158555"/>
                </a:lnTo>
                <a:lnTo>
                  <a:pt x="10159746" y="150040"/>
                </a:lnTo>
                <a:lnTo>
                  <a:pt x="10295209" y="139797"/>
                </a:lnTo>
                <a:lnTo>
                  <a:pt x="10430672" y="127865"/>
                </a:lnTo>
                <a:lnTo>
                  <a:pt x="10566135" y="114415"/>
                </a:lnTo>
                <a:lnTo>
                  <a:pt x="10701599" y="99751"/>
                </a:lnTo>
                <a:lnTo>
                  <a:pt x="10837062" y="84291"/>
                </a:lnTo>
                <a:lnTo>
                  <a:pt x="10972525" y="68554"/>
                </a:lnTo>
                <a:lnTo>
                  <a:pt x="11107988" y="53129"/>
                </a:lnTo>
                <a:lnTo>
                  <a:pt x="11243452" y="38641"/>
                </a:lnTo>
                <a:lnTo>
                  <a:pt x="11378915" y="25713"/>
                </a:lnTo>
                <a:lnTo>
                  <a:pt x="11514378" y="14931"/>
                </a:lnTo>
                <a:lnTo>
                  <a:pt x="11649842" y="6805"/>
                </a:lnTo>
                <a:lnTo>
                  <a:pt x="11785305" y="1738"/>
                </a:lnTo>
                <a:lnTo>
                  <a:pt x="11920768" y="0"/>
                </a:lnTo>
                <a:lnTo>
                  <a:pt x="12056231" y="1708"/>
                </a:lnTo>
                <a:lnTo>
                  <a:pt x="12191695" y="6822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6467906"/>
            <a:ext cx="12191695" cy="248613"/>
          </a:xfrm>
          <a:custGeom>
            <a:avLst/>
            <a:gdLst/>
            <a:ahLst/>
            <a:cxnLst/>
            <a:rect l="l" t="t" r="r" b="b"/>
            <a:pathLst>
              <a:path w="12191695" h="248613">
                <a:moveTo>
                  <a:pt x="0" y="169572"/>
                </a:moveTo>
                <a:lnTo>
                  <a:pt x="135463" y="187517"/>
                </a:lnTo>
                <a:lnTo>
                  <a:pt x="270926" y="204116"/>
                </a:lnTo>
                <a:lnTo>
                  <a:pt x="406389" y="218744"/>
                </a:lnTo>
                <a:lnTo>
                  <a:pt x="541853" y="230861"/>
                </a:lnTo>
                <a:lnTo>
                  <a:pt x="677316" y="240043"/>
                </a:lnTo>
                <a:lnTo>
                  <a:pt x="812779" y="246004"/>
                </a:lnTo>
                <a:lnTo>
                  <a:pt x="948242" y="248613"/>
                </a:lnTo>
                <a:lnTo>
                  <a:pt x="1083706" y="247896"/>
                </a:lnTo>
                <a:lnTo>
                  <a:pt x="1219169" y="244031"/>
                </a:lnTo>
                <a:lnTo>
                  <a:pt x="1354632" y="237338"/>
                </a:lnTo>
                <a:lnTo>
                  <a:pt x="1490096" y="228250"/>
                </a:lnTo>
                <a:lnTo>
                  <a:pt x="1625559" y="217286"/>
                </a:lnTo>
                <a:lnTo>
                  <a:pt x="1761022" y="205017"/>
                </a:lnTo>
                <a:lnTo>
                  <a:pt x="1896485" y="192024"/>
                </a:lnTo>
                <a:lnTo>
                  <a:pt x="2031949" y="178869"/>
                </a:lnTo>
                <a:lnTo>
                  <a:pt x="2167412" y="166053"/>
                </a:lnTo>
                <a:lnTo>
                  <a:pt x="2302875" y="153992"/>
                </a:lnTo>
                <a:lnTo>
                  <a:pt x="2438339" y="142992"/>
                </a:lnTo>
                <a:lnTo>
                  <a:pt x="2573802" y="133239"/>
                </a:lnTo>
                <a:lnTo>
                  <a:pt x="2709265" y="124790"/>
                </a:lnTo>
                <a:lnTo>
                  <a:pt x="2844728" y="117583"/>
                </a:lnTo>
                <a:lnTo>
                  <a:pt x="2980192" y="111449"/>
                </a:lnTo>
                <a:lnTo>
                  <a:pt x="3115655" y="106137"/>
                </a:lnTo>
                <a:lnTo>
                  <a:pt x="3251118" y="101335"/>
                </a:lnTo>
                <a:lnTo>
                  <a:pt x="3386582" y="96713"/>
                </a:lnTo>
                <a:lnTo>
                  <a:pt x="3522045" y="91945"/>
                </a:lnTo>
                <a:lnTo>
                  <a:pt x="3657508" y="86753"/>
                </a:lnTo>
                <a:lnTo>
                  <a:pt x="3792971" y="80928"/>
                </a:lnTo>
                <a:lnTo>
                  <a:pt x="3928435" y="74354"/>
                </a:lnTo>
                <a:lnTo>
                  <a:pt x="4063898" y="67031"/>
                </a:lnTo>
                <a:lnTo>
                  <a:pt x="4199361" y="59072"/>
                </a:lnTo>
                <a:lnTo>
                  <a:pt x="4334824" y="50711"/>
                </a:lnTo>
                <a:lnTo>
                  <a:pt x="4470288" y="42285"/>
                </a:lnTo>
                <a:lnTo>
                  <a:pt x="4605751" y="34213"/>
                </a:lnTo>
                <a:lnTo>
                  <a:pt x="4741214" y="26977"/>
                </a:lnTo>
                <a:lnTo>
                  <a:pt x="4876678" y="21080"/>
                </a:lnTo>
                <a:lnTo>
                  <a:pt x="5012141" y="17016"/>
                </a:lnTo>
                <a:lnTo>
                  <a:pt x="5147604" y="15233"/>
                </a:lnTo>
                <a:lnTo>
                  <a:pt x="5283067" y="16099"/>
                </a:lnTo>
                <a:lnTo>
                  <a:pt x="5418531" y="19870"/>
                </a:lnTo>
                <a:lnTo>
                  <a:pt x="5553994" y="26670"/>
                </a:lnTo>
                <a:lnTo>
                  <a:pt x="5689457" y="36475"/>
                </a:lnTo>
                <a:lnTo>
                  <a:pt x="5824921" y="49109"/>
                </a:lnTo>
                <a:lnTo>
                  <a:pt x="5960384" y="64247"/>
                </a:lnTo>
                <a:lnTo>
                  <a:pt x="6095847" y="81430"/>
                </a:lnTo>
                <a:lnTo>
                  <a:pt x="6231310" y="100088"/>
                </a:lnTo>
                <a:lnTo>
                  <a:pt x="6366774" y="119571"/>
                </a:lnTo>
                <a:lnTo>
                  <a:pt x="6502237" y="139187"/>
                </a:lnTo>
                <a:lnTo>
                  <a:pt x="6637700" y="158234"/>
                </a:lnTo>
                <a:lnTo>
                  <a:pt x="6773164" y="176047"/>
                </a:lnTo>
                <a:lnTo>
                  <a:pt x="6908627" y="192030"/>
                </a:lnTo>
                <a:lnTo>
                  <a:pt x="7044090" y="205690"/>
                </a:lnTo>
                <a:lnTo>
                  <a:pt x="7179553" y="216660"/>
                </a:lnTo>
                <a:lnTo>
                  <a:pt x="7315017" y="224721"/>
                </a:lnTo>
                <a:lnTo>
                  <a:pt x="7450480" y="229802"/>
                </a:lnTo>
                <a:lnTo>
                  <a:pt x="7585943" y="231983"/>
                </a:lnTo>
                <a:lnTo>
                  <a:pt x="7721406" y="231480"/>
                </a:lnTo>
                <a:lnTo>
                  <a:pt x="7856870" y="228626"/>
                </a:lnTo>
                <a:lnTo>
                  <a:pt x="7992333" y="223841"/>
                </a:lnTo>
                <a:lnTo>
                  <a:pt x="8127796" y="217601"/>
                </a:lnTo>
                <a:lnTo>
                  <a:pt x="8263260" y="210399"/>
                </a:lnTo>
                <a:lnTo>
                  <a:pt x="8398723" y="202714"/>
                </a:lnTo>
                <a:lnTo>
                  <a:pt x="8534186" y="194975"/>
                </a:lnTo>
                <a:lnTo>
                  <a:pt x="8669649" y="187531"/>
                </a:lnTo>
                <a:lnTo>
                  <a:pt x="8805113" y="180631"/>
                </a:lnTo>
                <a:lnTo>
                  <a:pt x="8940576" y="174414"/>
                </a:lnTo>
                <a:lnTo>
                  <a:pt x="9076039" y="168896"/>
                </a:lnTo>
                <a:lnTo>
                  <a:pt x="9211503" y="163983"/>
                </a:lnTo>
                <a:lnTo>
                  <a:pt x="9346966" y="159481"/>
                </a:lnTo>
                <a:lnTo>
                  <a:pt x="9482429" y="155122"/>
                </a:lnTo>
                <a:lnTo>
                  <a:pt x="9617892" y="150584"/>
                </a:lnTo>
                <a:lnTo>
                  <a:pt x="9753356" y="145531"/>
                </a:lnTo>
                <a:lnTo>
                  <a:pt x="9888819" y="139645"/>
                </a:lnTo>
                <a:lnTo>
                  <a:pt x="10024282" y="132654"/>
                </a:lnTo>
                <a:lnTo>
                  <a:pt x="10159746" y="124369"/>
                </a:lnTo>
                <a:lnTo>
                  <a:pt x="10295209" y="114699"/>
                </a:lnTo>
                <a:lnTo>
                  <a:pt x="10430672" y="103677"/>
                </a:lnTo>
                <a:lnTo>
                  <a:pt x="10566135" y="91461"/>
                </a:lnTo>
                <a:lnTo>
                  <a:pt x="10701599" y="78333"/>
                </a:lnTo>
                <a:lnTo>
                  <a:pt x="10837062" y="64691"/>
                </a:lnTo>
                <a:lnTo>
                  <a:pt x="10972525" y="51025"/>
                </a:lnTo>
                <a:lnTo>
                  <a:pt x="11107988" y="37893"/>
                </a:lnTo>
                <a:lnTo>
                  <a:pt x="11243452" y="25885"/>
                </a:lnTo>
                <a:lnTo>
                  <a:pt x="11378915" y="15588"/>
                </a:lnTo>
                <a:lnTo>
                  <a:pt x="11514378" y="7547"/>
                </a:lnTo>
                <a:lnTo>
                  <a:pt x="11649842" y="2231"/>
                </a:lnTo>
                <a:lnTo>
                  <a:pt x="11785305" y="0"/>
                </a:lnTo>
                <a:lnTo>
                  <a:pt x="11920768" y="1082"/>
                </a:lnTo>
                <a:lnTo>
                  <a:pt x="12056231" y="5551"/>
                </a:lnTo>
                <a:lnTo>
                  <a:pt x="12191695" y="13326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0" y="6533113"/>
            <a:ext cx="12191695" cy="246124"/>
          </a:xfrm>
          <a:custGeom>
            <a:avLst/>
            <a:gdLst/>
            <a:ahLst/>
            <a:cxnLst/>
            <a:rect l="l" t="t" r="r" b="b"/>
            <a:pathLst>
              <a:path w="12191695" h="246124">
                <a:moveTo>
                  <a:pt x="0" y="183172"/>
                </a:moveTo>
                <a:lnTo>
                  <a:pt x="135463" y="199432"/>
                </a:lnTo>
                <a:lnTo>
                  <a:pt x="270926" y="214077"/>
                </a:lnTo>
                <a:lnTo>
                  <a:pt x="406389" y="226514"/>
                </a:lnTo>
                <a:lnTo>
                  <a:pt x="541853" y="236236"/>
                </a:lnTo>
                <a:lnTo>
                  <a:pt x="677316" y="242855"/>
                </a:lnTo>
                <a:lnTo>
                  <a:pt x="812779" y="246124"/>
                </a:lnTo>
                <a:lnTo>
                  <a:pt x="948242" y="245951"/>
                </a:lnTo>
                <a:lnTo>
                  <a:pt x="1083706" y="242404"/>
                </a:lnTo>
                <a:lnTo>
                  <a:pt x="1219169" y="235707"/>
                </a:lnTo>
                <a:lnTo>
                  <a:pt x="1354632" y="226219"/>
                </a:lnTo>
                <a:lnTo>
                  <a:pt x="1490096" y="214417"/>
                </a:lnTo>
                <a:lnTo>
                  <a:pt x="1625559" y="200862"/>
                </a:lnTo>
                <a:lnTo>
                  <a:pt x="1761022" y="186161"/>
                </a:lnTo>
                <a:lnTo>
                  <a:pt x="1896485" y="170935"/>
                </a:lnTo>
                <a:lnTo>
                  <a:pt x="2031949" y="155777"/>
                </a:lnTo>
                <a:lnTo>
                  <a:pt x="2167412" y="141221"/>
                </a:lnTo>
                <a:lnTo>
                  <a:pt x="2302875" y="127707"/>
                </a:lnTo>
                <a:lnTo>
                  <a:pt x="2438339" y="115564"/>
                </a:lnTo>
                <a:lnTo>
                  <a:pt x="2573802" y="104994"/>
                </a:lnTo>
                <a:lnTo>
                  <a:pt x="2709265" y="96068"/>
                </a:lnTo>
                <a:lnTo>
                  <a:pt x="2844728" y="88731"/>
                </a:lnTo>
                <a:lnTo>
                  <a:pt x="2980192" y="82816"/>
                </a:lnTo>
                <a:lnTo>
                  <a:pt x="3115655" y="78067"/>
                </a:lnTo>
                <a:lnTo>
                  <a:pt x="3251118" y="74166"/>
                </a:lnTo>
                <a:lnTo>
                  <a:pt x="3386582" y="70766"/>
                </a:lnTo>
                <a:lnTo>
                  <a:pt x="3522045" y="67527"/>
                </a:lnTo>
                <a:lnTo>
                  <a:pt x="3657508" y="64145"/>
                </a:lnTo>
                <a:lnTo>
                  <a:pt x="3792971" y="60383"/>
                </a:lnTo>
                <a:lnTo>
                  <a:pt x="3928435" y="56096"/>
                </a:lnTo>
                <a:lnTo>
                  <a:pt x="4063898" y="51248"/>
                </a:lnTo>
                <a:lnTo>
                  <a:pt x="4199361" y="45917"/>
                </a:lnTo>
                <a:lnTo>
                  <a:pt x="4334824" y="40294"/>
                </a:lnTo>
                <a:lnTo>
                  <a:pt x="4470288" y="34675"/>
                </a:lnTo>
                <a:lnTo>
                  <a:pt x="4605751" y="29440"/>
                </a:lnTo>
                <a:lnTo>
                  <a:pt x="4741214" y="25025"/>
                </a:lnTo>
                <a:lnTo>
                  <a:pt x="4876678" y="21891"/>
                </a:lnTo>
                <a:lnTo>
                  <a:pt x="5012141" y="20491"/>
                </a:lnTo>
                <a:lnTo>
                  <a:pt x="5147604" y="21233"/>
                </a:lnTo>
                <a:lnTo>
                  <a:pt x="5283067" y="24445"/>
                </a:lnTo>
                <a:lnTo>
                  <a:pt x="5418531" y="30349"/>
                </a:lnTo>
                <a:lnTo>
                  <a:pt x="5553994" y="39037"/>
                </a:lnTo>
                <a:lnTo>
                  <a:pt x="5689457" y="50457"/>
                </a:lnTo>
                <a:lnTo>
                  <a:pt x="5824921" y="64407"/>
                </a:lnTo>
                <a:lnTo>
                  <a:pt x="5960384" y="80543"/>
                </a:lnTo>
                <a:lnTo>
                  <a:pt x="6095847" y="98390"/>
                </a:lnTo>
                <a:lnTo>
                  <a:pt x="6231310" y="117369"/>
                </a:lnTo>
                <a:lnTo>
                  <a:pt x="6366774" y="136826"/>
                </a:lnTo>
                <a:lnTo>
                  <a:pt x="6502237" y="156066"/>
                </a:lnTo>
                <a:lnTo>
                  <a:pt x="6637700" y="174397"/>
                </a:lnTo>
                <a:lnTo>
                  <a:pt x="6773164" y="191162"/>
                </a:lnTo>
                <a:lnTo>
                  <a:pt x="6908627" y="205782"/>
                </a:lnTo>
                <a:lnTo>
                  <a:pt x="7044090" y="217784"/>
                </a:lnTo>
                <a:lnTo>
                  <a:pt x="7179553" y="226827"/>
                </a:lnTo>
                <a:lnTo>
                  <a:pt x="7315017" y="232720"/>
                </a:lnTo>
                <a:lnTo>
                  <a:pt x="7450480" y="235424"/>
                </a:lnTo>
                <a:lnTo>
                  <a:pt x="7585943" y="235057"/>
                </a:lnTo>
                <a:lnTo>
                  <a:pt x="7721406" y="231872"/>
                </a:lnTo>
                <a:lnTo>
                  <a:pt x="7856870" y="226244"/>
                </a:lnTo>
                <a:lnTo>
                  <a:pt x="7992333" y="218632"/>
                </a:lnTo>
                <a:lnTo>
                  <a:pt x="8127796" y="209557"/>
                </a:lnTo>
                <a:lnTo>
                  <a:pt x="8263260" y="199555"/>
                </a:lnTo>
                <a:lnTo>
                  <a:pt x="8398723" y="189147"/>
                </a:lnTo>
                <a:lnTo>
                  <a:pt x="8534186" y="178801"/>
                </a:lnTo>
                <a:lnTo>
                  <a:pt x="8669649" y="168908"/>
                </a:lnTo>
                <a:lnTo>
                  <a:pt x="8805113" y="159754"/>
                </a:lnTo>
                <a:lnTo>
                  <a:pt x="8940576" y="151510"/>
                </a:lnTo>
                <a:lnTo>
                  <a:pt x="9076039" y="144224"/>
                </a:lnTo>
                <a:lnTo>
                  <a:pt x="9211503" y="137828"/>
                </a:lnTo>
                <a:lnTo>
                  <a:pt x="9346966" y="132152"/>
                </a:lnTo>
                <a:lnTo>
                  <a:pt x="9482429" y="126943"/>
                </a:lnTo>
                <a:lnTo>
                  <a:pt x="9617892" y="121894"/>
                </a:lnTo>
                <a:lnTo>
                  <a:pt x="9753356" y="116677"/>
                </a:lnTo>
                <a:lnTo>
                  <a:pt x="9888819" y="110975"/>
                </a:lnTo>
                <a:lnTo>
                  <a:pt x="10024282" y="104513"/>
                </a:lnTo>
                <a:lnTo>
                  <a:pt x="10159746" y="97095"/>
                </a:lnTo>
                <a:lnTo>
                  <a:pt x="10295209" y="88617"/>
                </a:lnTo>
                <a:lnTo>
                  <a:pt x="10430672" y="79094"/>
                </a:lnTo>
                <a:lnTo>
                  <a:pt x="10566135" y="68661"/>
                </a:lnTo>
                <a:lnTo>
                  <a:pt x="10701599" y="57573"/>
                </a:lnTo>
                <a:lnTo>
                  <a:pt x="10837062" y="46197"/>
                </a:lnTo>
                <a:lnTo>
                  <a:pt x="10972525" y="34990"/>
                </a:lnTo>
                <a:lnTo>
                  <a:pt x="11107988" y="24471"/>
                </a:lnTo>
                <a:lnTo>
                  <a:pt x="11243452" y="15192"/>
                </a:lnTo>
                <a:lnTo>
                  <a:pt x="11378915" y="7698"/>
                </a:lnTo>
                <a:lnTo>
                  <a:pt x="11514378" y="2492"/>
                </a:lnTo>
                <a:lnTo>
                  <a:pt x="11649842" y="0"/>
                </a:lnTo>
                <a:lnTo>
                  <a:pt x="11785305" y="541"/>
                </a:lnTo>
                <a:lnTo>
                  <a:pt x="11920768" y="4298"/>
                </a:lnTo>
                <a:lnTo>
                  <a:pt x="12056231" y="11307"/>
                </a:lnTo>
                <a:lnTo>
                  <a:pt x="12191695" y="21447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0" y="6600998"/>
            <a:ext cx="12191695" cy="238322"/>
          </a:xfrm>
          <a:custGeom>
            <a:avLst/>
            <a:gdLst/>
            <a:ahLst/>
            <a:cxnLst/>
            <a:rect l="l" t="t" r="r" b="b"/>
            <a:pathLst>
              <a:path w="12191695" h="238322">
                <a:moveTo>
                  <a:pt x="0" y="190722"/>
                </a:moveTo>
                <a:lnTo>
                  <a:pt x="135463" y="204821"/>
                </a:lnTo>
                <a:lnTo>
                  <a:pt x="270926" y="217096"/>
                </a:lnTo>
                <a:lnTo>
                  <a:pt x="406389" y="226989"/>
                </a:lnTo>
                <a:lnTo>
                  <a:pt x="541853" y="234032"/>
                </a:lnTo>
                <a:lnTo>
                  <a:pt x="677316" y="237878"/>
                </a:lnTo>
                <a:lnTo>
                  <a:pt x="812779" y="238322"/>
                </a:lnTo>
                <a:lnTo>
                  <a:pt x="948242" y="235314"/>
                </a:lnTo>
                <a:lnTo>
                  <a:pt x="1083706" y="228966"/>
                </a:lnTo>
                <a:lnTo>
                  <a:pt x="1219169" y="219541"/>
                </a:lnTo>
                <a:lnTo>
                  <a:pt x="1354632" y="207444"/>
                </a:lnTo>
                <a:lnTo>
                  <a:pt x="1490096" y="193188"/>
                </a:lnTo>
                <a:lnTo>
                  <a:pt x="1625559" y="177371"/>
                </a:lnTo>
                <a:lnTo>
                  <a:pt x="1761022" y="160636"/>
                </a:lnTo>
                <a:lnTo>
                  <a:pt x="1896485" y="143634"/>
                </a:lnTo>
                <a:lnTo>
                  <a:pt x="2031949" y="126985"/>
                </a:lnTo>
                <a:lnTo>
                  <a:pt x="2167412" y="111244"/>
                </a:lnTo>
                <a:lnTo>
                  <a:pt x="2302875" y="96871"/>
                </a:lnTo>
                <a:lnTo>
                  <a:pt x="2438339" y="84207"/>
                </a:lnTo>
                <a:lnTo>
                  <a:pt x="2573802" y="73462"/>
                </a:lnTo>
                <a:lnTo>
                  <a:pt x="2709265" y="64709"/>
                </a:lnTo>
                <a:lnTo>
                  <a:pt x="2844728" y="57891"/>
                </a:lnTo>
                <a:lnTo>
                  <a:pt x="2980192" y="52834"/>
                </a:lnTo>
                <a:lnTo>
                  <a:pt x="3115655" y="49267"/>
                </a:lnTo>
                <a:lnTo>
                  <a:pt x="3251118" y="46856"/>
                </a:lnTo>
                <a:lnTo>
                  <a:pt x="3386582" y="45231"/>
                </a:lnTo>
                <a:lnTo>
                  <a:pt x="3522045" y="44024"/>
                </a:lnTo>
                <a:lnTo>
                  <a:pt x="3657508" y="42902"/>
                </a:lnTo>
                <a:lnTo>
                  <a:pt x="3792971" y="41593"/>
                </a:lnTo>
                <a:lnTo>
                  <a:pt x="3928435" y="39916"/>
                </a:lnTo>
                <a:lnTo>
                  <a:pt x="4063898" y="37794"/>
                </a:lnTo>
                <a:lnTo>
                  <a:pt x="4199361" y="35264"/>
                </a:lnTo>
                <a:lnTo>
                  <a:pt x="4334824" y="32476"/>
                </a:lnTo>
                <a:lnTo>
                  <a:pt x="4470288" y="29683"/>
                </a:lnTo>
                <a:lnTo>
                  <a:pt x="4605751" y="27220"/>
                </a:lnTo>
                <a:lnTo>
                  <a:pt x="4741214" y="25484"/>
                </a:lnTo>
                <a:lnTo>
                  <a:pt x="4876678" y="24895"/>
                </a:lnTo>
                <a:lnTo>
                  <a:pt x="5012141" y="25867"/>
                </a:lnTo>
                <a:lnTo>
                  <a:pt x="5147604" y="28771"/>
                </a:lnTo>
                <a:lnTo>
                  <a:pt x="5283067" y="33905"/>
                </a:lnTo>
                <a:lnTo>
                  <a:pt x="5418531" y="41460"/>
                </a:lnTo>
                <a:lnTo>
                  <a:pt x="5553994" y="51504"/>
                </a:lnTo>
                <a:lnTo>
                  <a:pt x="5689457" y="63964"/>
                </a:lnTo>
                <a:lnTo>
                  <a:pt x="5824921" y="78622"/>
                </a:lnTo>
                <a:lnTo>
                  <a:pt x="5960384" y="95124"/>
                </a:lnTo>
                <a:lnTo>
                  <a:pt x="6095847" y="112989"/>
                </a:lnTo>
                <a:lnTo>
                  <a:pt x="6231310" y="131639"/>
                </a:lnTo>
                <a:lnTo>
                  <a:pt x="6366774" y="150423"/>
                </a:lnTo>
                <a:lnTo>
                  <a:pt x="6502237" y="168658"/>
                </a:lnTo>
                <a:lnTo>
                  <a:pt x="6637700" y="185665"/>
                </a:lnTo>
                <a:lnTo>
                  <a:pt x="6773164" y="200809"/>
                </a:lnTo>
                <a:lnTo>
                  <a:pt x="6908627" y="213535"/>
                </a:lnTo>
                <a:lnTo>
                  <a:pt x="7044090" y="223398"/>
                </a:lnTo>
                <a:lnTo>
                  <a:pt x="7179553" y="230090"/>
                </a:lnTo>
                <a:lnTo>
                  <a:pt x="7315017" y="233454"/>
                </a:lnTo>
                <a:lnTo>
                  <a:pt x="7450480" y="233492"/>
                </a:lnTo>
                <a:lnTo>
                  <a:pt x="7585943" y="230359"/>
                </a:lnTo>
                <a:lnTo>
                  <a:pt x="7721406" y="224353"/>
                </a:lnTo>
                <a:lnTo>
                  <a:pt x="7856870" y="215888"/>
                </a:lnTo>
                <a:lnTo>
                  <a:pt x="7992333" y="205470"/>
                </a:lnTo>
                <a:lnTo>
                  <a:pt x="8127796" y="193658"/>
                </a:lnTo>
                <a:lnTo>
                  <a:pt x="8263260" y="181033"/>
                </a:lnTo>
                <a:lnTo>
                  <a:pt x="8398723" y="168153"/>
                </a:lnTo>
                <a:lnTo>
                  <a:pt x="8534186" y="155526"/>
                </a:lnTo>
                <a:lnTo>
                  <a:pt x="8669649" y="143575"/>
                </a:lnTo>
                <a:lnTo>
                  <a:pt x="8805113" y="132618"/>
                </a:lnTo>
                <a:lnTo>
                  <a:pt x="8940576" y="122852"/>
                </a:lnTo>
                <a:lnTo>
                  <a:pt x="9076039" y="114351"/>
                </a:lnTo>
                <a:lnTo>
                  <a:pt x="9211503" y="107063"/>
                </a:lnTo>
                <a:lnTo>
                  <a:pt x="9346966" y="100832"/>
                </a:lnTo>
                <a:lnTo>
                  <a:pt x="9482429" y="95413"/>
                </a:lnTo>
                <a:lnTo>
                  <a:pt x="9617892" y="90502"/>
                </a:lnTo>
                <a:lnTo>
                  <a:pt x="9753356" y="85770"/>
                </a:lnTo>
                <a:lnTo>
                  <a:pt x="9888819" y="80892"/>
                </a:lnTo>
                <a:lnTo>
                  <a:pt x="10024282" y="75582"/>
                </a:lnTo>
                <a:lnTo>
                  <a:pt x="10159746" y="69623"/>
                </a:lnTo>
                <a:lnTo>
                  <a:pt x="10295209" y="62893"/>
                </a:lnTo>
                <a:lnTo>
                  <a:pt x="10430672" y="55378"/>
                </a:lnTo>
                <a:lnTo>
                  <a:pt x="10566135" y="47183"/>
                </a:lnTo>
                <a:lnTo>
                  <a:pt x="10701599" y="38531"/>
                </a:lnTo>
                <a:lnTo>
                  <a:pt x="10837062" y="29751"/>
                </a:lnTo>
                <a:lnTo>
                  <a:pt x="10972525" y="21260"/>
                </a:lnTo>
                <a:lnTo>
                  <a:pt x="11107988" y="13537"/>
                </a:lnTo>
                <a:lnTo>
                  <a:pt x="11243452" y="7091"/>
                </a:lnTo>
                <a:lnTo>
                  <a:pt x="11378915" y="2425"/>
                </a:lnTo>
                <a:lnTo>
                  <a:pt x="11514378" y="0"/>
                </a:lnTo>
                <a:lnTo>
                  <a:pt x="11649842" y="198"/>
                </a:lnTo>
                <a:lnTo>
                  <a:pt x="11785305" y="3299"/>
                </a:lnTo>
                <a:lnTo>
                  <a:pt x="11920768" y="9446"/>
                </a:lnTo>
                <a:lnTo>
                  <a:pt x="12056231" y="18641"/>
                </a:lnTo>
                <a:lnTo>
                  <a:pt x="12191695" y="30728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46304"/>
            <a:ext cx="11283696" cy="44805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实施难点与对策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722376"/>
            <a:ext cx="585216" cy="41148"/>
          </a:xfrm>
          <a:prstGeom prst="rect">
            <a:avLst/>
          </a:prstGeom>
          <a:solidFill>
            <a:srgbClr val="EE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649224"/>
            <a:ext cx="10469880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2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先解决内容、规则和连接，再扩大任务自由度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292608"/>
            <a:ext cx="896112" cy="20116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HiAgent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6647688"/>
            <a:ext cx="10241280" cy="1280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7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企业数据智能体建设规划  /  规划视图  /  2026.10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629400"/>
            <a:ext cx="585216" cy="17373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" y="1074419"/>
            <a:ext cx="2798064" cy="93268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1042415"/>
            <a:ext cx="2798064" cy="932688"/>
          </a:xfrm>
          <a:prstGeom prst="roundRect">
            <a:avLst>
              <a:gd name="adj" fmla="val 5500"/>
            </a:avLst>
          </a:prstGeom>
          <a:solidFill>
            <a:srgbClr val="FFF6E9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" y="1188719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1124712"/>
            <a:ext cx="2404872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语义与指标治理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1600200"/>
            <a:ext cx="2432304" cy="27432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5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历史口径、同义异义与责任不清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337560" y="1508760"/>
            <a:ext cx="448055" cy="0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727149" y="1508760"/>
            <a:ext cx="58466" cy="35845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3727149" y="1472914"/>
            <a:ext cx="58466" cy="35846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845052" y="1074419"/>
            <a:ext cx="4581144" cy="93268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822191" y="1042415"/>
            <a:ext cx="4581144" cy="9326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68496" y="1188719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78224" y="1124712"/>
            <a:ext cx="4187952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建设应对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05072" y="1600200"/>
            <a:ext cx="4215383" cy="27432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核心场景先行，建立受控定义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1115568"/>
            <a:ext cx="2916936" cy="74980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依赖：业务与数据责任人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5780" y="2226564"/>
            <a:ext cx="2798064" cy="93268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2920" y="2194560"/>
            <a:ext cx="2798064" cy="932688"/>
          </a:xfrm>
          <a:prstGeom prst="roundRect">
            <a:avLst>
              <a:gd name="adj" fmla="val 5500"/>
            </a:avLst>
          </a:prstGeom>
          <a:solidFill>
            <a:srgbClr val="FFF6E9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9224" y="2340864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" y="2276856"/>
            <a:ext cx="2404872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规范可执行化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2752344"/>
            <a:ext cx="2432304" cy="27432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5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文档中含例外、主观项与冲突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337560" y="2660904"/>
            <a:ext cx="448055" cy="0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3727149" y="2660904"/>
            <a:ext cx="58466" cy="35845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3727149" y="2625058"/>
            <a:ext cx="58466" cy="35846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3845052" y="2226564"/>
            <a:ext cx="4581144" cy="93268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822191" y="2194560"/>
            <a:ext cx="4581144" cy="9326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68496" y="2340864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78224" y="2276856"/>
            <a:ext cx="4187952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建设应对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05072" y="2752344"/>
            <a:ext cx="4215383" cy="27432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拆分机器规则、模板与专家项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2267712"/>
            <a:ext cx="2916936" cy="74980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依赖：规范及验证样本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25780" y="3378708"/>
            <a:ext cx="2798064" cy="93268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02920" y="3346704"/>
            <a:ext cx="2798064" cy="932688"/>
          </a:xfrm>
          <a:prstGeom prst="roundRect">
            <a:avLst>
              <a:gd name="adj" fmla="val 5500"/>
            </a:avLst>
          </a:prstGeom>
          <a:solidFill>
            <a:srgbClr val="FFF6E9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9224" y="3493008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8952" y="3429000"/>
            <a:ext cx="2404872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跨平台权限与状态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3904488"/>
            <a:ext cx="2432304" cy="27432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5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身份、环境、错误和操作范围不同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337560" y="3813048"/>
            <a:ext cx="448055" cy="0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3727149" y="3813048"/>
            <a:ext cx="58466" cy="35845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3727149" y="3777202"/>
            <a:ext cx="58466" cy="35846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3845052" y="3378708"/>
            <a:ext cx="4581144" cy="93268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822191" y="3346704"/>
            <a:ext cx="4581144" cy="9326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968496" y="3493008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78224" y="3429000"/>
            <a:ext cx="4187952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建设应对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05072" y="3904488"/>
            <a:ext cx="4215383" cy="27432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统一契约，原平台受控执行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32520" y="3419856"/>
            <a:ext cx="2916936" cy="74980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依赖：接口开放与联调环境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25780" y="4530852"/>
            <a:ext cx="2798064" cy="93268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02920" y="4498848"/>
            <a:ext cx="2798064" cy="932688"/>
          </a:xfrm>
          <a:prstGeom prst="roundRect">
            <a:avLst>
              <a:gd name="adj" fmla="val 5500"/>
            </a:avLst>
          </a:prstGeom>
          <a:solidFill>
            <a:srgbClr val="FFF6E9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49224" y="4645152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8952" y="4581144"/>
            <a:ext cx="2404872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模型关联与血缘覆盖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5056632"/>
            <a:ext cx="2432304" cy="27432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5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粒度、基数及跨系统依赖不完整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337560" y="4965192"/>
            <a:ext cx="448055" cy="0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3727149" y="4965192"/>
            <a:ext cx="58466" cy="35845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 flipV="1">
            <a:off x="3727149" y="4929346"/>
            <a:ext cx="58466" cy="35846"/>
          </a:xfrm>
          <a:prstGeom prst="line">
            <a:avLst/>
          </a:prstGeom>
          <a:ln w="12700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3845052" y="4530852"/>
            <a:ext cx="4581144" cy="93268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3822191" y="4498848"/>
            <a:ext cx="4581144" cy="9326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968496" y="4645152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078224" y="4581144"/>
            <a:ext cx="4187952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建设应对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05072" y="5056632"/>
            <a:ext cx="4215383" cy="27432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同域验证，显示范围并补采集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32520" y="4572000"/>
            <a:ext cx="2916936" cy="74980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依赖：元数据与真实血缘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61772" y="6112764"/>
            <a:ext cx="11247120" cy="33832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438912" y="6080760"/>
            <a:ext cx="11247120" cy="338328"/>
          </a:xfrm>
          <a:prstGeom prst="roundRect">
            <a:avLst>
              <a:gd name="adj" fmla="val 5500"/>
            </a:avLst>
          </a:prstGeom>
          <a:solidFill>
            <a:srgbClr val="EEF7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85216" y="6117336"/>
            <a:ext cx="10954512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优先边界清晰、输入可得、结果可验证的场景；不以代码能生成或接口已接通判断任务可用。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6346471"/>
            <a:ext cx="12191695" cy="235953"/>
          </a:xfrm>
          <a:custGeom>
            <a:avLst/>
            <a:gdLst/>
            <a:ahLst/>
            <a:cxnLst/>
            <a:rect l="l" t="t" r="r" b="b"/>
            <a:pathLst>
              <a:path w="12191695" h="235953">
                <a:moveTo>
                  <a:pt x="0" y="127481"/>
                </a:moveTo>
                <a:lnTo>
                  <a:pt x="135463" y="147046"/>
                </a:lnTo>
                <a:lnTo>
                  <a:pt x="270926" y="165914"/>
                </a:lnTo>
                <a:lnTo>
                  <a:pt x="406389" y="183426"/>
                </a:lnTo>
                <a:lnTo>
                  <a:pt x="541853" y="199000"/>
                </a:lnTo>
                <a:lnTo>
                  <a:pt x="677316" y="212159"/>
                </a:lnTo>
                <a:lnTo>
                  <a:pt x="812779" y="222557"/>
                </a:lnTo>
                <a:lnTo>
                  <a:pt x="948242" y="229995"/>
                </a:lnTo>
                <a:lnTo>
                  <a:pt x="1083706" y="234426"/>
                </a:lnTo>
                <a:lnTo>
                  <a:pt x="1219169" y="235953"/>
                </a:lnTo>
                <a:lnTo>
                  <a:pt x="1354632" y="234812"/>
                </a:lnTo>
                <a:lnTo>
                  <a:pt x="1490096" y="231352"/>
                </a:lnTo>
                <a:lnTo>
                  <a:pt x="1625559" y="226009"/>
                </a:lnTo>
                <a:lnTo>
                  <a:pt x="1761022" y="219267"/>
                </a:lnTo>
                <a:lnTo>
                  <a:pt x="1896485" y="211626"/>
                </a:lnTo>
                <a:lnTo>
                  <a:pt x="2031949" y="203564"/>
                </a:lnTo>
                <a:lnTo>
                  <a:pt x="2167412" y="195508"/>
                </a:lnTo>
                <a:lnTo>
                  <a:pt x="2302875" y="187800"/>
                </a:lnTo>
                <a:lnTo>
                  <a:pt x="2438339" y="180682"/>
                </a:lnTo>
                <a:lnTo>
                  <a:pt x="2573802" y="174280"/>
                </a:lnTo>
                <a:lnTo>
                  <a:pt x="2709265" y="168601"/>
                </a:lnTo>
                <a:lnTo>
                  <a:pt x="2844728" y="163541"/>
                </a:lnTo>
                <a:lnTo>
                  <a:pt x="2980192" y="158900"/>
                </a:lnTo>
                <a:lnTo>
                  <a:pt x="3115655" y="154402"/>
                </a:lnTo>
                <a:lnTo>
                  <a:pt x="3251118" y="149724"/>
                </a:lnTo>
                <a:lnTo>
                  <a:pt x="3386582" y="144534"/>
                </a:lnTo>
                <a:lnTo>
                  <a:pt x="3522045" y="138515"/>
                </a:lnTo>
                <a:lnTo>
                  <a:pt x="3657508" y="131408"/>
                </a:lnTo>
                <a:lnTo>
                  <a:pt x="3792971" y="123031"/>
                </a:lnTo>
                <a:lnTo>
                  <a:pt x="3928435" y="113309"/>
                </a:lnTo>
                <a:lnTo>
                  <a:pt x="4063898" y="102287"/>
                </a:lnTo>
                <a:lnTo>
                  <a:pt x="4199361" y="90138"/>
                </a:lnTo>
                <a:lnTo>
                  <a:pt x="4334824" y="77155"/>
                </a:lnTo>
                <a:lnTo>
                  <a:pt x="4470288" y="63745"/>
                </a:lnTo>
                <a:lnTo>
                  <a:pt x="4605751" y="50406"/>
                </a:lnTo>
                <a:lnTo>
                  <a:pt x="4741214" y="37696"/>
                </a:lnTo>
                <a:lnTo>
                  <a:pt x="4876678" y="26202"/>
                </a:lnTo>
                <a:lnTo>
                  <a:pt x="5012141" y="16503"/>
                </a:lnTo>
                <a:lnTo>
                  <a:pt x="5147604" y="9131"/>
                </a:lnTo>
                <a:lnTo>
                  <a:pt x="5283067" y="4538"/>
                </a:lnTo>
                <a:lnTo>
                  <a:pt x="5418531" y="3064"/>
                </a:lnTo>
                <a:lnTo>
                  <a:pt x="5553994" y="4912"/>
                </a:lnTo>
                <a:lnTo>
                  <a:pt x="5689457" y="10132"/>
                </a:lnTo>
                <a:lnTo>
                  <a:pt x="5824921" y="18617"/>
                </a:lnTo>
                <a:lnTo>
                  <a:pt x="5960384" y="30106"/>
                </a:lnTo>
                <a:lnTo>
                  <a:pt x="6095847" y="44193"/>
                </a:lnTo>
                <a:lnTo>
                  <a:pt x="6231310" y="60357"/>
                </a:lnTo>
                <a:lnTo>
                  <a:pt x="6366774" y="77984"/>
                </a:lnTo>
                <a:lnTo>
                  <a:pt x="6502237" y="96410"/>
                </a:lnTo>
                <a:lnTo>
                  <a:pt x="6637700" y="114953"/>
                </a:lnTo>
                <a:lnTo>
                  <a:pt x="6773164" y="132954"/>
                </a:lnTo>
                <a:lnTo>
                  <a:pt x="6908627" y="149814"/>
                </a:lnTo>
                <a:lnTo>
                  <a:pt x="7044090" y="165027"/>
                </a:lnTo>
                <a:lnTo>
                  <a:pt x="7179553" y="178204"/>
                </a:lnTo>
                <a:lnTo>
                  <a:pt x="7315017" y="189090"/>
                </a:lnTo>
                <a:lnTo>
                  <a:pt x="7450480" y="197574"/>
                </a:lnTo>
                <a:lnTo>
                  <a:pt x="7585943" y="203682"/>
                </a:lnTo>
                <a:lnTo>
                  <a:pt x="7721406" y="207573"/>
                </a:lnTo>
                <a:lnTo>
                  <a:pt x="7856870" y="209512"/>
                </a:lnTo>
                <a:lnTo>
                  <a:pt x="7992333" y="209848"/>
                </a:lnTo>
                <a:lnTo>
                  <a:pt x="8127796" y="208978"/>
                </a:lnTo>
                <a:lnTo>
                  <a:pt x="8263260" y="207316"/>
                </a:lnTo>
                <a:lnTo>
                  <a:pt x="8398723" y="205256"/>
                </a:lnTo>
                <a:lnTo>
                  <a:pt x="8534186" y="203141"/>
                </a:lnTo>
                <a:lnTo>
                  <a:pt x="8669649" y="201238"/>
                </a:lnTo>
                <a:lnTo>
                  <a:pt x="8805113" y="199711"/>
                </a:lnTo>
                <a:lnTo>
                  <a:pt x="8940576" y="198616"/>
                </a:lnTo>
                <a:lnTo>
                  <a:pt x="9076039" y="197894"/>
                </a:lnTo>
                <a:lnTo>
                  <a:pt x="9211503" y="197378"/>
                </a:lnTo>
                <a:lnTo>
                  <a:pt x="9346966" y="196808"/>
                </a:lnTo>
                <a:lnTo>
                  <a:pt x="9482429" y="195855"/>
                </a:lnTo>
                <a:lnTo>
                  <a:pt x="9617892" y="194147"/>
                </a:lnTo>
                <a:lnTo>
                  <a:pt x="9753356" y="191305"/>
                </a:lnTo>
                <a:lnTo>
                  <a:pt x="9888819" y="186977"/>
                </a:lnTo>
                <a:lnTo>
                  <a:pt x="10024282" y="180869"/>
                </a:lnTo>
                <a:lnTo>
                  <a:pt x="10159746" y="172776"/>
                </a:lnTo>
                <a:lnTo>
                  <a:pt x="10295209" y="162608"/>
                </a:lnTo>
                <a:lnTo>
                  <a:pt x="10430672" y="150402"/>
                </a:lnTo>
                <a:lnTo>
                  <a:pt x="10566135" y="136335"/>
                </a:lnTo>
                <a:lnTo>
                  <a:pt x="10701599" y="120717"/>
                </a:lnTo>
                <a:lnTo>
                  <a:pt x="10837062" y="103984"/>
                </a:lnTo>
                <a:lnTo>
                  <a:pt x="10972525" y="86673"/>
                </a:lnTo>
                <a:lnTo>
                  <a:pt x="11107988" y="69396"/>
                </a:lnTo>
                <a:lnTo>
                  <a:pt x="11243452" y="52806"/>
                </a:lnTo>
                <a:lnTo>
                  <a:pt x="11378915" y="37558"/>
                </a:lnTo>
                <a:lnTo>
                  <a:pt x="11514378" y="24274"/>
                </a:lnTo>
                <a:lnTo>
                  <a:pt x="11649842" y="13501"/>
                </a:lnTo>
                <a:lnTo>
                  <a:pt x="11785305" y="5683"/>
                </a:lnTo>
                <a:lnTo>
                  <a:pt x="11920768" y="1129"/>
                </a:lnTo>
                <a:lnTo>
                  <a:pt x="12056231" y="0"/>
                </a:lnTo>
                <a:lnTo>
                  <a:pt x="12191695" y="2300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6405649"/>
            <a:ext cx="12191695" cy="245182"/>
          </a:xfrm>
          <a:custGeom>
            <a:avLst/>
            <a:gdLst/>
            <a:ahLst/>
            <a:cxnLst/>
            <a:rect l="l" t="t" r="r" b="b"/>
            <a:pathLst>
              <a:path w="12191695" h="245182">
                <a:moveTo>
                  <a:pt x="0" y="150669"/>
                </a:moveTo>
                <a:lnTo>
                  <a:pt x="135463" y="169737"/>
                </a:lnTo>
                <a:lnTo>
                  <a:pt x="270926" y="187768"/>
                </a:lnTo>
                <a:lnTo>
                  <a:pt x="406389" y="204118"/>
                </a:lnTo>
                <a:lnTo>
                  <a:pt x="541853" y="218220"/>
                </a:lnTo>
                <a:lnTo>
                  <a:pt x="677316" y="229621"/>
                </a:lnTo>
                <a:lnTo>
                  <a:pt x="812779" y="238002"/>
                </a:lnTo>
                <a:lnTo>
                  <a:pt x="948242" y="243193"/>
                </a:lnTo>
                <a:lnTo>
                  <a:pt x="1083706" y="245182"/>
                </a:lnTo>
                <a:lnTo>
                  <a:pt x="1219169" y="244108"/>
                </a:lnTo>
                <a:lnTo>
                  <a:pt x="1354632" y="240247"/>
                </a:lnTo>
                <a:lnTo>
                  <a:pt x="1490096" y="233989"/>
                </a:lnTo>
                <a:lnTo>
                  <a:pt x="1625559" y="225812"/>
                </a:lnTo>
                <a:lnTo>
                  <a:pt x="1761022" y="216243"/>
                </a:lnTo>
                <a:lnTo>
                  <a:pt x="1896485" y="205824"/>
                </a:lnTo>
                <a:lnTo>
                  <a:pt x="2031949" y="195076"/>
                </a:lnTo>
                <a:lnTo>
                  <a:pt x="2167412" y="184466"/>
                </a:lnTo>
                <a:lnTo>
                  <a:pt x="2302875" y="174375"/>
                </a:lnTo>
                <a:lnTo>
                  <a:pt x="2438339" y="165080"/>
                </a:lnTo>
                <a:lnTo>
                  <a:pt x="2573802" y="156740"/>
                </a:lnTo>
                <a:lnTo>
                  <a:pt x="2709265" y="149392"/>
                </a:lnTo>
                <a:lnTo>
                  <a:pt x="2844728" y="142958"/>
                </a:lnTo>
                <a:lnTo>
                  <a:pt x="2980192" y="137257"/>
                </a:lnTo>
                <a:lnTo>
                  <a:pt x="3115655" y="132030"/>
                </a:lnTo>
                <a:lnTo>
                  <a:pt x="3251118" y="126965"/>
                </a:lnTo>
                <a:lnTo>
                  <a:pt x="3386582" y="121734"/>
                </a:lnTo>
                <a:lnTo>
                  <a:pt x="3522045" y="116024"/>
                </a:lnTo>
                <a:lnTo>
                  <a:pt x="3657508" y="109568"/>
                </a:lnTo>
                <a:lnTo>
                  <a:pt x="3792971" y="102177"/>
                </a:lnTo>
                <a:lnTo>
                  <a:pt x="3928435" y="93759"/>
                </a:lnTo>
                <a:lnTo>
                  <a:pt x="4063898" y="84341"/>
                </a:lnTo>
                <a:lnTo>
                  <a:pt x="4199361" y="74069"/>
                </a:lnTo>
                <a:lnTo>
                  <a:pt x="4334824" y="63211"/>
                </a:lnTo>
                <a:lnTo>
                  <a:pt x="4470288" y="52141"/>
                </a:lnTo>
                <a:lnTo>
                  <a:pt x="4605751" y="41320"/>
                </a:lnTo>
                <a:lnTo>
                  <a:pt x="4741214" y="31269"/>
                </a:lnTo>
                <a:lnTo>
                  <a:pt x="4876678" y="22536"/>
                </a:lnTo>
                <a:lnTo>
                  <a:pt x="5012141" y="15656"/>
                </a:lnTo>
                <a:lnTo>
                  <a:pt x="5147604" y="11120"/>
                </a:lnTo>
                <a:lnTo>
                  <a:pt x="5283067" y="9338"/>
                </a:lnTo>
                <a:lnTo>
                  <a:pt x="5418531" y="10605"/>
                </a:lnTo>
                <a:lnTo>
                  <a:pt x="5553994" y="15085"/>
                </a:lnTo>
                <a:lnTo>
                  <a:pt x="5689457" y="22787"/>
                </a:lnTo>
                <a:lnTo>
                  <a:pt x="5824921" y="33567"/>
                </a:lnTo>
                <a:lnTo>
                  <a:pt x="5960384" y="47128"/>
                </a:lnTo>
                <a:lnTo>
                  <a:pt x="6095847" y="63035"/>
                </a:lnTo>
                <a:lnTo>
                  <a:pt x="6231310" y="80738"/>
                </a:lnTo>
                <a:lnTo>
                  <a:pt x="6366774" y="99601"/>
                </a:lnTo>
                <a:lnTo>
                  <a:pt x="6502237" y="118939"/>
                </a:lnTo>
                <a:lnTo>
                  <a:pt x="6637700" y="138058"/>
                </a:lnTo>
                <a:lnTo>
                  <a:pt x="6773164" y="156290"/>
                </a:lnTo>
                <a:lnTo>
                  <a:pt x="6908627" y="173034"/>
                </a:lnTo>
                <a:lnTo>
                  <a:pt x="7044090" y="187783"/>
                </a:lnTo>
                <a:lnTo>
                  <a:pt x="7179553" y="200156"/>
                </a:lnTo>
                <a:lnTo>
                  <a:pt x="7315017" y="209912"/>
                </a:lnTo>
                <a:lnTo>
                  <a:pt x="7450480" y="216953"/>
                </a:lnTo>
                <a:lnTo>
                  <a:pt x="7585943" y="221331"/>
                </a:lnTo>
                <a:lnTo>
                  <a:pt x="7721406" y="223229"/>
                </a:lnTo>
                <a:lnTo>
                  <a:pt x="7856870" y="222943"/>
                </a:lnTo>
                <a:lnTo>
                  <a:pt x="7992333" y="220854"/>
                </a:lnTo>
                <a:lnTo>
                  <a:pt x="8127796" y="217398"/>
                </a:lnTo>
                <a:lnTo>
                  <a:pt x="8263260" y="213025"/>
                </a:lnTo>
                <a:lnTo>
                  <a:pt x="8398723" y="208173"/>
                </a:lnTo>
                <a:lnTo>
                  <a:pt x="8534186" y="203226"/>
                </a:lnTo>
                <a:lnTo>
                  <a:pt x="8669649" y="198493"/>
                </a:lnTo>
                <a:lnTo>
                  <a:pt x="8805113" y="194182"/>
                </a:lnTo>
                <a:lnTo>
                  <a:pt x="8940576" y="190390"/>
                </a:lnTo>
                <a:lnTo>
                  <a:pt x="9076039" y="187099"/>
                </a:lnTo>
                <a:lnTo>
                  <a:pt x="9211503" y="184181"/>
                </a:lnTo>
                <a:lnTo>
                  <a:pt x="9346966" y="181412"/>
                </a:lnTo>
                <a:lnTo>
                  <a:pt x="9482429" y="178496"/>
                </a:lnTo>
                <a:lnTo>
                  <a:pt x="9617892" y="175092"/>
                </a:lnTo>
                <a:lnTo>
                  <a:pt x="9753356" y="170845"/>
                </a:lnTo>
                <a:lnTo>
                  <a:pt x="9888819" y="165425"/>
                </a:lnTo>
                <a:lnTo>
                  <a:pt x="10024282" y="158555"/>
                </a:lnTo>
                <a:lnTo>
                  <a:pt x="10159746" y="150040"/>
                </a:lnTo>
                <a:lnTo>
                  <a:pt x="10295209" y="139797"/>
                </a:lnTo>
                <a:lnTo>
                  <a:pt x="10430672" y="127865"/>
                </a:lnTo>
                <a:lnTo>
                  <a:pt x="10566135" y="114415"/>
                </a:lnTo>
                <a:lnTo>
                  <a:pt x="10701599" y="99751"/>
                </a:lnTo>
                <a:lnTo>
                  <a:pt x="10837062" y="84291"/>
                </a:lnTo>
                <a:lnTo>
                  <a:pt x="10972525" y="68554"/>
                </a:lnTo>
                <a:lnTo>
                  <a:pt x="11107988" y="53129"/>
                </a:lnTo>
                <a:lnTo>
                  <a:pt x="11243452" y="38641"/>
                </a:lnTo>
                <a:lnTo>
                  <a:pt x="11378915" y="25713"/>
                </a:lnTo>
                <a:lnTo>
                  <a:pt x="11514378" y="14931"/>
                </a:lnTo>
                <a:lnTo>
                  <a:pt x="11649842" y="6805"/>
                </a:lnTo>
                <a:lnTo>
                  <a:pt x="11785305" y="1738"/>
                </a:lnTo>
                <a:lnTo>
                  <a:pt x="11920768" y="0"/>
                </a:lnTo>
                <a:lnTo>
                  <a:pt x="12056231" y="1708"/>
                </a:lnTo>
                <a:lnTo>
                  <a:pt x="12191695" y="6822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6467906"/>
            <a:ext cx="12191695" cy="248613"/>
          </a:xfrm>
          <a:custGeom>
            <a:avLst/>
            <a:gdLst/>
            <a:ahLst/>
            <a:cxnLst/>
            <a:rect l="l" t="t" r="r" b="b"/>
            <a:pathLst>
              <a:path w="12191695" h="248613">
                <a:moveTo>
                  <a:pt x="0" y="169572"/>
                </a:moveTo>
                <a:lnTo>
                  <a:pt x="135463" y="187517"/>
                </a:lnTo>
                <a:lnTo>
                  <a:pt x="270926" y="204116"/>
                </a:lnTo>
                <a:lnTo>
                  <a:pt x="406389" y="218744"/>
                </a:lnTo>
                <a:lnTo>
                  <a:pt x="541853" y="230861"/>
                </a:lnTo>
                <a:lnTo>
                  <a:pt x="677316" y="240043"/>
                </a:lnTo>
                <a:lnTo>
                  <a:pt x="812779" y="246004"/>
                </a:lnTo>
                <a:lnTo>
                  <a:pt x="948242" y="248613"/>
                </a:lnTo>
                <a:lnTo>
                  <a:pt x="1083706" y="247896"/>
                </a:lnTo>
                <a:lnTo>
                  <a:pt x="1219169" y="244031"/>
                </a:lnTo>
                <a:lnTo>
                  <a:pt x="1354632" y="237338"/>
                </a:lnTo>
                <a:lnTo>
                  <a:pt x="1490096" y="228250"/>
                </a:lnTo>
                <a:lnTo>
                  <a:pt x="1625559" y="217286"/>
                </a:lnTo>
                <a:lnTo>
                  <a:pt x="1761022" y="205017"/>
                </a:lnTo>
                <a:lnTo>
                  <a:pt x="1896485" y="192024"/>
                </a:lnTo>
                <a:lnTo>
                  <a:pt x="2031949" y="178869"/>
                </a:lnTo>
                <a:lnTo>
                  <a:pt x="2167412" y="166053"/>
                </a:lnTo>
                <a:lnTo>
                  <a:pt x="2302875" y="153992"/>
                </a:lnTo>
                <a:lnTo>
                  <a:pt x="2438339" y="142992"/>
                </a:lnTo>
                <a:lnTo>
                  <a:pt x="2573802" y="133239"/>
                </a:lnTo>
                <a:lnTo>
                  <a:pt x="2709265" y="124790"/>
                </a:lnTo>
                <a:lnTo>
                  <a:pt x="2844728" y="117583"/>
                </a:lnTo>
                <a:lnTo>
                  <a:pt x="2980192" y="111449"/>
                </a:lnTo>
                <a:lnTo>
                  <a:pt x="3115655" y="106137"/>
                </a:lnTo>
                <a:lnTo>
                  <a:pt x="3251118" y="101335"/>
                </a:lnTo>
                <a:lnTo>
                  <a:pt x="3386582" y="96713"/>
                </a:lnTo>
                <a:lnTo>
                  <a:pt x="3522045" y="91945"/>
                </a:lnTo>
                <a:lnTo>
                  <a:pt x="3657508" y="86753"/>
                </a:lnTo>
                <a:lnTo>
                  <a:pt x="3792971" y="80928"/>
                </a:lnTo>
                <a:lnTo>
                  <a:pt x="3928435" y="74354"/>
                </a:lnTo>
                <a:lnTo>
                  <a:pt x="4063898" y="67031"/>
                </a:lnTo>
                <a:lnTo>
                  <a:pt x="4199361" y="59072"/>
                </a:lnTo>
                <a:lnTo>
                  <a:pt x="4334824" y="50711"/>
                </a:lnTo>
                <a:lnTo>
                  <a:pt x="4470288" y="42285"/>
                </a:lnTo>
                <a:lnTo>
                  <a:pt x="4605751" y="34213"/>
                </a:lnTo>
                <a:lnTo>
                  <a:pt x="4741214" y="26977"/>
                </a:lnTo>
                <a:lnTo>
                  <a:pt x="4876678" y="21080"/>
                </a:lnTo>
                <a:lnTo>
                  <a:pt x="5012141" y="17016"/>
                </a:lnTo>
                <a:lnTo>
                  <a:pt x="5147604" y="15233"/>
                </a:lnTo>
                <a:lnTo>
                  <a:pt x="5283067" y="16099"/>
                </a:lnTo>
                <a:lnTo>
                  <a:pt x="5418531" y="19870"/>
                </a:lnTo>
                <a:lnTo>
                  <a:pt x="5553994" y="26670"/>
                </a:lnTo>
                <a:lnTo>
                  <a:pt x="5689457" y="36475"/>
                </a:lnTo>
                <a:lnTo>
                  <a:pt x="5824921" y="49109"/>
                </a:lnTo>
                <a:lnTo>
                  <a:pt x="5960384" y="64247"/>
                </a:lnTo>
                <a:lnTo>
                  <a:pt x="6095847" y="81430"/>
                </a:lnTo>
                <a:lnTo>
                  <a:pt x="6231310" y="100088"/>
                </a:lnTo>
                <a:lnTo>
                  <a:pt x="6366774" y="119571"/>
                </a:lnTo>
                <a:lnTo>
                  <a:pt x="6502237" y="139187"/>
                </a:lnTo>
                <a:lnTo>
                  <a:pt x="6637700" y="158234"/>
                </a:lnTo>
                <a:lnTo>
                  <a:pt x="6773164" y="176047"/>
                </a:lnTo>
                <a:lnTo>
                  <a:pt x="6908627" y="192030"/>
                </a:lnTo>
                <a:lnTo>
                  <a:pt x="7044090" y="205690"/>
                </a:lnTo>
                <a:lnTo>
                  <a:pt x="7179553" y="216660"/>
                </a:lnTo>
                <a:lnTo>
                  <a:pt x="7315017" y="224721"/>
                </a:lnTo>
                <a:lnTo>
                  <a:pt x="7450480" y="229802"/>
                </a:lnTo>
                <a:lnTo>
                  <a:pt x="7585943" y="231983"/>
                </a:lnTo>
                <a:lnTo>
                  <a:pt x="7721406" y="231480"/>
                </a:lnTo>
                <a:lnTo>
                  <a:pt x="7856870" y="228626"/>
                </a:lnTo>
                <a:lnTo>
                  <a:pt x="7992333" y="223841"/>
                </a:lnTo>
                <a:lnTo>
                  <a:pt x="8127796" y="217601"/>
                </a:lnTo>
                <a:lnTo>
                  <a:pt x="8263260" y="210399"/>
                </a:lnTo>
                <a:lnTo>
                  <a:pt x="8398723" y="202714"/>
                </a:lnTo>
                <a:lnTo>
                  <a:pt x="8534186" y="194975"/>
                </a:lnTo>
                <a:lnTo>
                  <a:pt x="8669649" y="187531"/>
                </a:lnTo>
                <a:lnTo>
                  <a:pt x="8805113" y="180631"/>
                </a:lnTo>
                <a:lnTo>
                  <a:pt x="8940576" y="174414"/>
                </a:lnTo>
                <a:lnTo>
                  <a:pt x="9076039" y="168896"/>
                </a:lnTo>
                <a:lnTo>
                  <a:pt x="9211503" y="163983"/>
                </a:lnTo>
                <a:lnTo>
                  <a:pt x="9346966" y="159481"/>
                </a:lnTo>
                <a:lnTo>
                  <a:pt x="9482429" y="155122"/>
                </a:lnTo>
                <a:lnTo>
                  <a:pt x="9617892" y="150584"/>
                </a:lnTo>
                <a:lnTo>
                  <a:pt x="9753356" y="145531"/>
                </a:lnTo>
                <a:lnTo>
                  <a:pt x="9888819" y="139645"/>
                </a:lnTo>
                <a:lnTo>
                  <a:pt x="10024282" y="132654"/>
                </a:lnTo>
                <a:lnTo>
                  <a:pt x="10159746" y="124369"/>
                </a:lnTo>
                <a:lnTo>
                  <a:pt x="10295209" y="114699"/>
                </a:lnTo>
                <a:lnTo>
                  <a:pt x="10430672" y="103677"/>
                </a:lnTo>
                <a:lnTo>
                  <a:pt x="10566135" y="91461"/>
                </a:lnTo>
                <a:lnTo>
                  <a:pt x="10701599" y="78333"/>
                </a:lnTo>
                <a:lnTo>
                  <a:pt x="10837062" y="64691"/>
                </a:lnTo>
                <a:lnTo>
                  <a:pt x="10972525" y="51025"/>
                </a:lnTo>
                <a:lnTo>
                  <a:pt x="11107988" y="37893"/>
                </a:lnTo>
                <a:lnTo>
                  <a:pt x="11243452" y="25885"/>
                </a:lnTo>
                <a:lnTo>
                  <a:pt x="11378915" y="15588"/>
                </a:lnTo>
                <a:lnTo>
                  <a:pt x="11514378" y="7547"/>
                </a:lnTo>
                <a:lnTo>
                  <a:pt x="11649842" y="2231"/>
                </a:lnTo>
                <a:lnTo>
                  <a:pt x="11785305" y="0"/>
                </a:lnTo>
                <a:lnTo>
                  <a:pt x="11920768" y="1082"/>
                </a:lnTo>
                <a:lnTo>
                  <a:pt x="12056231" y="5551"/>
                </a:lnTo>
                <a:lnTo>
                  <a:pt x="12191695" y="13326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0" y="6533113"/>
            <a:ext cx="12191695" cy="246124"/>
          </a:xfrm>
          <a:custGeom>
            <a:avLst/>
            <a:gdLst/>
            <a:ahLst/>
            <a:cxnLst/>
            <a:rect l="l" t="t" r="r" b="b"/>
            <a:pathLst>
              <a:path w="12191695" h="246124">
                <a:moveTo>
                  <a:pt x="0" y="183172"/>
                </a:moveTo>
                <a:lnTo>
                  <a:pt x="135463" y="199432"/>
                </a:lnTo>
                <a:lnTo>
                  <a:pt x="270926" y="214077"/>
                </a:lnTo>
                <a:lnTo>
                  <a:pt x="406389" y="226514"/>
                </a:lnTo>
                <a:lnTo>
                  <a:pt x="541853" y="236236"/>
                </a:lnTo>
                <a:lnTo>
                  <a:pt x="677316" y="242855"/>
                </a:lnTo>
                <a:lnTo>
                  <a:pt x="812779" y="246124"/>
                </a:lnTo>
                <a:lnTo>
                  <a:pt x="948242" y="245951"/>
                </a:lnTo>
                <a:lnTo>
                  <a:pt x="1083706" y="242404"/>
                </a:lnTo>
                <a:lnTo>
                  <a:pt x="1219169" y="235707"/>
                </a:lnTo>
                <a:lnTo>
                  <a:pt x="1354632" y="226219"/>
                </a:lnTo>
                <a:lnTo>
                  <a:pt x="1490096" y="214417"/>
                </a:lnTo>
                <a:lnTo>
                  <a:pt x="1625559" y="200862"/>
                </a:lnTo>
                <a:lnTo>
                  <a:pt x="1761022" y="186161"/>
                </a:lnTo>
                <a:lnTo>
                  <a:pt x="1896485" y="170935"/>
                </a:lnTo>
                <a:lnTo>
                  <a:pt x="2031949" y="155777"/>
                </a:lnTo>
                <a:lnTo>
                  <a:pt x="2167412" y="141221"/>
                </a:lnTo>
                <a:lnTo>
                  <a:pt x="2302875" y="127707"/>
                </a:lnTo>
                <a:lnTo>
                  <a:pt x="2438339" y="115564"/>
                </a:lnTo>
                <a:lnTo>
                  <a:pt x="2573802" y="104994"/>
                </a:lnTo>
                <a:lnTo>
                  <a:pt x="2709265" y="96068"/>
                </a:lnTo>
                <a:lnTo>
                  <a:pt x="2844728" y="88731"/>
                </a:lnTo>
                <a:lnTo>
                  <a:pt x="2980192" y="82816"/>
                </a:lnTo>
                <a:lnTo>
                  <a:pt x="3115655" y="78067"/>
                </a:lnTo>
                <a:lnTo>
                  <a:pt x="3251118" y="74166"/>
                </a:lnTo>
                <a:lnTo>
                  <a:pt x="3386582" y="70766"/>
                </a:lnTo>
                <a:lnTo>
                  <a:pt x="3522045" y="67527"/>
                </a:lnTo>
                <a:lnTo>
                  <a:pt x="3657508" y="64145"/>
                </a:lnTo>
                <a:lnTo>
                  <a:pt x="3792971" y="60383"/>
                </a:lnTo>
                <a:lnTo>
                  <a:pt x="3928435" y="56096"/>
                </a:lnTo>
                <a:lnTo>
                  <a:pt x="4063898" y="51248"/>
                </a:lnTo>
                <a:lnTo>
                  <a:pt x="4199361" y="45917"/>
                </a:lnTo>
                <a:lnTo>
                  <a:pt x="4334824" y="40294"/>
                </a:lnTo>
                <a:lnTo>
                  <a:pt x="4470288" y="34675"/>
                </a:lnTo>
                <a:lnTo>
                  <a:pt x="4605751" y="29440"/>
                </a:lnTo>
                <a:lnTo>
                  <a:pt x="4741214" y="25025"/>
                </a:lnTo>
                <a:lnTo>
                  <a:pt x="4876678" y="21891"/>
                </a:lnTo>
                <a:lnTo>
                  <a:pt x="5012141" y="20491"/>
                </a:lnTo>
                <a:lnTo>
                  <a:pt x="5147604" y="21233"/>
                </a:lnTo>
                <a:lnTo>
                  <a:pt x="5283067" y="24445"/>
                </a:lnTo>
                <a:lnTo>
                  <a:pt x="5418531" y="30349"/>
                </a:lnTo>
                <a:lnTo>
                  <a:pt x="5553994" y="39037"/>
                </a:lnTo>
                <a:lnTo>
                  <a:pt x="5689457" y="50457"/>
                </a:lnTo>
                <a:lnTo>
                  <a:pt x="5824921" y="64407"/>
                </a:lnTo>
                <a:lnTo>
                  <a:pt x="5960384" y="80543"/>
                </a:lnTo>
                <a:lnTo>
                  <a:pt x="6095847" y="98390"/>
                </a:lnTo>
                <a:lnTo>
                  <a:pt x="6231310" y="117369"/>
                </a:lnTo>
                <a:lnTo>
                  <a:pt x="6366774" y="136826"/>
                </a:lnTo>
                <a:lnTo>
                  <a:pt x="6502237" y="156066"/>
                </a:lnTo>
                <a:lnTo>
                  <a:pt x="6637700" y="174397"/>
                </a:lnTo>
                <a:lnTo>
                  <a:pt x="6773164" y="191162"/>
                </a:lnTo>
                <a:lnTo>
                  <a:pt x="6908627" y="205782"/>
                </a:lnTo>
                <a:lnTo>
                  <a:pt x="7044090" y="217784"/>
                </a:lnTo>
                <a:lnTo>
                  <a:pt x="7179553" y="226827"/>
                </a:lnTo>
                <a:lnTo>
                  <a:pt x="7315017" y="232720"/>
                </a:lnTo>
                <a:lnTo>
                  <a:pt x="7450480" y="235424"/>
                </a:lnTo>
                <a:lnTo>
                  <a:pt x="7585943" y="235057"/>
                </a:lnTo>
                <a:lnTo>
                  <a:pt x="7721406" y="231872"/>
                </a:lnTo>
                <a:lnTo>
                  <a:pt x="7856870" y="226244"/>
                </a:lnTo>
                <a:lnTo>
                  <a:pt x="7992333" y="218632"/>
                </a:lnTo>
                <a:lnTo>
                  <a:pt x="8127796" y="209557"/>
                </a:lnTo>
                <a:lnTo>
                  <a:pt x="8263260" y="199555"/>
                </a:lnTo>
                <a:lnTo>
                  <a:pt x="8398723" y="189147"/>
                </a:lnTo>
                <a:lnTo>
                  <a:pt x="8534186" y="178801"/>
                </a:lnTo>
                <a:lnTo>
                  <a:pt x="8669649" y="168908"/>
                </a:lnTo>
                <a:lnTo>
                  <a:pt x="8805113" y="159754"/>
                </a:lnTo>
                <a:lnTo>
                  <a:pt x="8940576" y="151510"/>
                </a:lnTo>
                <a:lnTo>
                  <a:pt x="9076039" y="144224"/>
                </a:lnTo>
                <a:lnTo>
                  <a:pt x="9211503" y="137828"/>
                </a:lnTo>
                <a:lnTo>
                  <a:pt x="9346966" y="132152"/>
                </a:lnTo>
                <a:lnTo>
                  <a:pt x="9482429" y="126943"/>
                </a:lnTo>
                <a:lnTo>
                  <a:pt x="9617892" y="121894"/>
                </a:lnTo>
                <a:lnTo>
                  <a:pt x="9753356" y="116677"/>
                </a:lnTo>
                <a:lnTo>
                  <a:pt x="9888819" y="110975"/>
                </a:lnTo>
                <a:lnTo>
                  <a:pt x="10024282" y="104513"/>
                </a:lnTo>
                <a:lnTo>
                  <a:pt x="10159746" y="97095"/>
                </a:lnTo>
                <a:lnTo>
                  <a:pt x="10295209" y="88617"/>
                </a:lnTo>
                <a:lnTo>
                  <a:pt x="10430672" y="79094"/>
                </a:lnTo>
                <a:lnTo>
                  <a:pt x="10566135" y="68661"/>
                </a:lnTo>
                <a:lnTo>
                  <a:pt x="10701599" y="57573"/>
                </a:lnTo>
                <a:lnTo>
                  <a:pt x="10837062" y="46197"/>
                </a:lnTo>
                <a:lnTo>
                  <a:pt x="10972525" y="34990"/>
                </a:lnTo>
                <a:lnTo>
                  <a:pt x="11107988" y="24471"/>
                </a:lnTo>
                <a:lnTo>
                  <a:pt x="11243452" y="15192"/>
                </a:lnTo>
                <a:lnTo>
                  <a:pt x="11378915" y="7698"/>
                </a:lnTo>
                <a:lnTo>
                  <a:pt x="11514378" y="2492"/>
                </a:lnTo>
                <a:lnTo>
                  <a:pt x="11649842" y="0"/>
                </a:lnTo>
                <a:lnTo>
                  <a:pt x="11785305" y="541"/>
                </a:lnTo>
                <a:lnTo>
                  <a:pt x="11920768" y="4298"/>
                </a:lnTo>
                <a:lnTo>
                  <a:pt x="12056231" y="11307"/>
                </a:lnTo>
                <a:lnTo>
                  <a:pt x="12191695" y="21447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0" y="6600998"/>
            <a:ext cx="12191695" cy="238322"/>
          </a:xfrm>
          <a:custGeom>
            <a:avLst/>
            <a:gdLst/>
            <a:ahLst/>
            <a:cxnLst/>
            <a:rect l="l" t="t" r="r" b="b"/>
            <a:pathLst>
              <a:path w="12191695" h="238322">
                <a:moveTo>
                  <a:pt x="0" y="190722"/>
                </a:moveTo>
                <a:lnTo>
                  <a:pt x="135463" y="204821"/>
                </a:lnTo>
                <a:lnTo>
                  <a:pt x="270926" y="217096"/>
                </a:lnTo>
                <a:lnTo>
                  <a:pt x="406389" y="226989"/>
                </a:lnTo>
                <a:lnTo>
                  <a:pt x="541853" y="234032"/>
                </a:lnTo>
                <a:lnTo>
                  <a:pt x="677316" y="237878"/>
                </a:lnTo>
                <a:lnTo>
                  <a:pt x="812779" y="238322"/>
                </a:lnTo>
                <a:lnTo>
                  <a:pt x="948242" y="235314"/>
                </a:lnTo>
                <a:lnTo>
                  <a:pt x="1083706" y="228966"/>
                </a:lnTo>
                <a:lnTo>
                  <a:pt x="1219169" y="219541"/>
                </a:lnTo>
                <a:lnTo>
                  <a:pt x="1354632" y="207444"/>
                </a:lnTo>
                <a:lnTo>
                  <a:pt x="1490096" y="193188"/>
                </a:lnTo>
                <a:lnTo>
                  <a:pt x="1625559" y="177371"/>
                </a:lnTo>
                <a:lnTo>
                  <a:pt x="1761022" y="160636"/>
                </a:lnTo>
                <a:lnTo>
                  <a:pt x="1896485" y="143634"/>
                </a:lnTo>
                <a:lnTo>
                  <a:pt x="2031949" y="126985"/>
                </a:lnTo>
                <a:lnTo>
                  <a:pt x="2167412" y="111244"/>
                </a:lnTo>
                <a:lnTo>
                  <a:pt x="2302875" y="96871"/>
                </a:lnTo>
                <a:lnTo>
                  <a:pt x="2438339" y="84207"/>
                </a:lnTo>
                <a:lnTo>
                  <a:pt x="2573802" y="73462"/>
                </a:lnTo>
                <a:lnTo>
                  <a:pt x="2709265" y="64709"/>
                </a:lnTo>
                <a:lnTo>
                  <a:pt x="2844728" y="57891"/>
                </a:lnTo>
                <a:lnTo>
                  <a:pt x="2980192" y="52834"/>
                </a:lnTo>
                <a:lnTo>
                  <a:pt x="3115655" y="49267"/>
                </a:lnTo>
                <a:lnTo>
                  <a:pt x="3251118" y="46856"/>
                </a:lnTo>
                <a:lnTo>
                  <a:pt x="3386582" y="45231"/>
                </a:lnTo>
                <a:lnTo>
                  <a:pt x="3522045" y="44024"/>
                </a:lnTo>
                <a:lnTo>
                  <a:pt x="3657508" y="42902"/>
                </a:lnTo>
                <a:lnTo>
                  <a:pt x="3792971" y="41593"/>
                </a:lnTo>
                <a:lnTo>
                  <a:pt x="3928435" y="39916"/>
                </a:lnTo>
                <a:lnTo>
                  <a:pt x="4063898" y="37794"/>
                </a:lnTo>
                <a:lnTo>
                  <a:pt x="4199361" y="35264"/>
                </a:lnTo>
                <a:lnTo>
                  <a:pt x="4334824" y="32476"/>
                </a:lnTo>
                <a:lnTo>
                  <a:pt x="4470288" y="29683"/>
                </a:lnTo>
                <a:lnTo>
                  <a:pt x="4605751" y="27220"/>
                </a:lnTo>
                <a:lnTo>
                  <a:pt x="4741214" y="25484"/>
                </a:lnTo>
                <a:lnTo>
                  <a:pt x="4876678" y="24895"/>
                </a:lnTo>
                <a:lnTo>
                  <a:pt x="5012141" y="25867"/>
                </a:lnTo>
                <a:lnTo>
                  <a:pt x="5147604" y="28771"/>
                </a:lnTo>
                <a:lnTo>
                  <a:pt x="5283067" y="33905"/>
                </a:lnTo>
                <a:lnTo>
                  <a:pt x="5418531" y="41460"/>
                </a:lnTo>
                <a:lnTo>
                  <a:pt x="5553994" y="51504"/>
                </a:lnTo>
                <a:lnTo>
                  <a:pt x="5689457" y="63964"/>
                </a:lnTo>
                <a:lnTo>
                  <a:pt x="5824921" y="78622"/>
                </a:lnTo>
                <a:lnTo>
                  <a:pt x="5960384" y="95124"/>
                </a:lnTo>
                <a:lnTo>
                  <a:pt x="6095847" y="112989"/>
                </a:lnTo>
                <a:lnTo>
                  <a:pt x="6231310" y="131639"/>
                </a:lnTo>
                <a:lnTo>
                  <a:pt x="6366774" y="150423"/>
                </a:lnTo>
                <a:lnTo>
                  <a:pt x="6502237" y="168658"/>
                </a:lnTo>
                <a:lnTo>
                  <a:pt x="6637700" y="185665"/>
                </a:lnTo>
                <a:lnTo>
                  <a:pt x="6773164" y="200809"/>
                </a:lnTo>
                <a:lnTo>
                  <a:pt x="6908627" y="213535"/>
                </a:lnTo>
                <a:lnTo>
                  <a:pt x="7044090" y="223398"/>
                </a:lnTo>
                <a:lnTo>
                  <a:pt x="7179553" y="230090"/>
                </a:lnTo>
                <a:lnTo>
                  <a:pt x="7315017" y="233454"/>
                </a:lnTo>
                <a:lnTo>
                  <a:pt x="7450480" y="233492"/>
                </a:lnTo>
                <a:lnTo>
                  <a:pt x="7585943" y="230359"/>
                </a:lnTo>
                <a:lnTo>
                  <a:pt x="7721406" y="224353"/>
                </a:lnTo>
                <a:lnTo>
                  <a:pt x="7856870" y="215888"/>
                </a:lnTo>
                <a:lnTo>
                  <a:pt x="7992333" y="205470"/>
                </a:lnTo>
                <a:lnTo>
                  <a:pt x="8127796" y="193658"/>
                </a:lnTo>
                <a:lnTo>
                  <a:pt x="8263260" y="181033"/>
                </a:lnTo>
                <a:lnTo>
                  <a:pt x="8398723" y="168153"/>
                </a:lnTo>
                <a:lnTo>
                  <a:pt x="8534186" y="155526"/>
                </a:lnTo>
                <a:lnTo>
                  <a:pt x="8669649" y="143575"/>
                </a:lnTo>
                <a:lnTo>
                  <a:pt x="8805113" y="132618"/>
                </a:lnTo>
                <a:lnTo>
                  <a:pt x="8940576" y="122852"/>
                </a:lnTo>
                <a:lnTo>
                  <a:pt x="9076039" y="114351"/>
                </a:lnTo>
                <a:lnTo>
                  <a:pt x="9211503" y="107063"/>
                </a:lnTo>
                <a:lnTo>
                  <a:pt x="9346966" y="100832"/>
                </a:lnTo>
                <a:lnTo>
                  <a:pt x="9482429" y="95413"/>
                </a:lnTo>
                <a:lnTo>
                  <a:pt x="9617892" y="90502"/>
                </a:lnTo>
                <a:lnTo>
                  <a:pt x="9753356" y="85770"/>
                </a:lnTo>
                <a:lnTo>
                  <a:pt x="9888819" y="80892"/>
                </a:lnTo>
                <a:lnTo>
                  <a:pt x="10024282" y="75582"/>
                </a:lnTo>
                <a:lnTo>
                  <a:pt x="10159746" y="69623"/>
                </a:lnTo>
                <a:lnTo>
                  <a:pt x="10295209" y="62893"/>
                </a:lnTo>
                <a:lnTo>
                  <a:pt x="10430672" y="55378"/>
                </a:lnTo>
                <a:lnTo>
                  <a:pt x="10566135" y="47183"/>
                </a:lnTo>
                <a:lnTo>
                  <a:pt x="10701599" y="38531"/>
                </a:lnTo>
                <a:lnTo>
                  <a:pt x="10837062" y="29751"/>
                </a:lnTo>
                <a:lnTo>
                  <a:pt x="10972525" y="21260"/>
                </a:lnTo>
                <a:lnTo>
                  <a:pt x="11107988" y="13537"/>
                </a:lnTo>
                <a:lnTo>
                  <a:pt x="11243452" y="7091"/>
                </a:lnTo>
                <a:lnTo>
                  <a:pt x="11378915" y="2425"/>
                </a:lnTo>
                <a:lnTo>
                  <a:pt x="11514378" y="0"/>
                </a:lnTo>
                <a:lnTo>
                  <a:pt x="11649842" y="198"/>
                </a:lnTo>
                <a:lnTo>
                  <a:pt x="11785305" y="3299"/>
                </a:lnTo>
                <a:lnTo>
                  <a:pt x="11920768" y="9446"/>
                </a:lnTo>
                <a:lnTo>
                  <a:pt x="12056231" y="18641"/>
                </a:lnTo>
                <a:lnTo>
                  <a:pt x="12191695" y="30728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46304"/>
            <a:ext cx="11283696" cy="44805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建设思路与演进路线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722376"/>
            <a:ext cx="585216" cy="41148"/>
          </a:xfrm>
          <a:prstGeom prst="rect">
            <a:avLst/>
          </a:prstGeom>
          <a:solidFill>
            <a:srgbClr val="EE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649224"/>
            <a:ext cx="10469880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2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从当前资产切入走向数据工作体系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292608"/>
            <a:ext cx="896112" cy="20116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HiAgent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6647688"/>
            <a:ext cx="10241280" cy="1280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7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企业数据智能体建设规划  /  规划视图  /  2026.10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629400"/>
            <a:ext cx="585216" cy="17373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27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" y="1357884"/>
            <a:ext cx="2596896" cy="2587752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1325880"/>
            <a:ext cx="2596896" cy="25877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1481328"/>
            <a:ext cx="722376" cy="274320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513332"/>
            <a:ext cx="539496" cy="210311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阶段1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" y="1883664"/>
            <a:ext cx="2304288" cy="32918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资产服务</a:t>
            </a:r>
          </a:p>
        </p:txBody>
      </p:sp>
      <p:sp>
        <p:nvSpPr>
          <p:cNvPr id="18" name="Oval 17"/>
          <p:cNvSpPr/>
          <p:nvPr/>
        </p:nvSpPr>
        <p:spPr>
          <a:xfrm>
            <a:off x="2113086" y="2809128"/>
            <a:ext cx="715975" cy="127284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24460" y="2323856"/>
            <a:ext cx="485272" cy="461406"/>
          </a:xfrm>
          <a:prstGeom prst="rect">
            <a:avLst/>
          </a:prstGeom>
          <a:solidFill>
            <a:srgbClr val="168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24460" y="2721620"/>
            <a:ext cx="485272" cy="159105"/>
          </a:xfrm>
          <a:prstGeom prst="ellipse">
            <a:avLst/>
          </a:prstGeom>
          <a:solidFill>
            <a:srgbClr val="096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224460" y="2244303"/>
            <a:ext cx="485272" cy="159105"/>
          </a:xfrm>
          <a:prstGeom prst="ellipse">
            <a:avLst/>
          </a:prstGeom>
          <a:solidFill>
            <a:srgbClr val="76D8FF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224460" y="2427274"/>
            <a:ext cx="485272" cy="159105"/>
          </a:xfrm>
          <a:prstGeom prst="ellipse">
            <a:avLst/>
          </a:prstGeom>
          <a:solidFill>
            <a:srgbClr val="3AB2F8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224460" y="2610246"/>
            <a:ext cx="485272" cy="159105"/>
          </a:xfrm>
          <a:prstGeom prst="ellipse">
            <a:avLst/>
          </a:prstGeom>
          <a:solidFill>
            <a:srgbClr val="3AB2F8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72192" y="2339766"/>
            <a:ext cx="31821" cy="421629"/>
          </a:xfrm>
          <a:prstGeom prst="rect">
            <a:avLst/>
          </a:prstGeom>
          <a:solidFill>
            <a:srgbClr val="76D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" y="3035808"/>
            <a:ext cx="2304288" cy="57607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3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表字段与字典码值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3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真实问题可核对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127248" y="2542032"/>
            <a:ext cx="210312" cy="0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3279093" y="2542032"/>
            <a:ext cx="58467" cy="35845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3279093" y="2506186"/>
            <a:ext cx="58467" cy="35846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87851" y="1357884"/>
            <a:ext cx="2596896" cy="2587752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364991" y="1325880"/>
            <a:ext cx="2596896" cy="25877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502151" y="1481328"/>
            <a:ext cx="722376" cy="274320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93591" y="1513332"/>
            <a:ext cx="539496" cy="210311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阶段2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11296" y="1883664"/>
            <a:ext cx="2304288" cy="32918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语义与连接</a:t>
            </a:r>
          </a:p>
        </p:txBody>
      </p:sp>
      <p:sp>
        <p:nvSpPr>
          <p:cNvPr id="34" name="Oval 33"/>
          <p:cNvSpPr/>
          <p:nvPr/>
        </p:nvSpPr>
        <p:spPr>
          <a:xfrm>
            <a:off x="4975158" y="2809128"/>
            <a:ext cx="715975" cy="127284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5078577" y="2196571"/>
            <a:ext cx="509138" cy="135240"/>
          </a:xfrm>
          <a:custGeom>
            <a:avLst/>
            <a:gdLst/>
            <a:ahLst/>
            <a:cxnLst/>
            <a:rect l="l" t="t" r="r" b="b"/>
            <a:pathLst>
              <a:path w="509138" h="135240">
                <a:moveTo>
                  <a:pt x="0" y="55687"/>
                </a:moveTo>
                <a:lnTo>
                  <a:pt x="413675" y="0"/>
                </a:lnTo>
                <a:lnTo>
                  <a:pt x="509138" y="71598"/>
                </a:lnTo>
                <a:lnTo>
                  <a:pt x="95463" y="135240"/>
                </a:lnTo>
                <a:close/>
              </a:path>
            </a:pathLst>
          </a:custGeom>
          <a:solidFill>
            <a:srgbClr val="B1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5492252" y="2196571"/>
            <a:ext cx="95463" cy="564825"/>
          </a:xfrm>
          <a:custGeom>
            <a:avLst/>
            <a:gdLst/>
            <a:ahLst/>
            <a:cxnLst/>
            <a:rect l="l" t="t" r="r" b="b"/>
            <a:pathLst>
              <a:path w="95463" h="564825">
                <a:moveTo>
                  <a:pt x="0" y="0"/>
                </a:moveTo>
                <a:lnTo>
                  <a:pt x="95463" y="71598"/>
                </a:lnTo>
                <a:lnTo>
                  <a:pt x="95463" y="564825"/>
                </a:lnTo>
                <a:lnTo>
                  <a:pt x="0" y="509138"/>
                </a:lnTo>
                <a:close/>
              </a:path>
            </a:pathLst>
          </a:custGeom>
          <a:solidFill>
            <a:srgbClr val="147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5078577" y="2196571"/>
            <a:ext cx="413675" cy="572780"/>
          </a:xfrm>
          <a:custGeom>
            <a:avLst/>
            <a:gdLst/>
            <a:ahLst/>
            <a:cxnLst/>
            <a:rect l="l" t="t" r="r" b="b"/>
            <a:pathLst>
              <a:path w="413675" h="572780">
                <a:moveTo>
                  <a:pt x="0" y="55687"/>
                </a:moveTo>
                <a:lnTo>
                  <a:pt x="413675" y="0"/>
                </a:lnTo>
                <a:lnTo>
                  <a:pt x="413675" y="509138"/>
                </a:lnTo>
                <a:lnTo>
                  <a:pt x="0" y="572780"/>
                </a:lnTo>
                <a:close/>
              </a:path>
            </a:pathLst>
          </a:custGeom>
          <a:solidFill>
            <a:srgbClr val="52B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 flipV="1">
            <a:off x="5150175" y="2355677"/>
            <a:ext cx="262524" cy="39776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150175" y="2467051"/>
            <a:ext cx="262524" cy="39776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5150175" y="2578425"/>
            <a:ext cx="262524" cy="39776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511296" y="3035808"/>
            <a:ext cx="2304288" cy="57607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3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指标契约、映射与规则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3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关键接口可验证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989320" y="2542032"/>
            <a:ext cx="210311" cy="0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6141165" y="2542032"/>
            <a:ext cx="58466" cy="35845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6141165" y="2506186"/>
            <a:ext cx="58466" cy="35846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6249924" y="1357884"/>
            <a:ext cx="2596896" cy="2587752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227064" y="1325880"/>
            <a:ext cx="2596896" cy="25877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64224" y="1481328"/>
            <a:ext cx="722376" cy="274320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55664" y="1513332"/>
            <a:ext cx="539496" cy="210311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阶段3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73368" y="1883664"/>
            <a:ext cx="2304288" cy="32918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研发协作</a:t>
            </a:r>
          </a:p>
        </p:txBody>
      </p:sp>
      <p:sp>
        <p:nvSpPr>
          <p:cNvPr id="50" name="Oval 49"/>
          <p:cNvSpPr/>
          <p:nvPr/>
        </p:nvSpPr>
        <p:spPr>
          <a:xfrm>
            <a:off x="7837230" y="2809128"/>
            <a:ext cx="715975" cy="127284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7940649" y="2196571"/>
            <a:ext cx="509138" cy="135240"/>
          </a:xfrm>
          <a:custGeom>
            <a:avLst/>
            <a:gdLst/>
            <a:ahLst/>
            <a:cxnLst/>
            <a:rect l="l" t="t" r="r" b="b"/>
            <a:pathLst>
              <a:path w="509138" h="135240">
                <a:moveTo>
                  <a:pt x="0" y="55687"/>
                </a:moveTo>
                <a:lnTo>
                  <a:pt x="413675" y="0"/>
                </a:lnTo>
                <a:lnTo>
                  <a:pt x="509138" y="71598"/>
                </a:lnTo>
                <a:lnTo>
                  <a:pt x="95463" y="135240"/>
                </a:lnTo>
                <a:close/>
              </a:path>
            </a:pathLst>
          </a:custGeom>
          <a:solidFill>
            <a:srgbClr val="B1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8354324" y="2196571"/>
            <a:ext cx="95463" cy="564825"/>
          </a:xfrm>
          <a:custGeom>
            <a:avLst/>
            <a:gdLst/>
            <a:ahLst/>
            <a:cxnLst/>
            <a:rect l="l" t="t" r="r" b="b"/>
            <a:pathLst>
              <a:path w="95463" h="564825">
                <a:moveTo>
                  <a:pt x="0" y="0"/>
                </a:moveTo>
                <a:lnTo>
                  <a:pt x="95463" y="71598"/>
                </a:lnTo>
                <a:lnTo>
                  <a:pt x="95463" y="564825"/>
                </a:lnTo>
                <a:lnTo>
                  <a:pt x="0" y="509138"/>
                </a:lnTo>
                <a:close/>
              </a:path>
            </a:pathLst>
          </a:custGeom>
          <a:solidFill>
            <a:srgbClr val="147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7940649" y="2196571"/>
            <a:ext cx="413675" cy="572780"/>
          </a:xfrm>
          <a:custGeom>
            <a:avLst/>
            <a:gdLst/>
            <a:ahLst/>
            <a:cxnLst/>
            <a:rect l="l" t="t" r="r" b="b"/>
            <a:pathLst>
              <a:path w="413675" h="572780">
                <a:moveTo>
                  <a:pt x="0" y="55687"/>
                </a:moveTo>
                <a:lnTo>
                  <a:pt x="413675" y="0"/>
                </a:lnTo>
                <a:lnTo>
                  <a:pt x="413675" y="509138"/>
                </a:lnTo>
                <a:lnTo>
                  <a:pt x="0" y="572780"/>
                </a:lnTo>
                <a:close/>
              </a:path>
            </a:pathLst>
          </a:custGeom>
          <a:solidFill>
            <a:srgbClr val="52B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 flipV="1">
            <a:off x="8012247" y="2355677"/>
            <a:ext cx="262524" cy="39776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012247" y="2467051"/>
            <a:ext cx="262524" cy="39776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012247" y="2578425"/>
            <a:ext cx="262524" cy="39776"/>
          </a:xfrm>
          <a:prstGeom prst="line">
            <a:avLst/>
          </a:prstGeom>
          <a:ln w="15240">
            <a:solidFill>
              <a:srgbClr val="EC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7980425" y="2467051"/>
            <a:ext cx="342077" cy="16706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92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&lt;/&gt;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73368" y="3035808"/>
            <a:ext cx="2304288" cy="57607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3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需求到测试评审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3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成果与证据成闭环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851392" y="2542032"/>
            <a:ext cx="210312" cy="0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9003237" y="2542032"/>
            <a:ext cx="58467" cy="35845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 flipV="1">
            <a:off x="9003237" y="2506186"/>
            <a:ext cx="58467" cy="35846"/>
          </a:xfrm>
          <a:prstGeom prst="line">
            <a:avLst/>
          </a:prstGeom>
          <a:ln w="19050">
            <a:solidFill>
              <a:srgbClr val="11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9111996" y="1357884"/>
            <a:ext cx="2596896" cy="2587752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089136" y="1325880"/>
            <a:ext cx="2596896" cy="25877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226296" y="1481328"/>
            <a:ext cx="722376" cy="274320"/>
          </a:xfrm>
          <a:prstGeom prst="roundRect">
            <a:avLst>
              <a:gd name="adj" fmla="val 3500"/>
            </a:avLst>
          </a:prstGeom>
          <a:solidFill>
            <a:srgbClr val="EA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317736" y="1513332"/>
            <a:ext cx="539496" cy="210311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阶段4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35440" y="1883664"/>
            <a:ext cx="2304288" cy="32918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场景扩展</a:t>
            </a:r>
          </a:p>
        </p:txBody>
      </p:sp>
      <p:sp>
        <p:nvSpPr>
          <p:cNvPr id="67" name="Oval 66"/>
          <p:cNvSpPr/>
          <p:nvPr/>
        </p:nvSpPr>
        <p:spPr>
          <a:xfrm>
            <a:off x="10699302" y="2809128"/>
            <a:ext cx="715975" cy="127284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10707258" y="2697754"/>
            <a:ext cx="692109" cy="318370"/>
          </a:xfrm>
          <a:custGeom>
            <a:avLst/>
            <a:gdLst/>
            <a:ahLst/>
            <a:cxnLst/>
            <a:rect l="l" t="t" r="r" b="b"/>
            <a:pathLst>
              <a:path w="692109" h="318370">
                <a:moveTo>
                  <a:pt x="0" y="159185"/>
                </a:moveTo>
                <a:lnTo>
                  <a:pt x="346054" y="0"/>
                </a:lnTo>
                <a:lnTo>
                  <a:pt x="692109" y="159185"/>
                </a:lnTo>
                <a:lnTo>
                  <a:pt x="346054" y="318370"/>
                </a:lnTo>
                <a:close/>
              </a:path>
            </a:pathLst>
          </a:custGeom>
          <a:solidFill>
            <a:srgbClr val="B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10707258" y="2856939"/>
            <a:ext cx="346054" cy="191006"/>
          </a:xfrm>
          <a:custGeom>
            <a:avLst/>
            <a:gdLst/>
            <a:ahLst/>
            <a:cxnLst/>
            <a:rect l="l" t="t" r="r" b="b"/>
            <a:pathLst>
              <a:path w="346054" h="191006">
                <a:moveTo>
                  <a:pt x="0" y="0"/>
                </a:moveTo>
                <a:lnTo>
                  <a:pt x="346054" y="159185"/>
                </a:lnTo>
                <a:lnTo>
                  <a:pt x="346054" y="191006"/>
                </a:lnTo>
                <a:lnTo>
                  <a:pt x="0" y="31821"/>
                </a:lnTo>
                <a:close/>
              </a:path>
            </a:pathLst>
          </a:custGeom>
          <a:solidFill>
            <a:srgbClr val="7FC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11053312" y="2856939"/>
            <a:ext cx="346055" cy="191006"/>
          </a:xfrm>
          <a:custGeom>
            <a:avLst/>
            <a:gdLst/>
            <a:ahLst/>
            <a:cxnLst/>
            <a:rect l="l" t="t" r="r" b="b"/>
            <a:pathLst>
              <a:path w="346055" h="191006">
                <a:moveTo>
                  <a:pt x="0" y="159185"/>
                </a:moveTo>
                <a:lnTo>
                  <a:pt x="346055" y="0"/>
                </a:lnTo>
                <a:lnTo>
                  <a:pt x="346055" y="31821"/>
                </a:lnTo>
                <a:lnTo>
                  <a:pt x="0" y="191006"/>
                </a:lnTo>
                <a:close/>
              </a:path>
            </a:pathLst>
          </a:custGeom>
          <a:solidFill>
            <a:srgbClr val="5AA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10762945" y="2594335"/>
            <a:ext cx="151150" cy="63642"/>
          </a:xfrm>
          <a:custGeom>
            <a:avLst/>
            <a:gdLst/>
            <a:ahLst/>
            <a:cxnLst/>
            <a:rect l="l" t="t" r="r" b="b"/>
            <a:pathLst>
              <a:path w="151150" h="63642">
                <a:moveTo>
                  <a:pt x="0" y="31821"/>
                </a:moveTo>
                <a:lnTo>
                  <a:pt x="75575" y="0"/>
                </a:lnTo>
                <a:lnTo>
                  <a:pt x="151150" y="31821"/>
                </a:lnTo>
                <a:lnTo>
                  <a:pt x="75575" y="63642"/>
                </a:lnTo>
                <a:close/>
              </a:path>
            </a:pathLst>
          </a:custGeom>
          <a:solidFill>
            <a:srgbClr val="9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10762945" y="2626156"/>
            <a:ext cx="75575" cy="175016"/>
          </a:xfrm>
          <a:custGeom>
            <a:avLst/>
            <a:gdLst/>
            <a:ahLst/>
            <a:cxnLst/>
            <a:rect l="l" t="t" r="r" b="b"/>
            <a:pathLst>
              <a:path w="75575" h="175016">
                <a:moveTo>
                  <a:pt x="0" y="0"/>
                </a:moveTo>
                <a:lnTo>
                  <a:pt x="75575" y="31821"/>
                </a:lnTo>
                <a:lnTo>
                  <a:pt x="75575" y="175016"/>
                </a:lnTo>
                <a:lnTo>
                  <a:pt x="0" y="143195"/>
                </a:lnTo>
                <a:close/>
              </a:path>
            </a:pathLst>
          </a:custGeom>
          <a:solidFill>
            <a:srgbClr val="2AB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10838520" y="2626156"/>
            <a:ext cx="75575" cy="175016"/>
          </a:xfrm>
          <a:custGeom>
            <a:avLst/>
            <a:gdLst/>
            <a:ahLst/>
            <a:cxnLst/>
            <a:rect l="l" t="t" r="r" b="b"/>
            <a:pathLst>
              <a:path w="75575" h="175016">
                <a:moveTo>
                  <a:pt x="0" y="31821"/>
                </a:moveTo>
                <a:lnTo>
                  <a:pt x="75575" y="0"/>
                </a:lnTo>
                <a:lnTo>
                  <a:pt x="75575" y="143195"/>
                </a:lnTo>
                <a:lnTo>
                  <a:pt x="0" y="175016"/>
                </a:lnTo>
                <a:close/>
              </a:path>
            </a:pathLst>
          </a:custGeom>
          <a:solidFill>
            <a:srgbClr val="11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10953871" y="2443185"/>
            <a:ext cx="151151" cy="63642"/>
          </a:xfrm>
          <a:custGeom>
            <a:avLst/>
            <a:gdLst/>
            <a:ahLst/>
            <a:cxnLst/>
            <a:rect l="l" t="t" r="r" b="b"/>
            <a:pathLst>
              <a:path w="151151" h="63642">
                <a:moveTo>
                  <a:pt x="0" y="31821"/>
                </a:moveTo>
                <a:lnTo>
                  <a:pt x="75576" y="0"/>
                </a:lnTo>
                <a:lnTo>
                  <a:pt x="151151" y="31821"/>
                </a:lnTo>
                <a:lnTo>
                  <a:pt x="75576" y="63642"/>
                </a:lnTo>
                <a:close/>
              </a:path>
            </a:pathLst>
          </a:custGeom>
          <a:solidFill>
            <a:srgbClr val="9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10953871" y="2475006"/>
            <a:ext cx="75576" cy="326166"/>
          </a:xfrm>
          <a:custGeom>
            <a:avLst/>
            <a:gdLst/>
            <a:ahLst/>
            <a:cxnLst/>
            <a:rect l="l" t="t" r="r" b="b"/>
            <a:pathLst>
              <a:path w="75576" h="326166">
                <a:moveTo>
                  <a:pt x="0" y="0"/>
                </a:moveTo>
                <a:lnTo>
                  <a:pt x="75576" y="31821"/>
                </a:lnTo>
                <a:lnTo>
                  <a:pt x="75576" y="326166"/>
                </a:lnTo>
                <a:lnTo>
                  <a:pt x="0" y="294345"/>
                </a:lnTo>
                <a:close/>
              </a:path>
            </a:pathLst>
          </a:custGeom>
          <a:solidFill>
            <a:srgbClr val="2AB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11029447" y="2475006"/>
            <a:ext cx="75575" cy="326166"/>
          </a:xfrm>
          <a:custGeom>
            <a:avLst/>
            <a:gdLst/>
            <a:ahLst/>
            <a:cxnLst/>
            <a:rect l="l" t="t" r="r" b="b"/>
            <a:pathLst>
              <a:path w="75575" h="326166">
                <a:moveTo>
                  <a:pt x="0" y="31821"/>
                </a:moveTo>
                <a:lnTo>
                  <a:pt x="75575" y="0"/>
                </a:lnTo>
                <a:lnTo>
                  <a:pt x="75575" y="294345"/>
                </a:lnTo>
                <a:lnTo>
                  <a:pt x="0" y="326166"/>
                </a:lnTo>
                <a:close/>
              </a:path>
            </a:pathLst>
          </a:custGeom>
          <a:solidFill>
            <a:srgbClr val="11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11144798" y="2244303"/>
            <a:ext cx="151150" cy="63642"/>
          </a:xfrm>
          <a:custGeom>
            <a:avLst/>
            <a:gdLst/>
            <a:ahLst/>
            <a:cxnLst/>
            <a:rect l="l" t="t" r="r" b="b"/>
            <a:pathLst>
              <a:path w="151150" h="63642">
                <a:moveTo>
                  <a:pt x="0" y="31821"/>
                </a:moveTo>
                <a:lnTo>
                  <a:pt x="75575" y="0"/>
                </a:lnTo>
                <a:lnTo>
                  <a:pt x="151150" y="31821"/>
                </a:lnTo>
                <a:lnTo>
                  <a:pt x="75575" y="63642"/>
                </a:lnTo>
                <a:close/>
              </a:path>
            </a:pathLst>
          </a:custGeom>
          <a:solidFill>
            <a:srgbClr val="9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11144798" y="2276124"/>
            <a:ext cx="75575" cy="525048"/>
          </a:xfrm>
          <a:custGeom>
            <a:avLst/>
            <a:gdLst/>
            <a:ahLst/>
            <a:cxnLst/>
            <a:rect l="l" t="t" r="r" b="b"/>
            <a:pathLst>
              <a:path w="75575" h="525048">
                <a:moveTo>
                  <a:pt x="0" y="0"/>
                </a:moveTo>
                <a:lnTo>
                  <a:pt x="75575" y="31821"/>
                </a:lnTo>
                <a:lnTo>
                  <a:pt x="75575" y="525048"/>
                </a:lnTo>
                <a:lnTo>
                  <a:pt x="0" y="493227"/>
                </a:lnTo>
                <a:close/>
              </a:path>
            </a:pathLst>
          </a:custGeom>
          <a:solidFill>
            <a:srgbClr val="2AB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11220373" y="2276124"/>
            <a:ext cx="75575" cy="525048"/>
          </a:xfrm>
          <a:custGeom>
            <a:avLst/>
            <a:gdLst/>
            <a:ahLst/>
            <a:cxnLst/>
            <a:rect l="l" t="t" r="r" b="b"/>
            <a:pathLst>
              <a:path w="75575" h="525048">
                <a:moveTo>
                  <a:pt x="0" y="31821"/>
                </a:moveTo>
                <a:lnTo>
                  <a:pt x="75575" y="0"/>
                </a:lnTo>
                <a:lnTo>
                  <a:pt x="75575" y="493227"/>
                </a:lnTo>
                <a:lnTo>
                  <a:pt x="0" y="525048"/>
                </a:lnTo>
                <a:close/>
              </a:path>
            </a:pathLst>
          </a:custGeom>
          <a:solidFill>
            <a:srgbClr val="11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235440" y="3035808"/>
            <a:ext cx="2304288" cy="57607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3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治理、运维与分析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13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运营改进可回归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25780" y="4357116"/>
            <a:ext cx="5449824" cy="1353312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502920" y="4325112"/>
            <a:ext cx="5449824" cy="13533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95766" y="5223144"/>
            <a:ext cx="715975" cy="127284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07140" y="4737872"/>
            <a:ext cx="485272" cy="461406"/>
          </a:xfrm>
          <a:prstGeom prst="rect">
            <a:avLst/>
          </a:prstGeom>
          <a:solidFill>
            <a:srgbClr val="168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07140" y="5135636"/>
            <a:ext cx="485272" cy="159105"/>
          </a:xfrm>
          <a:prstGeom prst="ellipse">
            <a:avLst/>
          </a:prstGeom>
          <a:solidFill>
            <a:srgbClr val="096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07140" y="4658319"/>
            <a:ext cx="485272" cy="159105"/>
          </a:xfrm>
          <a:prstGeom prst="ellipse">
            <a:avLst/>
          </a:prstGeom>
          <a:solidFill>
            <a:srgbClr val="76D8FF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07140" y="4841290"/>
            <a:ext cx="485272" cy="159105"/>
          </a:xfrm>
          <a:prstGeom prst="ellipse">
            <a:avLst/>
          </a:prstGeom>
          <a:solidFill>
            <a:srgbClr val="3AB2F8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807140" y="5024262"/>
            <a:ext cx="485272" cy="159105"/>
          </a:xfrm>
          <a:prstGeom prst="ellipse">
            <a:avLst/>
          </a:prstGeom>
          <a:solidFill>
            <a:srgbClr val="3AB2F8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54872" y="4753782"/>
            <a:ext cx="31821" cy="421629"/>
          </a:xfrm>
          <a:prstGeom prst="rect">
            <a:avLst/>
          </a:prstGeom>
          <a:solidFill>
            <a:srgbClr val="76D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618488" y="4517136"/>
            <a:ext cx="4123944" cy="32918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方向一：夯实企业基础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618488" y="5084064"/>
            <a:ext cx="4123944" cy="42062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2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存量治理与责任确认 / 指标语义与规范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2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来源版本与平台连接 / 真实任务评测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249924" y="4357116"/>
            <a:ext cx="5449824" cy="1353312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6227064" y="4325112"/>
            <a:ext cx="5449824" cy="13533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419910" y="5223144"/>
            <a:ext cx="715975" cy="127284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6427866" y="5111770"/>
            <a:ext cx="692109" cy="318370"/>
          </a:xfrm>
          <a:custGeom>
            <a:avLst/>
            <a:gdLst/>
            <a:ahLst/>
            <a:cxnLst/>
            <a:rect l="l" t="t" r="r" b="b"/>
            <a:pathLst>
              <a:path w="692109" h="318370">
                <a:moveTo>
                  <a:pt x="0" y="159185"/>
                </a:moveTo>
                <a:lnTo>
                  <a:pt x="346054" y="0"/>
                </a:lnTo>
                <a:lnTo>
                  <a:pt x="692109" y="159185"/>
                </a:lnTo>
                <a:lnTo>
                  <a:pt x="346054" y="318370"/>
                </a:lnTo>
                <a:close/>
              </a:path>
            </a:pathLst>
          </a:custGeom>
          <a:solidFill>
            <a:srgbClr val="B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6427866" y="5270955"/>
            <a:ext cx="346054" cy="191006"/>
          </a:xfrm>
          <a:custGeom>
            <a:avLst/>
            <a:gdLst/>
            <a:ahLst/>
            <a:cxnLst/>
            <a:rect l="l" t="t" r="r" b="b"/>
            <a:pathLst>
              <a:path w="346054" h="191006">
                <a:moveTo>
                  <a:pt x="0" y="0"/>
                </a:moveTo>
                <a:lnTo>
                  <a:pt x="346054" y="159185"/>
                </a:lnTo>
                <a:lnTo>
                  <a:pt x="346054" y="191006"/>
                </a:lnTo>
                <a:lnTo>
                  <a:pt x="0" y="31821"/>
                </a:lnTo>
                <a:close/>
              </a:path>
            </a:pathLst>
          </a:custGeom>
          <a:solidFill>
            <a:srgbClr val="7FC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6773920" y="5270955"/>
            <a:ext cx="346055" cy="191006"/>
          </a:xfrm>
          <a:custGeom>
            <a:avLst/>
            <a:gdLst/>
            <a:ahLst/>
            <a:cxnLst/>
            <a:rect l="l" t="t" r="r" b="b"/>
            <a:pathLst>
              <a:path w="346055" h="191006">
                <a:moveTo>
                  <a:pt x="0" y="159185"/>
                </a:moveTo>
                <a:lnTo>
                  <a:pt x="346055" y="0"/>
                </a:lnTo>
                <a:lnTo>
                  <a:pt x="346055" y="31821"/>
                </a:lnTo>
                <a:lnTo>
                  <a:pt x="0" y="191006"/>
                </a:lnTo>
                <a:close/>
              </a:path>
            </a:pathLst>
          </a:custGeom>
          <a:solidFill>
            <a:srgbClr val="5AA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6483553" y="5008351"/>
            <a:ext cx="151150" cy="63642"/>
          </a:xfrm>
          <a:custGeom>
            <a:avLst/>
            <a:gdLst/>
            <a:ahLst/>
            <a:cxnLst/>
            <a:rect l="l" t="t" r="r" b="b"/>
            <a:pathLst>
              <a:path w="151150" h="63642">
                <a:moveTo>
                  <a:pt x="0" y="31821"/>
                </a:moveTo>
                <a:lnTo>
                  <a:pt x="75575" y="0"/>
                </a:lnTo>
                <a:lnTo>
                  <a:pt x="151150" y="31821"/>
                </a:lnTo>
                <a:lnTo>
                  <a:pt x="75575" y="63642"/>
                </a:lnTo>
                <a:close/>
              </a:path>
            </a:pathLst>
          </a:custGeom>
          <a:solidFill>
            <a:srgbClr val="9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6483553" y="5040172"/>
            <a:ext cx="75575" cy="175016"/>
          </a:xfrm>
          <a:custGeom>
            <a:avLst/>
            <a:gdLst/>
            <a:ahLst/>
            <a:cxnLst/>
            <a:rect l="l" t="t" r="r" b="b"/>
            <a:pathLst>
              <a:path w="75575" h="175016">
                <a:moveTo>
                  <a:pt x="0" y="0"/>
                </a:moveTo>
                <a:lnTo>
                  <a:pt x="75575" y="31821"/>
                </a:lnTo>
                <a:lnTo>
                  <a:pt x="75575" y="175016"/>
                </a:lnTo>
                <a:lnTo>
                  <a:pt x="0" y="143195"/>
                </a:lnTo>
                <a:close/>
              </a:path>
            </a:pathLst>
          </a:custGeom>
          <a:solidFill>
            <a:srgbClr val="2AB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6559128" y="5040172"/>
            <a:ext cx="75575" cy="175016"/>
          </a:xfrm>
          <a:custGeom>
            <a:avLst/>
            <a:gdLst/>
            <a:ahLst/>
            <a:cxnLst/>
            <a:rect l="l" t="t" r="r" b="b"/>
            <a:pathLst>
              <a:path w="75575" h="175016">
                <a:moveTo>
                  <a:pt x="0" y="31821"/>
                </a:moveTo>
                <a:lnTo>
                  <a:pt x="75575" y="0"/>
                </a:lnTo>
                <a:lnTo>
                  <a:pt x="75575" y="143195"/>
                </a:lnTo>
                <a:lnTo>
                  <a:pt x="0" y="175016"/>
                </a:lnTo>
                <a:close/>
              </a:path>
            </a:pathLst>
          </a:custGeom>
          <a:solidFill>
            <a:srgbClr val="11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6674479" y="4857201"/>
            <a:ext cx="151151" cy="63642"/>
          </a:xfrm>
          <a:custGeom>
            <a:avLst/>
            <a:gdLst/>
            <a:ahLst/>
            <a:cxnLst/>
            <a:rect l="l" t="t" r="r" b="b"/>
            <a:pathLst>
              <a:path w="151151" h="63642">
                <a:moveTo>
                  <a:pt x="0" y="31821"/>
                </a:moveTo>
                <a:lnTo>
                  <a:pt x="75576" y="0"/>
                </a:lnTo>
                <a:lnTo>
                  <a:pt x="151151" y="31821"/>
                </a:lnTo>
                <a:lnTo>
                  <a:pt x="75576" y="63642"/>
                </a:lnTo>
                <a:close/>
              </a:path>
            </a:pathLst>
          </a:custGeom>
          <a:solidFill>
            <a:srgbClr val="9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6674479" y="4889022"/>
            <a:ext cx="75576" cy="326166"/>
          </a:xfrm>
          <a:custGeom>
            <a:avLst/>
            <a:gdLst/>
            <a:ahLst/>
            <a:cxnLst/>
            <a:rect l="l" t="t" r="r" b="b"/>
            <a:pathLst>
              <a:path w="75576" h="326166">
                <a:moveTo>
                  <a:pt x="0" y="0"/>
                </a:moveTo>
                <a:lnTo>
                  <a:pt x="75576" y="31821"/>
                </a:lnTo>
                <a:lnTo>
                  <a:pt x="75576" y="326166"/>
                </a:lnTo>
                <a:lnTo>
                  <a:pt x="0" y="294345"/>
                </a:lnTo>
                <a:close/>
              </a:path>
            </a:pathLst>
          </a:custGeom>
          <a:solidFill>
            <a:srgbClr val="2AB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6750055" y="4889022"/>
            <a:ext cx="75575" cy="326166"/>
          </a:xfrm>
          <a:custGeom>
            <a:avLst/>
            <a:gdLst/>
            <a:ahLst/>
            <a:cxnLst/>
            <a:rect l="l" t="t" r="r" b="b"/>
            <a:pathLst>
              <a:path w="75575" h="326166">
                <a:moveTo>
                  <a:pt x="0" y="31821"/>
                </a:moveTo>
                <a:lnTo>
                  <a:pt x="75575" y="0"/>
                </a:lnTo>
                <a:lnTo>
                  <a:pt x="75575" y="294345"/>
                </a:lnTo>
                <a:lnTo>
                  <a:pt x="0" y="326166"/>
                </a:lnTo>
                <a:close/>
              </a:path>
            </a:pathLst>
          </a:custGeom>
          <a:solidFill>
            <a:srgbClr val="11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6865406" y="4658319"/>
            <a:ext cx="151150" cy="63642"/>
          </a:xfrm>
          <a:custGeom>
            <a:avLst/>
            <a:gdLst/>
            <a:ahLst/>
            <a:cxnLst/>
            <a:rect l="l" t="t" r="r" b="b"/>
            <a:pathLst>
              <a:path w="151150" h="63642">
                <a:moveTo>
                  <a:pt x="0" y="31821"/>
                </a:moveTo>
                <a:lnTo>
                  <a:pt x="75575" y="0"/>
                </a:lnTo>
                <a:lnTo>
                  <a:pt x="151150" y="31821"/>
                </a:lnTo>
                <a:lnTo>
                  <a:pt x="75575" y="63642"/>
                </a:lnTo>
                <a:close/>
              </a:path>
            </a:pathLst>
          </a:custGeom>
          <a:solidFill>
            <a:srgbClr val="9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6865406" y="4690140"/>
            <a:ext cx="75575" cy="525048"/>
          </a:xfrm>
          <a:custGeom>
            <a:avLst/>
            <a:gdLst/>
            <a:ahLst/>
            <a:cxnLst/>
            <a:rect l="l" t="t" r="r" b="b"/>
            <a:pathLst>
              <a:path w="75575" h="525048">
                <a:moveTo>
                  <a:pt x="0" y="0"/>
                </a:moveTo>
                <a:lnTo>
                  <a:pt x="75575" y="31821"/>
                </a:lnTo>
                <a:lnTo>
                  <a:pt x="75575" y="525048"/>
                </a:lnTo>
                <a:lnTo>
                  <a:pt x="0" y="493227"/>
                </a:lnTo>
                <a:close/>
              </a:path>
            </a:pathLst>
          </a:custGeom>
          <a:solidFill>
            <a:srgbClr val="2AB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6940981" y="4690140"/>
            <a:ext cx="75575" cy="525048"/>
          </a:xfrm>
          <a:custGeom>
            <a:avLst/>
            <a:gdLst/>
            <a:ahLst/>
            <a:cxnLst/>
            <a:rect l="l" t="t" r="r" b="b"/>
            <a:pathLst>
              <a:path w="75575" h="525048">
                <a:moveTo>
                  <a:pt x="0" y="31821"/>
                </a:moveTo>
                <a:lnTo>
                  <a:pt x="75575" y="0"/>
                </a:lnTo>
                <a:lnTo>
                  <a:pt x="75575" y="493227"/>
                </a:lnTo>
                <a:lnTo>
                  <a:pt x="0" y="525048"/>
                </a:lnTo>
                <a:close/>
              </a:path>
            </a:pathLst>
          </a:custGeom>
          <a:solidFill>
            <a:srgbClr val="11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342631" y="4517136"/>
            <a:ext cx="4123944" cy="32918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方向二：扩大专业价值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342631" y="5084064"/>
            <a:ext cx="4123944" cy="42062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2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复用需求与模型 / 限定研发验证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22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异常取证与整改 / 指标分析与业务解释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61772" y="6112764"/>
            <a:ext cx="11247120" cy="33832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438912" y="6080760"/>
            <a:ext cx="11247120" cy="338328"/>
          </a:xfrm>
          <a:prstGeom prst="roundRect">
            <a:avLst>
              <a:gd name="adj" fmla="val 5500"/>
            </a:avLst>
          </a:prstGeom>
          <a:solidFill>
            <a:srgbClr val="EEF7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85216" y="6117336"/>
            <a:ext cx="10954512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按完成证据决定扩展；内容、连接与评测贯穿推进，不预设固定工期或全自动交付承诺。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6346471"/>
            <a:ext cx="12191695" cy="235953"/>
          </a:xfrm>
          <a:custGeom>
            <a:avLst/>
            <a:gdLst/>
            <a:ahLst/>
            <a:cxnLst/>
            <a:rect l="l" t="t" r="r" b="b"/>
            <a:pathLst>
              <a:path w="12191695" h="235953">
                <a:moveTo>
                  <a:pt x="0" y="127481"/>
                </a:moveTo>
                <a:lnTo>
                  <a:pt x="135463" y="147046"/>
                </a:lnTo>
                <a:lnTo>
                  <a:pt x="270926" y="165914"/>
                </a:lnTo>
                <a:lnTo>
                  <a:pt x="406389" y="183426"/>
                </a:lnTo>
                <a:lnTo>
                  <a:pt x="541853" y="199000"/>
                </a:lnTo>
                <a:lnTo>
                  <a:pt x="677316" y="212159"/>
                </a:lnTo>
                <a:lnTo>
                  <a:pt x="812779" y="222557"/>
                </a:lnTo>
                <a:lnTo>
                  <a:pt x="948242" y="229995"/>
                </a:lnTo>
                <a:lnTo>
                  <a:pt x="1083706" y="234426"/>
                </a:lnTo>
                <a:lnTo>
                  <a:pt x="1219169" y="235953"/>
                </a:lnTo>
                <a:lnTo>
                  <a:pt x="1354632" y="234812"/>
                </a:lnTo>
                <a:lnTo>
                  <a:pt x="1490096" y="231352"/>
                </a:lnTo>
                <a:lnTo>
                  <a:pt x="1625559" y="226009"/>
                </a:lnTo>
                <a:lnTo>
                  <a:pt x="1761022" y="219267"/>
                </a:lnTo>
                <a:lnTo>
                  <a:pt x="1896485" y="211626"/>
                </a:lnTo>
                <a:lnTo>
                  <a:pt x="2031949" y="203564"/>
                </a:lnTo>
                <a:lnTo>
                  <a:pt x="2167412" y="195508"/>
                </a:lnTo>
                <a:lnTo>
                  <a:pt x="2302875" y="187800"/>
                </a:lnTo>
                <a:lnTo>
                  <a:pt x="2438339" y="180682"/>
                </a:lnTo>
                <a:lnTo>
                  <a:pt x="2573802" y="174280"/>
                </a:lnTo>
                <a:lnTo>
                  <a:pt x="2709265" y="168601"/>
                </a:lnTo>
                <a:lnTo>
                  <a:pt x="2844728" y="163541"/>
                </a:lnTo>
                <a:lnTo>
                  <a:pt x="2980192" y="158900"/>
                </a:lnTo>
                <a:lnTo>
                  <a:pt x="3115655" y="154402"/>
                </a:lnTo>
                <a:lnTo>
                  <a:pt x="3251118" y="149724"/>
                </a:lnTo>
                <a:lnTo>
                  <a:pt x="3386582" y="144534"/>
                </a:lnTo>
                <a:lnTo>
                  <a:pt x="3522045" y="138515"/>
                </a:lnTo>
                <a:lnTo>
                  <a:pt x="3657508" y="131408"/>
                </a:lnTo>
                <a:lnTo>
                  <a:pt x="3792971" y="123031"/>
                </a:lnTo>
                <a:lnTo>
                  <a:pt x="3928435" y="113309"/>
                </a:lnTo>
                <a:lnTo>
                  <a:pt x="4063898" y="102287"/>
                </a:lnTo>
                <a:lnTo>
                  <a:pt x="4199361" y="90138"/>
                </a:lnTo>
                <a:lnTo>
                  <a:pt x="4334824" y="77155"/>
                </a:lnTo>
                <a:lnTo>
                  <a:pt x="4470288" y="63745"/>
                </a:lnTo>
                <a:lnTo>
                  <a:pt x="4605751" y="50406"/>
                </a:lnTo>
                <a:lnTo>
                  <a:pt x="4741214" y="37696"/>
                </a:lnTo>
                <a:lnTo>
                  <a:pt x="4876678" y="26202"/>
                </a:lnTo>
                <a:lnTo>
                  <a:pt x="5012141" y="16503"/>
                </a:lnTo>
                <a:lnTo>
                  <a:pt x="5147604" y="9131"/>
                </a:lnTo>
                <a:lnTo>
                  <a:pt x="5283067" y="4538"/>
                </a:lnTo>
                <a:lnTo>
                  <a:pt x="5418531" y="3064"/>
                </a:lnTo>
                <a:lnTo>
                  <a:pt x="5553994" y="4912"/>
                </a:lnTo>
                <a:lnTo>
                  <a:pt x="5689457" y="10132"/>
                </a:lnTo>
                <a:lnTo>
                  <a:pt x="5824921" y="18617"/>
                </a:lnTo>
                <a:lnTo>
                  <a:pt x="5960384" y="30106"/>
                </a:lnTo>
                <a:lnTo>
                  <a:pt x="6095847" y="44193"/>
                </a:lnTo>
                <a:lnTo>
                  <a:pt x="6231310" y="60357"/>
                </a:lnTo>
                <a:lnTo>
                  <a:pt x="6366774" y="77984"/>
                </a:lnTo>
                <a:lnTo>
                  <a:pt x="6502237" y="96410"/>
                </a:lnTo>
                <a:lnTo>
                  <a:pt x="6637700" y="114953"/>
                </a:lnTo>
                <a:lnTo>
                  <a:pt x="6773164" y="132954"/>
                </a:lnTo>
                <a:lnTo>
                  <a:pt x="6908627" y="149814"/>
                </a:lnTo>
                <a:lnTo>
                  <a:pt x="7044090" y="165027"/>
                </a:lnTo>
                <a:lnTo>
                  <a:pt x="7179553" y="178204"/>
                </a:lnTo>
                <a:lnTo>
                  <a:pt x="7315017" y="189090"/>
                </a:lnTo>
                <a:lnTo>
                  <a:pt x="7450480" y="197574"/>
                </a:lnTo>
                <a:lnTo>
                  <a:pt x="7585943" y="203682"/>
                </a:lnTo>
                <a:lnTo>
                  <a:pt x="7721406" y="207573"/>
                </a:lnTo>
                <a:lnTo>
                  <a:pt x="7856870" y="209512"/>
                </a:lnTo>
                <a:lnTo>
                  <a:pt x="7992333" y="209848"/>
                </a:lnTo>
                <a:lnTo>
                  <a:pt x="8127796" y="208978"/>
                </a:lnTo>
                <a:lnTo>
                  <a:pt x="8263260" y="207316"/>
                </a:lnTo>
                <a:lnTo>
                  <a:pt x="8398723" y="205256"/>
                </a:lnTo>
                <a:lnTo>
                  <a:pt x="8534186" y="203141"/>
                </a:lnTo>
                <a:lnTo>
                  <a:pt x="8669649" y="201238"/>
                </a:lnTo>
                <a:lnTo>
                  <a:pt x="8805113" y="199711"/>
                </a:lnTo>
                <a:lnTo>
                  <a:pt x="8940576" y="198616"/>
                </a:lnTo>
                <a:lnTo>
                  <a:pt x="9076039" y="197894"/>
                </a:lnTo>
                <a:lnTo>
                  <a:pt x="9211503" y="197378"/>
                </a:lnTo>
                <a:lnTo>
                  <a:pt x="9346966" y="196808"/>
                </a:lnTo>
                <a:lnTo>
                  <a:pt x="9482429" y="195855"/>
                </a:lnTo>
                <a:lnTo>
                  <a:pt x="9617892" y="194147"/>
                </a:lnTo>
                <a:lnTo>
                  <a:pt x="9753356" y="191305"/>
                </a:lnTo>
                <a:lnTo>
                  <a:pt x="9888819" y="186977"/>
                </a:lnTo>
                <a:lnTo>
                  <a:pt x="10024282" y="180869"/>
                </a:lnTo>
                <a:lnTo>
                  <a:pt x="10159746" y="172776"/>
                </a:lnTo>
                <a:lnTo>
                  <a:pt x="10295209" y="162608"/>
                </a:lnTo>
                <a:lnTo>
                  <a:pt x="10430672" y="150402"/>
                </a:lnTo>
                <a:lnTo>
                  <a:pt x="10566135" y="136335"/>
                </a:lnTo>
                <a:lnTo>
                  <a:pt x="10701599" y="120717"/>
                </a:lnTo>
                <a:lnTo>
                  <a:pt x="10837062" y="103984"/>
                </a:lnTo>
                <a:lnTo>
                  <a:pt x="10972525" y="86673"/>
                </a:lnTo>
                <a:lnTo>
                  <a:pt x="11107988" y="69396"/>
                </a:lnTo>
                <a:lnTo>
                  <a:pt x="11243452" y="52806"/>
                </a:lnTo>
                <a:lnTo>
                  <a:pt x="11378915" y="37558"/>
                </a:lnTo>
                <a:lnTo>
                  <a:pt x="11514378" y="24274"/>
                </a:lnTo>
                <a:lnTo>
                  <a:pt x="11649842" y="13501"/>
                </a:lnTo>
                <a:lnTo>
                  <a:pt x="11785305" y="5683"/>
                </a:lnTo>
                <a:lnTo>
                  <a:pt x="11920768" y="1129"/>
                </a:lnTo>
                <a:lnTo>
                  <a:pt x="12056231" y="0"/>
                </a:lnTo>
                <a:lnTo>
                  <a:pt x="12191695" y="2300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6405649"/>
            <a:ext cx="12191695" cy="245182"/>
          </a:xfrm>
          <a:custGeom>
            <a:avLst/>
            <a:gdLst/>
            <a:ahLst/>
            <a:cxnLst/>
            <a:rect l="l" t="t" r="r" b="b"/>
            <a:pathLst>
              <a:path w="12191695" h="245182">
                <a:moveTo>
                  <a:pt x="0" y="150669"/>
                </a:moveTo>
                <a:lnTo>
                  <a:pt x="135463" y="169737"/>
                </a:lnTo>
                <a:lnTo>
                  <a:pt x="270926" y="187768"/>
                </a:lnTo>
                <a:lnTo>
                  <a:pt x="406389" y="204118"/>
                </a:lnTo>
                <a:lnTo>
                  <a:pt x="541853" y="218220"/>
                </a:lnTo>
                <a:lnTo>
                  <a:pt x="677316" y="229621"/>
                </a:lnTo>
                <a:lnTo>
                  <a:pt x="812779" y="238002"/>
                </a:lnTo>
                <a:lnTo>
                  <a:pt x="948242" y="243193"/>
                </a:lnTo>
                <a:lnTo>
                  <a:pt x="1083706" y="245182"/>
                </a:lnTo>
                <a:lnTo>
                  <a:pt x="1219169" y="244108"/>
                </a:lnTo>
                <a:lnTo>
                  <a:pt x="1354632" y="240247"/>
                </a:lnTo>
                <a:lnTo>
                  <a:pt x="1490096" y="233989"/>
                </a:lnTo>
                <a:lnTo>
                  <a:pt x="1625559" y="225812"/>
                </a:lnTo>
                <a:lnTo>
                  <a:pt x="1761022" y="216243"/>
                </a:lnTo>
                <a:lnTo>
                  <a:pt x="1896485" y="205824"/>
                </a:lnTo>
                <a:lnTo>
                  <a:pt x="2031949" y="195076"/>
                </a:lnTo>
                <a:lnTo>
                  <a:pt x="2167412" y="184466"/>
                </a:lnTo>
                <a:lnTo>
                  <a:pt x="2302875" y="174375"/>
                </a:lnTo>
                <a:lnTo>
                  <a:pt x="2438339" y="165080"/>
                </a:lnTo>
                <a:lnTo>
                  <a:pt x="2573802" y="156740"/>
                </a:lnTo>
                <a:lnTo>
                  <a:pt x="2709265" y="149392"/>
                </a:lnTo>
                <a:lnTo>
                  <a:pt x="2844728" y="142958"/>
                </a:lnTo>
                <a:lnTo>
                  <a:pt x="2980192" y="137257"/>
                </a:lnTo>
                <a:lnTo>
                  <a:pt x="3115655" y="132030"/>
                </a:lnTo>
                <a:lnTo>
                  <a:pt x="3251118" y="126965"/>
                </a:lnTo>
                <a:lnTo>
                  <a:pt x="3386582" y="121734"/>
                </a:lnTo>
                <a:lnTo>
                  <a:pt x="3522045" y="116024"/>
                </a:lnTo>
                <a:lnTo>
                  <a:pt x="3657508" y="109568"/>
                </a:lnTo>
                <a:lnTo>
                  <a:pt x="3792971" y="102177"/>
                </a:lnTo>
                <a:lnTo>
                  <a:pt x="3928435" y="93759"/>
                </a:lnTo>
                <a:lnTo>
                  <a:pt x="4063898" y="84341"/>
                </a:lnTo>
                <a:lnTo>
                  <a:pt x="4199361" y="74069"/>
                </a:lnTo>
                <a:lnTo>
                  <a:pt x="4334824" y="63211"/>
                </a:lnTo>
                <a:lnTo>
                  <a:pt x="4470288" y="52141"/>
                </a:lnTo>
                <a:lnTo>
                  <a:pt x="4605751" y="41320"/>
                </a:lnTo>
                <a:lnTo>
                  <a:pt x="4741214" y="31269"/>
                </a:lnTo>
                <a:lnTo>
                  <a:pt x="4876678" y="22536"/>
                </a:lnTo>
                <a:lnTo>
                  <a:pt x="5012141" y="15656"/>
                </a:lnTo>
                <a:lnTo>
                  <a:pt x="5147604" y="11120"/>
                </a:lnTo>
                <a:lnTo>
                  <a:pt x="5283067" y="9338"/>
                </a:lnTo>
                <a:lnTo>
                  <a:pt x="5418531" y="10605"/>
                </a:lnTo>
                <a:lnTo>
                  <a:pt x="5553994" y="15085"/>
                </a:lnTo>
                <a:lnTo>
                  <a:pt x="5689457" y="22787"/>
                </a:lnTo>
                <a:lnTo>
                  <a:pt x="5824921" y="33567"/>
                </a:lnTo>
                <a:lnTo>
                  <a:pt x="5960384" y="47128"/>
                </a:lnTo>
                <a:lnTo>
                  <a:pt x="6095847" y="63035"/>
                </a:lnTo>
                <a:lnTo>
                  <a:pt x="6231310" y="80738"/>
                </a:lnTo>
                <a:lnTo>
                  <a:pt x="6366774" y="99601"/>
                </a:lnTo>
                <a:lnTo>
                  <a:pt x="6502237" y="118939"/>
                </a:lnTo>
                <a:lnTo>
                  <a:pt x="6637700" y="138058"/>
                </a:lnTo>
                <a:lnTo>
                  <a:pt x="6773164" y="156290"/>
                </a:lnTo>
                <a:lnTo>
                  <a:pt x="6908627" y="173034"/>
                </a:lnTo>
                <a:lnTo>
                  <a:pt x="7044090" y="187783"/>
                </a:lnTo>
                <a:lnTo>
                  <a:pt x="7179553" y="200156"/>
                </a:lnTo>
                <a:lnTo>
                  <a:pt x="7315017" y="209912"/>
                </a:lnTo>
                <a:lnTo>
                  <a:pt x="7450480" y="216953"/>
                </a:lnTo>
                <a:lnTo>
                  <a:pt x="7585943" y="221331"/>
                </a:lnTo>
                <a:lnTo>
                  <a:pt x="7721406" y="223229"/>
                </a:lnTo>
                <a:lnTo>
                  <a:pt x="7856870" y="222943"/>
                </a:lnTo>
                <a:lnTo>
                  <a:pt x="7992333" y="220854"/>
                </a:lnTo>
                <a:lnTo>
                  <a:pt x="8127796" y="217398"/>
                </a:lnTo>
                <a:lnTo>
                  <a:pt x="8263260" y="213025"/>
                </a:lnTo>
                <a:lnTo>
                  <a:pt x="8398723" y="208173"/>
                </a:lnTo>
                <a:lnTo>
                  <a:pt x="8534186" y="203226"/>
                </a:lnTo>
                <a:lnTo>
                  <a:pt x="8669649" y="198493"/>
                </a:lnTo>
                <a:lnTo>
                  <a:pt x="8805113" y="194182"/>
                </a:lnTo>
                <a:lnTo>
                  <a:pt x="8940576" y="190390"/>
                </a:lnTo>
                <a:lnTo>
                  <a:pt x="9076039" y="187099"/>
                </a:lnTo>
                <a:lnTo>
                  <a:pt x="9211503" y="184181"/>
                </a:lnTo>
                <a:lnTo>
                  <a:pt x="9346966" y="181412"/>
                </a:lnTo>
                <a:lnTo>
                  <a:pt x="9482429" y="178496"/>
                </a:lnTo>
                <a:lnTo>
                  <a:pt x="9617892" y="175092"/>
                </a:lnTo>
                <a:lnTo>
                  <a:pt x="9753356" y="170845"/>
                </a:lnTo>
                <a:lnTo>
                  <a:pt x="9888819" y="165425"/>
                </a:lnTo>
                <a:lnTo>
                  <a:pt x="10024282" y="158555"/>
                </a:lnTo>
                <a:lnTo>
                  <a:pt x="10159746" y="150040"/>
                </a:lnTo>
                <a:lnTo>
                  <a:pt x="10295209" y="139797"/>
                </a:lnTo>
                <a:lnTo>
                  <a:pt x="10430672" y="127865"/>
                </a:lnTo>
                <a:lnTo>
                  <a:pt x="10566135" y="114415"/>
                </a:lnTo>
                <a:lnTo>
                  <a:pt x="10701599" y="99751"/>
                </a:lnTo>
                <a:lnTo>
                  <a:pt x="10837062" y="84291"/>
                </a:lnTo>
                <a:lnTo>
                  <a:pt x="10972525" y="68554"/>
                </a:lnTo>
                <a:lnTo>
                  <a:pt x="11107988" y="53129"/>
                </a:lnTo>
                <a:lnTo>
                  <a:pt x="11243452" y="38641"/>
                </a:lnTo>
                <a:lnTo>
                  <a:pt x="11378915" y="25713"/>
                </a:lnTo>
                <a:lnTo>
                  <a:pt x="11514378" y="14931"/>
                </a:lnTo>
                <a:lnTo>
                  <a:pt x="11649842" y="6805"/>
                </a:lnTo>
                <a:lnTo>
                  <a:pt x="11785305" y="1738"/>
                </a:lnTo>
                <a:lnTo>
                  <a:pt x="11920768" y="0"/>
                </a:lnTo>
                <a:lnTo>
                  <a:pt x="12056231" y="1708"/>
                </a:lnTo>
                <a:lnTo>
                  <a:pt x="12191695" y="6822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6467906"/>
            <a:ext cx="12191695" cy="248613"/>
          </a:xfrm>
          <a:custGeom>
            <a:avLst/>
            <a:gdLst/>
            <a:ahLst/>
            <a:cxnLst/>
            <a:rect l="l" t="t" r="r" b="b"/>
            <a:pathLst>
              <a:path w="12191695" h="248613">
                <a:moveTo>
                  <a:pt x="0" y="169572"/>
                </a:moveTo>
                <a:lnTo>
                  <a:pt x="135463" y="187517"/>
                </a:lnTo>
                <a:lnTo>
                  <a:pt x="270926" y="204116"/>
                </a:lnTo>
                <a:lnTo>
                  <a:pt x="406389" y="218744"/>
                </a:lnTo>
                <a:lnTo>
                  <a:pt x="541853" y="230861"/>
                </a:lnTo>
                <a:lnTo>
                  <a:pt x="677316" y="240043"/>
                </a:lnTo>
                <a:lnTo>
                  <a:pt x="812779" y="246004"/>
                </a:lnTo>
                <a:lnTo>
                  <a:pt x="948242" y="248613"/>
                </a:lnTo>
                <a:lnTo>
                  <a:pt x="1083706" y="247896"/>
                </a:lnTo>
                <a:lnTo>
                  <a:pt x="1219169" y="244031"/>
                </a:lnTo>
                <a:lnTo>
                  <a:pt x="1354632" y="237338"/>
                </a:lnTo>
                <a:lnTo>
                  <a:pt x="1490096" y="228250"/>
                </a:lnTo>
                <a:lnTo>
                  <a:pt x="1625559" y="217286"/>
                </a:lnTo>
                <a:lnTo>
                  <a:pt x="1761022" y="205017"/>
                </a:lnTo>
                <a:lnTo>
                  <a:pt x="1896485" y="192024"/>
                </a:lnTo>
                <a:lnTo>
                  <a:pt x="2031949" y="178869"/>
                </a:lnTo>
                <a:lnTo>
                  <a:pt x="2167412" y="166053"/>
                </a:lnTo>
                <a:lnTo>
                  <a:pt x="2302875" y="153992"/>
                </a:lnTo>
                <a:lnTo>
                  <a:pt x="2438339" y="142992"/>
                </a:lnTo>
                <a:lnTo>
                  <a:pt x="2573802" y="133239"/>
                </a:lnTo>
                <a:lnTo>
                  <a:pt x="2709265" y="124790"/>
                </a:lnTo>
                <a:lnTo>
                  <a:pt x="2844728" y="117583"/>
                </a:lnTo>
                <a:lnTo>
                  <a:pt x="2980192" y="111449"/>
                </a:lnTo>
                <a:lnTo>
                  <a:pt x="3115655" y="106137"/>
                </a:lnTo>
                <a:lnTo>
                  <a:pt x="3251118" y="101335"/>
                </a:lnTo>
                <a:lnTo>
                  <a:pt x="3386582" y="96713"/>
                </a:lnTo>
                <a:lnTo>
                  <a:pt x="3522045" y="91945"/>
                </a:lnTo>
                <a:lnTo>
                  <a:pt x="3657508" y="86753"/>
                </a:lnTo>
                <a:lnTo>
                  <a:pt x="3792971" y="80928"/>
                </a:lnTo>
                <a:lnTo>
                  <a:pt x="3928435" y="74354"/>
                </a:lnTo>
                <a:lnTo>
                  <a:pt x="4063898" y="67031"/>
                </a:lnTo>
                <a:lnTo>
                  <a:pt x="4199361" y="59072"/>
                </a:lnTo>
                <a:lnTo>
                  <a:pt x="4334824" y="50711"/>
                </a:lnTo>
                <a:lnTo>
                  <a:pt x="4470288" y="42285"/>
                </a:lnTo>
                <a:lnTo>
                  <a:pt x="4605751" y="34213"/>
                </a:lnTo>
                <a:lnTo>
                  <a:pt x="4741214" y="26977"/>
                </a:lnTo>
                <a:lnTo>
                  <a:pt x="4876678" y="21080"/>
                </a:lnTo>
                <a:lnTo>
                  <a:pt x="5012141" y="17016"/>
                </a:lnTo>
                <a:lnTo>
                  <a:pt x="5147604" y="15233"/>
                </a:lnTo>
                <a:lnTo>
                  <a:pt x="5283067" y="16099"/>
                </a:lnTo>
                <a:lnTo>
                  <a:pt x="5418531" y="19870"/>
                </a:lnTo>
                <a:lnTo>
                  <a:pt x="5553994" y="26670"/>
                </a:lnTo>
                <a:lnTo>
                  <a:pt x="5689457" y="36475"/>
                </a:lnTo>
                <a:lnTo>
                  <a:pt x="5824921" y="49109"/>
                </a:lnTo>
                <a:lnTo>
                  <a:pt x="5960384" y="64247"/>
                </a:lnTo>
                <a:lnTo>
                  <a:pt x="6095847" y="81430"/>
                </a:lnTo>
                <a:lnTo>
                  <a:pt x="6231310" y="100088"/>
                </a:lnTo>
                <a:lnTo>
                  <a:pt x="6366774" y="119571"/>
                </a:lnTo>
                <a:lnTo>
                  <a:pt x="6502237" y="139187"/>
                </a:lnTo>
                <a:lnTo>
                  <a:pt x="6637700" y="158234"/>
                </a:lnTo>
                <a:lnTo>
                  <a:pt x="6773164" y="176047"/>
                </a:lnTo>
                <a:lnTo>
                  <a:pt x="6908627" y="192030"/>
                </a:lnTo>
                <a:lnTo>
                  <a:pt x="7044090" y="205690"/>
                </a:lnTo>
                <a:lnTo>
                  <a:pt x="7179553" y="216660"/>
                </a:lnTo>
                <a:lnTo>
                  <a:pt x="7315017" y="224721"/>
                </a:lnTo>
                <a:lnTo>
                  <a:pt x="7450480" y="229802"/>
                </a:lnTo>
                <a:lnTo>
                  <a:pt x="7585943" y="231983"/>
                </a:lnTo>
                <a:lnTo>
                  <a:pt x="7721406" y="231480"/>
                </a:lnTo>
                <a:lnTo>
                  <a:pt x="7856870" y="228626"/>
                </a:lnTo>
                <a:lnTo>
                  <a:pt x="7992333" y="223841"/>
                </a:lnTo>
                <a:lnTo>
                  <a:pt x="8127796" y="217601"/>
                </a:lnTo>
                <a:lnTo>
                  <a:pt x="8263260" y="210399"/>
                </a:lnTo>
                <a:lnTo>
                  <a:pt x="8398723" y="202714"/>
                </a:lnTo>
                <a:lnTo>
                  <a:pt x="8534186" y="194975"/>
                </a:lnTo>
                <a:lnTo>
                  <a:pt x="8669649" y="187531"/>
                </a:lnTo>
                <a:lnTo>
                  <a:pt x="8805113" y="180631"/>
                </a:lnTo>
                <a:lnTo>
                  <a:pt x="8940576" y="174414"/>
                </a:lnTo>
                <a:lnTo>
                  <a:pt x="9076039" y="168896"/>
                </a:lnTo>
                <a:lnTo>
                  <a:pt x="9211503" y="163983"/>
                </a:lnTo>
                <a:lnTo>
                  <a:pt x="9346966" y="159481"/>
                </a:lnTo>
                <a:lnTo>
                  <a:pt x="9482429" y="155122"/>
                </a:lnTo>
                <a:lnTo>
                  <a:pt x="9617892" y="150584"/>
                </a:lnTo>
                <a:lnTo>
                  <a:pt x="9753356" y="145531"/>
                </a:lnTo>
                <a:lnTo>
                  <a:pt x="9888819" y="139645"/>
                </a:lnTo>
                <a:lnTo>
                  <a:pt x="10024282" y="132654"/>
                </a:lnTo>
                <a:lnTo>
                  <a:pt x="10159746" y="124369"/>
                </a:lnTo>
                <a:lnTo>
                  <a:pt x="10295209" y="114699"/>
                </a:lnTo>
                <a:lnTo>
                  <a:pt x="10430672" y="103677"/>
                </a:lnTo>
                <a:lnTo>
                  <a:pt x="10566135" y="91461"/>
                </a:lnTo>
                <a:lnTo>
                  <a:pt x="10701599" y="78333"/>
                </a:lnTo>
                <a:lnTo>
                  <a:pt x="10837062" y="64691"/>
                </a:lnTo>
                <a:lnTo>
                  <a:pt x="10972525" y="51025"/>
                </a:lnTo>
                <a:lnTo>
                  <a:pt x="11107988" y="37893"/>
                </a:lnTo>
                <a:lnTo>
                  <a:pt x="11243452" y="25885"/>
                </a:lnTo>
                <a:lnTo>
                  <a:pt x="11378915" y="15588"/>
                </a:lnTo>
                <a:lnTo>
                  <a:pt x="11514378" y="7547"/>
                </a:lnTo>
                <a:lnTo>
                  <a:pt x="11649842" y="2231"/>
                </a:lnTo>
                <a:lnTo>
                  <a:pt x="11785305" y="0"/>
                </a:lnTo>
                <a:lnTo>
                  <a:pt x="11920768" y="1082"/>
                </a:lnTo>
                <a:lnTo>
                  <a:pt x="12056231" y="5551"/>
                </a:lnTo>
                <a:lnTo>
                  <a:pt x="12191695" y="13326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0" y="6533113"/>
            <a:ext cx="12191695" cy="246124"/>
          </a:xfrm>
          <a:custGeom>
            <a:avLst/>
            <a:gdLst/>
            <a:ahLst/>
            <a:cxnLst/>
            <a:rect l="l" t="t" r="r" b="b"/>
            <a:pathLst>
              <a:path w="12191695" h="246124">
                <a:moveTo>
                  <a:pt x="0" y="183172"/>
                </a:moveTo>
                <a:lnTo>
                  <a:pt x="135463" y="199432"/>
                </a:lnTo>
                <a:lnTo>
                  <a:pt x="270926" y="214077"/>
                </a:lnTo>
                <a:lnTo>
                  <a:pt x="406389" y="226514"/>
                </a:lnTo>
                <a:lnTo>
                  <a:pt x="541853" y="236236"/>
                </a:lnTo>
                <a:lnTo>
                  <a:pt x="677316" y="242855"/>
                </a:lnTo>
                <a:lnTo>
                  <a:pt x="812779" y="246124"/>
                </a:lnTo>
                <a:lnTo>
                  <a:pt x="948242" y="245951"/>
                </a:lnTo>
                <a:lnTo>
                  <a:pt x="1083706" y="242404"/>
                </a:lnTo>
                <a:lnTo>
                  <a:pt x="1219169" y="235707"/>
                </a:lnTo>
                <a:lnTo>
                  <a:pt x="1354632" y="226219"/>
                </a:lnTo>
                <a:lnTo>
                  <a:pt x="1490096" y="214417"/>
                </a:lnTo>
                <a:lnTo>
                  <a:pt x="1625559" y="200862"/>
                </a:lnTo>
                <a:lnTo>
                  <a:pt x="1761022" y="186161"/>
                </a:lnTo>
                <a:lnTo>
                  <a:pt x="1896485" y="170935"/>
                </a:lnTo>
                <a:lnTo>
                  <a:pt x="2031949" y="155777"/>
                </a:lnTo>
                <a:lnTo>
                  <a:pt x="2167412" y="141221"/>
                </a:lnTo>
                <a:lnTo>
                  <a:pt x="2302875" y="127707"/>
                </a:lnTo>
                <a:lnTo>
                  <a:pt x="2438339" y="115564"/>
                </a:lnTo>
                <a:lnTo>
                  <a:pt x="2573802" y="104994"/>
                </a:lnTo>
                <a:lnTo>
                  <a:pt x="2709265" y="96068"/>
                </a:lnTo>
                <a:lnTo>
                  <a:pt x="2844728" y="88731"/>
                </a:lnTo>
                <a:lnTo>
                  <a:pt x="2980192" y="82816"/>
                </a:lnTo>
                <a:lnTo>
                  <a:pt x="3115655" y="78067"/>
                </a:lnTo>
                <a:lnTo>
                  <a:pt x="3251118" y="74166"/>
                </a:lnTo>
                <a:lnTo>
                  <a:pt x="3386582" y="70766"/>
                </a:lnTo>
                <a:lnTo>
                  <a:pt x="3522045" y="67527"/>
                </a:lnTo>
                <a:lnTo>
                  <a:pt x="3657508" y="64145"/>
                </a:lnTo>
                <a:lnTo>
                  <a:pt x="3792971" y="60383"/>
                </a:lnTo>
                <a:lnTo>
                  <a:pt x="3928435" y="56096"/>
                </a:lnTo>
                <a:lnTo>
                  <a:pt x="4063898" y="51248"/>
                </a:lnTo>
                <a:lnTo>
                  <a:pt x="4199361" y="45917"/>
                </a:lnTo>
                <a:lnTo>
                  <a:pt x="4334824" y="40294"/>
                </a:lnTo>
                <a:lnTo>
                  <a:pt x="4470288" y="34675"/>
                </a:lnTo>
                <a:lnTo>
                  <a:pt x="4605751" y="29440"/>
                </a:lnTo>
                <a:lnTo>
                  <a:pt x="4741214" y="25025"/>
                </a:lnTo>
                <a:lnTo>
                  <a:pt x="4876678" y="21891"/>
                </a:lnTo>
                <a:lnTo>
                  <a:pt x="5012141" y="20491"/>
                </a:lnTo>
                <a:lnTo>
                  <a:pt x="5147604" y="21233"/>
                </a:lnTo>
                <a:lnTo>
                  <a:pt x="5283067" y="24445"/>
                </a:lnTo>
                <a:lnTo>
                  <a:pt x="5418531" y="30349"/>
                </a:lnTo>
                <a:lnTo>
                  <a:pt x="5553994" y="39037"/>
                </a:lnTo>
                <a:lnTo>
                  <a:pt x="5689457" y="50457"/>
                </a:lnTo>
                <a:lnTo>
                  <a:pt x="5824921" y="64407"/>
                </a:lnTo>
                <a:lnTo>
                  <a:pt x="5960384" y="80543"/>
                </a:lnTo>
                <a:lnTo>
                  <a:pt x="6095847" y="98390"/>
                </a:lnTo>
                <a:lnTo>
                  <a:pt x="6231310" y="117369"/>
                </a:lnTo>
                <a:lnTo>
                  <a:pt x="6366774" y="136826"/>
                </a:lnTo>
                <a:lnTo>
                  <a:pt x="6502237" y="156066"/>
                </a:lnTo>
                <a:lnTo>
                  <a:pt x="6637700" y="174397"/>
                </a:lnTo>
                <a:lnTo>
                  <a:pt x="6773164" y="191162"/>
                </a:lnTo>
                <a:lnTo>
                  <a:pt x="6908627" y="205782"/>
                </a:lnTo>
                <a:lnTo>
                  <a:pt x="7044090" y="217784"/>
                </a:lnTo>
                <a:lnTo>
                  <a:pt x="7179553" y="226827"/>
                </a:lnTo>
                <a:lnTo>
                  <a:pt x="7315017" y="232720"/>
                </a:lnTo>
                <a:lnTo>
                  <a:pt x="7450480" y="235424"/>
                </a:lnTo>
                <a:lnTo>
                  <a:pt x="7585943" y="235057"/>
                </a:lnTo>
                <a:lnTo>
                  <a:pt x="7721406" y="231872"/>
                </a:lnTo>
                <a:lnTo>
                  <a:pt x="7856870" y="226244"/>
                </a:lnTo>
                <a:lnTo>
                  <a:pt x="7992333" y="218632"/>
                </a:lnTo>
                <a:lnTo>
                  <a:pt x="8127796" y="209557"/>
                </a:lnTo>
                <a:lnTo>
                  <a:pt x="8263260" y="199555"/>
                </a:lnTo>
                <a:lnTo>
                  <a:pt x="8398723" y="189147"/>
                </a:lnTo>
                <a:lnTo>
                  <a:pt x="8534186" y="178801"/>
                </a:lnTo>
                <a:lnTo>
                  <a:pt x="8669649" y="168908"/>
                </a:lnTo>
                <a:lnTo>
                  <a:pt x="8805113" y="159754"/>
                </a:lnTo>
                <a:lnTo>
                  <a:pt x="8940576" y="151510"/>
                </a:lnTo>
                <a:lnTo>
                  <a:pt x="9076039" y="144224"/>
                </a:lnTo>
                <a:lnTo>
                  <a:pt x="9211503" y="137828"/>
                </a:lnTo>
                <a:lnTo>
                  <a:pt x="9346966" y="132152"/>
                </a:lnTo>
                <a:lnTo>
                  <a:pt x="9482429" y="126943"/>
                </a:lnTo>
                <a:lnTo>
                  <a:pt x="9617892" y="121894"/>
                </a:lnTo>
                <a:lnTo>
                  <a:pt x="9753356" y="116677"/>
                </a:lnTo>
                <a:lnTo>
                  <a:pt x="9888819" y="110975"/>
                </a:lnTo>
                <a:lnTo>
                  <a:pt x="10024282" y="104513"/>
                </a:lnTo>
                <a:lnTo>
                  <a:pt x="10159746" y="97095"/>
                </a:lnTo>
                <a:lnTo>
                  <a:pt x="10295209" y="88617"/>
                </a:lnTo>
                <a:lnTo>
                  <a:pt x="10430672" y="79094"/>
                </a:lnTo>
                <a:lnTo>
                  <a:pt x="10566135" y="68661"/>
                </a:lnTo>
                <a:lnTo>
                  <a:pt x="10701599" y="57573"/>
                </a:lnTo>
                <a:lnTo>
                  <a:pt x="10837062" y="46197"/>
                </a:lnTo>
                <a:lnTo>
                  <a:pt x="10972525" y="34990"/>
                </a:lnTo>
                <a:lnTo>
                  <a:pt x="11107988" y="24471"/>
                </a:lnTo>
                <a:lnTo>
                  <a:pt x="11243452" y="15192"/>
                </a:lnTo>
                <a:lnTo>
                  <a:pt x="11378915" y="7698"/>
                </a:lnTo>
                <a:lnTo>
                  <a:pt x="11514378" y="2492"/>
                </a:lnTo>
                <a:lnTo>
                  <a:pt x="11649842" y="0"/>
                </a:lnTo>
                <a:lnTo>
                  <a:pt x="11785305" y="541"/>
                </a:lnTo>
                <a:lnTo>
                  <a:pt x="11920768" y="4298"/>
                </a:lnTo>
                <a:lnTo>
                  <a:pt x="12056231" y="11307"/>
                </a:lnTo>
                <a:lnTo>
                  <a:pt x="12191695" y="21447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0" y="6600998"/>
            <a:ext cx="12191695" cy="238322"/>
          </a:xfrm>
          <a:custGeom>
            <a:avLst/>
            <a:gdLst/>
            <a:ahLst/>
            <a:cxnLst/>
            <a:rect l="l" t="t" r="r" b="b"/>
            <a:pathLst>
              <a:path w="12191695" h="238322">
                <a:moveTo>
                  <a:pt x="0" y="190722"/>
                </a:moveTo>
                <a:lnTo>
                  <a:pt x="135463" y="204821"/>
                </a:lnTo>
                <a:lnTo>
                  <a:pt x="270926" y="217096"/>
                </a:lnTo>
                <a:lnTo>
                  <a:pt x="406389" y="226989"/>
                </a:lnTo>
                <a:lnTo>
                  <a:pt x="541853" y="234032"/>
                </a:lnTo>
                <a:lnTo>
                  <a:pt x="677316" y="237878"/>
                </a:lnTo>
                <a:lnTo>
                  <a:pt x="812779" y="238322"/>
                </a:lnTo>
                <a:lnTo>
                  <a:pt x="948242" y="235314"/>
                </a:lnTo>
                <a:lnTo>
                  <a:pt x="1083706" y="228966"/>
                </a:lnTo>
                <a:lnTo>
                  <a:pt x="1219169" y="219541"/>
                </a:lnTo>
                <a:lnTo>
                  <a:pt x="1354632" y="207444"/>
                </a:lnTo>
                <a:lnTo>
                  <a:pt x="1490096" y="193188"/>
                </a:lnTo>
                <a:lnTo>
                  <a:pt x="1625559" y="177371"/>
                </a:lnTo>
                <a:lnTo>
                  <a:pt x="1761022" y="160636"/>
                </a:lnTo>
                <a:lnTo>
                  <a:pt x="1896485" y="143634"/>
                </a:lnTo>
                <a:lnTo>
                  <a:pt x="2031949" y="126985"/>
                </a:lnTo>
                <a:lnTo>
                  <a:pt x="2167412" y="111244"/>
                </a:lnTo>
                <a:lnTo>
                  <a:pt x="2302875" y="96871"/>
                </a:lnTo>
                <a:lnTo>
                  <a:pt x="2438339" y="84207"/>
                </a:lnTo>
                <a:lnTo>
                  <a:pt x="2573802" y="73462"/>
                </a:lnTo>
                <a:lnTo>
                  <a:pt x="2709265" y="64709"/>
                </a:lnTo>
                <a:lnTo>
                  <a:pt x="2844728" y="57891"/>
                </a:lnTo>
                <a:lnTo>
                  <a:pt x="2980192" y="52834"/>
                </a:lnTo>
                <a:lnTo>
                  <a:pt x="3115655" y="49267"/>
                </a:lnTo>
                <a:lnTo>
                  <a:pt x="3251118" y="46856"/>
                </a:lnTo>
                <a:lnTo>
                  <a:pt x="3386582" y="45231"/>
                </a:lnTo>
                <a:lnTo>
                  <a:pt x="3522045" y="44024"/>
                </a:lnTo>
                <a:lnTo>
                  <a:pt x="3657508" y="42902"/>
                </a:lnTo>
                <a:lnTo>
                  <a:pt x="3792971" y="41593"/>
                </a:lnTo>
                <a:lnTo>
                  <a:pt x="3928435" y="39916"/>
                </a:lnTo>
                <a:lnTo>
                  <a:pt x="4063898" y="37794"/>
                </a:lnTo>
                <a:lnTo>
                  <a:pt x="4199361" y="35264"/>
                </a:lnTo>
                <a:lnTo>
                  <a:pt x="4334824" y="32476"/>
                </a:lnTo>
                <a:lnTo>
                  <a:pt x="4470288" y="29683"/>
                </a:lnTo>
                <a:lnTo>
                  <a:pt x="4605751" y="27220"/>
                </a:lnTo>
                <a:lnTo>
                  <a:pt x="4741214" y="25484"/>
                </a:lnTo>
                <a:lnTo>
                  <a:pt x="4876678" y="24895"/>
                </a:lnTo>
                <a:lnTo>
                  <a:pt x="5012141" y="25867"/>
                </a:lnTo>
                <a:lnTo>
                  <a:pt x="5147604" y="28771"/>
                </a:lnTo>
                <a:lnTo>
                  <a:pt x="5283067" y="33905"/>
                </a:lnTo>
                <a:lnTo>
                  <a:pt x="5418531" y="41460"/>
                </a:lnTo>
                <a:lnTo>
                  <a:pt x="5553994" y="51504"/>
                </a:lnTo>
                <a:lnTo>
                  <a:pt x="5689457" y="63964"/>
                </a:lnTo>
                <a:lnTo>
                  <a:pt x="5824921" y="78622"/>
                </a:lnTo>
                <a:lnTo>
                  <a:pt x="5960384" y="95124"/>
                </a:lnTo>
                <a:lnTo>
                  <a:pt x="6095847" y="112989"/>
                </a:lnTo>
                <a:lnTo>
                  <a:pt x="6231310" y="131639"/>
                </a:lnTo>
                <a:lnTo>
                  <a:pt x="6366774" y="150423"/>
                </a:lnTo>
                <a:lnTo>
                  <a:pt x="6502237" y="168658"/>
                </a:lnTo>
                <a:lnTo>
                  <a:pt x="6637700" y="185665"/>
                </a:lnTo>
                <a:lnTo>
                  <a:pt x="6773164" y="200809"/>
                </a:lnTo>
                <a:lnTo>
                  <a:pt x="6908627" y="213535"/>
                </a:lnTo>
                <a:lnTo>
                  <a:pt x="7044090" y="223398"/>
                </a:lnTo>
                <a:lnTo>
                  <a:pt x="7179553" y="230090"/>
                </a:lnTo>
                <a:lnTo>
                  <a:pt x="7315017" y="233454"/>
                </a:lnTo>
                <a:lnTo>
                  <a:pt x="7450480" y="233492"/>
                </a:lnTo>
                <a:lnTo>
                  <a:pt x="7585943" y="230359"/>
                </a:lnTo>
                <a:lnTo>
                  <a:pt x="7721406" y="224353"/>
                </a:lnTo>
                <a:lnTo>
                  <a:pt x="7856870" y="215888"/>
                </a:lnTo>
                <a:lnTo>
                  <a:pt x="7992333" y="205470"/>
                </a:lnTo>
                <a:lnTo>
                  <a:pt x="8127796" y="193658"/>
                </a:lnTo>
                <a:lnTo>
                  <a:pt x="8263260" y="181033"/>
                </a:lnTo>
                <a:lnTo>
                  <a:pt x="8398723" y="168153"/>
                </a:lnTo>
                <a:lnTo>
                  <a:pt x="8534186" y="155526"/>
                </a:lnTo>
                <a:lnTo>
                  <a:pt x="8669649" y="143575"/>
                </a:lnTo>
                <a:lnTo>
                  <a:pt x="8805113" y="132618"/>
                </a:lnTo>
                <a:lnTo>
                  <a:pt x="8940576" y="122852"/>
                </a:lnTo>
                <a:lnTo>
                  <a:pt x="9076039" y="114351"/>
                </a:lnTo>
                <a:lnTo>
                  <a:pt x="9211503" y="107063"/>
                </a:lnTo>
                <a:lnTo>
                  <a:pt x="9346966" y="100832"/>
                </a:lnTo>
                <a:lnTo>
                  <a:pt x="9482429" y="95413"/>
                </a:lnTo>
                <a:lnTo>
                  <a:pt x="9617892" y="90502"/>
                </a:lnTo>
                <a:lnTo>
                  <a:pt x="9753356" y="85770"/>
                </a:lnTo>
                <a:lnTo>
                  <a:pt x="9888819" y="80892"/>
                </a:lnTo>
                <a:lnTo>
                  <a:pt x="10024282" y="75582"/>
                </a:lnTo>
                <a:lnTo>
                  <a:pt x="10159746" y="69623"/>
                </a:lnTo>
                <a:lnTo>
                  <a:pt x="10295209" y="62893"/>
                </a:lnTo>
                <a:lnTo>
                  <a:pt x="10430672" y="55378"/>
                </a:lnTo>
                <a:lnTo>
                  <a:pt x="10566135" y="47183"/>
                </a:lnTo>
                <a:lnTo>
                  <a:pt x="10701599" y="38531"/>
                </a:lnTo>
                <a:lnTo>
                  <a:pt x="10837062" y="29751"/>
                </a:lnTo>
                <a:lnTo>
                  <a:pt x="10972525" y="21260"/>
                </a:lnTo>
                <a:lnTo>
                  <a:pt x="11107988" y="13537"/>
                </a:lnTo>
                <a:lnTo>
                  <a:pt x="11243452" y="7091"/>
                </a:lnTo>
                <a:lnTo>
                  <a:pt x="11378915" y="2425"/>
                </a:lnTo>
                <a:lnTo>
                  <a:pt x="11514378" y="0"/>
                </a:lnTo>
                <a:lnTo>
                  <a:pt x="11649842" y="198"/>
                </a:lnTo>
                <a:lnTo>
                  <a:pt x="11785305" y="3299"/>
                </a:lnTo>
                <a:lnTo>
                  <a:pt x="11920768" y="9446"/>
                </a:lnTo>
                <a:lnTo>
                  <a:pt x="12056231" y="18641"/>
                </a:lnTo>
                <a:lnTo>
                  <a:pt x="12191695" y="30728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46304"/>
            <a:ext cx="11283696" cy="44805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价值验证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722376"/>
            <a:ext cx="585216" cy="41148"/>
          </a:xfrm>
          <a:prstGeom prst="rect">
            <a:avLst/>
          </a:prstGeom>
          <a:solidFill>
            <a:srgbClr val="EE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649224"/>
            <a:ext cx="10469880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2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用任务基线、业务采纳和持续回归证明收益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292608"/>
            <a:ext cx="896112" cy="20116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HiAgent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6647688"/>
            <a:ext cx="10241280" cy="1280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7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企业数据智能体建设规划  /  规划视图  /  2026.10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629400"/>
            <a:ext cx="585216" cy="17373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28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" y="1239012"/>
            <a:ext cx="2622041" cy="1856231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1480" y="1207008"/>
            <a:ext cx="2622041" cy="185623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5124" y="1776770"/>
            <a:ext cx="469087" cy="8339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564276" y="1636044"/>
            <a:ext cx="479511" cy="201395"/>
          </a:xfrm>
          <a:custGeom>
            <a:avLst/>
            <a:gdLst/>
            <a:ahLst/>
            <a:cxnLst/>
            <a:rect l="l" t="t" r="r" b="b"/>
            <a:pathLst>
              <a:path w="479511" h="201395">
                <a:moveTo>
                  <a:pt x="0" y="100697"/>
                </a:moveTo>
                <a:lnTo>
                  <a:pt x="239755" y="0"/>
                </a:lnTo>
                <a:lnTo>
                  <a:pt x="479511" y="100697"/>
                </a:lnTo>
                <a:lnTo>
                  <a:pt x="239755" y="201395"/>
                </a:lnTo>
                <a:close/>
              </a:path>
            </a:pathLst>
          </a:custGeom>
          <a:solidFill>
            <a:srgbClr val="B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564276" y="1736741"/>
            <a:ext cx="239755" cy="145000"/>
          </a:xfrm>
          <a:custGeom>
            <a:avLst/>
            <a:gdLst/>
            <a:ahLst/>
            <a:cxnLst/>
            <a:rect l="l" t="t" r="r" b="b"/>
            <a:pathLst>
              <a:path w="239755" h="145000">
                <a:moveTo>
                  <a:pt x="0" y="0"/>
                </a:moveTo>
                <a:lnTo>
                  <a:pt x="239755" y="100698"/>
                </a:lnTo>
                <a:lnTo>
                  <a:pt x="239755" y="145000"/>
                </a:lnTo>
                <a:lnTo>
                  <a:pt x="0" y="44303"/>
                </a:lnTo>
                <a:close/>
              </a:path>
            </a:pathLst>
          </a:custGeom>
          <a:solidFill>
            <a:srgbClr val="6D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804031" y="1736741"/>
            <a:ext cx="239756" cy="145000"/>
          </a:xfrm>
          <a:custGeom>
            <a:avLst/>
            <a:gdLst/>
            <a:ahLst/>
            <a:cxnLst/>
            <a:rect l="l" t="t" r="r" b="b"/>
            <a:pathLst>
              <a:path w="239756" h="145000">
                <a:moveTo>
                  <a:pt x="0" y="100698"/>
                </a:moveTo>
                <a:lnTo>
                  <a:pt x="239756" y="0"/>
                </a:lnTo>
                <a:lnTo>
                  <a:pt x="239756" y="44303"/>
                </a:lnTo>
                <a:lnTo>
                  <a:pt x="0" y="145000"/>
                </a:lnTo>
                <a:close/>
              </a:path>
            </a:pathLst>
          </a:custGeom>
          <a:solidFill>
            <a:srgbClr val="30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605972" y="1537014"/>
            <a:ext cx="396118" cy="166370"/>
          </a:xfrm>
          <a:custGeom>
            <a:avLst/>
            <a:gdLst/>
            <a:ahLst/>
            <a:cxnLst/>
            <a:rect l="l" t="t" r="r" b="b"/>
            <a:pathLst>
              <a:path w="396118" h="166370">
                <a:moveTo>
                  <a:pt x="0" y="83185"/>
                </a:moveTo>
                <a:lnTo>
                  <a:pt x="198059" y="0"/>
                </a:lnTo>
                <a:lnTo>
                  <a:pt x="396118" y="83185"/>
                </a:lnTo>
                <a:lnTo>
                  <a:pt x="198059" y="166370"/>
                </a:lnTo>
                <a:close/>
              </a:path>
            </a:pathLst>
          </a:custGeom>
          <a:solidFill>
            <a:srgbClr val="94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605972" y="1620199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0"/>
                </a:moveTo>
                <a:lnTo>
                  <a:pt x="198059" y="83185"/>
                </a:lnTo>
                <a:lnTo>
                  <a:pt x="198059" y="127488"/>
                </a:lnTo>
                <a:lnTo>
                  <a:pt x="0" y="44303"/>
                </a:lnTo>
                <a:close/>
              </a:path>
            </a:pathLst>
          </a:custGeom>
          <a:solidFill>
            <a:srgbClr val="3F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804031" y="1620199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83185"/>
                </a:moveTo>
                <a:lnTo>
                  <a:pt x="198059" y="0"/>
                </a:lnTo>
                <a:lnTo>
                  <a:pt x="198059" y="44303"/>
                </a:lnTo>
                <a:lnTo>
                  <a:pt x="0" y="127488"/>
                </a:lnTo>
                <a:close/>
              </a:path>
            </a:pathLst>
          </a:custGeom>
          <a:solidFill>
            <a:srgbClr val="197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652881" y="1437985"/>
            <a:ext cx="302301" cy="126966"/>
          </a:xfrm>
          <a:custGeom>
            <a:avLst/>
            <a:gdLst/>
            <a:ahLst/>
            <a:cxnLst/>
            <a:rect l="l" t="t" r="r" b="b"/>
            <a:pathLst>
              <a:path w="302301" h="126966">
                <a:moveTo>
                  <a:pt x="0" y="63483"/>
                </a:moveTo>
                <a:lnTo>
                  <a:pt x="151150" y="0"/>
                </a:lnTo>
                <a:lnTo>
                  <a:pt x="302301" y="63483"/>
                </a:lnTo>
                <a:lnTo>
                  <a:pt x="151150" y="126966"/>
                </a:lnTo>
                <a:close/>
              </a:path>
            </a:pathLst>
          </a:custGeom>
          <a:solidFill>
            <a:srgbClr val="57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652881" y="1501468"/>
            <a:ext cx="151150" cy="107786"/>
          </a:xfrm>
          <a:custGeom>
            <a:avLst/>
            <a:gdLst/>
            <a:ahLst/>
            <a:cxnLst/>
            <a:rect l="l" t="t" r="r" b="b"/>
            <a:pathLst>
              <a:path w="151150" h="107786">
                <a:moveTo>
                  <a:pt x="0" y="0"/>
                </a:moveTo>
                <a:lnTo>
                  <a:pt x="151150" y="63483"/>
                </a:lnTo>
                <a:lnTo>
                  <a:pt x="151150" y="107786"/>
                </a:lnTo>
                <a:lnTo>
                  <a:pt x="0" y="44303"/>
                </a:lnTo>
                <a:close/>
              </a:path>
            </a:pathLst>
          </a:custGeom>
          <a:solidFill>
            <a:srgbClr val="148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804031" y="1501468"/>
            <a:ext cx="151151" cy="107786"/>
          </a:xfrm>
          <a:custGeom>
            <a:avLst/>
            <a:gdLst/>
            <a:ahLst/>
            <a:cxnLst/>
            <a:rect l="l" t="t" r="r" b="b"/>
            <a:pathLst>
              <a:path w="151151" h="107786">
                <a:moveTo>
                  <a:pt x="0" y="63483"/>
                </a:moveTo>
                <a:lnTo>
                  <a:pt x="151151" y="0"/>
                </a:lnTo>
                <a:lnTo>
                  <a:pt x="151151" y="44303"/>
                </a:lnTo>
                <a:lnTo>
                  <a:pt x="0" y="107786"/>
                </a:lnTo>
                <a:close/>
              </a:path>
            </a:pathLst>
          </a:custGeom>
          <a:solidFill>
            <a:srgbClr val="0A5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725850" y="1417137"/>
            <a:ext cx="99030" cy="45553"/>
          </a:xfrm>
          <a:custGeom>
            <a:avLst/>
            <a:gdLst/>
            <a:ahLst/>
            <a:cxnLst/>
            <a:rect l="l" t="t" r="r" b="b"/>
            <a:pathLst>
              <a:path w="99030" h="45553">
                <a:moveTo>
                  <a:pt x="0" y="22776"/>
                </a:moveTo>
                <a:lnTo>
                  <a:pt x="49515" y="0"/>
                </a:lnTo>
                <a:lnTo>
                  <a:pt x="99030" y="22776"/>
                </a:lnTo>
                <a:lnTo>
                  <a:pt x="49515" y="45553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725850" y="1439913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70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775365" y="1439913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70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856152" y="1464045"/>
            <a:ext cx="99030" cy="45554"/>
          </a:xfrm>
          <a:custGeom>
            <a:avLst/>
            <a:gdLst/>
            <a:ahLst/>
            <a:cxnLst/>
            <a:rect l="l" t="t" r="r" b="b"/>
            <a:pathLst>
              <a:path w="99030" h="45554">
                <a:moveTo>
                  <a:pt x="0" y="22777"/>
                </a:moveTo>
                <a:lnTo>
                  <a:pt x="49515" y="0"/>
                </a:lnTo>
                <a:lnTo>
                  <a:pt x="99030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856152" y="1486822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905667" y="1486822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772759" y="1526590"/>
            <a:ext cx="99029" cy="45554"/>
          </a:xfrm>
          <a:custGeom>
            <a:avLst/>
            <a:gdLst/>
            <a:ahLst/>
            <a:cxnLst/>
            <a:rect l="l" t="t" r="r" b="b"/>
            <a:pathLst>
              <a:path w="99029" h="45554">
                <a:moveTo>
                  <a:pt x="0" y="22777"/>
                </a:moveTo>
                <a:lnTo>
                  <a:pt x="49515" y="0"/>
                </a:lnTo>
                <a:lnTo>
                  <a:pt x="99029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772759" y="1549367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822274" y="1549367"/>
            <a:ext cx="49514" cy="95746"/>
          </a:xfrm>
          <a:custGeom>
            <a:avLst/>
            <a:gdLst/>
            <a:ahLst/>
            <a:cxnLst/>
            <a:rect l="l" t="t" r="r" b="b"/>
            <a:pathLst>
              <a:path w="49514" h="95746">
                <a:moveTo>
                  <a:pt x="0" y="22777"/>
                </a:moveTo>
                <a:lnTo>
                  <a:pt x="49514" y="0"/>
                </a:lnTo>
                <a:lnTo>
                  <a:pt x="49514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20" y="1380744"/>
            <a:ext cx="1689353" cy="3931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建立人工基线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2112264"/>
            <a:ext cx="2201418" cy="87782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真实任务 / 当前过程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耗时 / 错误 / 返工</a:t>
            </a:r>
          </a:p>
        </p:txBody>
      </p:sp>
      <p:sp>
        <p:nvSpPr>
          <p:cNvPr id="36" name="Oval 35"/>
          <p:cNvSpPr/>
          <p:nvPr/>
        </p:nvSpPr>
        <p:spPr>
          <a:xfrm>
            <a:off x="566928" y="1078992"/>
            <a:ext cx="274320" cy="274320"/>
          </a:xfrm>
          <a:prstGeom prst="ellipse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1101852"/>
            <a:ext cx="274320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01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070098" y="2135124"/>
            <a:ext cx="219455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3231087" y="2135124"/>
            <a:ext cx="58466" cy="35845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3231087" y="2099278"/>
            <a:ext cx="58466" cy="3584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3348989" y="1239012"/>
            <a:ext cx="2622041" cy="1856231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326129" y="1207008"/>
            <a:ext cx="2622041" cy="185623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99774" y="1776770"/>
            <a:ext cx="469087" cy="8339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3478926" y="1636044"/>
            <a:ext cx="479511" cy="201395"/>
          </a:xfrm>
          <a:custGeom>
            <a:avLst/>
            <a:gdLst/>
            <a:ahLst/>
            <a:cxnLst/>
            <a:rect l="l" t="t" r="r" b="b"/>
            <a:pathLst>
              <a:path w="479511" h="201395">
                <a:moveTo>
                  <a:pt x="0" y="100697"/>
                </a:moveTo>
                <a:lnTo>
                  <a:pt x="239755" y="0"/>
                </a:lnTo>
                <a:lnTo>
                  <a:pt x="479511" y="100697"/>
                </a:lnTo>
                <a:lnTo>
                  <a:pt x="239755" y="201395"/>
                </a:lnTo>
                <a:close/>
              </a:path>
            </a:pathLst>
          </a:custGeom>
          <a:solidFill>
            <a:srgbClr val="B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3478926" y="1736741"/>
            <a:ext cx="239755" cy="145000"/>
          </a:xfrm>
          <a:custGeom>
            <a:avLst/>
            <a:gdLst/>
            <a:ahLst/>
            <a:cxnLst/>
            <a:rect l="l" t="t" r="r" b="b"/>
            <a:pathLst>
              <a:path w="239755" h="145000">
                <a:moveTo>
                  <a:pt x="0" y="0"/>
                </a:moveTo>
                <a:lnTo>
                  <a:pt x="239755" y="100698"/>
                </a:lnTo>
                <a:lnTo>
                  <a:pt x="239755" y="145000"/>
                </a:lnTo>
                <a:lnTo>
                  <a:pt x="0" y="44303"/>
                </a:lnTo>
                <a:close/>
              </a:path>
            </a:pathLst>
          </a:custGeom>
          <a:solidFill>
            <a:srgbClr val="6D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3718681" y="1736741"/>
            <a:ext cx="239756" cy="145000"/>
          </a:xfrm>
          <a:custGeom>
            <a:avLst/>
            <a:gdLst/>
            <a:ahLst/>
            <a:cxnLst/>
            <a:rect l="l" t="t" r="r" b="b"/>
            <a:pathLst>
              <a:path w="239756" h="145000">
                <a:moveTo>
                  <a:pt x="0" y="100698"/>
                </a:moveTo>
                <a:lnTo>
                  <a:pt x="239756" y="0"/>
                </a:lnTo>
                <a:lnTo>
                  <a:pt x="239756" y="44303"/>
                </a:lnTo>
                <a:lnTo>
                  <a:pt x="0" y="145000"/>
                </a:lnTo>
                <a:close/>
              </a:path>
            </a:pathLst>
          </a:custGeom>
          <a:solidFill>
            <a:srgbClr val="30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3520622" y="1537014"/>
            <a:ext cx="396118" cy="166370"/>
          </a:xfrm>
          <a:custGeom>
            <a:avLst/>
            <a:gdLst/>
            <a:ahLst/>
            <a:cxnLst/>
            <a:rect l="l" t="t" r="r" b="b"/>
            <a:pathLst>
              <a:path w="396118" h="166370">
                <a:moveTo>
                  <a:pt x="0" y="83185"/>
                </a:moveTo>
                <a:lnTo>
                  <a:pt x="198059" y="0"/>
                </a:lnTo>
                <a:lnTo>
                  <a:pt x="396118" y="83185"/>
                </a:lnTo>
                <a:lnTo>
                  <a:pt x="198059" y="166370"/>
                </a:lnTo>
                <a:close/>
              </a:path>
            </a:pathLst>
          </a:custGeom>
          <a:solidFill>
            <a:srgbClr val="94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3520622" y="1620199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0"/>
                </a:moveTo>
                <a:lnTo>
                  <a:pt x="198059" y="83185"/>
                </a:lnTo>
                <a:lnTo>
                  <a:pt x="198059" y="127488"/>
                </a:lnTo>
                <a:lnTo>
                  <a:pt x="0" y="44303"/>
                </a:lnTo>
                <a:close/>
              </a:path>
            </a:pathLst>
          </a:custGeom>
          <a:solidFill>
            <a:srgbClr val="3F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3718681" y="1620199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83185"/>
                </a:moveTo>
                <a:lnTo>
                  <a:pt x="198059" y="0"/>
                </a:lnTo>
                <a:lnTo>
                  <a:pt x="198059" y="44303"/>
                </a:lnTo>
                <a:lnTo>
                  <a:pt x="0" y="127488"/>
                </a:lnTo>
                <a:close/>
              </a:path>
            </a:pathLst>
          </a:custGeom>
          <a:solidFill>
            <a:srgbClr val="197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3567531" y="1437985"/>
            <a:ext cx="302301" cy="126966"/>
          </a:xfrm>
          <a:custGeom>
            <a:avLst/>
            <a:gdLst/>
            <a:ahLst/>
            <a:cxnLst/>
            <a:rect l="l" t="t" r="r" b="b"/>
            <a:pathLst>
              <a:path w="302301" h="126966">
                <a:moveTo>
                  <a:pt x="0" y="63483"/>
                </a:moveTo>
                <a:lnTo>
                  <a:pt x="151150" y="0"/>
                </a:lnTo>
                <a:lnTo>
                  <a:pt x="302301" y="63483"/>
                </a:lnTo>
                <a:lnTo>
                  <a:pt x="151150" y="126966"/>
                </a:lnTo>
                <a:close/>
              </a:path>
            </a:pathLst>
          </a:custGeom>
          <a:solidFill>
            <a:srgbClr val="57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3567531" y="1501468"/>
            <a:ext cx="151150" cy="107786"/>
          </a:xfrm>
          <a:custGeom>
            <a:avLst/>
            <a:gdLst/>
            <a:ahLst/>
            <a:cxnLst/>
            <a:rect l="l" t="t" r="r" b="b"/>
            <a:pathLst>
              <a:path w="151150" h="107786">
                <a:moveTo>
                  <a:pt x="0" y="0"/>
                </a:moveTo>
                <a:lnTo>
                  <a:pt x="151150" y="63483"/>
                </a:lnTo>
                <a:lnTo>
                  <a:pt x="151150" y="107786"/>
                </a:lnTo>
                <a:lnTo>
                  <a:pt x="0" y="44303"/>
                </a:lnTo>
                <a:close/>
              </a:path>
            </a:pathLst>
          </a:custGeom>
          <a:solidFill>
            <a:srgbClr val="148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3718681" y="1501468"/>
            <a:ext cx="151151" cy="107786"/>
          </a:xfrm>
          <a:custGeom>
            <a:avLst/>
            <a:gdLst/>
            <a:ahLst/>
            <a:cxnLst/>
            <a:rect l="l" t="t" r="r" b="b"/>
            <a:pathLst>
              <a:path w="151151" h="107786">
                <a:moveTo>
                  <a:pt x="0" y="63483"/>
                </a:moveTo>
                <a:lnTo>
                  <a:pt x="151151" y="0"/>
                </a:lnTo>
                <a:lnTo>
                  <a:pt x="151151" y="44303"/>
                </a:lnTo>
                <a:lnTo>
                  <a:pt x="0" y="107786"/>
                </a:lnTo>
                <a:close/>
              </a:path>
            </a:pathLst>
          </a:custGeom>
          <a:solidFill>
            <a:srgbClr val="0A5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3640500" y="1417137"/>
            <a:ext cx="99030" cy="45553"/>
          </a:xfrm>
          <a:custGeom>
            <a:avLst/>
            <a:gdLst/>
            <a:ahLst/>
            <a:cxnLst/>
            <a:rect l="l" t="t" r="r" b="b"/>
            <a:pathLst>
              <a:path w="99030" h="45553">
                <a:moveTo>
                  <a:pt x="0" y="22776"/>
                </a:moveTo>
                <a:lnTo>
                  <a:pt x="49515" y="0"/>
                </a:lnTo>
                <a:lnTo>
                  <a:pt x="99030" y="22776"/>
                </a:lnTo>
                <a:lnTo>
                  <a:pt x="49515" y="45553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3640500" y="1439913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70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3690015" y="1439913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70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3770802" y="1464045"/>
            <a:ext cx="99030" cy="45554"/>
          </a:xfrm>
          <a:custGeom>
            <a:avLst/>
            <a:gdLst/>
            <a:ahLst/>
            <a:cxnLst/>
            <a:rect l="l" t="t" r="r" b="b"/>
            <a:pathLst>
              <a:path w="99030" h="45554">
                <a:moveTo>
                  <a:pt x="0" y="22777"/>
                </a:moveTo>
                <a:lnTo>
                  <a:pt x="49515" y="0"/>
                </a:lnTo>
                <a:lnTo>
                  <a:pt x="99030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3770802" y="1486822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3820317" y="1486822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3687409" y="1526590"/>
            <a:ext cx="99029" cy="45554"/>
          </a:xfrm>
          <a:custGeom>
            <a:avLst/>
            <a:gdLst/>
            <a:ahLst/>
            <a:cxnLst/>
            <a:rect l="l" t="t" r="r" b="b"/>
            <a:pathLst>
              <a:path w="99029" h="45554">
                <a:moveTo>
                  <a:pt x="0" y="22777"/>
                </a:moveTo>
                <a:lnTo>
                  <a:pt x="49515" y="0"/>
                </a:lnTo>
                <a:lnTo>
                  <a:pt x="99029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3687409" y="1549367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3736924" y="1549367"/>
            <a:ext cx="49514" cy="95746"/>
          </a:xfrm>
          <a:custGeom>
            <a:avLst/>
            <a:gdLst/>
            <a:ahLst/>
            <a:cxnLst/>
            <a:rect l="l" t="t" r="r" b="b"/>
            <a:pathLst>
              <a:path w="49514" h="95746">
                <a:moveTo>
                  <a:pt x="0" y="22777"/>
                </a:moveTo>
                <a:lnTo>
                  <a:pt x="49514" y="0"/>
                </a:lnTo>
                <a:lnTo>
                  <a:pt x="49514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03370" y="1380744"/>
            <a:ext cx="1689353" cy="3931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限定场景试用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36441" y="2112264"/>
            <a:ext cx="2201418" cy="87782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同类问题与任务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专家核对 / 用户采纳</a:t>
            </a:r>
          </a:p>
        </p:txBody>
      </p:sp>
      <p:sp>
        <p:nvSpPr>
          <p:cNvPr id="64" name="Oval 63"/>
          <p:cNvSpPr/>
          <p:nvPr/>
        </p:nvSpPr>
        <p:spPr>
          <a:xfrm>
            <a:off x="3481577" y="1078992"/>
            <a:ext cx="274320" cy="274320"/>
          </a:xfrm>
          <a:prstGeom prst="ellipse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481577" y="1101852"/>
            <a:ext cx="274320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02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984747" y="2135124"/>
            <a:ext cx="219456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6145737" y="2135124"/>
            <a:ext cx="58466" cy="35845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6145737" y="2099278"/>
            <a:ext cx="58466" cy="3584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6263640" y="1239012"/>
            <a:ext cx="2622041" cy="1856231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6240779" y="1207008"/>
            <a:ext cx="2622041" cy="185623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414424" y="1776770"/>
            <a:ext cx="469087" cy="8339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6393576" y="1636044"/>
            <a:ext cx="479511" cy="201395"/>
          </a:xfrm>
          <a:custGeom>
            <a:avLst/>
            <a:gdLst/>
            <a:ahLst/>
            <a:cxnLst/>
            <a:rect l="l" t="t" r="r" b="b"/>
            <a:pathLst>
              <a:path w="479511" h="201395">
                <a:moveTo>
                  <a:pt x="0" y="100697"/>
                </a:moveTo>
                <a:lnTo>
                  <a:pt x="239755" y="0"/>
                </a:lnTo>
                <a:lnTo>
                  <a:pt x="479511" y="100697"/>
                </a:lnTo>
                <a:lnTo>
                  <a:pt x="239755" y="201395"/>
                </a:lnTo>
                <a:close/>
              </a:path>
            </a:pathLst>
          </a:custGeom>
          <a:solidFill>
            <a:srgbClr val="B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6393576" y="1736741"/>
            <a:ext cx="239755" cy="145000"/>
          </a:xfrm>
          <a:custGeom>
            <a:avLst/>
            <a:gdLst/>
            <a:ahLst/>
            <a:cxnLst/>
            <a:rect l="l" t="t" r="r" b="b"/>
            <a:pathLst>
              <a:path w="239755" h="145000">
                <a:moveTo>
                  <a:pt x="0" y="0"/>
                </a:moveTo>
                <a:lnTo>
                  <a:pt x="239755" y="100698"/>
                </a:lnTo>
                <a:lnTo>
                  <a:pt x="239755" y="145000"/>
                </a:lnTo>
                <a:lnTo>
                  <a:pt x="0" y="44303"/>
                </a:lnTo>
                <a:close/>
              </a:path>
            </a:pathLst>
          </a:custGeom>
          <a:solidFill>
            <a:srgbClr val="6D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6633331" y="1736741"/>
            <a:ext cx="239756" cy="145000"/>
          </a:xfrm>
          <a:custGeom>
            <a:avLst/>
            <a:gdLst/>
            <a:ahLst/>
            <a:cxnLst/>
            <a:rect l="l" t="t" r="r" b="b"/>
            <a:pathLst>
              <a:path w="239756" h="145000">
                <a:moveTo>
                  <a:pt x="0" y="100698"/>
                </a:moveTo>
                <a:lnTo>
                  <a:pt x="239756" y="0"/>
                </a:lnTo>
                <a:lnTo>
                  <a:pt x="239756" y="44303"/>
                </a:lnTo>
                <a:lnTo>
                  <a:pt x="0" y="145000"/>
                </a:lnTo>
                <a:close/>
              </a:path>
            </a:pathLst>
          </a:custGeom>
          <a:solidFill>
            <a:srgbClr val="30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6435272" y="1537014"/>
            <a:ext cx="396118" cy="166370"/>
          </a:xfrm>
          <a:custGeom>
            <a:avLst/>
            <a:gdLst/>
            <a:ahLst/>
            <a:cxnLst/>
            <a:rect l="l" t="t" r="r" b="b"/>
            <a:pathLst>
              <a:path w="396118" h="166370">
                <a:moveTo>
                  <a:pt x="0" y="83185"/>
                </a:moveTo>
                <a:lnTo>
                  <a:pt x="198059" y="0"/>
                </a:lnTo>
                <a:lnTo>
                  <a:pt x="396118" y="83185"/>
                </a:lnTo>
                <a:lnTo>
                  <a:pt x="198059" y="166370"/>
                </a:lnTo>
                <a:close/>
              </a:path>
            </a:pathLst>
          </a:custGeom>
          <a:solidFill>
            <a:srgbClr val="94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6435272" y="1620199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0"/>
                </a:moveTo>
                <a:lnTo>
                  <a:pt x="198059" y="83185"/>
                </a:lnTo>
                <a:lnTo>
                  <a:pt x="198059" y="127488"/>
                </a:lnTo>
                <a:lnTo>
                  <a:pt x="0" y="44303"/>
                </a:lnTo>
                <a:close/>
              </a:path>
            </a:pathLst>
          </a:custGeom>
          <a:solidFill>
            <a:srgbClr val="3F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6633331" y="1620199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83185"/>
                </a:moveTo>
                <a:lnTo>
                  <a:pt x="198059" y="0"/>
                </a:lnTo>
                <a:lnTo>
                  <a:pt x="198059" y="44303"/>
                </a:lnTo>
                <a:lnTo>
                  <a:pt x="0" y="127488"/>
                </a:lnTo>
                <a:close/>
              </a:path>
            </a:pathLst>
          </a:custGeom>
          <a:solidFill>
            <a:srgbClr val="197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6482181" y="1437985"/>
            <a:ext cx="302301" cy="126966"/>
          </a:xfrm>
          <a:custGeom>
            <a:avLst/>
            <a:gdLst/>
            <a:ahLst/>
            <a:cxnLst/>
            <a:rect l="l" t="t" r="r" b="b"/>
            <a:pathLst>
              <a:path w="302301" h="126966">
                <a:moveTo>
                  <a:pt x="0" y="63483"/>
                </a:moveTo>
                <a:lnTo>
                  <a:pt x="151150" y="0"/>
                </a:lnTo>
                <a:lnTo>
                  <a:pt x="302301" y="63483"/>
                </a:lnTo>
                <a:lnTo>
                  <a:pt x="151150" y="126966"/>
                </a:lnTo>
                <a:close/>
              </a:path>
            </a:pathLst>
          </a:custGeom>
          <a:solidFill>
            <a:srgbClr val="57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6482181" y="1501468"/>
            <a:ext cx="151150" cy="107786"/>
          </a:xfrm>
          <a:custGeom>
            <a:avLst/>
            <a:gdLst/>
            <a:ahLst/>
            <a:cxnLst/>
            <a:rect l="l" t="t" r="r" b="b"/>
            <a:pathLst>
              <a:path w="151150" h="107786">
                <a:moveTo>
                  <a:pt x="0" y="0"/>
                </a:moveTo>
                <a:lnTo>
                  <a:pt x="151150" y="63483"/>
                </a:lnTo>
                <a:lnTo>
                  <a:pt x="151150" y="107786"/>
                </a:lnTo>
                <a:lnTo>
                  <a:pt x="0" y="44303"/>
                </a:lnTo>
                <a:close/>
              </a:path>
            </a:pathLst>
          </a:custGeom>
          <a:solidFill>
            <a:srgbClr val="148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6633331" y="1501468"/>
            <a:ext cx="151151" cy="107786"/>
          </a:xfrm>
          <a:custGeom>
            <a:avLst/>
            <a:gdLst/>
            <a:ahLst/>
            <a:cxnLst/>
            <a:rect l="l" t="t" r="r" b="b"/>
            <a:pathLst>
              <a:path w="151151" h="107786">
                <a:moveTo>
                  <a:pt x="0" y="63483"/>
                </a:moveTo>
                <a:lnTo>
                  <a:pt x="151151" y="0"/>
                </a:lnTo>
                <a:lnTo>
                  <a:pt x="151151" y="44303"/>
                </a:lnTo>
                <a:lnTo>
                  <a:pt x="0" y="107786"/>
                </a:lnTo>
                <a:close/>
              </a:path>
            </a:pathLst>
          </a:custGeom>
          <a:solidFill>
            <a:srgbClr val="0A5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6555150" y="1417137"/>
            <a:ext cx="99030" cy="45553"/>
          </a:xfrm>
          <a:custGeom>
            <a:avLst/>
            <a:gdLst/>
            <a:ahLst/>
            <a:cxnLst/>
            <a:rect l="l" t="t" r="r" b="b"/>
            <a:pathLst>
              <a:path w="99030" h="45553">
                <a:moveTo>
                  <a:pt x="0" y="22776"/>
                </a:moveTo>
                <a:lnTo>
                  <a:pt x="49515" y="0"/>
                </a:lnTo>
                <a:lnTo>
                  <a:pt x="99030" y="22776"/>
                </a:lnTo>
                <a:lnTo>
                  <a:pt x="49515" y="45553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6555150" y="1439913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70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6604665" y="1439913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70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6685452" y="1464045"/>
            <a:ext cx="99030" cy="45554"/>
          </a:xfrm>
          <a:custGeom>
            <a:avLst/>
            <a:gdLst/>
            <a:ahLst/>
            <a:cxnLst/>
            <a:rect l="l" t="t" r="r" b="b"/>
            <a:pathLst>
              <a:path w="99030" h="45554">
                <a:moveTo>
                  <a:pt x="0" y="22777"/>
                </a:moveTo>
                <a:lnTo>
                  <a:pt x="49515" y="0"/>
                </a:lnTo>
                <a:lnTo>
                  <a:pt x="99030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6685452" y="1486822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6734967" y="1486822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6602059" y="1526590"/>
            <a:ext cx="99029" cy="45554"/>
          </a:xfrm>
          <a:custGeom>
            <a:avLst/>
            <a:gdLst/>
            <a:ahLst/>
            <a:cxnLst/>
            <a:rect l="l" t="t" r="r" b="b"/>
            <a:pathLst>
              <a:path w="99029" h="45554">
                <a:moveTo>
                  <a:pt x="0" y="22777"/>
                </a:moveTo>
                <a:lnTo>
                  <a:pt x="49515" y="0"/>
                </a:lnTo>
                <a:lnTo>
                  <a:pt x="99029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6602059" y="1549367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6651574" y="1549367"/>
            <a:ext cx="49514" cy="95746"/>
          </a:xfrm>
          <a:custGeom>
            <a:avLst/>
            <a:gdLst/>
            <a:ahLst/>
            <a:cxnLst/>
            <a:rect l="l" t="t" r="r" b="b"/>
            <a:pathLst>
              <a:path w="49514" h="95746">
                <a:moveTo>
                  <a:pt x="0" y="22777"/>
                </a:moveTo>
                <a:lnTo>
                  <a:pt x="49514" y="0"/>
                </a:lnTo>
                <a:lnTo>
                  <a:pt x="49514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018019" y="1380744"/>
            <a:ext cx="1689353" cy="3931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观察业务改善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51092" y="2112264"/>
            <a:ext cx="2201418" cy="87782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定位与交付效率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口径一致 / 问题闭环</a:t>
            </a:r>
          </a:p>
        </p:txBody>
      </p:sp>
      <p:sp>
        <p:nvSpPr>
          <p:cNvPr id="92" name="Oval 91"/>
          <p:cNvSpPr/>
          <p:nvPr/>
        </p:nvSpPr>
        <p:spPr>
          <a:xfrm>
            <a:off x="6396227" y="1078992"/>
            <a:ext cx="274320" cy="274320"/>
          </a:xfrm>
          <a:prstGeom prst="ellipse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396227" y="1101852"/>
            <a:ext cx="274320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03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8899397" y="2135124"/>
            <a:ext cx="219457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H="1">
            <a:off x="9060387" y="2135124"/>
            <a:ext cx="58467" cy="35845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H="1" flipV="1">
            <a:off x="9060387" y="2099278"/>
            <a:ext cx="58467" cy="35846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ounded Rectangle 96"/>
          <p:cNvSpPr/>
          <p:nvPr/>
        </p:nvSpPr>
        <p:spPr>
          <a:xfrm>
            <a:off x="9178289" y="1239012"/>
            <a:ext cx="2622041" cy="1856231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9155429" y="1207008"/>
            <a:ext cx="2622041" cy="185623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9329074" y="1776770"/>
            <a:ext cx="469087" cy="8339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9308226" y="1636044"/>
            <a:ext cx="479511" cy="201395"/>
          </a:xfrm>
          <a:custGeom>
            <a:avLst/>
            <a:gdLst/>
            <a:ahLst/>
            <a:cxnLst/>
            <a:rect l="l" t="t" r="r" b="b"/>
            <a:pathLst>
              <a:path w="479511" h="201395">
                <a:moveTo>
                  <a:pt x="0" y="100697"/>
                </a:moveTo>
                <a:lnTo>
                  <a:pt x="239755" y="0"/>
                </a:lnTo>
                <a:lnTo>
                  <a:pt x="479511" y="100697"/>
                </a:lnTo>
                <a:lnTo>
                  <a:pt x="239755" y="201395"/>
                </a:lnTo>
                <a:close/>
              </a:path>
            </a:pathLst>
          </a:custGeom>
          <a:solidFill>
            <a:srgbClr val="B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9308226" y="1736741"/>
            <a:ext cx="239755" cy="145000"/>
          </a:xfrm>
          <a:custGeom>
            <a:avLst/>
            <a:gdLst/>
            <a:ahLst/>
            <a:cxnLst/>
            <a:rect l="l" t="t" r="r" b="b"/>
            <a:pathLst>
              <a:path w="239755" h="145000">
                <a:moveTo>
                  <a:pt x="0" y="0"/>
                </a:moveTo>
                <a:lnTo>
                  <a:pt x="239755" y="100698"/>
                </a:lnTo>
                <a:lnTo>
                  <a:pt x="239755" y="145000"/>
                </a:lnTo>
                <a:lnTo>
                  <a:pt x="0" y="44303"/>
                </a:lnTo>
                <a:close/>
              </a:path>
            </a:pathLst>
          </a:custGeom>
          <a:solidFill>
            <a:srgbClr val="6D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9547981" y="1736741"/>
            <a:ext cx="239756" cy="145000"/>
          </a:xfrm>
          <a:custGeom>
            <a:avLst/>
            <a:gdLst/>
            <a:ahLst/>
            <a:cxnLst/>
            <a:rect l="l" t="t" r="r" b="b"/>
            <a:pathLst>
              <a:path w="239756" h="145000">
                <a:moveTo>
                  <a:pt x="0" y="100698"/>
                </a:moveTo>
                <a:lnTo>
                  <a:pt x="239756" y="0"/>
                </a:lnTo>
                <a:lnTo>
                  <a:pt x="239756" y="44303"/>
                </a:lnTo>
                <a:lnTo>
                  <a:pt x="0" y="145000"/>
                </a:lnTo>
                <a:close/>
              </a:path>
            </a:pathLst>
          </a:custGeom>
          <a:solidFill>
            <a:srgbClr val="30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9349922" y="1537014"/>
            <a:ext cx="396118" cy="166370"/>
          </a:xfrm>
          <a:custGeom>
            <a:avLst/>
            <a:gdLst/>
            <a:ahLst/>
            <a:cxnLst/>
            <a:rect l="l" t="t" r="r" b="b"/>
            <a:pathLst>
              <a:path w="396118" h="166370">
                <a:moveTo>
                  <a:pt x="0" y="83185"/>
                </a:moveTo>
                <a:lnTo>
                  <a:pt x="198059" y="0"/>
                </a:lnTo>
                <a:lnTo>
                  <a:pt x="396118" y="83185"/>
                </a:lnTo>
                <a:lnTo>
                  <a:pt x="198059" y="166370"/>
                </a:lnTo>
                <a:close/>
              </a:path>
            </a:pathLst>
          </a:custGeom>
          <a:solidFill>
            <a:srgbClr val="94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9349922" y="1620199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0"/>
                </a:moveTo>
                <a:lnTo>
                  <a:pt x="198059" y="83185"/>
                </a:lnTo>
                <a:lnTo>
                  <a:pt x="198059" y="127488"/>
                </a:lnTo>
                <a:lnTo>
                  <a:pt x="0" y="44303"/>
                </a:lnTo>
                <a:close/>
              </a:path>
            </a:pathLst>
          </a:custGeom>
          <a:solidFill>
            <a:srgbClr val="3F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9547981" y="1620199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83185"/>
                </a:moveTo>
                <a:lnTo>
                  <a:pt x="198059" y="0"/>
                </a:lnTo>
                <a:lnTo>
                  <a:pt x="198059" y="44303"/>
                </a:lnTo>
                <a:lnTo>
                  <a:pt x="0" y="127488"/>
                </a:lnTo>
                <a:close/>
              </a:path>
            </a:pathLst>
          </a:custGeom>
          <a:solidFill>
            <a:srgbClr val="197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9396831" y="1437985"/>
            <a:ext cx="302301" cy="126966"/>
          </a:xfrm>
          <a:custGeom>
            <a:avLst/>
            <a:gdLst/>
            <a:ahLst/>
            <a:cxnLst/>
            <a:rect l="l" t="t" r="r" b="b"/>
            <a:pathLst>
              <a:path w="302301" h="126966">
                <a:moveTo>
                  <a:pt x="0" y="63483"/>
                </a:moveTo>
                <a:lnTo>
                  <a:pt x="151150" y="0"/>
                </a:lnTo>
                <a:lnTo>
                  <a:pt x="302301" y="63483"/>
                </a:lnTo>
                <a:lnTo>
                  <a:pt x="151150" y="126966"/>
                </a:lnTo>
                <a:close/>
              </a:path>
            </a:pathLst>
          </a:custGeom>
          <a:solidFill>
            <a:srgbClr val="57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9396831" y="1501468"/>
            <a:ext cx="151150" cy="107786"/>
          </a:xfrm>
          <a:custGeom>
            <a:avLst/>
            <a:gdLst/>
            <a:ahLst/>
            <a:cxnLst/>
            <a:rect l="l" t="t" r="r" b="b"/>
            <a:pathLst>
              <a:path w="151150" h="107786">
                <a:moveTo>
                  <a:pt x="0" y="0"/>
                </a:moveTo>
                <a:lnTo>
                  <a:pt x="151150" y="63483"/>
                </a:lnTo>
                <a:lnTo>
                  <a:pt x="151150" y="107786"/>
                </a:lnTo>
                <a:lnTo>
                  <a:pt x="0" y="44303"/>
                </a:lnTo>
                <a:close/>
              </a:path>
            </a:pathLst>
          </a:custGeom>
          <a:solidFill>
            <a:srgbClr val="148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9547981" y="1501468"/>
            <a:ext cx="151151" cy="107786"/>
          </a:xfrm>
          <a:custGeom>
            <a:avLst/>
            <a:gdLst/>
            <a:ahLst/>
            <a:cxnLst/>
            <a:rect l="l" t="t" r="r" b="b"/>
            <a:pathLst>
              <a:path w="151151" h="107786">
                <a:moveTo>
                  <a:pt x="0" y="63483"/>
                </a:moveTo>
                <a:lnTo>
                  <a:pt x="151151" y="0"/>
                </a:lnTo>
                <a:lnTo>
                  <a:pt x="151151" y="44303"/>
                </a:lnTo>
                <a:lnTo>
                  <a:pt x="0" y="107786"/>
                </a:lnTo>
                <a:close/>
              </a:path>
            </a:pathLst>
          </a:custGeom>
          <a:solidFill>
            <a:srgbClr val="0A5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9469800" y="1417137"/>
            <a:ext cx="99030" cy="45553"/>
          </a:xfrm>
          <a:custGeom>
            <a:avLst/>
            <a:gdLst/>
            <a:ahLst/>
            <a:cxnLst/>
            <a:rect l="l" t="t" r="r" b="b"/>
            <a:pathLst>
              <a:path w="99030" h="45553">
                <a:moveTo>
                  <a:pt x="0" y="22776"/>
                </a:moveTo>
                <a:lnTo>
                  <a:pt x="49515" y="0"/>
                </a:lnTo>
                <a:lnTo>
                  <a:pt x="99030" y="22776"/>
                </a:lnTo>
                <a:lnTo>
                  <a:pt x="49515" y="45553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9469800" y="1439913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70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9519315" y="1439913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70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9600102" y="1464045"/>
            <a:ext cx="99030" cy="45554"/>
          </a:xfrm>
          <a:custGeom>
            <a:avLst/>
            <a:gdLst/>
            <a:ahLst/>
            <a:cxnLst/>
            <a:rect l="l" t="t" r="r" b="b"/>
            <a:pathLst>
              <a:path w="99030" h="45554">
                <a:moveTo>
                  <a:pt x="0" y="22777"/>
                </a:moveTo>
                <a:lnTo>
                  <a:pt x="49515" y="0"/>
                </a:lnTo>
                <a:lnTo>
                  <a:pt x="99030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9600102" y="1486822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9649617" y="1486822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9516709" y="1526590"/>
            <a:ext cx="99029" cy="45554"/>
          </a:xfrm>
          <a:custGeom>
            <a:avLst/>
            <a:gdLst/>
            <a:ahLst/>
            <a:cxnLst/>
            <a:rect l="l" t="t" r="r" b="b"/>
            <a:pathLst>
              <a:path w="99029" h="45554">
                <a:moveTo>
                  <a:pt x="0" y="22777"/>
                </a:moveTo>
                <a:lnTo>
                  <a:pt x="49515" y="0"/>
                </a:lnTo>
                <a:lnTo>
                  <a:pt x="99029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9516709" y="1549367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9566224" y="1549367"/>
            <a:ext cx="49514" cy="95746"/>
          </a:xfrm>
          <a:custGeom>
            <a:avLst/>
            <a:gdLst/>
            <a:ahLst/>
            <a:cxnLst/>
            <a:rect l="l" t="t" r="r" b="b"/>
            <a:pathLst>
              <a:path w="49514" h="95746">
                <a:moveTo>
                  <a:pt x="0" y="22777"/>
                </a:moveTo>
                <a:lnTo>
                  <a:pt x="49514" y="0"/>
                </a:lnTo>
                <a:lnTo>
                  <a:pt x="49514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932669" y="1380744"/>
            <a:ext cx="1689353" cy="3931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形成改进回归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365741" y="2112264"/>
            <a:ext cx="2201418" cy="87782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失败归因 / 内容修订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同类任务再次验证</a:t>
            </a:r>
          </a:p>
        </p:txBody>
      </p:sp>
      <p:sp>
        <p:nvSpPr>
          <p:cNvPr id="120" name="Oval 119"/>
          <p:cNvSpPr/>
          <p:nvPr/>
        </p:nvSpPr>
        <p:spPr>
          <a:xfrm>
            <a:off x="9310877" y="1078992"/>
            <a:ext cx="274320" cy="274320"/>
          </a:xfrm>
          <a:prstGeom prst="ellipse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310877" y="1101852"/>
            <a:ext cx="274320" cy="21031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04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544068" y="3991356"/>
            <a:ext cx="3483864" cy="160020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521207" y="3959352"/>
            <a:ext cx="3483864" cy="1600200"/>
          </a:xfrm>
          <a:prstGeom prst="roundRect">
            <a:avLst>
              <a:gd name="adj" fmla="val 5500"/>
            </a:avLst>
          </a:prstGeom>
          <a:solidFill>
            <a:srgbClr val="EAF9FA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694852" y="4529114"/>
            <a:ext cx="469087" cy="8339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767821" y="4211177"/>
            <a:ext cx="317936" cy="302300"/>
          </a:xfrm>
          <a:prstGeom prst="rect">
            <a:avLst/>
          </a:prstGeom>
          <a:solidFill>
            <a:srgbClr val="168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767821" y="4471781"/>
            <a:ext cx="317936" cy="104241"/>
          </a:xfrm>
          <a:prstGeom prst="ellipse">
            <a:avLst/>
          </a:prstGeom>
          <a:solidFill>
            <a:srgbClr val="096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767821" y="4159056"/>
            <a:ext cx="317936" cy="104241"/>
          </a:xfrm>
          <a:prstGeom prst="ellipse">
            <a:avLst/>
          </a:prstGeom>
          <a:solidFill>
            <a:srgbClr val="76D8FF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767821" y="4278934"/>
            <a:ext cx="317936" cy="104241"/>
          </a:xfrm>
          <a:prstGeom prst="ellipse">
            <a:avLst/>
          </a:prstGeom>
          <a:solidFill>
            <a:srgbClr val="3AB2F8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767821" y="4398812"/>
            <a:ext cx="317936" cy="104241"/>
          </a:xfrm>
          <a:prstGeom prst="ellipse">
            <a:avLst/>
          </a:prstGeom>
          <a:solidFill>
            <a:srgbClr val="3AB2F8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799094" y="4221601"/>
            <a:ext cx="20848" cy="276240"/>
          </a:xfrm>
          <a:prstGeom prst="rect">
            <a:avLst/>
          </a:prstGeom>
          <a:solidFill>
            <a:srgbClr val="76D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298448" y="4133088"/>
            <a:ext cx="2551176" cy="3931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资产与指标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31519" y="4864608"/>
            <a:ext cx="3063240" cy="62179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正确对象 / 口径一致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已审核指标与成果复用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4375404" y="3991356"/>
            <a:ext cx="3483864" cy="160020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4352544" y="3959352"/>
            <a:ext cx="3483864" cy="1600200"/>
          </a:xfrm>
          <a:prstGeom prst="roundRect">
            <a:avLst>
              <a:gd name="adj" fmla="val 5500"/>
            </a:avLst>
          </a:prstGeom>
          <a:solidFill>
            <a:srgbClr val="EAF9FA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4526188" y="4529114"/>
            <a:ext cx="469087" cy="8339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4505340" y="4388388"/>
            <a:ext cx="479511" cy="201395"/>
          </a:xfrm>
          <a:custGeom>
            <a:avLst/>
            <a:gdLst/>
            <a:ahLst/>
            <a:cxnLst/>
            <a:rect l="l" t="t" r="r" b="b"/>
            <a:pathLst>
              <a:path w="479511" h="201395">
                <a:moveTo>
                  <a:pt x="0" y="100697"/>
                </a:moveTo>
                <a:lnTo>
                  <a:pt x="239755" y="0"/>
                </a:lnTo>
                <a:lnTo>
                  <a:pt x="479511" y="100697"/>
                </a:lnTo>
                <a:lnTo>
                  <a:pt x="239755" y="201395"/>
                </a:lnTo>
                <a:close/>
              </a:path>
            </a:pathLst>
          </a:custGeom>
          <a:solidFill>
            <a:srgbClr val="B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4505340" y="4489085"/>
            <a:ext cx="239755" cy="145000"/>
          </a:xfrm>
          <a:custGeom>
            <a:avLst/>
            <a:gdLst/>
            <a:ahLst/>
            <a:cxnLst/>
            <a:rect l="l" t="t" r="r" b="b"/>
            <a:pathLst>
              <a:path w="239755" h="145000">
                <a:moveTo>
                  <a:pt x="0" y="0"/>
                </a:moveTo>
                <a:lnTo>
                  <a:pt x="239755" y="100698"/>
                </a:lnTo>
                <a:lnTo>
                  <a:pt x="239755" y="145000"/>
                </a:lnTo>
                <a:lnTo>
                  <a:pt x="0" y="44303"/>
                </a:lnTo>
                <a:close/>
              </a:path>
            </a:pathLst>
          </a:custGeom>
          <a:solidFill>
            <a:srgbClr val="6D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4745095" y="4489085"/>
            <a:ext cx="239756" cy="145000"/>
          </a:xfrm>
          <a:custGeom>
            <a:avLst/>
            <a:gdLst/>
            <a:ahLst/>
            <a:cxnLst/>
            <a:rect l="l" t="t" r="r" b="b"/>
            <a:pathLst>
              <a:path w="239756" h="145000">
                <a:moveTo>
                  <a:pt x="0" y="100698"/>
                </a:moveTo>
                <a:lnTo>
                  <a:pt x="239756" y="0"/>
                </a:lnTo>
                <a:lnTo>
                  <a:pt x="239756" y="44303"/>
                </a:lnTo>
                <a:lnTo>
                  <a:pt x="0" y="145000"/>
                </a:lnTo>
                <a:close/>
              </a:path>
            </a:pathLst>
          </a:custGeom>
          <a:solidFill>
            <a:srgbClr val="30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4547036" y="4289358"/>
            <a:ext cx="396118" cy="166370"/>
          </a:xfrm>
          <a:custGeom>
            <a:avLst/>
            <a:gdLst/>
            <a:ahLst/>
            <a:cxnLst/>
            <a:rect l="l" t="t" r="r" b="b"/>
            <a:pathLst>
              <a:path w="396118" h="166370">
                <a:moveTo>
                  <a:pt x="0" y="83185"/>
                </a:moveTo>
                <a:lnTo>
                  <a:pt x="198059" y="0"/>
                </a:lnTo>
                <a:lnTo>
                  <a:pt x="396118" y="83185"/>
                </a:lnTo>
                <a:lnTo>
                  <a:pt x="198059" y="166370"/>
                </a:lnTo>
                <a:close/>
              </a:path>
            </a:pathLst>
          </a:custGeom>
          <a:solidFill>
            <a:srgbClr val="94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4547036" y="4372543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0"/>
                </a:moveTo>
                <a:lnTo>
                  <a:pt x="198059" y="83185"/>
                </a:lnTo>
                <a:lnTo>
                  <a:pt x="198059" y="127488"/>
                </a:lnTo>
                <a:lnTo>
                  <a:pt x="0" y="44303"/>
                </a:lnTo>
                <a:close/>
              </a:path>
            </a:pathLst>
          </a:custGeom>
          <a:solidFill>
            <a:srgbClr val="3F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4745095" y="4372543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83185"/>
                </a:moveTo>
                <a:lnTo>
                  <a:pt x="198059" y="0"/>
                </a:lnTo>
                <a:lnTo>
                  <a:pt x="198059" y="44303"/>
                </a:lnTo>
                <a:lnTo>
                  <a:pt x="0" y="127488"/>
                </a:lnTo>
                <a:close/>
              </a:path>
            </a:pathLst>
          </a:custGeom>
          <a:solidFill>
            <a:srgbClr val="197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4593945" y="4190329"/>
            <a:ext cx="302301" cy="126966"/>
          </a:xfrm>
          <a:custGeom>
            <a:avLst/>
            <a:gdLst/>
            <a:ahLst/>
            <a:cxnLst/>
            <a:rect l="l" t="t" r="r" b="b"/>
            <a:pathLst>
              <a:path w="302301" h="126966">
                <a:moveTo>
                  <a:pt x="0" y="63483"/>
                </a:moveTo>
                <a:lnTo>
                  <a:pt x="151150" y="0"/>
                </a:lnTo>
                <a:lnTo>
                  <a:pt x="302301" y="63483"/>
                </a:lnTo>
                <a:lnTo>
                  <a:pt x="151150" y="126966"/>
                </a:lnTo>
                <a:close/>
              </a:path>
            </a:pathLst>
          </a:custGeom>
          <a:solidFill>
            <a:srgbClr val="57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4593945" y="4253812"/>
            <a:ext cx="151150" cy="107786"/>
          </a:xfrm>
          <a:custGeom>
            <a:avLst/>
            <a:gdLst/>
            <a:ahLst/>
            <a:cxnLst/>
            <a:rect l="l" t="t" r="r" b="b"/>
            <a:pathLst>
              <a:path w="151150" h="107786">
                <a:moveTo>
                  <a:pt x="0" y="0"/>
                </a:moveTo>
                <a:lnTo>
                  <a:pt x="151150" y="63483"/>
                </a:lnTo>
                <a:lnTo>
                  <a:pt x="151150" y="107786"/>
                </a:lnTo>
                <a:lnTo>
                  <a:pt x="0" y="44303"/>
                </a:lnTo>
                <a:close/>
              </a:path>
            </a:pathLst>
          </a:custGeom>
          <a:solidFill>
            <a:srgbClr val="148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4745095" y="4253812"/>
            <a:ext cx="151151" cy="107786"/>
          </a:xfrm>
          <a:custGeom>
            <a:avLst/>
            <a:gdLst/>
            <a:ahLst/>
            <a:cxnLst/>
            <a:rect l="l" t="t" r="r" b="b"/>
            <a:pathLst>
              <a:path w="151151" h="107786">
                <a:moveTo>
                  <a:pt x="0" y="63483"/>
                </a:moveTo>
                <a:lnTo>
                  <a:pt x="151151" y="0"/>
                </a:lnTo>
                <a:lnTo>
                  <a:pt x="151151" y="44303"/>
                </a:lnTo>
                <a:lnTo>
                  <a:pt x="0" y="107786"/>
                </a:lnTo>
                <a:close/>
              </a:path>
            </a:pathLst>
          </a:custGeom>
          <a:solidFill>
            <a:srgbClr val="0A5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4666914" y="4169481"/>
            <a:ext cx="99030" cy="45553"/>
          </a:xfrm>
          <a:custGeom>
            <a:avLst/>
            <a:gdLst/>
            <a:ahLst/>
            <a:cxnLst/>
            <a:rect l="l" t="t" r="r" b="b"/>
            <a:pathLst>
              <a:path w="99030" h="45553">
                <a:moveTo>
                  <a:pt x="0" y="22776"/>
                </a:moveTo>
                <a:lnTo>
                  <a:pt x="49515" y="0"/>
                </a:lnTo>
                <a:lnTo>
                  <a:pt x="99030" y="22776"/>
                </a:lnTo>
                <a:lnTo>
                  <a:pt x="49515" y="45553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4666914" y="4192257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70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4716429" y="4192257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70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4797216" y="4216389"/>
            <a:ext cx="99030" cy="45554"/>
          </a:xfrm>
          <a:custGeom>
            <a:avLst/>
            <a:gdLst/>
            <a:ahLst/>
            <a:cxnLst/>
            <a:rect l="l" t="t" r="r" b="b"/>
            <a:pathLst>
              <a:path w="99030" h="45554">
                <a:moveTo>
                  <a:pt x="0" y="22777"/>
                </a:moveTo>
                <a:lnTo>
                  <a:pt x="49515" y="0"/>
                </a:lnTo>
                <a:lnTo>
                  <a:pt x="99030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4797216" y="4239166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4846731" y="4239166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4713823" y="4278934"/>
            <a:ext cx="99029" cy="45554"/>
          </a:xfrm>
          <a:custGeom>
            <a:avLst/>
            <a:gdLst/>
            <a:ahLst/>
            <a:cxnLst/>
            <a:rect l="l" t="t" r="r" b="b"/>
            <a:pathLst>
              <a:path w="99029" h="45554">
                <a:moveTo>
                  <a:pt x="0" y="22777"/>
                </a:moveTo>
                <a:lnTo>
                  <a:pt x="49515" y="0"/>
                </a:lnTo>
                <a:lnTo>
                  <a:pt x="99029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4713823" y="4301711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4763338" y="4301711"/>
            <a:ext cx="49514" cy="95746"/>
          </a:xfrm>
          <a:custGeom>
            <a:avLst/>
            <a:gdLst/>
            <a:ahLst/>
            <a:cxnLst/>
            <a:rect l="l" t="t" r="r" b="b"/>
            <a:pathLst>
              <a:path w="49514" h="95746">
                <a:moveTo>
                  <a:pt x="0" y="22777"/>
                </a:moveTo>
                <a:lnTo>
                  <a:pt x="49514" y="0"/>
                </a:lnTo>
                <a:lnTo>
                  <a:pt x="49514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129784" y="4133088"/>
            <a:ext cx="2551176" cy="3931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研发与交付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562856" y="4864608"/>
            <a:ext cx="3063240" cy="62179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规范遗漏 / 返工情况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测试证据与评审采纳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8206740" y="3991356"/>
            <a:ext cx="3483864" cy="1600200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8183880" y="3959352"/>
            <a:ext cx="3483864" cy="1600200"/>
          </a:xfrm>
          <a:prstGeom prst="roundRect">
            <a:avLst>
              <a:gd name="adj" fmla="val 5500"/>
            </a:avLst>
          </a:prstGeom>
          <a:solidFill>
            <a:srgbClr val="EAF9FA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8357524" y="4529114"/>
            <a:ext cx="469087" cy="8339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8336676" y="4388388"/>
            <a:ext cx="479511" cy="201395"/>
          </a:xfrm>
          <a:custGeom>
            <a:avLst/>
            <a:gdLst/>
            <a:ahLst/>
            <a:cxnLst/>
            <a:rect l="l" t="t" r="r" b="b"/>
            <a:pathLst>
              <a:path w="479511" h="201395">
                <a:moveTo>
                  <a:pt x="0" y="100697"/>
                </a:moveTo>
                <a:lnTo>
                  <a:pt x="239755" y="0"/>
                </a:lnTo>
                <a:lnTo>
                  <a:pt x="479511" y="100697"/>
                </a:lnTo>
                <a:lnTo>
                  <a:pt x="239755" y="201395"/>
                </a:lnTo>
                <a:close/>
              </a:path>
            </a:pathLst>
          </a:custGeom>
          <a:solidFill>
            <a:srgbClr val="B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8336676" y="4489085"/>
            <a:ext cx="239755" cy="145000"/>
          </a:xfrm>
          <a:custGeom>
            <a:avLst/>
            <a:gdLst/>
            <a:ahLst/>
            <a:cxnLst/>
            <a:rect l="l" t="t" r="r" b="b"/>
            <a:pathLst>
              <a:path w="239755" h="145000">
                <a:moveTo>
                  <a:pt x="0" y="0"/>
                </a:moveTo>
                <a:lnTo>
                  <a:pt x="239755" y="100698"/>
                </a:lnTo>
                <a:lnTo>
                  <a:pt x="239755" y="145000"/>
                </a:lnTo>
                <a:lnTo>
                  <a:pt x="0" y="44303"/>
                </a:lnTo>
                <a:close/>
              </a:path>
            </a:pathLst>
          </a:custGeom>
          <a:solidFill>
            <a:srgbClr val="6D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8576431" y="4489085"/>
            <a:ext cx="239756" cy="145000"/>
          </a:xfrm>
          <a:custGeom>
            <a:avLst/>
            <a:gdLst/>
            <a:ahLst/>
            <a:cxnLst/>
            <a:rect l="l" t="t" r="r" b="b"/>
            <a:pathLst>
              <a:path w="239756" h="145000">
                <a:moveTo>
                  <a:pt x="0" y="100698"/>
                </a:moveTo>
                <a:lnTo>
                  <a:pt x="239756" y="0"/>
                </a:lnTo>
                <a:lnTo>
                  <a:pt x="239756" y="44303"/>
                </a:lnTo>
                <a:lnTo>
                  <a:pt x="0" y="145000"/>
                </a:lnTo>
                <a:close/>
              </a:path>
            </a:pathLst>
          </a:custGeom>
          <a:solidFill>
            <a:srgbClr val="30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8378372" y="4289358"/>
            <a:ext cx="396118" cy="166370"/>
          </a:xfrm>
          <a:custGeom>
            <a:avLst/>
            <a:gdLst/>
            <a:ahLst/>
            <a:cxnLst/>
            <a:rect l="l" t="t" r="r" b="b"/>
            <a:pathLst>
              <a:path w="396118" h="166370">
                <a:moveTo>
                  <a:pt x="0" y="83185"/>
                </a:moveTo>
                <a:lnTo>
                  <a:pt x="198059" y="0"/>
                </a:lnTo>
                <a:lnTo>
                  <a:pt x="396118" y="83185"/>
                </a:lnTo>
                <a:lnTo>
                  <a:pt x="198059" y="166370"/>
                </a:lnTo>
                <a:close/>
              </a:path>
            </a:pathLst>
          </a:custGeom>
          <a:solidFill>
            <a:srgbClr val="94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8378372" y="4372543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0"/>
                </a:moveTo>
                <a:lnTo>
                  <a:pt x="198059" y="83185"/>
                </a:lnTo>
                <a:lnTo>
                  <a:pt x="198059" y="127488"/>
                </a:lnTo>
                <a:lnTo>
                  <a:pt x="0" y="44303"/>
                </a:lnTo>
                <a:close/>
              </a:path>
            </a:pathLst>
          </a:custGeom>
          <a:solidFill>
            <a:srgbClr val="3F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8576431" y="4372543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83185"/>
                </a:moveTo>
                <a:lnTo>
                  <a:pt x="198059" y="0"/>
                </a:lnTo>
                <a:lnTo>
                  <a:pt x="198059" y="44303"/>
                </a:lnTo>
                <a:lnTo>
                  <a:pt x="0" y="127488"/>
                </a:lnTo>
                <a:close/>
              </a:path>
            </a:pathLst>
          </a:custGeom>
          <a:solidFill>
            <a:srgbClr val="197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8425281" y="4190329"/>
            <a:ext cx="302301" cy="126966"/>
          </a:xfrm>
          <a:custGeom>
            <a:avLst/>
            <a:gdLst/>
            <a:ahLst/>
            <a:cxnLst/>
            <a:rect l="l" t="t" r="r" b="b"/>
            <a:pathLst>
              <a:path w="302301" h="126966">
                <a:moveTo>
                  <a:pt x="0" y="63483"/>
                </a:moveTo>
                <a:lnTo>
                  <a:pt x="151150" y="0"/>
                </a:lnTo>
                <a:lnTo>
                  <a:pt x="302301" y="63483"/>
                </a:lnTo>
                <a:lnTo>
                  <a:pt x="151150" y="126966"/>
                </a:lnTo>
                <a:close/>
              </a:path>
            </a:pathLst>
          </a:custGeom>
          <a:solidFill>
            <a:srgbClr val="57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8425281" y="4253812"/>
            <a:ext cx="151150" cy="107786"/>
          </a:xfrm>
          <a:custGeom>
            <a:avLst/>
            <a:gdLst/>
            <a:ahLst/>
            <a:cxnLst/>
            <a:rect l="l" t="t" r="r" b="b"/>
            <a:pathLst>
              <a:path w="151150" h="107786">
                <a:moveTo>
                  <a:pt x="0" y="0"/>
                </a:moveTo>
                <a:lnTo>
                  <a:pt x="151150" y="63483"/>
                </a:lnTo>
                <a:lnTo>
                  <a:pt x="151150" y="107786"/>
                </a:lnTo>
                <a:lnTo>
                  <a:pt x="0" y="44303"/>
                </a:lnTo>
                <a:close/>
              </a:path>
            </a:pathLst>
          </a:custGeom>
          <a:solidFill>
            <a:srgbClr val="148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8576431" y="4253812"/>
            <a:ext cx="151151" cy="107786"/>
          </a:xfrm>
          <a:custGeom>
            <a:avLst/>
            <a:gdLst/>
            <a:ahLst/>
            <a:cxnLst/>
            <a:rect l="l" t="t" r="r" b="b"/>
            <a:pathLst>
              <a:path w="151151" h="107786">
                <a:moveTo>
                  <a:pt x="0" y="63483"/>
                </a:moveTo>
                <a:lnTo>
                  <a:pt x="151151" y="0"/>
                </a:lnTo>
                <a:lnTo>
                  <a:pt x="151151" y="44303"/>
                </a:lnTo>
                <a:lnTo>
                  <a:pt x="0" y="107786"/>
                </a:lnTo>
                <a:close/>
              </a:path>
            </a:pathLst>
          </a:custGeom>
          <a:solidFill>
            <a:srgbClr val="0A5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8498250" y="4169481"/>
            <a:ext cx="99030" cy="45553"/>
          </a:xfrm>
          <a:custGeom>
            <a:avLst/>
            <a:gdLst/>
            <a:ahLst/>
            <a:cxnLst/>
            <a:rect l="l" t="t" r="r" b="b"/>
            <a:pathLst>
              <a:path w="99030" h="45553">
                <a:moveTo>
                  <a:pt x="0" y="22776"/>
                </a:moveTo>
                <a:lnTo>
                  <a:pt x="49515" y="0"/>
                </a:lnTo>
                <a:lnTo>
                  <a:pt x="99030" y="22776"/>
                </a:lnTo>
                <a:lnTo>
                  <a:pt x="49515" y="45553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8498250" y="4192257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70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8547765" y="4192257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70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8628552" y="4216389"/>
            <a:ext cx="99030" cy="45554"/>
          </a:xfrm>
          <a:custGeom>
            <a:avLst/>
            <a:gdLst/>
            <a:ahLst/>
            <a:cxnLst/>
            <a:rect l="l" t="t" r="r" b="b"/>
            <a:pathLst>
              <a:path w="99030" h="45554">
                <a:moveTo>
                  <a:pt x="0" y="22777"/>
                </a:moveTo>
                <a:lnTo>
                  <a:pt x="49515" y="0"/>
                </a:lnTo>
                <a:lnTo>
                  <a:pt x="99030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8628552" y="4239166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8678067" y="4239166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8545159" y="4278934"/>
            <a:ext cx="99029" cy="45554"/>
          </a:xfrm>
          <a:custGeom>
            <a:avLst/>
            <a:gdLst/>
            <a:ahLst/>
            <a:cxnLst/>
            <a:rect l="l" t="t" r="r" b="b"/>
            <a:pathLst>
              <a:path w="99029" h="45554">
                <a:moveTo>
                  <a:pt x="0" y="22777"/>
                </a:moveTo>
                <a:lnTo>
                  <a:pt x="49515" y="0"/>
                </a:lnTo>
                <a:lnTo>
                  <a:pt x="99029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8545159" y="4301711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8594674" y="4301711"/>
            <a:ext cx="49514" cy="95746"/>
          </a:xfrm>
          <a:custGeom>
            <a:avLst/>
            <a:gdLst/>
            <a:ahLst/>
            <a:cxnLst/>
            <a:rect l="l" t="t" r="r" b="b"/>
            <a:pathLst>
              <a:path w="49514" h="95746">
                <a:moveTo>
                  <a:pt x="0" y="22777"/>
                </a:moveTo>
                <a:lnTo>
                  <a:pt x="49514" y="0"/>
                </a:lnTo>
                <a:lnTo>
                  <a:pt x="49514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8961120" y="4133088"/>
            <a:ext cx="2551176" cy="3931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治理与运维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8394192" y="4864608"/>
            <a:ext cx="3063240" cy="621792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取证耗时 / 影响缺口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整改闭环与重复问题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461772" y="6112764"/>
            <a:ext cx="11247120" cy="33832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ounded Rectangle 179"/>
          <p:cNvSpPr/>
          <p:nvPr/>
        </p:nvSpPr>
        <p:spPr>
          <a:xfrm>
            <a:off x="438912" y="6080760"/>
            <a:ext cx="11247120" cy="338328"/>
          </a:xfrm>
          <a:prstGeom prst="roundRect">
            <a:avLst>
              <a:gd name="adj" fmla="val 5500"/>
            </a:avLst>
          </a:prstGeom>
          <a:solidFill>
            <a:srgbClr val="EEF7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585216" y="6117336"/>
            <a:ext cx="10954512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目标在基线与试点后确认；同时观察速度与正确性，不以演示通过或模型自评代替业务验收。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6346471"/>
            <a:ext cx="12191695" cy="235953"/>
          </a:xfrm>
          <a:custGeom>
            <a:avLst/>
            <a:gdLst/>
            <a:ahLst/>
            <a:cxnLst/>
            <a:rect l="l" t="t" r="r" b="b"/>
            <a:pathLst>
              <a:path w="12191695" h="235953">
                <a:moveTo>
                  <a:pt x="0" y="127481"/>
                </a:moveTo>
                <a:lnTo>
                  <a:pt x="135463" y="147046"/>
                </a:lnTo>
                <a:lnTo>
                  <a:pt x="270926" y="165914"/>
                </a:lnTo>
                <a:lnTo>
                  <a:pt x="406389" y="183426"/>
                </a:lnTo>
                <a:lnTo>
                  <a:pt x="541853" y="199000"/>
                </a:lnTo>
                <a:lnTo>
                  <a:pt x="677316" y="212159"/>
                </a:lnTo>
                <a:lnTo>
                  <a:pt x="812779" y="222557"/>
                </a:lnTo>
                <a:lnTo>
                  <a:pt x="948242" y="229995"/>
                </a:lnTo>
                <a:lnTo>
                  <a:pt x="1083706" y="234426"/>
                </a:lnTo>
                <a:lnTo>
                  <a:pt x="1219169" y="235953"/>
                </a:lnTo>
                <a:lnTo>
                  <a:pt x="1354632" y="234812"/>
                </a:lnTo>
                <a:lnTo>
                  <a:pt x="1490096" y="231352"/>
                </a:lnTo>
                <a:lnTo>
                  <a:pt x="1625559" y="226009"/>
                </a:lnTo>
                <a:lnTo>
                  <a:pt x="1761022" y="219267"/>
                </a:lnTo>
                <a:lnTo>
                  <a:pt x="1896485" y="211626"/>
                </a:lnTo>
                <a:lnTo>
                  <a:pt x="2031949" y="203564"/>
                </a:lnTo>
                <a:lnTo>
                  <a:pt x="2167412" y="195508"/>
                </a:lnTo>
                <a:lnTo>
                  <a:pt x="2302875" y="187800"/>
                </a:lnTo>
                <a:lnTo>
                  <a:pt x="2438339" y="180682"/>
                </a:lnTo>
                <a:lnTo>
                  <a:pt x="2573802" y="174280"/>
                </a:lnTo>
                <a:lnTo>
                  <a:pt x="2709265" y="168601"/>
                </a:lnTo>
                <a:lnTo>
                  <a:pt x="2844728" y="163541"/>
                </a:lnTo>
                <a:lnTo>
                  <a:pt x="2980192" y="158900"/>
                </a:lnTo>
                <a:lnTo>
                  <a:pt x="3115655" y="154402"/>
                </a:lnTo>
                <a:lnTo>
                  <a:pt x="3251118" y="149724"/>
                </a:lnTo>
                <a:lnTo>
                  <a:pt x="3386582" y="144534"/>
                </a:lnTo>
                <a:lnTo>
                  <a:pt x="3522045" y="138515"/>
                </a:lnTo>
                <a:lnTo>
                  <a:pt x="3657508" y="131408"/>
                </a:lnTo>
                <a:lnTo>
                  <a:pt x="3792971" y="123031"/>
                </a:lnTo>
                <a:lnTo>
                  <a:pt x="3928435" y="113309"/>
                </a:lnTo>
                <a:lnTo>
                  <a:pt x="4063898" y="102287"/>
                </a:lnTo>
                <a:lnTo>
                  <a:pt x="4199361" y="90138"/>
                </a:lnTo>
                <a:lnTo>
                  <a:pt x="4334824" y="77155"/>
                </a:lnTo>
                <a:lnTo>
                  <a:pt x="4470288" y="63745"/>
                </a:lnTo>
                <a:lnTo>
                  <a:pt x="4605751" y="50406"/>
                </a:lnTo>
                <a:lnTo>
                  <a:pt x="4741214" y="37696"/>
                </a:lnTo>
                <a:lnTo>
                  <a:pt x="4876678" y="26202"/>
                </a:lnTo>
                <a:lnTo>
                  <a:pt x="5012141" y="16503"/>
                </a:lnTo>
                <a:lnTo>
                  <a:pt x="5147604" y="9131"/>
                </a:lnTo>
                <a:lnTo>
                  <a:pt x="5283067" y="4538"/>
                </a:lnTo>
                <a:lnTo>
                  <a:pt x="5418531" y="3064"/>
                </a:lnTo>
                <a:lnTo>
                  <a:pt x="5553994" y="4912"/>
                </a:lnTo>
                <a:lnTo>
                  <a:pt x="5689457" y="10132"/>
                </a:lnTo>
                <a:lnTo>
                  <a:pt x="5824921" y="18617"/>
                </a:lnTo>
                <a:lnTo>
                  <a:pt x="5960384" y="30106"/>
                </a:lnTo>
                <a:lnTo>
                  <a:pt x="6095847" y="44193"/>
                </a:lnTo>
                <a:lnTo>
                  <a:pt x="6231310" y="60357"/>
                </a:lnTo>
                <a:lnTo>
                  <a:pt x="6366774" y="77984"/>
                </a:lnTo>
                <a:lnTo>
                  <a:pt x="6502237" y="96410"/>
                </a:lnTo>
                <a:lnTo>
                  <a:pt x="6637700" y="114953"/>
                </a:lnTo>
                <a:lnTo>
                  <a:pt x="6773164" y="132954"/>
                </a:lnTo>
                <a:lnTo>
                  <a:pt x="6908627" y="149814"/>
                </a:lnTo>
                <a:lnTo>
                  <a:pt x="7044090" y="165027"/>
                </a:lnTo>
                <a:lnTo>
                  <a:pt x="7179553" y="178204"/>
                </a:lnTo>
                <a:lnTo>
                  <a:pt x="7315017" y="189090"/>
                </a:lnTo>
                <a:lnTo>
                  <a:pt x="7450480" y="197574"/>
                </a:lnTo>
                <a:lnTo>
                  <a:pt x="7585943" y="203682"/>
                </a:lnTo>
                <a:lnTo>
                  <a:pt x="7721406" y="207573"/>
                </a:lnTo>
                <a:lnTo>
                  <a:pt x="7856870" y="209512"/>
                </a:lnTo>
                <a:lnTo>
                  <a:pt x="7992333" y="209848"/>
                </a:lnTo>
                <a:lnTo>
                  <a:pt x="8127796" y="208978"/>
                </a:lnTo>
                <a:lnTo>
                  <a:pt x="8263260" y="207316"/>
                </a:lnTo>
                <a:lnTo>
                  <a:pt x="8398723" y="205256"/>
                </a:lnTo>
                <a:lnTo>
                  <a:pt x="8534186" y="203141"/>
                </a:lnTo>
                <a:lnTo>
                  <a:pt x="8669649" y="201238"/>
                </a:lnTo>
                <a:lnTo>
                  <a:pt x="8805113" y="199711"/>
                </a:lnTo>
                <a:lnTo>
                  <a:pt x="8940576" y="198616"/>
                </a:lnTo>
                <a:lnTo>
                  <a:pt x="9076039" y="197894"/>
                </a:lnTo>
                <a:lnTo>
                  <a:pt x="9211503" y="197378"/>
                </a:lnTo>
                <a:lnTo>
                  <a:pt x="9346966" y="196808"/>
                </a:lnTo>
                <a:lnTo>
                  <a:pt x="9482429" y="195855"/>
                </a:lnTo>
                <a:lnTo>
                  <a:pt x="9617892" y="194147"/>
                </a:lnTo>
                <a:lnTo>
                  <a:pt x="9753356" y="191305"/>
                </a:lnTo>
                <a:lnTo>
                  <a:pt x="9888819" y="186977"/>
                </a:lnTo>
                <a:lnTo>
                  <a:pt x="10024282" y="180869"/>
                </a:lnTo>
                <a:lnTo>
                  <a:pt x="10159746" y="172776"/>
                </a:lnTo>
                <a:lnTo>
                  <a:pt x="10295209" y="162608"/>
                </a:lnTo>
                <a:lnTo>
                  <a:pt x="10430672" y="150402"/>
                </a:lnTo>
                <a:lnTo>
                  <a:pt x="10566135" y="136335"/>
                </a:lnTo>
                <a:lnTo>
                  <a:pt x="10701599" y="120717"/>
                </a:lnTo>
                <a:lnTo>
                  <a:pt x="10837062" y="103984"/>
                </a:lnTo>
                <a:lnTo>
                  <a:pt x="10972525" y="86673"/>
                </a:lnTo>
                <a:lnTo>
                  <a:pt x="11107988" y="69396"/>
                </a:lnTo>
                <a:lnTo>
                  <a:pt x="11243452" y="52806"/>
                </a:lnTo>
                <a:lnTo>
                  <a:pt x="11378915" y="37558"/>
                </a:lnTo>
                <a:lnTo>
                  <a:pt x="11514378" y="24274"/>
                </a:lnTo>
                <a:lnTo>
                  <a:pt x="11649842" y="13501"/>
                </a:lnTo>
                <a:lnTo>
                  <a:pt x="11785305" y="5683"/>
                </a:lnTo>
                <a:lnTo>
                  <a:pt x="11920768" y="1129"/>
                </a:lnTo>
                <a:lnTo>
                  <a:pt x="12056231" y="0"/>
                </a:lnTo>
                <a:lnTo>
                  <a:pt x="12191695" y="2300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6405649"/>
            <a:ext cx="12191695" cy="245182"/>
          </a:xfrm>
          <a:custGeom>
            <a:avLst/>
            <a:gdLst/>
            <a:ahLst/>
            <a:cxnLst/>
            <a:rect l="l" t="t" r="r" b="b"/>
            <a:pathLst>
              <a:path w="12191695" h="245182">
                <a:moveTo>
                  <a:pt x="0" y="150669"/>
                </a:moveTo>
                <a:lnTo>
                  <a:pt x="135463" y="169737"/>
                </a:lnTo>
                <a:lnTo>
                  <a:pt x="270926" y="187768"/>
                </a:lnTo>
                <a:lnTo>
                  <a:pt x="406389" y="204118"/>
                </a:lnTo>
                <a:lnTo>
                  <a:pt x="541853" y="218220"/>
                </a:lnTo>
                <a:lnTo>
                  <a:pt x="677316" y="229621"/>
                </a:lnTo>
                <a:lnTo>
                  <a:pt x="812779" y="238002"/>
                </a:lnTo>
                <a:lnTo>
                  <a:pt x="948242" y="243193"/>
                </a:lnTo>
                <a:lnTo>
                  <a:pt x="1083706" y="245182"/>
                </a:lnTo>
                <a:lnTo>
                  <a:pt x="1219169" y="244108"/>
                </a:lnTo>
                <a:lnTo>
                  <a:pt x="1354632" y="240247"/>
                </a:lnTo>
                <a:lnTo>
                  <a:pt x="1490096" y="233989"/>
                </a:lnTo>
                <a:lnTo>
                  <a:pt x="1625559" y="225812"/>
                </a:lnTo>
                <a:lnTo>
                  <a:pt x="1761022" y="216243"/>
                </a:lnTo>
                <a:lnTo>
                  <a:pt x="1896485" y="205824"/>
                </a:lnTo>
                <a:lnTo>
                  <a:pt x="2031949" y="195076"/>
                </a:lnTo>
                <a:lnTo>
                  <a:pt x="2167412" y="184466"/>
                </a:lnTo>
                <a:lnTo>
                  <a:pt x="2302875" y="174375"/>
                </a:lnTo>
                <a:lnTo>
                  <a:pt x="2438339" y="165080"/>
                </a:lnTo>
                <a:lnTo>
                  <a:pt x="2573802" y="156740"/>
                </a:lnTo>
                <a:lnTo>
                  <a:pt x="2709265" y="149392"/>
                </a:lnTo>
                <a:lnTo>
                  <a:pt x="2844728" y="142958"/>
                </a:lnTo>
                <a:lnTo>
                  <a:pt x="2980192" y="137257"/>
                </a:lnTo>
                <a:lnTo>
                  <a:pt x="3115655" y="132030"/>
                </a:lnTo>
                <a:lnTo>
                  <a:pt x="3251118" y="126965"/>
                </a:lnTo>
                <a:lnTo>
                  <a:pt x="3386582" y="121734"/>
                </a:lnTo>
                <a:lnTo>
                  <a:pt x="3522045" y="116024"/>
                </a:lnTo>
                <a:lnTo>
                  <a:pt x="3657508" y="109568"/>
                </a:lnTo>
                <a:lnTo>
                  <a:pt x="3792971" y="102177"/>
                </a:lnTo>
                <a:lnTo>
                  <a:pt x="3928435" y="93759"/>
                </a:lnTo>
                <a:lnTo>
                  <a:pt x="4063898" y="84341"/>
                </a:lnTo>
                <a:lnTo>
                  <a:pt x="4199361" y="74069"/>
                </a:lnTo>
                <a:lnTo>
                  <a:pt x="4334824" y="63211"/>
                </a:lnTo>
                <a:lnTo>
                  <a:pt x="4470288" y="52141"/>
                </a:lnTo>
                <a:lnTo>
                  <a:pt x="4605751" y="41320"/>
                </a:lnTo>
                <a:lnTo>
                  <a:pt x="4741214" y="31269"/>
                </a:lnTo>
                <a:lnTo>
                  <a:pt x="4876678" y="22536"/>
                </a:lnTo>
                <a:lnTo>
                  <a:pt x="5012141" y="15656"/>
                </a:lnTo>
                <a:lnTo>
                  <a:pt x="5147604" y="11120"/>
                </a:lnTo>
                <a:lnTo>
                  <a:pt x="5283067" y="9338"/>
                </a:lnTo>
                <a:lnTo>
                  <a:pt x="5418531" y="10605"/>
                </a:lnTo>
                <a:lnTo>
                  <a:pt x="5553994" y="15085"/>
                </a:lnTo>
                <a:lnTo>
                  <a:pt x="5689457" y="22787"/>
                </a:lnTo>
                <a:lnTo>
                  <a:pt x="5824921" y="33567"/>
                </a:lnTo>
                <a:lnTo>
                  <a:pt x="5960384" y="47128"/>
                </a:lnTo>
                <a:lnTo>
                  <a:pt x="6095847" y="63035"/>
                </a:lnTo>
                <a:lnTo>
                  <a:pt x="6231310" y="80738"/>
                </a:lnTo>
                <a:lnTo>
                  <a:pt x="6366774" y="99601"/>
                </a:lnTo>
                <a:lnTo>
                  <a:pt x="6502237" y="118939"/>
                </a:lnTo>
                <a:lnTo>
                  <a:pt x="6637700" y="138058"/>
                </a:lnTo>
                <a:lnTo>
                  <a:pt x="6773164" y="156290"/>
                </a:lnTo>
                <a:lnTo>
                  <a:pt x="6908627" y="173034"/>
                </a:lnTo>
                <a:lnTo>
                  <a:pt x="7044090" y="187783"/>
                </a:lnTo>
                <a:lnTo>
                  <a:pt x="7179553" y="200156"/>
                </a:lnTo>
                <a:lnTo>
                  <a:pt x="7315017" y="209912"/>
                </a:lnTo>
                <a:lnTo>
                  <a:pt x="7450480" y="216953"/>
                </a:lnTo>
                <a:lnTo>
                  <a:pt x="7585943" y="221331"/>
                </a:lnTo>
                <a:lnTo>
                  <a:pt x="7721406" y="223229"/>
                </a:lnTo>
                <a:lnTo>
                  <a:pt x="7856870" y="222943"/>
                </a:lnTo>
                <a:lnTo>
                  <a:pt x="7992333" y="220854"/>
                </a:lnTo>
                <a:lnTo>
                  <a:pt x="8127796" y="217398"/>
                </a:lnTo>
                <a:lnTo>
                  <a:pt x="8263260" y="213025"/>
                </a:lnTo>
                <a:lnTo>
                  <a:pt x="8398723" y="208173"/>
                </a:lnTo>
                <a:lnTo>
                  <a:pt x="8534186" y="203226"/>
                </a:lnTo>
                <a:lnTo>
                  <a:pt x="8669649" y="198493"/>
                </a:lnTo>
                <a:lnTo>
                  <a:pt x="8805113" y="194182"/>
                </a:lnTo>
                <a:lnTo>
                  <a:pt x="8940576" y="190390"/>
                </a:lnTo>
                <a:lnTo>
                  <a:pt x="9076039" y="187099"/>
                </a:lnTo>
                <a:lnTo>
                  <a:pt x="9211503" y="184181"/>
                </a:lnTo>
                <a:lnTo>
                  <a:pt x="9346966" y="181412"/>
                </a:lnTo>
                <a:lnTo>
                  <a:pt x="9482429" y="178496"/>
                </a:lnTo>
                <a:lnTo>
                  <a:pt x="9617892" y="175092"/>
                </a:lnTo>
                <a:lnTo>
                  <a:pt x="9753356" y="170845"/>
                </a:lnTo>
                <a:lnTo>
                  <a:pt x="9888819" y="165425"/>
                </a:lnTo>
                <a:lnTo>
                  <a:pt x="10024282" y="158555"/>
                </a:lnTo>
                <a:lnTo>
                  <a:pt x="10159746" y="150040"/>
                </a:lnTo>
                <a:lnTo>
                  <a:pt x="10295209" y="139797"/>
                </a:lnTo>
                <a:lnTo>
                  <a:pt x="10430672" y="127865"/>
                </a:lnTo>
                <a:lnTo>
                  <a:pt x="10566135" y="114415"/>
                </a:lnTo>
                <a:lnTo>
                  <a:pt x="10701599" y="99751"/>
                </a:lnTo>
                <a:lnTo>
                  <a:pt x="10837062" y="84291"/>
                </a:lnTo>
                <a:lnTo>
                  <a:pt x="10972525" y="68554"/>
                </a:lnTo>
                <a:lnTo>
                  <a:pt x="11107988" y="53129"/>
                </a:lnTo>
                <a:lnTo>
                  <a:pt x="11243452" y="38641"/>
                </a:lnTo>
                <a:lnTo>
                  <a:pt x="11378915" y="25713"/>
                </a:lnTo>
                <a:lnTo>
                  <a:pt x="11514378" y="14931"/>
                </a:lnTo>
                <a:lnTo>
                  <a:pt x="11649842" y="6805"/>
                </a:lnTo>
                <a:lnTo>
                  <a:pt x="11785305" y="1738"/>
                </a:lnTo>
                <a:lnTo>
                  <a:pt x="11920768" y="0"/>
                </a:lnTo>
                <a:lnTo>
                  <a:pt x="12056231" y="1708"/>
                </a:lnTo>
                <a:lnTo>
                  <a:pt x="12191695" y="6822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6467906"/>
            <a:ext cx="12191695" cy="248613"/>
          </a:xfrm>
          <a:custGeom>
            <a:avLst/>
            <a:gdLst/>
            <a:ahLst/>
            <a:cxnLst/>
            <a:rect l="l" t="t" r="r" b="b"/>
            <a:pathLst>
              <a:path w="12191695" h="248613">
                <a:moveTo>
                  <a:pt x="0" y="169572"/>
                </a:moveTo>
                <a:lnTo>
                  <a:pt x="135463" y="187517"/>
                </a:lnTo>
                <a:lnTo>
                  <a:pt x="270926" y="204116"/>
                </a:lnTo>
                <a:lnTo>
                  <a:pt x="406389" y="218744"/>
                </a:lnTo>
                <a:lnTo>
                  <a:pt x="541853" y="230861"/>
                </a:lnTo>
                <a:lnTo>
                  <a:pt x="677316" y="240043"/>
                </a:lnTo>
                <a:lnTo>
                  <a:pt x="812779" y="246004"/>
                </a:lnTo>
                <a:lnTo>
                  <a:pt x="948242" y="248613"/>
                </a:lnTo>
                <a:lnTo>
                  <a:pt x="1083706" y="247896"/>
                </a:lnTo>
                <a:lnTo>
                  <a:pt x="1219169" y="244031"/>
                </a:lnTo>
                <a:lnTo>
                  <a:pt x="1354632" y="237338"/>
                </a:lnTo>
                <a:lnTo>
                  <a:pt x="1490096" y="228250"/>
                </a:lnTo>
                <a:lnTo>
                  <a:pt x="1625559" y="217286"/>
                </a:lnTo>
                <a:lnTo>
                  <a:pt x="1761022" y="205017"/>
                </a:lnTo>
                <a:lnTo>
                  <a:pt x="1896485" y="192024"/>
                </a:lnTo>
                <a:lnTo>
                  <a:pt x="2031949" y="178869"/>
                </a:lnTo>
                <a:lnTo>
                  <a:pt x="2167412" y="166053"/>
                </a:lnTo>
                <a:lnTo>
                  <a:pt x="2302875" y="153992"/>
                </a:lnTo>
                <a:lnTo>
                  <a:pt x="2438339" y="142992"/>
                </a:lnTo>
                <a:lnTo>
                  <a:pt x="2573802" y="133239"/>
                </a:lnTo>
                <a:lnTo>
                  <a:pt x="2709265" y="124790"/>
                </a:lnTo>
                <a:lnTo>
                  <a:pt x="2844728" y="117583"/>
                </a:lnTo>
                <a:lnTo>
                  <a:pt x="2980192" y="111449"/>
                </a:lnTo>
                <a:lnTo>
                  <a:pt x="3115655" y="106137"/>
                </a:lnTo>
                <a:lnTo>
                  <a:pt x="3251118" y="101335"/>
                </a:lnTo>
                <a:lnTo>
                  <a:pt x="3386582" y="96713"/>
                </a:lnTo>
                <a:lnTo>
                  <a:pt x="3522045" y="91945"/>
                </a:lnTo>
                <a:lnTo>
                  <a:pt x="3657508" y="86753"/>
                </a:lnTo>
                <a:lnTo>
                  <a:pt x="3792971" y="80928"/>
                </a:lnTo>
                <a:lnTo>
                  <a:pt x="3928435" y="74354"/>
                </a:lnTo>
                <a:lnTo>
                  <a:pt x="4063898" y="67031"/>
                </a:lnTo>
                <a:lnTo>
                  <a:pt x="4199361" y="59072"/>
                </a:lnTo>
                <a:lnTo>
                  <a:pt x="4334824" y="50711"/>
                </a:lnTo>
                <a:lnTo>
                  <a:pt x="4470288" y="42285"/>
                </a:lnTo>
                <a:lnTo>
                  <a:pt x="4605751" y="34213"/>
                </a:lnTo>
                <a:lnTo>
                  <a:pt x="4741214" y="26977"/>
                </a:lnTo>
                <a:lnTo>
                  <a:pt x="4876678" y="21080"/>
                </a:lnTo>
                <a:lnTo>
                  <a:pt x="5012141" y="17016"/>
                </a:lnTo>
                <a:lnTo>
                  <a:pt x="5147604" y="15233"/>
                </a:lnTo>
                <a:lnTo>
                  <a:pt x="5283067" y="16099"/>
                </a:lnTo>
                <a:lnTo>
                  <a:pt x="5418531" y="19870"/>
                </a:lnTo>
                <a:lnTo>
                  <a:pt x="5553994" y="26670"/>
                </a:lnTo>
                <a:lnTo>
                  <a:pt x="5689457" y="36475"/>
                </a:lnTo>
                <a:lnTo>
                  <a:pt x="5824921" y="49109"/>
                </a:lnTo>
                <a:lnTo>
                  <a:pt x="5960384" y="64247"/>
                </a:lnTo>
                <a:lnTo>
                  <a:pt x="6095847" y="81430"/>
                </a:lnTo>
                <a:lnTo>
                  <a:pt x="6231310" y="100088"/>
                </a:lnTo>
                <a:lnTo>
                  <a:pt x="6366774" y="119571"/>
                </a:lnTo>
                <a:lnTo>
                  <a:pt x="6502237" y="139187"/>
                </a:lnTo>
                <a:lnTo>
                  <a:pt x="6637700" y="158234"/>
                </a:lnTo>
                <a:lnTo>
                  <a:pt x="6773164" y="176047"/>
                </a:lnTo>
                <a:lnTo>
                  <a:pt x="6908627" y="192030"/>
                </a:lnTo>
                <a:lnTo>
                  <a:pt x="7044090" y="205690"/>
                </a:lnTo>
                <a:lnTo>
                  <a:pt x="7179553" y="216660"/>
                </a:lnTo>
                <a:lnTo>
                  <a:pt x="7315017" y="224721"/>
                </a:lnTo>
                <a:lnTo>
                  <a:pt x="7450480" y="229802"/>
                </a:lnTo>
                <a:lnTo>
                  <a:pt x="7585943" y="231983"/>
                </a:lnTo>
                <a:lnTo>
                  <a:pt x="7721406" y="231480"/>
                </a:lnTo>
                <a:lnTo>
                  <a:pt x="7856870" y="228626"/>
                </a:lnTo>
                <a:lnTo>
                  <a:pt x="7992333" y="223841"/>
                </a:lnTo>
                <a:lnTo>
                  <a:pt x="8127796" y="217601"/>
                </a:lnTo>
                <a:lnTo>
                  <a:pt x="8263260" y="210399"/>
                </a:lnTo>
                <a:lnTo>
                  <a:pt x="8398723" y="202714"/>
                </a:lnTo>
                <a:lnTo>
                  <a:pt x="8534186" y="194975"/>
                </a:lnTo>
                <a:lnTo>
                  <a:pt x="8669649" y="187531"/>
                </a:lnTo>
                <a:lnTo>
                  <a:pt x="8805113" y="180631"/>
                </a:lnTo>
                <a:lnTo>
                  <a:pt x="8940576" y="174414"/>
                </a:lnTo>
                <a:lnTo>
                  <a:pt x="9076039" y="168896"/>
                </a:lnTo>
                <a:lnTo>
                  <a:pt x="9211503" y="163983"/>
                </a:lnTo>
                <a:lnTo>
                  <a:pt x="9346966" y="159481"/>
                </a:lnTo>
                <a:lnTo>
                  <a:pt x="9482429" y="155122"/>
                </a:lnTo>
                <a:lnTo>
                  <a:pt x="9617892" y="150584"/>
                </a:lnTo>
                <a:lnTo>
                  <a:pt x="9753356" y="145531"/>
                </a:lnTo>
                <a:lnTo>
                  <a:pt x="9888819" y="139645"/>
                </a:lnTo>
                <a:lnTo>
                  <a:pt x="10024282" y="132654"/>
                </a:lnTo>
                <a:lnTo>
                  <a:pt x="10159746" y="124369"/>
                </a:lnTo>
                <a:lnTo>
                  <a:pt x="10295209" y="114699"/>
                </a:lnTo>
                <a:lnTo>
                  <a:pt x="10430672" y="103677"/>
                </a:lnTo>
                <a:lnTo>
                  <a:pt x="10566135" y="91461"/>
                </a:lnTo>
                <a:lnTo>
                  <a:pt x="10701599" y="78333"/>
                </a:lnTo>
                <a:lnTo>
                  <a:pt x="10837062" y="64691"/>
                </a:lnTo>
                <a:lnTo>
                  <a:pt x="10972525" y="51025"/>
                </a:lnTo>
                <a:lnTo>
                  <a:pt x="11107988" y="37893"/>
                </a:lnTo>
                <a:lnTo>
                  <a:pt x="11243452" y="25885"/>
                </a:lnTo>
                <a:lnTo>
                  <a:pt x="11378915" y="15588"/>
                </a:lnTo>
                <a:lnTo>
                  <a:pt x="11514378" y="7547"/>
                </a:lnTo>
                <a:lnTo>
                  <a:pt x="11649842" y="2231"/>
                </a:lnTo>
                <a:lnTo>
                  <a:pt x="11785305" y="0"/>
                </a:lnTo>
                <a:lnTo>
                  <a:pt x="11920768" y="1082"/>
                </a:lnTo>
                <a:lnTo>
                  <a:pt x="12056231" y="5551"/>
                </a:lnTo>
                <a:lnTo>
                  <a:pt x="12191695" y="13326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0" y="6533113"/>
            <a:ext cx="12191695" cy="246124"/>
          </a:xfrm>
          <a:custGeom>
            <a:avLst/>
            <a:gdLst/>
            <a:ahLst/>
            <a:cxnLst/>
            <a:rect l="l" t="t" r="r" b="b"/>
            <a:pathLst>
              <a:path w="12191695" h="246124">
                <a:moveTo>
                  <a:pt x="0" y="183172"/>
                </a:moveTo>
                <a:lnTo>
                  <a:pt x="135463" y="199432"/>
                </a:lnTo>
                <a:lnTo>
                  <a:pt x="270926" y="214077"/>
                </a:lnTo>
                <a:lnTo>
                  <a:pt x="406389" y="226514"/>
                </a:lnTo>
                <a:lnTo>
                  <a:pt x="541853" y="236236"/>
                </a:lnTo>
                <a:lnTo>
                  <a:pt x="677316" y="242855"/>
                </a:lnTo>
                <a:lnTo>
                  <a:pt x="812779" y="246124"/>
                </a:lnTo>
                <a:lnTo>
                  <a:pt x="948242" y="245951"/>
                </a:lnTo>
                <a:lnTo>
                  <a:pt x="1083706" y="242404"/>
                </a:lnTo>
                <a:lnTo>
                  <a:pt x="1219169" y="235707"/>
                </a:lnTo>
                <a:lnTo>
                  <a:pt x="1354632" y="226219"/>
                </a:lnTo>
                <a:lnTo>
                  <a:pt x="1490096" y="214417"/>
                </a:lnTo>
                <a:lnTo>
                  <a:pt x="1625559" y="200862"/>
                </a:lnTo>
                <a:lnTo>
                  <a:pt x="1761022" y="186161"/>
                </a:lnTo>
                <a:lnTo>
                  <a:pt x="1896485" y="170935"/>
                </a:lnTo>
                <a:lnTo>
                  <a:pt x="2031949" y="155777"/>
                </a:lnTo>
                <a:lnTo>
                  <a:pt x="2167412" y="141221"/>
                </a:lnTo>
                <a:lnTo>
                  <a:pt x="2302875" y="127707"/>
                </a:lnTo>
                <a:lnTo>
                  <a:pt x="2438339" y="115564"/>
                </a:lnTo>
                <a:lnTo>
                  <a:pt x="2573802" y="104994"/>
                </a:lnTo>
                <a:lnTo>
                  <a:pt x="2709265" y="96068"/>
                </a:lnTo>
                <a:lnTo>
                  <a:pt x="2844728" y="88731"/>
                </a:lnTo>
                <a:lnTo>
                  <a:pt x="2980192" y="82816"/>
                </a:lnTo>
                <a:lnTo>
                  <a:pt x="3115655" y="78067"/>
                </a:lnTo>
                <a:lnTo>
                  <a:pt x="3251118" y="74166"/>
                </a:lnTo>
                <a:lnTo>
                  <a:pt x="3386582" y="70766"/>
                </a:lnTo>
                <a:lnTo>
                  <a:pt x="3522045" y="67527"/>
                </a:lnTo>
                <a:lnTo>
                  <a:pt x="3657508" y="64145"/>
                </a:lnTo>
                <a:lnTo>
                  <a:pt x="3792971" y="60383"/>
                </a:lnTo>
                <a:lnTo>
                  <a:pt x="3928435" y="56096"/>
                </a:lnTo>
                <a:lnTo>
                  <a:pt x="4063898" y="51248"/>
                </a:lnTo>
                <a:lnTo>
                  <a:pt x="4199361" y="45917"/>
                </a:lnTo>
                <a:lnTo>
                  <a:pt x="4334824" y="40294"/>
                </a:lnTo>
                <a:lnTo>
                  <a:pt x="4470288" y="34675"/>
                </a:lnTo>
                <a:lnTo>
                  <a:pt x="4605751" y="29440"/>
                </a:lnTo>
                <a:lnTo>
                  <a:pt x="4741214" y="25025"/>
                </a:lnTo>
                <a:lnTo>
                  <a:pt x="4876678" y="21891"/>
                </a:lnTo>
                <a:lnTo>
                  <a:pt x="5012141" y="20491"/>
                </a:lnTo>
                <a:lnTo>
                  <a:pt x="5147604" y="21233"/>
                </a:lnTo>
                <a:lnTo>
                  <a:pt x="5283067" y="24445"/>
                </a:lnTo>
                <a:lnTo>
                  <a:pt x="5418531" y="30349"/>
                </a:lnTo>
                <a:lnTo>
                  <a:pt x="5553994" y="39037"/>
                </a:lnTo>
                <a:lnTo>
                  <a:pt x="5689457" y="50457"/>
                </a:lnTo>
                <a:lnTo>
                  <a:pt x="5824921" y="64407"/>
                </a:lnTo>
                <a:lnTo>
                  <a:pt x="5960384" y="80543"/>
                </a:lnTo>
                <a:lnTo>
                  <a:pt x="6095847" y="98390"/>
                </a:lnTo>
                <a:lnTo>
                  <a:pt x="6231310" y="117369"/>
                </a:lnTo>
                <a:lnTo>
                  <a:pt x="6366774" y="136826"/>
                </a:lnTo>
                <a:lnTo>
                  <a:pt x="6502237" y="156066"/>
                </a:lnTo>
                <a:lnTo>
                  <a:pt x="6637700" y="174397"/>
                </a:lnTo>
                <a:lnTo>
                  <a:pt x="6773164" y="191162"/>
                </a:lnTo>
                <a:lnTo>
                  <a:pt x="6908627" y="205782"/>
                </a:lnTo>
                <a:lnTo>
                  <a:pt x="7044090" y="217784"/>
                </a:lnTo>
                <a:lnTo>
                  <a:pt x="7179553" y="226827"/>
                </a:lnTo>
                <a:lnTo>
                  <a:pt x="7315017" y="232720"/>
                </a:lnTo>
                <a:lnTo>
                  <a:pt x="7450480" y="235424"/>
                </a:lnTo>
                <a:lnTo>
                  <a:pt x="7585943" y="235057"/>
                </a:lnTo>
                <a:lnTo>
                  <a:pt x="7721406" y="231872"/>
                </a:lnTo>
                <a:lnTo>
                  <a:pt x="7856870" y="226244"/>
                </a:lnTo>
                <a:lnTo>
                  <a:pt x="7992333" y="218632"/>
                </a:lnTo>
                <a:lnTo>
                  <a:pt x="8127796" y="209557"/>
                </a:lnTo>
                <a:lnTo>
                  <a:pt x="8263260" y="199555"/>
                </a:lnTo>
                <a:lnTo>
                  <a:pt x="8398723" y="189147"/>
                </a:lnTo>
                <a:lnTo>
                  <a:pt x="8534186" y="178801"/>
                </a:lnTo>
                <a:lnTo>
                  <a:pt x="8669649" y="168908"/>
                </a:lnTo>
                <a:lnTo>
                  <a:pt x="8805113" y="159754"/>
                </a:lnTo>
                <a:lnTo>
                  <a:pt x="8940576" y="151510"/>
                </a:lnTo>
                <a:lnTo>
                  <a:pt x="9076039" y="144224"/>
                </a:lnTo>
                <a:lnTo>
                  <a:pt x="9211503" y="137828"/>
                </a:lnTo>
                <a:lnTo>
                  <a:pt x="9346966" y="132152"/>
                </a:lnTo>
                <a:lnTo>
                  <a:pt x="9482429" y="126943"/>
                </a:lnTo>
                <a:lnTo>
                  <a:pt x="9617892" y="121894"/>
                </a:lnTo>
                <a:lnTo>
                  <a:pt x="9753356" y="116677"/>
                </a:lnTo>
                <a:lnTo>
                  <a:pt x="9888819" y="110975"/>
                </a:lnTo>
                <a:lnTo>
                  <a:pt x="10024282" y="104513"/>
                </a:lnTo>
                <a:lnTo>
                  <a:pt x="10159746" y="97095"/>
                </a:lnTo>
                <a:lnTo>
                  <a:pt x="10295209" y="88617"/>
                </a:lnTo>
                <a:lnTo>
                  <a:pt x="10430672" y="79094"/>
                </a:lnTo>
                <a:lnTo>
                  <a:pt x="10566135" y="68661"/>
                </a:lnTo>
                <a:lnTo>
                  <a:pt x="10701599" y="57573"/>
                </a:lnTo>
                <a:lnTo>
                  <a:pt x="10837062" y="46197"/>
                </a:lnTo>
                <a:lnTo>
                  <a:pt x="10972525" y="34990"/>
                </a:lnTo>
                <a:lnTo>
                  <a:pt x="11107988" y="24471"/>
                </a:lnTo>
                <a:lnTo>
                  <a:pt x="11243452" y="15192"/>
                </a:lnTo>
                <a:lnTo>
                  <a:pt x="11378915" y="7698"/>
                </a:lnTo>
                <a:lnTo>
                  <a:pt x="11514378" y="2492"/>
                </a:lnTo>
                <a:lnTo>
                  <a:pt x="11649842" y="0"/>
                </a:lnTo>
                <a:lnTo>
                  <a:pt x="11785305" y="541"/>
                </a:lnTo>
                <a:lnTo>
                  <a:pt x="11920768" y="4298"/>
                </a:lnTo>
                <a:lnTo>
                  <a:pt x="12056231" y="11307"/>
                </a:lnTo>
                <a:lnTo>
                  <a:pt x="12191695" y="21447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0" y="6600998"/>
            <a:ext cx="12191695" cy="238322"/>
          </a:xfrm>
          <a:custGeom>
            <a:avLst/>
            <a:gdLst/>
            <a:ahLst/>
            <a:cxnLst/>
            <a:rect l="l" t="t" r="r" b="b"/>
            <a:pathLst>
              <a:path w="12191695" h="238322">
                <a:moveTo>
                  <a:pt x="0" y="190722"/>
                </a:moveTo>
                <a:lnTo>
                  <a:pt x="135463" y="204821"/>
                </a:lnTo>
                <a:lnTo>
                  <a:pt x="270926" y="217096"/>
                </a:lnTo>
                <a:lnTo>
                  <a:pt x="406389" y="226989"/>
                </a:lnTo>
                <a:lnTo>
                  <a:pt x="541853" y="234032"/>
                </a:lnTo>
                <a:lnTo>
                  <a:pt x="677316" y="237878"/>
                </a:lnTo>
                <a:lnTo>
                  <a:pt x="812779" y="238322"/>
                </a:lnTo>
                <a:lnTo>
                  <a:pt x="948242" y="235314"/>
                </a:lnTo>
                <a:lnTo>
                  <a:pt x="1083706" y="228966"/>
                </a:lnTo>
                <a:lnTo>
                  <a:pt x="1219169" y="219541"/>
                </a:lnTo>
                <a:lnTo>
                  <a:pt x="1354632" y="207444"/>
                </a:lnTo>
                <a:lnTo>
                  <a:pt x="1490096" y="193188"/>
                </a:lnTo>
                <a:lnTo>
                  <a:pt x="1625559" y="177371"/>
                </a:lnTo>
                <a:lnTo>
                  <a:pt x="1761022" y="160636"/>
                </a:lnTo>
                <a:lnTo>
                  <a:pt x="1896485" y="143634"/>
                </a:lnTo>
                <a:lnTo>
                  <a:pt x="2031949" y="126985"/>
                </a:lnTo>
                <a:lnTo>
                  <a:pt x="2167412" y="111244"/>
                </a:lnTo>
                <a:lnTo>
                  <a:pt x="2302875" y="96871"/>
                </a:lnTo>
                <a:lnTo>
                  <a:pt x="2438339" y="84207"/>
                </a:lnTo>
                <a:lnTo>
                  <a:pt x="2573802" y="73462"/>
                </a:lnTo>
                <a:lnTo>
                  <a:pt x="2709265" y="64709"/>
                </a:lnTo>
                <a:lnTo>
                  <a:pt x="2844728" y="57891"/>
                </a:lnTo>
                <a:lnTo>
                  <a:pt x="2980192" y="52834"/>
                </a:lnTo>
                <a:lnTo>
                  <a:pt x="3115655" y="49267"/>
                </a:lnTo>
                <a:lnTo>
                  <a:pt x="3251118" y="46856"/>
                </a:lnTo>
                <a:lnTo>
                  <a:pt x="3386582" y="45231"/>
                </a:lnTo>
                <a:lnTo>
                  <a:pt x="3522045" y="44024"/>
                </a:lnTo>
                <a:lnTo>
                  <a:pt x="3657508" y="42902"/>
                </a:lnTo>
                <a:lnTo>
                  <a:pt x="3792971" y="41593"/>
                </a:lnTo>
                <a:lnTo>
                  <a:pt x="3928435" y="39916"/>
                </a:lnTo>
                <a:lnTo>
                  <a:pt x="4063898" y="37794"/>
                </a:lnTo>
                <a:lnTo>
                  <a:pt x="4199361" y="35264"/>
                </a:lnTo>
                <a:lnTo>
                  <a:pt x="4334824" y="32476"/>
                </a:lnTo>
                <a:lnTo>
                  <a:pt x="4470288" y="29683"/>
                </a:lnTo>
                <a:lnTo>
                  <a:pt x="4605751" y="27220"/>
                </a:lnTo>
                <a:lnTo>
                  <a:pt x="4741214" y="25484"/>
                </a:lnTo>
                <a:lnTo>
                  <a:pt x="4876678" y="24895"/>
                </a:lnTo>
                <a:lnTo>
                  <a:pt x="5012141" y="25867"/>
                </a:lnTo>
                <a:lnTo>
                  <a:pt x="5147604" y="28771"/>
                </a:lnTo>
                <a:lnTo>
                  <a:pt x="5283067" y="33905"/>
                </a:lnTo>
                <a:lnTo>
                  <a:pt x="5418531" y="41460"/>
                </a:lnTo>
                <a:lnTo>
                  <a:pt x="5553994" y="51504"/>
                </a:lnTo>
                <a:lnTo>
                  <a:pt x="5689457" y="63964"/>
                </a:lnTo>
                <a:lnTo>
                  <a:pt x="5824921" y="78622"/>
                </a:lnTo>
                <a:lnTo>
                  <a:pt x="5960384" y="95124"/>
                </a:lnTo>
                <a:lnTo>
                  <a:pt x="6095847" y="112989"/>
                </a:lnTo>
                <a:lnTo>
                  <a:pt x="6231310" y="131639"/>
                </a:lnTo>
                <a:lnTo>
                  <a:pt x="6366774" y="150423"/>
                </a:lnTo>
                <a:lnTo>
                  <a:pt x="6502237" y="168658"/>
                </a:lnTo>
                <a:lnTo>
                  <a:pt x="6637700" y="185665"/>
                </a:lnTo>
                <a:lnTo>
                  <a:pt x="6773164" y="200809"/>
                </a:lnTo>
                <a:lnTo>
                  <a:pt x="6908627" y="213535"/>
                </a:lnTo>
                <a:lnTo>
                  <a:pt x="7044090" y="223398"/>
                </a:lnTo>
                <a:lnTo>
                  <a:pt x="7179553" y="230090"/>
                </a:lnTo>
                <a:lnTo>
                  <a:pt x="7315017" y="233454"/>
                </a:lnTo>
                <a:lnTo>
                  <a:pt x="7450480" y="233492"/>
                </a:lnTo>
                <a:lnTo>
                  <a:pt x="7585943" y="230359"/>
                </a:lnTo>
                <a:lnTo>
                  <a:pt x="7721406" y="224353"/>
                </a:lnTo>
                <a:lnTo>
                  <a:pt x="7856870" y="215888"/>
                </a:lnTo>
                <a:lnTo>
                  <a:pt x="7992333" y="205470"/>
                </a:lnTo>
                <a:lnTo>
                  <a:pt x="8127796" y="193658"/>
                </a:lnTo>
                <a:lnTo>
                  <a:pt x="8263260" y="181033"/>
                </a:lnTo>
                <a:lnTo>
                  <a:pt x="8398723" y="168153"/>
                </a:lnTo>
                <a:lnTo>
                  <a:pt x="8534186" y="155526"/>
                </a:lnTo>
                <a:lnTo>
                  <a:pt x="8669649" y="143575"/>
                </a:lnTo>
                <a:lnTo>
                  <a:pt x="8805113" y="132618"/>
                </a:lnTo>
                <a:lnTo>
                  <a:pt x="8940576" y="122852"/>
                </a:lnTo>
                <a:lnTo>
                  <a:pt x="9076039" y="114351"/>
                </a:lnTo>
                <a:lnTo>
                  <a:pt x="9211503" y="107063"/>
                </a:lnTo>
                <a:lnTo>
                  <a:pt x="9346966" y="100832"/>
                </a:lnTo>
                <a:lnTo>
                  <a:pt x="9482429" y="95413"/>
                </a:lnTo>
                <a:lnTo>
                  <a:pt x="9617892" y="90502"/>
                </a:lnTo>
                <a:lnTo>
                  <a:pt x="9753356" y="85770"/>
                </a:lnTo>
                <a:lnTo>
                  <a:pt x="9888819" y="80892"/>
                </a:lnTo>
                <a:lnTo>
                  <a:pt x="10024282" y="75582"/>
                </a:lnTo>
                <a:lnTo>
                  <a:pt x="10159746" y="69623"/>
                </a:lnTo>
                <a:lnTo>
                  <a:pt x="10295209" y="62893"/>
                </a:lnTo>
                <a:lnTo>
                  <a:pt x="10430672" y="55378"/>
                </a:lnTo>
                <a:lnTo>
                  <a:pt x="10566135" y="47183"/>
                </a:lnTo>
                <a:lnTo>
                  <a:pt x="10701599" y="38531"/>
                </a:lnTo>
                <a:lnTo>
                  <a:pt x="10837062" y="29751"/>
                </a:lnTo>
                <a:lnTo>
                  <a:pt x="10972525" y="21260"/>
                </a:lnTo>
                <a:lnTo>
                  <a:pt x="11107988" y="13537"/>
                </a:lnTo>
                <a:lnTo>
                  <a:pt x="11243452" y="7091"/>
                </a:lnTo>
                <a:lnTo>
                  <a:pt x="11378915" y="2425"/>
                </a:lnTo>
                <a:lnTo>
                  <a:pt x="11514378" y="0"/>
                </a:lnTo>
                <a:lnTo>
                  <a:pt x="11649842" y="198"/>
                </a:lnTo>
                <a:lnTo>
                  <a:pt x="11785305" y="3299"/>
                </a:lnTo>
                <a:lnTo>
                  <a:pt x="11920768" y="9446"/>
                </a:lnTo>
                <a:lnTo>
                  <a:pt x="12056231" y="18641"/>
                </a:lnTo>
                <a:lnTo>
                  <a:pt x="12191695" y="30728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46304"/>
            <a:ext cx="11283696" cy="44805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推进责任与规划结论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722376"/>
            <a:ext cx="585216" cy="41148"/>
          </a:xfrm>
          <a:prstGeom prst="rect">
            <a:avLst/>
          </a:prstGeom>
          <a:solidFill>
            <a:srgbClr val="EE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649224"/>
            <a:ext cx="10469880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2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让能力有归属、成果有依据、演进有路径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292608"/>
            <a:ext cx="896112" cy="20116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HiAgent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6647688"/>
            <a:ext cx="10241280" cy="1280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7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企业数据智能体建设规划  /  规划视图  /  2026.10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629400"/>
            <a:ext cx="585216" cy="17373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29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" y="1202436"/>
            <a:ext cx="3483864" cy="1883664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1207" y="1170432"/>
            <a:ext cx="3483864" cy="18836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4852" y="1740194"/>
            <a:ext cx="469087" cy="8339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700064" y="1667225"/>
            <a:ext cx="453451" cy="208587"/>
          </a:xfrm>
          <a:custGeom>
            <a:avLst/>
            <a:gdLst/>
            <a:ahLst/>
            <a:cxnLst/>
            <a:rect l="l" t="t" r="r" b="b"/>
            <a:pathLst>
              <a:path w="453451" h="208587">
                <a:moveTo>
                  <a:pt x="0" y="104294"/>
                </a:moveTo>
                <a:lnTo>
                  <a:pt x="226726" y="0"/>
                </a:lnTo>
                <a:lnTo>
                  <a:pt x="453451" y="104294"/>
                </a:lnTo>
                <a:lnTo>
                  <a:pt x="226726" y="208587"/>
                </a:lnTo>
                <a:close/>
              </a:path>
            </a:pathLst>
          </a:custGeom>
          <a:solidFill>
            <a:srgbClr val="B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700064" y="1771519"/>
            <a:ext cx="226726" cy="125142"/>
          </a:xfrm>
          <a:custGeom>
            <a:avLst/>
            <a:gdLst/>
            <a:ahLst/>
            <a:cxnLst/>
            <a:rect l="l" t="t" r="r" b="b"/>
            <a:pathLst>
              <a:path w="226726" h="125142">
                <a:moveTo>
                  <a:pt x="0" y="0"/>
                </a:moveTo>
                <a:lnTo>
                  <a:pt x="226726" y="104293"/>
                </a:lnTo>
                <a:lnTo>
                  <a:pt x="226726" y="125142"/>
                </a:lnTo>
                <a:lnTo>
                  <a:pt x="0" y="20848"/>
                </a:lnTo>
                <a:close/>
              </a:path>
            </a:pathLst>
          </a:custGeom>
          <a:solidFill>
            <a:srgbClr val="7FC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926790" y="1771519"/>
            <a:ext cx="226725" cy="125142"/>
          </a:xfrm>
          <a:custGeom>
            <a:avLst/>
            <a:gdLst/>
            <a:ahLst/>
            <a:cxnLst/>
            <a:rect l="l" t="t" r="r" b="b"/>
            <a:pathLst>
              <a:path w="226725" h="125142">
                <a:moveTo>
                  <a:pt x="0" y="104293"/>
                </a:moveTo>
                <a:lnTo>
                  <a:pt x="226725" y="0"/>
                </a:lnTo>
                <a:lnTo>
                  <a:pt x="226725" y="20848"/>
                </a:lnTo>
                <a:lnTo>
                  <a:pt x="0" y="125142"/>
                </a:lnTo>
                <a:close/>
              </a:path>
            </a:pathLst>
          </a:custGeom>
          <a:solidFill>
            <a:srgbClr val="5AA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736549" y="1599468"/>
            <a:ext cx="99029" cy="41697"/>
          </a:xfrm>
          <a:custGeom>
            <a:avLst/>
            <a:gdLst/>
            <a:ahLst/>
            <a:cxnLst/>
            <a:rect l="l" t="t" r="r" b="b"/>
            <a:pathLst>
              <a:path w="99029" h="41697">
                <a:moveTo>
                  <a:pt x="0" y="20848"/>
                </a:moveTo>
                <a:lnTo>
                  <a:pt x="49514" y="0"/>
                </a:lnTo>
                <a:lnTo>
                  <a:pt x="99029" y="20848"/>
                </a:lnTo>
                <a:lnTo>
                  <a:pt x="49514" y="41697"/>
                </a:lnTo>
                <a:close/>
              </a:path>
            </a:pathLst>
          </a:custGeom>
          <a:solidFill>
            <a:srgbClr val="9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736549" y="1620316"/>
            <a:ext cx="49514" cy="114666"/>
          </a:xfrm>
          <a:custGeom>
            <a:avLst/>
            <a:gdLst/>
            <a:ahLst/>
            <a:cxnLst/>
            <a:rect l="l" t="t" r="r" b="b"/>
            <a:pathLst>
              <a:path w="49514" h="114666">
                <a:moveTo>
                  <a:pt x="0" y="0"/>
                </a:moveTo>
                <a:lnTo>
                  <a:pt x="49514" y="20849"/>
                </a:lnTo>
                <a:lnTo>
                  <a:pt x="49514" y="114666"/>
                </a:lnTo>
                <a:lnTo>
                  <a:pt x="0" y="93818"/>
                </a:lnTo>
                <a:close/>
              </a:path>
            </a:pathLst>
          </a:custGeom>
          <a:solidFill>
            <a:srgbClr val="2AB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786063" y="1620316"/>
            <a:ext cx="49515" cy="114666"/>
          </a:xfrm>
          <a:custGeom>
            <a:avLst/>
            <a:gdLst/>
            <a:ahLst/>
            <a:cxnLst/>
            <a:rect l="l" t="t" r="r" b="b"/>
            <a:pathLst>
              <a:path w="49515" h="114666">
                <a:moveTo>
                  <a:pt x="0" y="20849"/>
                </a:moveTo>
                <a:lnTo>
                  <a:pt x="49515" y="0"/>
                </a:lnTo>
                <a:lnTo>
                  <a:pt x="49515" y="93818"/>
                </a:lnTo>
                <a:lnTo>
                  <a:pt x="0" y="114666"/>
                </a:lnTo>
                <a:close/>
              </a:path>
            </a:pathLst>
          </a:custGeom>
          <a:solidFill>
            <a:srgbClr val="11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861639" y="1500438"/>
            <a:ext cx="99029" cy="41697"/>
          </a:xfrm>
          <a:custGeom>
            <a:avLst/>
            <a:gdLst/>
            <a:ahLst/>
            <a:cxnLst/>
            <a:rect l="l" t="t" r="r" b="b"/>
            <a:pathLst>
              <a:path w="99029" h="41697">
                <a:moveTo>
                  <a:pt x="0" y="20849"/>
                </a:moveTo>
                <a:lnTo>
                  <a:pt x="49514" y="0"/>
                </a:lnTo>
                <a:lnTo>
                  <a:pt x="99029" y="20849"/>
                </a:lnTo>
                <a:lnTo>
                  <a:pt x="49514" y="41697"/>
                </a:lnTo>
                <a:close/>
              </a:path>
            </a:pathLst>
          </a:custGeom>
          <a:solidFill>
            <a:srgbClr val="9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861639" y="1521287"/>
            <a:ext cx="49514" cy="213695"/>
          </a:xfrm>
          <a:custGeom>
            <a:avLst/>
            <a:gdLst/>
            <a:ahLst/>
            <a:cxnLst/>
            <a:rect l="l" t="t" r="r" b="b"/>
            <a:pathLst>
              <a:path w="49514" h="213695">
                <a:moveTo>
                  <a:pt x="0" y="0"/>
                </a:moveTo>
                <a:lnTo>
                  <a:pt x="49514" y="20848"/>
                </a:lnTo>
                <a:lnTo>
                  <a:pt x="49514" y="213695"/>
                </a:lnTo>
                <a:lnTo>
                  <a:pt x="0" y="192847"/>
                </a:lnTo>
                <a:close/>
              </a:path>
            </a:pathLst>
          </a:custGeom>
          <a:solidFill>
            <a:srgbClr val="2AB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911153" y="1521287"/>
            <a:ext cx="49515" cy="213695"/>
          </a:xfrm>
          <a:custGeom>
            <a:avLst/>
            <a:gdLst/>
            <a:ahLst/>
            <a:cxnLst/>
            <a:rect l="l" t="t" r="r" b="b"/>
            <a:pathLst>
              <a:path w="49515" h="213695">
                <a:moveTo>
                  <a:pt x="0" y="20848"/>
                </a:moveTo>
                <a:lnTo>
                  <a:pt x="49515" y="0"/>
                </a:lnTo>
                <a:lnTo>
                  <a:pt x="49515" y="192847"/>
                </a:lnTo>
                <a:lnTo>
                  <a:pt x="0" y="213695"/>
                </a:lnTo>
                <a:close/>
              </a:path>
            </a:pathLst>
          </a:custGeom>
          <a:solidFill>
            <a:srgbClr val="11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986729" y="1370136"/>
            <a:ext cx="99029" cy="41697"/>
          </a:xfrm>
          <a:custGeom>
            <a:avLst/>
            <a:gdLst/>
            <a:ahLst/>
            <a:cxnLst/>
            <a:rect l="l" t="t" r="r" b="b"/>
            <a:pathLst>
              <a:path w="99029" h="41697">
                <a:moveTo>
                  <a:pt x="0" y="20849"/>
                </a:moveTo>
                <a:lnTo>
                  <a:pt x="49514" y="0"/>
                </a:lnTo>
                <a:lnTo>
                  <a:pt x="99029" y="20849"/>
                </a:lnTo>
                <a:lnTo>
                  <a:pt x="49514" y="41697"/>
                </a:lnTo>
                <a:close/>
              </a:path>
            </a:pathLst>
          </a:custGeom>
          <a:solidFill>
            <a:srgbClr val="92E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86729" y="1390985"/>
            <a:ext cx="49514" cy="343997"/>
          </a:xfrm>
          <a:custGeom>
            <a:avLst/>
            <a:gdLst/>
            <a:ahLst/>
            <a:cxnLst/>
            <a:rect l="l" t="t" r="r" b="b"/>
            <a:pathLst>
              <a:path w="49514" h="343997">
                <a:moveTo>
                  <a:pt x="0" y="0"/>
                </a:moveTo>
                <a:lnTo>
                  <a:pt x="49514" y="20848"/>
                </a:lnTo>
                <a:lnTo>
                  <a:pt x="49514" y="343997"/>
                </a:lnTo>
                <a:lnTo>
                  <a:pt x="0" y="323149"/>
                </a:lnTo>
                <a:close/>
              </a:path>
            </a:pathLst>
          </a:custGeom>
          <a:solidFill>
            <a:srgbClr val="2AB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1036243" y="1390985"/>
            <a:ext cx="49515" cy="343997"/>
          </a:xfrm>
          <a:custGeom>
            <a:avLst/>
            <a:gdLst/>
            <a:ahLst/>
            <a:cxnLst/>
            <a:rect l="l" t="t" r="r" b="b"/>
            <a:pathLst>
              <a:path w="49515" h="343997">
                <a:moveTo>
                  <a:pt x="0" y="20848"/>
                </a:moveTo>
                <a:lnTo>
                  <a:pt x="49515" y="0"/>
                </a:lnTo>
                <a:lnTo>
                  <a:pt x="49515" y="323149"/>
                </a:lnTo>
                <a:lnTo>
                  <a:pt x="0" y="343997"/>
                </a:lnTo>
                <a:close/>
              </a:path>
            </a:pathLst>
          </a:custGeom>
          <a:solidFill>
            <a:srgbClr val="116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98448" y="1344168"/>
            <a:ext cx="2551176" cy="3931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业务与指标责任人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19" y="2075688"/>
            <a:ext cx="3063240" cy="90525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确认口径、维度与关键假设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确认样本与业务成果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75404" y="1202436"/>
            <a:ext cx="3483864" cy="1883664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52544" y="1170432"/>
            <a:ext cx="3483864" cy="18836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26188" y="1740194"/>
            <a:ext cx="469087" cy="8339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99157" y="1422257"/>
            <a:ext cx="317936" cy="302300"/>
          </a:xfrm>
          <a:prstGeom prst="rect">
            <a:avLst/>
          </a:prstGeom>
          <a:solidFill>
            <a:srgbClr val="168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99157" y="1682861"/>
            <a:ext cx="317936" cy="104241"/>
          </a:xfrm>
          <a:prstGeom prst="ellipse">
            <a:avLst/>
          </a:prstGeom>
          <a:solidFill>
            <a:srgbClr val="0967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599157" y="1370136"/>
            <a:ext cx="317936" cy="104241"/>
          </a:xfrm>
          <a:prstGeom prst="ellipse">
            <a:avLst/>
          </a:prstGeom>
          <a:solidFill>
            <a:srgbClr val="76D8FF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99157" y="1490014"/>
            <a:ext cx="317936" cy="104241"/>
          </a:xfrm>
          <a:prstGeom prst="ellipse">
            <a:avLst/>
          </a:prstGeom>
          <a:solidFill>
            <a:srgbClr val="3AB2F8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599157" y="1609892"/>
            <a:ext cx="317936" cy="104241"/>
          </a:xfrm>
          <a:prstGeom prst="ellipse">
            <a:avLst/>
          </a:prstGeom>
          <a:solidFill>
            <a:srgbClr val="3AB2F8"/>
          </a:solidFill>
          <a:ln w="7620">
            <a:solidFill>
              <a:srgbClr val="C6E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630430" y="1432681"/>
            <a:ext cx="20848" cy="276240"/>
          </a:xfrm>
          <a:prstGeom prst="rect">
            <a:avLst/>
          </a:prstGeom>
          <a:solidFill>
            <a:srgbClr val="76D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29784" y="1344168"/>
            <a:ext cx="2551176" cy="3931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数据与治理团队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62856" y="2075688"/>
            <a:ext cx="3063240" cy="90525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维护资产语义、规范与映射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复核质量、影响与治理结果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06740" y="1202436"/>
            <a:ext cx="3483864" cy="1883664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183880" y="1170432"/>
            <a:ext cx="3483864" cy="18836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357524" y="1740194"/>
            <a:ext cx="469087" cy="83393"/>
          </a:xfrm>
          <a:prstGeom prst="ellipse">
            <a:avLst/>
          </a:prstGeom>
          <a:solidFill>
            <a:srgbClr val="DD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8336676" y="1599468"/>
            <a:ext cx="479511" cy="201395"/>
          </a:xfrm>
          <a:custGeom>
            <a:avLst/>
            <a:gdLst/>
            <a:ahLst/>
            <a:cxnLst/>
            <a:rect l="l" t="t" r="r" b="b"/>
            <a:pathLst>
              <a:path w="479511" h="201395">
                <a:moveTo>
                  <a:pt x="0" y="100697"/>
                </a:moveTo>
                <a:lnTo>
                  <a:pt x="239755" y="0"/>
                </a:lnTo>
                <a:lnTo>
                  <a:pt x="479511" y="100697"/>
                </a:lnTo>
                <a:lnTo>
                  <a:pt x="239755" y="201395"/>
                </a:lnTo>
                <a:close/>
              </a:path>
            </a:pathLst>
          </a:custGeom>
          <a:solidFill>
            <a:srgbClr val="B8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8336676" y="1700165"/>
            <a:ext cx="239755" cy="145000"/>
          </a:xfrm>
          <a:custGeom>
            <a:avLst/>
            <a:gdLst/>
            <a:ahLst/>
            <a:cxnLst/>
            <a:rect l="l" t="t" r="r" b="b"/>
            <a:pathLst>
              <a:path w="239755" h="145000">
                <a:moveTo>
                  <a:pt x="0" y="0"/>
                </a:moveTo>
                <a:lnTo>
                  <a:pt x="239755" y="100698"/>
                </a:lnTo>
                <a:lnTo>
                  <a:pt x="239755" y="145000"/>
                </a:lnTo>
                <a:lnTo>
                  <a:pt x="0" y="44303"/>
                </a:lnTo>
                <a:close/>
              </a:path>
            </a:pathLst>
          </a:custGeom>
          <a:solidFill>
            <a:srgbClr val="6D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576431" y="1700165"/>
            <a:ext cx="239756" cy="145000"/>
          </a:xfrm>
          <a:custGeom>
            <a:avLst/>
            <a:gdLst/>
            <a:ahLst/>
            <a:cxnLst/>
            <a:rect l="l" t="t" r="r" b="b"/>
            <a:pathLst>
              <a:path w="239756" h="145000">
                <a:moveTo>
                  <a:pt x="0" y="100698"/>
                </a:moveTo>
                <a:lnTo>
                  <a:pt x="239756" y="0"/>
                </a:lnTo>
                <a:lnTo>
                  <a:pt x="239756" y="44303"/>
                </a:lnTo>
                <a:lnTo>
                  <a:pt x="0" y="145000"/>
                </a:lnTo>
                <a:close/>
              </a:path>
            </a:pathLst>
          </a:custGeom>
          <a:solidFill>
            <a:srgbClr val="30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378372" y="1500438"/>
            <a:ext cx="396118" cy="166370"/>
          </a:xfrm>
          <a:custGeom>
            <a:avLst/>
            <a:gdLst/>
            <a:ahLst/>
            <a:cxnLst/>
            <a:rect l="l" t="t" r="r" b="b"/>
            <a:pathLst>
              <a:path w="396118" h="166370">
                <a:moveTo>
                  <a:pt x="0" y="83185"/>
                </a:moveTo>
                <a:lnTo>
                  <a:pt x="198059" y="0"/>
                </a:lnTo>
                <a:lnTo>
                  <a:pt x="396118" y="83185"/>
                </a:lnTo>
                <a:lnTo>
                  <a:pt x="198059" y="166370"/>
                </a:lnTo>
                <a:close/>
              </a:path>
            </a:pathLst>
          </a:custGeom>
          <a:solidFill>
            <a:srgbClr val="94D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378372" y="1583623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0"/>
                </a:moveTo>
                <a:lnTo>
                  <a:pt x="198059" y="83185"/>
                </a:lnTo>
                <a:lnTo>
                  <a:pt x="198059" y="127488"/>
                </a:lnTo>
                <a:lnTo>
                  <a:pt x="0" y="44303"/>
                </a:lnTo>
                <a:close/>
              </a:path>
            </a:pathLst>
          </a:custGeom>
          <a:solidFill>
            <a:srgbClr val="3FA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576431" y="1583623"/>
            <a:ext cx="198059" cy="127488"/>
          </a:xfrm>
          <a:custGeom>
            <a:avLst/>
            <a:gdLst/>
            <a:ahLst/>
            <a:cxnLst/>
            <a:rect l="l" t="t" r="r" b="b"/>
            <a:pathLst>
              <a:path w="198059" h="127488">
                <a:moveTo>
                  <a:pt x="0" y="83185"/>
                </a:moveTo>
                <a:lnTo>
                  <a:pt x="198059" y="0"/>
                </a:lnTo>
                <a:lnTo>
                  <a:pt x="198059" y="44303"/>
                </a:lnTo>
                <a:lnTo>
                  <a:pt x="0" y="127488"/>
                </a:lnTo>
                <a:close/>
              </a:path>
            </a:pathLst>
          </a:custGeom>
          <a:solidFill>
            <a:srgbClr val="197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425281" y="1401409"/>
            <a:ext cx="302301" cy="126966"/>
          </a:xfrm>
          <a:custGeom>
            <a:avLst/>
            <a:gdLst/>
            <a:ahLst/>
            <a:cxnLst/>
            <a:rect l="l" t="t" r="r" b="b"/>
            <a:pathLst>
              <a:path w="302301" h="126966">
                <a:moveTo>
                  <a:pt x="0" y="63483"/>
                </a:moveTo>
                <a:lnTo>
                  <a:pt x="151150" y="0"/>
                </a:lnTo>
                <a:lnTo>
                  <a:pt x="302301" y="63483"/>
                </a:lnTo>
                <a:lnTo>
                  <a:pt x="151150" y="126966"/>
                </a:lnTo>
                <a:close/>
              </a:path>
            </a:pathLst>
          </a:custGeom>
          <a:solidFill>
            <a:srgbClr val="57B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425281" y="1464892"/>
            <a:ext cx="151150" cy="107786"/>
          </a:xfrm>
          <a:custGeom>
            <a:avLst/>
            <a:gdLst/>
            <a:ahLst/>
            <a:cxnLst/>
            <a:rect l="l" t="t" r="r" b="b"/>
            <a:pathLst>
              <a:path w="151150" h="107786">
                <a:moveTo>
                  <a:pt x="0" y="0"/>
                </a:moveTo>
                <a:lnTo>
                  <a:pt x="151150" y="63483"/>
                </a:lnTo>
                <a:lnTo>
                  <a:pt x="151150" y="107786"/>
                </a:lnTo>
                <a:lnTo>
                  <a:pt x="0" y="44303"/>
                </a:lnTo>
                <a:close/>
              </a:path>
            </a:pathLst>
          </a:custGeom>
          <a:solidFill>
            <a:srgbClr val="148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8576431" y="1464892"/>
            <a:ext cx="151151" cy="107786"/>
          </a:xfrm>
          <a:custGeom>
            <a:avLst/>
            <a:gdLst/>
            <a:ahLst/>
            <a:cxnLst/>
            <a:rect l="l" t="t" r="r" b="b"/>
            <a:pathLst>
              <a:path w="151151" h="107786">
                <a:moveTo>
                  <a:pt x="0" y="63483"/>
                </a:moveTo>
                <a:lnTo>
                  <a:pt x="151151" y="0"/>
                </a:lnTo>
                <a:lnTo>
                  <a:pt x="151151" y="44303"/>
                </a:lnTo>
                <a:lnTo>
                  <a:pt x="0" y="107786"/>
                </a:lnTo>
                <a:close/>
              </a:path>
            </a:pathLst>
          </a:custGeom>
          <a:solidFill>
            <a:srgbClr val="0A54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8498250" y="1380561"/>
            <a:ext cx="99030" cy="45553"/>
          </a:xfrm>
          <a:custGeom>
            <a:avLst/>
            <a:gdLst/>
            <a:ahLst/>
            <a:cxnLst/>
            <a:rect l="l" t="t" r="r" b="b"/>
            <a:pathLst>
              <a:path w="99030" h="45553">
                <a:moveTo>
                  <a:pt x="0" y="22776"/>
                </a:moveTo>
                <a:lnTo>
                  <a:pt x="49515" y="0"/>
                </a:lnTo>
                <a:lnTo>
                  <a:pt x="99030" y="22776"/>
                </a:lnTo>
                <a:lnTo>
                  <a:pt x="49515" y="45553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8498250" y="1403337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70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8547765" y="1403337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70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8628552" y="1427469"/>
            <a:ext cx="99030" cy="45554"/>
          </a:xfrm>
          <a:custGeom>
            <a:avLst/>
            <a:gdLst/>
            <a:ahLst/>
            <a:cxnLst/>
            <a:rect l="l" t="t" r="r" b="b"/>
            <a:pathLst>
              <a:path w="99030" h="45554">
                <a:moveTo>
                  <a:pt x="0" y="22777"/>
                </a:moveTo>
                <a:lnTo>
                  <a:pt x="49515" y="0"/>
                </a:lnTo>
                <a:lnTo>
                  <a:pt x="99030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8628552" y="1450246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8678067" y="1450246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22777"/>
                </a:moveTo>
                <a:lnTo>
                  <a:pt x="49515" y="0"/>
                </a:lnTo>
                <a:lnTo>
                  <a:pt x="49515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8545159" y="1490014"/>
            <a:ext cx="99029" cy="45554"/>
          </a:xfrm>
          <a:custGeom>
            <a:avLst/>
            <a:gdLst/>
            <a:ahLst/>
            <a:cxnLst/>
            <a:rect l="l" t="t" r="r" b="b"/>
            <a:pathLst>
              <a:path w="99029" h="45554">
                <a:moveTo>
                  <a:pt x="0" y="22777"/>
                </a:moveTo>
                <a:lnTo>
                  <a:pt x="49515" y="0"/>
                </a:lnTo>
                <a:lnTo>
                  <a:pt x="99029" y="22777"/>
                </a:lnTo>
                <a:lnTo>
                  <a:pt x="49515" y="45554"/>
                </a:lnTo>
                <a:close/>
              </a:path>
            </a:pathLst>
          </a:custGeom>
          <a:solidFill>
            <a:srgbClr val="A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8545159" y="1512791"/>
            <a:ext cx="49515" cy="95746"/>
          </a:xfrm>
          <a:custGeom>
            <a:avLst/>
            <a:gdLst/>
            <a:ahLst/>
            <a:cxnLst/>
            <a:rect l="l" t="t" r="r" b="b"/>
            <a:pathLst>
              <a:path w="49515" h="95746">
                <a:moveTo>
                  <a:pt x="0" y="0"/>
                </a:moveTo>
                <a:lnTo>
                  <a:pt x="49515" y="22777"/>
                </a:lnTo>
                <a:lnTo>
                  <a:pt x="49515" y="95746"/>
                </a:lnTo>
                <a:lnTo>
                  <a:pt x="0" y="72969"/>
                </a:lnTo>
                <a:close/>
              </a:path>
            </a:pathLst>
          </a:custGeom>
          <a:solidFill>
            <a:srgbClr val="31B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8594674" y="1512791"/>
            <a:ext cx="49514" cy="95746"/>
          </a:xfrm>
          <a:custGeom>
            <a:avLst/>
            <a:gdLst/>
            <a:ahLst/>
            <a:cxnLst/>
            <a:rect l="l" t="t" r="r" b="b"/>
            <a:pathLst>
              <a:path w="49514" h="95746">
                <a:moveTo>
                  <a:pt x="0" y="22777"/>
                </a:moveTo>
                <a:lnTo>
                  <a:pt x="49514" y="0"/>
                </a:lnTo>
                <a:lnTo>
                  <a:pt x="49514" y="72969"/>
                </a:lnTo>
                <a:lnTo>
                  <a:pt x="0" y="95746"/>
                </a:lnTo>
                <a:close/>
              </a:path>
            </a:pathLst>
          </a:custGeom>
          <a:solidFill>
            <a:srgbClr val="166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61120" y="1344168"/>
            <a:ext cx="2551176" cy="393192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平台与智能服务团队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94192" y="2075688"/>
            <a:ext cx="3063240" cy="90525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提供接口、身份与执行环境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建设Agent、适配与评测运营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2258568" y="3090672"/>
            <a:ext cx="0" cy="41148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258568" y="3502152"/>
            <a:ext cx="3831336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6089904" y="3502152"/>
            <a:ext cx="0" cy="338328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6054058" y="3782013"/>
            <a:ext cx="35846" cy="58467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089904" y="3782013"/>
            <a:ext cx="35845" cy="58467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6089904" y="3090672"/>
            <a:ext cx="0" cy="41148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6089904" y="3502152"/>
            <a:ext cx="0" cy="338328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 flipV="1">
            <a:off x="6054058" y="3782013"/>
            <a:ext cx="35846" cy="58467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089904" y="3782013"/>
            <a:ext cx="35845" cy="58467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9921240" y="3090672"/>
            <a:ext cx="0" cy="41148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6089904" y="3502152"/>
            <a:ext cx="3831336" cy="0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6089904" y="3502152"/>
            <a:ext cx="0" cy="338328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 flipV="1">
            <a:off x="6054058" y="3782013"/>
            <a:ext cx="35846" cy="58467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6089904" y="3782013"/>
            <a:ext cx="35845" cy="58467"/>
          </a:xfrm>
          <a:prstGeom prst="line">
            <a:avLst/>
          </a:prstGeom>
          <a:ln w="12065">
            <a:solidFill>
              <a:srgbClr val="7895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1997964" y="3909060"/>
            <a:ext cx="8229600" cy="1152144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1975104" y="3877056"/>
            <a:ext cx="8229600" cy="1152144"/>
          </a:xfrm>
          <a:prstGeom prst="roundRect">
            <a:avLst>
              <a:gd name="adj" fmla="val 5500"/>
            </a:avLst>
          </a:prstGeom>
          <a:solidFill>
            <a:srgbClr val="EAF5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121408" y="4023360"/>
            <a:ext cx="32004" cy="210312"/>
          </a:xfrm>
          <a:prstGeom prst="rect">
            <a:avLst/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231136" y="3959352"/>
            <a:ext cx="7836408" cy="38404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5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共同交付：可复用、可验证的数据智能能力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57984" y="4434840"/>
            <a:ext cx="7863840" cy="49377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资产服务起步 → 企业内容补强 → 平台协作 → 专业场景扩展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61772" y="6112764"/>
            <a:ext cx="11247120" cy="33832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438912" y="6080760"/>
            <a:ext cx="11247120" cy="338328"/>
          </a:xfrm>
          <a:prstGeom prst="roundRect">
            <a:avLst>
              <a:gd name="adj" fmla="val 5500"/>
            </a:avLst>
          </a:prstGeom>
          <a:solidFill>
            <a:srgbClr val="EEF7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85216" y="6117336"/>
            <a:ext cx="10954512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智能体负责理解与组织，平台负责权威与执行，人员负责定义、决策与持续建设。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6346471"/>
            <a:ext cx="12191695" cy="235953"/>
          </a:xfrm>
          <a:custGeom>
            <a:avLst/>
            <a:gdLst/>
            <a:ahLst/>
            <a:cxnLst/>
            <a:rect l="l" t="t" r="r" b="b"/>
            <a:pathLst>
              <a:path w="12191695" h="235953">
                <a:moveTo>
                  <a:pt x="0" y="127481"/>
                </a:moveTo>
                <a:lnTo>
                  <a:pt x="135463" y="147046"/>
                </a:lnTo>
                <a:lnTo>
                  <a:pt x="270926" y="165914"/>
                </a:lnTo>
                <a:lnTo>
                  <a:pt x="406389" y="183426"/>
                </a:lnTo>
                <a:lnTo>
                  <a:pt x="541853" y="199000"/>
                </a:lnTo>
                <a:lnTo>
                  <a:pt x="677316" y="212159"/>
                </a:lnTo>
                <a:lnTo>
                  <a:pt x="812779" y="222557"/>
                </a:lnTo>
                <a:lnTo>
                  <a:pt x="948242" y="229995"/>
                </a:lnTo>
                <a:lnTo>
                  <a:pt x="1083706" y="234426"/>
                </a:lnTo>
                <a:lnTo>
                  <a:pt x="1219169" y="235953"/>
                </a:lnTo>
                <a:lnTo>
                  <a:pt x="1354632" y="234812"/>
                </a:lnTo>
                <a:lnTo>
                  <a:pt x="1490096" y="231352"/>
                </a:lnTo>
                <a:lnTo>
                  <a:pt x="1625559" y="226009"/>
                </a:lnTo>
                <a:lnTo>
                  <a:pt x="1761022" y="219267"/>
                </a:lnTo>
                <a:lnTo>
                  <a:pt x="1896485" y="211626"/>
                </a:lnTo>
                <a:lnTo>
                  <a:pt x="2031949" y="203564"/>
                </a:lnTo>
                <a:lnTo>
                  <a:pt x="2167412" y="195508"/>
                </a:lnTo>
                <a:lnTo>
                  <a:pt x="2302875" y="187800"/>
                </a:lnTo>
                <a:lnTo>
                  <a:pt x="2438339" y="180682"/>
                </a:lnTo>
                <a:lnTo>
                  <a:pt x="2573802" y="174280"/>
                </a:lnTo>
                <a:lnTo>
                  <a:pt x="2709265" y="168601"/>
                </a:lnTo>
                <a:lnTo>
                  <a:pt x="2844728" y="163541"/>
                </a:lnTo>
                <a:lnTo>
                  <a:pt x="2980192" y="158900"/>
                </a:lnTo>
                <a:lnTo>
                  <a:pt x="3115655" y="154402"/>
                </a:lnTo>
                <a:lnTo>
                  <a:pt x="3251118" y="149724"/>
                </a:lnTo>
                <a:lnTo>
                  <a:pt x="3386582" y="144534"/>
                </a:lnTo>
                <a:lnTo>
                  <a:pt x="3522045" y="138515"/>
                </a:lnTo>
                <a:lnTo>
                  <a:pt x="3657508" y="131408"/>
                </a:lnTo>
                <a:lnTo>
                  <a:pt x="3792971" y="123031"/>
                </a:lnTo>
                <a:lnTo>
                  <a:pt x="3928435" y="113309"/>
                </a:lnTo>
                <a:lnTo>
                  <a:pt x="4063898" y="102287"/>
                </a:lnTo>
                <a:lnTo>
                  <a:pt x="4199361" y="90138"/>
                </a:lnTo>
                <a:lnTo>
                  <a:pt x="4334824" y="77155"/>
                </a:lnTo>
                <a:lnTo>
                  <a:pt x="4470288" y="63745"/>
                </a:lnTo>
                <a:lnTo>
                  <a:pt x="4605751" y="50406"/>
                </a:lnTo>
                <a:lnTo>
                  <a:pt x="4741214" y="37696"/>
                </a:lnTo>
                <a:lnTo>
                  <a:pt x="4876678" y="26202"/>
                </a:lnTo>
                <a:lnTo>
                  <a:pt x="5012141" y="16503"/>
                </a:lnTo>
                <a:lnTo>
                  <a:pt x="5147604" y="9131"/>
                </a:lnTo>
                <a:lnTo>
                  <a:pt x="5283067" y="4538"/>
                </a:lnTo>
                <a:lnTo>
                  <a:pt x="5418531" y="3064"/>
                </a:lnTo>
                <a:lnTo>
                  <a:pt x="5553994" y="4912"/>
                </a:lnTo>
                <a:lnTo>
                  <a:pt x="5689457" y="10132"/>
                </a:lnTo>
                <a:lnTo>
                  <a:pt x="5824921" y="18617"/>
                </a:lnTo>
                <a:lnTo>
                  <a:pt x="5960384" y="30106"/>
                </a:lnTo>
                <a:lnTo>
                  <a:pt x="6095847" y="44193"/>
                </a:lnTo>
                <a:lnTo>
                  <a:pt x="6231310" y="60357"/>
                </a:lnTo>
                <a:lnTo>
                  <a:pt x="6366774" y="77984"/>
                </a:lnTo>
                <a:lnTo>
                  <a:pt x="6502237" y="96410"/>
                </a:lnTo>
                <a:lnTo>
                  <a:pt x="6637700" y="114953"/>
                </a:lnTo>
                <a:lnTo>
                  <a:pt x="6773164" y="132954"/>
                </a:lnTo>
                <a:lnTo>
                  <a:pt x="6908627" y="149814"/>
                </a:lnTo>
                <a:lnTo>
                  <a:pt x="7044090" y="165027"/>
                </a:lnTo>
                <a:lnTo>
                  <a:pt x="7179553" y="178204"/>
                </a:lnTo>
                <a:lnTo>
                  <a:pt x="7315017" y="189090"/>
                </a:lnTo>
                <a:lnTo>
                  <a:pt x="7450480" y="197574"/>
                </a:lnTo>
                <a:lnTo>
                  <a:pt x="7585943" y="203682"/>
                </a:lnTo>
                <a:lnTo>
                  <a:pt x="7721406" y="207573"/>
                </a:lnTo>
                <a:lnTo>
                  <a:pt x="7856870" y="209512"/>
                </a:lnTo>
                <a:lnTo>
                  <a:pt x="7992333" y="209848"/>
                </a:lnTo>
                <a:lnTo>
                  <a:pt x="8127796" y="208978"/>
                </a:lnTo>
                <a:lnTo>
                  <a:pt x="8263260" y="207316"/>
                </a:lnTo>
                <a:lnTo>
                  <a:pt x="8398723" y="205256"/>
                </a:lnTo>
                <a:lnTo>
                  <a:pt x="8534186" y="203141"/>
                </a:lnTo>
                <a:lnTo>
                  <a:pt x="8669649" y="201238"/>
                </a:lnTo>
                <a:lnTo>
                  <a:pt x="8805113" y="199711"/>
                </a:lnTo>
                <a:lnTo>
                  <a:pt x="8940576" y="198616"/>
                </a:lnTo>
                <a:lnTo>
                  <a:pt x="9076039" y="197894"/>
                </a:lnTo>
                <a:lnTo>
                  <a:pt x="9211503" y="197378"/>
                </a:lnTo>
                <a:lnTo>
                  <a:pt x="9346966" y="196808"/>
                </a:lnTo>
                <a:lnTo>
                  <a:pt x="9482429" y="195855"/>
                </a:lnTo>
                <a:lnTo>
                  <a:pt x="9617892" y="194147"/>
                </a:lnTo>
                <a:lnTo>
                  <a:pt x="9753356" y="191305"/>
                </a:lnTo>
                <a:lnTo>
                  <a:pt x="9888819" y="186977"/>
                </a:lnTo>
                <a:lnTo>
                  <a:pt x="10024282" y="180869"/>
                </a:lnTo>
                <a:lnTo>
                  <a:pt x="10159746" y="172776"/>
                </a:lnTo>
                <a:lnTo>
                  <a:pt x="10295209" y="162608"/>
                </a:lnTo>
                <a:lnTo>
                  <a:pt x="10430672" y="150402"/>
                </a:lnTo>
                <a:lnTo>
                  <a:pt x="10566135" y="136335"/>
                </a:lnTo>
                <a:lnTo>
                  <a:pt x="10701599" y="120717"/>
                </a:lnTo>
                <a:lnTo>
                  <a:pt x="10837062" y="103984"/>
                </a:lnTo>
                <a:lnTo>
                  <a:pt x="10972525" y="86673"/>
                </a:lnTo>
                <a:lnTo>
                  <a:pt x="11107988" y="69396"/>
                </a:lnTo>
                <a:lnTo>
                  <a:pt x="11243452" y="52806"/>
                </a:lnTo>
                <a:lnTo>
                  <a:pt x="11378915" y="37558"/>
                </a:lnTo>
                <a:lnTo>
                  <a:pt x="11514378" y="24274"/>
                </a:lnTo>
                <a:lnTo>
                  <a:pt x="11649842" y="13501"/>
                </a:lnTo>
                <a:lnTo>
                  <a:pt x="11785305" y="5683"/>
                </a:lnTo>
                <a:lnTo>
                  <a:pt x="11920768" y="1129"/>
                </a:lnTo>
                <a:lnTo>
                  <a:pt x="12056231" y="0"/>
                </a:lnTo>
                <a:lnTo>
                  <a:pt x="12191695" y="2300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6405649"/>
            <a:ext cx="12191695" cy="245182"/>
          </a:xfrm>
          <a:custGeom>
            <a:avLst/>
            <a:gdLst/>
            <a:ahLst/>
            <a:cxnLst/>
            <a:rect l="l" t="t" r="r" b="b"/>
            <a:pathLst>
              <a:path w="12191695" h="245182">
                <a:moveTo>
                  <a:pt x="0" y="150669"/>
                </a:moveTo>
                <a:lnTo>
                  <a:pt x="135463" y="169737"/>
                </a:lnTo>
                <a:lnTo>
                  <a:pt x="270926" y="187768"/>
                </a:lnTo>
                <a:lnTo>
                  <a:pt x="406389" y="204118"/>
                </a:lnTo>
                <a:lnTo>
                  <a:pt x="541853" y="218220"/>
                </a:lnTo>
                <a:lnTo>
                  <a:pt x="677316" y="229621"/>
                </a:lnTo>
                <a:lnTo>
                  <a:pt x="812779" y="238002"/>
                </a:lnTo>
                <a:lnTo>
                  <a:pt x="948242" y="243193"/>
                </a:lnTo>
                <a:lnTo>
                  <a:pt x="1083706" y="245182"/>
                </a:lnTo>
                <a:lnTo>
                  <a:pt x="1219169" y="244108"/>
                </a:lnTo>
                <a:lnTo>
                  <a:pt x="1354632" y="240247"/>
                </a:lnTo>
                <a:lnTo>
                  <a:pt x="1490096" y="233989"/>
                </a:lnTo>
                <a:lnTo>
                  <a:pt x="1625559" y="225812"/>
                </a:lnTo>
                <a:lnTo>
                  <a:pt x="1761022" y="216243"/>
                </a:lnTo>
                <a:lnTo>
                  <a:pt x="1896485" y="205824"/>
                </a:lnTo>
                <a:lnTo>
                  <a:pt x="2031949" y="195076"/>
                </a:lnTo>
                <a:lnTo>
                  <a:pt x="2167412" y="184466"/>
                </a:lnTo>
                <a:lnTo>
                  <a:pt x="2302875" y="174375"/>
                </a:lnTo>
                <a:lnTo>
                  <a:pt x="2438339" y="165080"/>
                </a:lnTo>
                <a:lnTo>
                  <a:pt x="2573802" y="156740"/>
                </a:lnTo>
                <a:lnTo>
                  <a:pt x="2709265" y="149392"/>
                </a:lnTo>
                <a:lnTo>
                  <a:pt x="2844728" y="142958"/>
                </a:lnTo>
                <a:lnTo>
                  <a:pt x="2980192" y="137257"/>
                </a:lnTo>
                <a:lnTo>
                  <a:pt x="3115655" y="132030"/>
                </a:lnTo>
                <a:lnTo>
                  <a:pt x="3251118" y="126965"/>
                </a:lnTo>
                <a:lnTo>
                  <a:pt x="3386582" y="121734"/>
                </a:lnTo>
                <a:lnTo>
                  <a:pt x="3522045" y="116024"/>
                </a:lnTo>
                <a:lnTo>
                  <a:pt x="3657508" y="109568"/>
                </a:lnTo>
                <a:lnTo>
                  <a:pt x="3792971" y="102177"/>
                </a:lnTo>
                <a:lnTo>
                  <a:pt x="3928435" y="93759"/>
                </a:lnTo>
                <a:lnTo>
                  <a:pt x="4063898" y="84341"/>
                </a:lnTo>
                <a:lnTo>
                  <a:pt x="4199361" y="74069"/>
                </a:lnTo>
                <a:lnTo>
                  <a:pt x="4334824" y="63211"/>
                </a:lnTo>
                <a:lnTo>
                  <a:pt x="4470288" y="52141"/>
                </a:lnTo>
                <a:lnTo>
                  <a:pt x="4605751" y="41320"/>
                </a:lnTo>
                <a:lnTo>
                  <a:pt x="4741214" y="31269"/>
                </a:lnTo>
                <a:lnTo>
                  <a:pt x="4876678" y="22536"/>
                </a:lnTo>
                <a:lnTo>
                  <a:pt x="5012141" y="15656"/>
                </a:lnTo>
                <a:lnTo>
                  <a:pt x="5147604" y="11120"/>
                </a:lnTo>
                <a:lnTo>
                  <a:pt x="5283067" y="9338"/>
                </a:lnTo>
                <a:lnTo>
                  <a:pt x="5418531" y="10605"/>
                </a:lnTo>
                <a:lnTo>
                  <a:pt x="5553994" y="15085"/>
                </a:lnTo>
                <a:lnTo>
                  <a:pt x="5689457" y="22787"/>
                </a:lnTo>
                <a:lnTo>
                  <a:pt x="5824921" y="33567"/>
                </a:lnTo>
                <a:lnTo>
                  <a:pt x="5960384" y="47128"/>
                </a:lnTo>
                <a:lnTo>
                  <a:pt x="6095847" y="63035"/>
                </a:lnTo>
                <a:lnTo>
                  <a:pt x="6231310" y="80738"/>
                </a:lnTo>
                <a:lnTo>
                  <a:pt x="6366774" y="99601"/>
                </a:lnTo>
                <a:lnTo>
                  <a:pt x="6502237" y="118939"/>
                </a:lnTo>
                <a:lnTo>
                  <a:pt x="6637700" y="138058"/>
                </a:lnTo>
                <a:lnTo>
                  <a:pt x="6773164" y="156290"/>
                </a:lnTo>
                <a:lnTo>
                  <a:pt x="6908627" y="173034"/>
                </a:lnTo>
                <a:lnTo>
                  <a:pt x="7044090" y="187783"/>
                </a:lnTo>
                <a:lnTo>
                  <a:pt x="7179553" y="200156"/>
                </a:lnTo>
                <a:lnTo>
                  <a:pt x="7315017" y="209912"/>
                </a:lnTo>
                <a:lnTo>
                  <a:pt x="7450480" y="216953"/>
                </a:lnTo>
                <a:lnTo>
                  <a:pt x="7585943" y="221331"/>
                </a:lnTo>
                <a:lnTo>
                  <a:pt x="7721406" y="223229"/>
                </a:lnTo>
                <a:lnTo>
                  <a:pt x="7856870" y="222943"/>
                </a:lnTo>
                <a:lnTo>
                  <a:pt x="7992333" y="220854"/>
                </a:lnTo>
                <a:lnTo>
                  <a:pt x="8127796" y="217398"/>
                </a:lnTo>
                <a:lnTo>
                  <a:pt x="8263260" y="213025"/>
                </a:lnTo>
                <a:lnTo>
                  <a:pt x="8398723" y="208173"/>
                </a:lnTo>
                <a:lnTo>
                  <a:pt x="8534186" y="203226"/>
                </a:lnTo>
                <a:lnTo>
                  <a:pt x="8669649" y="198493"/>
                </a:lnTo>
                <a:lnTo>
                  <a:pt x="8805113" y="194182"/>
                </a:lnTo>
                <a:lnTo>
                  <a:pt x="8940576" y="190390"/>
                </a:lnTo>
                <a:lnTo>
                  <a:pt x="9076039" y="187099"/>
                </a:lnTo>
                <a:lnTo>
                  <a:pt x="9211503" y="184181"/>
                </a:lnTo>
                <a:lnTo>
                  <a:pt x="9346966" y="181412"/>
                </a:lnTo>
                <a:lnTo>
                  <a:pt x="9482429" y="178496"/>
                </a:lnTo>
                <a:lnTo>
                  <a:pt x="9617892" y="175092"/>
                </a:lnTo>
                <a:lnTo>
                  <a:pt x="9753356" y="170845"/>
                </a:lnTo>
                <a:lnTo>
                  <a:pt x="9888819" y="165425"/>
                </a:lnTo>
                <a:lnTo>
                  <a:pt x="10024282" y="158555"/>
                </a:lnTo>
                <a:lnTo>
                  <a:pt x="10159746" y="150040"/>
                </a:lnTo>
                <a:lnTo>
                  <a:pt x="10295209" y="139797"/>
                </a:lnTo>
                <a:lnTo>
                  <a:pt x="10430672" y="127865"/>
                </a:lnTo>
                <a:lnTo>
                  <a:pt x="10566135" y="114415"/>
                </a:lnTo>
                <a:lnTo>
                  <a:pt x="10701599" y="99751"/>
                </a:lnTo>
                <a:lnTo>
                  <a:pt x="10837062" y="84291"/>
                </a:lnTo>
                <a:lnTo>
                  <a:pt x="10972525" y="68554"/>
                </a:lnTo>
                <a:lnTo>
                  <a:pt x="11107988" y="53129"/>
                </a:lnTo>
                <a:lnTo>
                  <a:pt x="11243452" y="38641"/>
                </a:lnTo>
                <a:lnTo>
                  <a:pt x="11378915" y="25713"/>
                </a:lnTo>
                <a:lnTo>
                  <a:pt x="11514378" y="14931"/>
                </a:lnTo>
                <a:lnTo>
                  <a:pt x="11649842" y="6805"/>
                </a:lnTo>
                <a:lnTo>
                  <a:pt x="11785305" y="1738"/>
                </a:lnTo>
                <a:lnTo>
                  <a:pt x="11920768" y="0"/>
                </a:lnTo>
                <a:lnTo>
                  <a:pt x="12056231" y="1708"/>
                </a:lnTo>
                <a:lnTo>
                  <a:pt x="12191695" y="6822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6467906"/>
            <a:ext cx="12191695" cy="248613"/>
          </a:xfrm>
          <a:custGeom>
            <a:avLst/>
            <a:gdLst/>
            <a:ahLst/>
            <a:cxnLst/>
            <a:rect l="l" t="t" r="r" b="b"/>
            <a:pathLst>
              <a:path w="12191695" h="248613">
                <a:moveTo>
                  <a:pt x="0" y="169572"/>
                </a:moveTo>
                <a:lnTo>
                  <a:pt x="135463" y="187517"/>
                </a:lnTo>
                <a:lnTo>
                  <a:pt x="270926" y="204116"/>
                </a:lnTo>
                <a:lnTo>
                  <a:pt x="406389" y="218744"/>
                </a:lnTo>
                <a:lnTo>
                  <a:pt x="541853" y="230861"/>
                </a:lnTo>
                <a:lnTo>
                  <a:pt x="677316" y="240043"/>
                </a:lnTo>
                <a:lnTo>
                  <a:pt x="812779" y="246004"/>
                </a:lnTo>
                <a:lnTo>
                  <a:pt x="948242" y="248613"/>
                </a:lnTo>
                <a:lnTo>
                  <a:pt x="1083706" y="247896"/>
                </a:lnTo>
                <a:lnTo>
                  <a:pt x="1219169" y="244031"/>
                </a:lnTo>
                <a:lnTo>
                  <a:pt x="1354632" y="237338"/>
                </a:lnTo>
                <a:lnTo>
                  <a:pt x="1490096" y="228250"/>
                </a:lnTo>
                <a:lnTo>
                  <a:pt x="1625559" y="217286"/>
                </a:lnTo>
                <a:lnTo>
                  <a:pt x="1761022" y="205017"/>
                </a:lnTo>
                <a:lnTo>
                  <a:pt x="1896485" y="192024"/>
                </a:lnTo>
                <a:lnTo>
                  <a:pt x="2031949" y="178869"/>
                </a:lnTo>
                <a:lnTo>
                  <a:pt x="2167412" y="166053"/>
                </a:lnTo>
                <a:lnTo>
                  <a:pt x="2302875" y="153992"/>
                </a:lnTo>
                <a:lnTo>
                  <a:pt x="2438339" y="142992"/>
                </a:lnTo>
                <a:lnTo>
                  <a:pt x="2573802" y="133239"/>
                </a:lnTo>
                <a:lnTo>
                  <a:pt x="2709265" y="124790"/>
                </a:lnTo>
                <a:lnTo>
                  <a:pt x="2844728" y="117583"/>
                </a:lnTo>
                <a:lnTo>
                  <a:pt x="2980192" y="111449"/>
                </a:lnTo>
                <a:lnTo>
                  <a:pt x="3115655" y="106137"/>
                </a:lnTo>
                <a:lnTo>
                  <a:pt x="3251118" y="101335"/>
                </a:lnTo>
                <a:lnTo>
                  <a:pt x="3386582" y="96713"/>
                </a:lnTo>
                <a:lnTo>
                  <a:pt x="3522045" y="91945"/>
                </a:lnTo>
                <a:lnTo>
                  <a:pt x="3657508" y="86753"/>
                </a:lnTo>
                <a:lnTo>
                  <a:pt x="3792971" y="80928"/>
                </a:lnTo>
                <a:lnTo>
                  <a:pt x="3928435" y="74354"/>
                </a:lnTo>
                <a:lnTo>
                  <a:pt x="4063898" y="67031"/>
                </a:lnTo>
                <a:lnTo>
                  <a:pt x="4199361" y="59072"/>
                </a:lnTo>
                <a:lnTo>
                  <a:pt x="4334824" y="50711"/>
                </a:lnTo>
                <a:lnTo>
                  <a:pt x="4470288" y="42285"/>
                </a:lnTo>
                <a:lnTo>
                  <a:pt x="4605751" y="34213"/>
                </a:lnTo>
                <a:lnTo>
                  <a:pt x="4741214" y="26977"/>
                </a:lnTo>
                <a:lnTo>
                  <a:pt x="4876678" y="21080"/>
                </a:lnTo>
                <a:lnTo>
                  <a:pt x="5012141" y="17016"/>
                </a:lnTo>
                <a:lnTo>
                  <a:pt x="5147604" y="15233"/>
                </a:lnTo>
                <a:lnTo>
                  <a:pt x="5283067" y="16099"/>
                </a:lnTo>
                <a:lnTo>
                  <a:pt x="5418531" y="19870"/>
                </a:lnTo>
                <a:lnTo>
                  <a:pt x="5553994" y="26670"/>
                </a:lnTo>
                <a:lnTo>
                  <a:pt x="5689457" y="36475"/>
                </a:lnTo>
                <a:lnTo>
                  <a:pt x="5824921" y="49109"/>
                </a:lnTo>
                <a:lnTo>
                  <a:pt x="5960384" y="64247"/>
                </a:lnTo>
                <a:lnTo>
                  <a:pt x="6095847" y="81430"/>
                </a:lnTo>
                <a:lnTo>
                  <a:pt x="6231310" y="100088"/>
                </a:lnTo>
                <a:lnTo>
                  <a:pt x="6366774" y="119571"/>
                </a:lnTo>
                <a:lnTo>
                  <a:pt x="6502237" y="139187"/>
                </a:lnTo>
                <a:lnTo>
                  <a:pt x="6637700" y="158234"/>
                </a:lnTo>
                <a:lnTo>
                  <a:pt x="6773164" y="176047"/>
                </a:lnTo>
                <a:lnTo>
                  <a:pt x="6908627" y="192030"/>
                </a:lnTo>
                <a:lnTo>
                  <a:pt x="7044090" y="205690"/>
                </a:lnTo>
                <a:lnTo>
                  <a:pt x="7179553" y="216660"/>
                </a:lnTo>
                <a:lnTo>
                  <a:pt x="7315017" y="224721"/>
                </a:lnTo>
                <a:lnTo>
                  <a:pt x="7450480" y="229802"/>
                </a:lnTo>
                <a:lnTo>
                  <a:pt x="7585943" y="231983"/>
                </a:lnTo>
                <a:lnTo>
                  <a:pt x="7721406" y="231480"/>
                </a:lnTo>
                <a:lnTo>
                  <a:pt x="7856870" y="228626"/>
                </a:lnTo>
                <a:lnTo>
                  <a:pt x="7992333" y="223841"/>
                </a:lnTo>
                <a:lnTo>
                  <a:pt x="8127796" y="217601"/>
                </a:lnTo>
                <a:lnTo>
                  <a:pt x="8263260" y="210399"/>
                </a:lnTo>
                <a:lnTo>
                  <a:pt x="8398723" y="202714"/>
                </a:lnTo>
                <a:lnTo>
                  <a:pt x="8534186" y="194975"/>
                </a:lnTo>
                <a:lnTo>
                  <a:pt x="8669649" y="187531"/>
                </a:lnTo>
                <a:lnTo>
                  <a:pt x="8805113" y="180631"/>
                </a:lnTo>
                <a:lnTo>
                  <a:pt x="8940576" y="174414"/>
                </a:lnTo>
                <a:lnTo>
                  <a:pt x="9076039" y="168896"/>
                </a:lnTo>
                <a:lnTo>
                  <a:pt x="9211503" y="163983"/>
                </a:lnTo>
                <a:lnTo>
                  <a:pt x="9346966" y="159481"/>
                </a:lnTo>
                <a:lnTo>
                  <a:pt x="9482429" y="155122"/>
                </a:lnTo>
                <a:lnTo>
                  <a:pt x="9617892" y="150584"/>
                </a:lnTo>
                <a:lnTo>
                  <a:pt x="9753356" y="145531"/>
                </a:lnTo>
                <a:lnTo>
                  <a:pt x="9888819" y="139645"/>
                </a:lnTo>
                <a:lnTo>
                  <a:pt x="10024282" y="132654"/>
                </a:lnTo>
                <a:lnTo>
                  <a:pt x="10159746" y="124369"/>
                </a:lnTo>
                <a:lnTo>
                  <a:pt x="10295209" y="114699"/>
                </a:lnTo>
                <a:lnTo>
                  <a:pt x="10430672" y="103677"/>
                </a:lnTo>
                <a:lnTo>
                  <a:pt x="10566135" y="91461"/>
                </a:lnTo>
                <a:lnTo>
                  <a:pt x="10701599" y="78333"/>
                </a:lnTo>
                <a:lnTo>
                  <a:pt x="10837062" y="64691"/>
                </a:lnTo>
                <a:lnTo>
                  <a:pt x="10972525" y="51025"/>
                </a:lnTo>
                <a:lnTo>
                  <a:pt x="11107988" y="37893"/>
                </a:lnTo>
                <a:lnTo>
                  <a:pt x="11243452" y="25885"/>
                </a:lnTo>
                <a:lnTo>
                  <a:pt x="11378915" y="15588"/>
                </a:lnTo>
                <a:lnTo>
                  <a:pt x="11514378" y="7547"/>
                </a:lnTo>
                <a:lnTo>
                  <a:pt x="11649842" y="2231"/>
                </a:lnTo>
                <a:lnTo>
                  <a:pt x="11785305" y="0"/>
                </a:lnTo>
                <a:lnTo>
                  <a:pt x="11920768" y="1082"/>
                </a:lnTo>
                <a:lnTo>
                  <a:pt x="12056231" y="5551"/>
                </a:lnTo>
                <a:lnTo>
                  <a:pt x="12191695" y="13326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0" y="6533113"/>
            <a:ext cx="12191695" cy="246124"/>
          </a:xfrm>
          <a:custGeom>
            <a:avLst/>
            <a:gdLst/>
            <a:ahLst/>
            <a:cxnLst/>
            <a:rect l="l" t="t" r="r" b="b"/>
            <a:pathLst>
              <a:path w="12191695" h="246124">
                <a:moveTo>
                  <a:pt x="0" y="183172"/>
                </a:moveTo>
                <a:lnTo>
                  <a:pt x="135463" y="199432"/>
                </a:lnTo>
                <a:lnTo>
                  <a:pt x="270926" y="214077"/>
                </a:lnTo>
                <a:lnTo>
                  <a:pt x="406389" y="226514"/>
                </a:lnTo>
                <a:lnTo>
                  <a:pt x="541853" y="236236"/>
                </a:lnTo>
                <a:lnTo>
                  <a:pt x="677316" y="242855"/>
                </a:lnTo>
                <a:lnTo>
                  <a:pt x="812779" y="246124"/>
                </a:lnTo>
                <a:lnTo>
                  <a:pt x="948242" y="245951"/>
                </a:lnTo>
                <a:lnTo>
                  <a:pt x="1083706" y="242404"/>
                </a:lnTo>
                <a:lnTo>
                  <a:pt x="1219169" y="235707"/>
                </a:lnTo>
                <a:lnTo>
                  <a:pt x="1354632" y="226219"/>
                </a:lnTo>
                <a:lnTo>
                  <a:pt x="1490096" y="214417"/>
                </a:lnTo>
                <a:lnTo>
                  <a:pt x="1625559" y="200862"/>
                </a:lnTo>
                <a:lnTo>
                  <a:pt x="1761022" y="186161"/>
                </a:lnTo>
                <a:lnTo>
                  <a:pt x="1896485" y="170935"/>
                </a:lnTo>
                <a:lnTo>
                  <a:pt x="2031949" y="155777"/>
                </a:lnTo>
                <a:lnTo>
                  <a:pt x="2167412" y="141221"/>
                </a:lnTo>
                <a:lnTo>
                  <a:pt x="2302875" y="127707"/>
                </a:lnTo>
                <a:lnTo>
                  <a:pt x="2438339" y="115564"/>
                </a:lnTo>
                <a:lnTo>
                  <a:pt x="2573802" y="104994"/>
                </a:lnTo>
                <a:lnTo>
                  <a:pt x="2709265" y="96068"/>
                </a:lnTo>
                <a:lnTo>
                  <a:pt x="2844728" y="88731"/>
                </a:lnTo>
                <a:lnTo>
                  <a:pt x="2980192" y="82816"/>
                </a:lnTo>
                <a:lnTo>
                  <a:pt x="3115655" y="78067"/>
                </a:lnTo>
                <a:lnTo>
                  <a:pt x="3251118" y="74166"/>
                </a:lnTo>
                <a:lnTo>
                  <a:pt x="3386582" y="70766"/>
                </a:lnTo>
                <a:lnTo>
                  <a:pt x="3522045" y="67527"/>
                </a:lnTo>
                <a:lnTo>
                  <a:pt x="3657508" y="64145"/>
                </a:lnTo>
                <a:lnTo>
                  <a:pt x="3792971" y="60383"/>
                </a:lnTo>
                <a:lnTo>
                  <a:pt x="3928435" y="56096"/>
                </a:lnTo>
                <a:lnTo>
                  <a:pt x="4063898" y="51248"/>
                </a:lnTo>
                <a:lnTo>
                  <a:pt x="4199361" y="45917"/>
                </a:lnTo>
                <a:lnTo>
                  <a:pt x="4334824" y="40294"/>
                </a:lnTo>
                <a:lnTo>
                  <a:pt x="4470288" y="34675"/>
                </a:lnTo>
                <a:lnTo>
                  <a:pt x="4605751" y="29440"/>
                </a:lnTo>
                <a:lnTo>
                  <a:pt x="4741214" y="25025"/>
                </a:lnTo>
                <a:lnTo>
                  <a:pt x="4876678" y="21891"/>
                </a:lnTo>
                <a:lnTo>
                  <a:pt x="5012141" y="20491"/>
                </a:lnTo>
                <a:lnTo>
                  <a:pt x="5147604" y="21233"/>
                </a:lnTo>
                <a:lnTo>
                  <a:pt x="5283067" y="24445"/>
                </a:lnTo>
                <a:lnTo>
                  <a:pt x="5418531" y="30349"/>
                </a:lnTo>
                <a:lnTo>
                  <a:pt x="5553994" y="39037"/>
                </a:lnTo>
                <a:lnTo>
                  <a:pt x="5689457" y="50457"/>
                </a:lnTo>
                <a:lnTo>
                  <a:pt x="5824921" y="64407"/>
                </a:lnTo>
                <a:lnTo>
                  <a:pt x="5960384" y="80543"/>
                </a:lnTo>
                <a:lnTo>
                  <a:pt x="6095847" y="98390"/>
                </a:lnTo>
                <a:lnTo>
                  <a:pt x="6231310" y="117369"/>
                </a:lnTo>
                <a:lnTo>
                  <a:pt x="6366774" y="136826"/>
                </a:lnTo>
                <a:lnTo>
                  <a:pt x="6502237" y="156066"/>
                </a:lnTo>
                <a:lnTo>
                  <a:pt x="6637700" y="174397"/>
                </a:lnTo>
                <a:lnTo>
                  <a:pt x="6773164" y="191162"/>
                </a:lnTo>
                <a:lnTo>
                  <a:pt x="6908627" y="205782"/>
                </a:lnTo>
                <a:lnTo>
                  <a:pt x="7044090" y="217784"/>
                </a:lnTo>
                <a:lnTo>
                  <a:pt x="7179553" y="226827"/>
                </a:lnTo>
                <a:lnTo>
                  <a:pt x="7315017" y="232720"/>
                </a:lnTo>
                <a:lnTo>
                  <a:pt x="7450480" y="235424"/>
                </a:lnTo>
                <a:lnTo>
                  <a:pt x="7585943" y="235057"/>
                </a:lnTo>
                <a:lnTo>
                  <a:pt x="7721406" y="231872"/>
                </a:lnTo>
                <a:lnTo>
                  <a:pt x="7856870" y="226244"/>
                </a:lnTo>
                <a:lnTo>
                  <a:pt x="7992333" y="218632"/>
                </a:lnTo>
                <a:lnTo>
                  <a:pt x="8127796" y="209557"/>
                </a:lnTo>
                <a:lnTo>
                  <a:pt x="8263260" y="199555"/>
                </a:lnTo>
                <a:lnTo>
                  <a:pt x="8398723" y="189147"/>
                </a:lnTo>
                <a:lnTo>
                  <a:pt x="8534186" y="178801"/>
                </a:lnTo>
                <a:lnTo>
                  <a:pt x="8669649" y="168908"/>
                </a:lnTo>
                <a:lnTo>
                  <a:pt x="8805113" y="159754"/>
                </a:lnTo>
                <a:lnTo>
                  <a:pt x="8940576" y="151510"/>
                </a:lnTo>
                <a:lnTo>
                  <a:pt x="9076039" y="144224"/>
                </a:lnTo>
                <a:lnTo>
                  <a:pt x="9211503" y="137828"/>
                </a:lnTo>
                <a:lnTo>
                  <a:pt x="9346966" y="132152"/>
                </a:lnTo>
                <a:lnTo>
                  <a:pt x="9482429" y="126943"/>
                </a:lnTo>
                <a:lnTo>
                  <a:pt x="9617892" y="121894"/>
                </a:lnTo>
                <a:lnTo>
                  <a:pt x="9753356" y="116677"/>
                </a:lnTo>
                <a:lnTo>
                  <a:pt x="9888819" y="110975"/>
                </a:lnTo>
                <a:lnTo>
                  <a:pt x="10024282" y="104513"/>
                </a:lnTo>
                <a:lnTo>
                  <a:pt x="10159746" y="97095"/>
                </a:lnTo>
                <a:lnTo>
                  <a:pt x="10295209" y="88617"/>
                </a:lnTo>
                <a:lnTo>
                  <a:pt x="10430672" y="79094"/>
                </a:lnTo>
                <a:lnTo>
                  <a:pt x="10566135" y="68661"/>
                </a:lnTo>
                <a:lnTo>
                  <a:pt x="10701599" y="57573"/>
                </a:lnTo>
                <a:lnTo>
                  <a:pt x="10837062" y="46197"/>
                </a:lnTo>
                <a:lnTo>
                  <a:pt x="10972525" y="34990"/>
                </a:lnTo>
                <a:lnTo>
                  <a:pt x="11107988" y="24471"/>
                </a:lnTo>
                <a:lnTo>
                  <a:pt x="11243452" y="15192"/>
                </a:lnTo>
                <a:lnTo>
                  <a:pt x="11378915" y="7698"/>
                </a:lnTo>
                <a:lnTo>
                  <a:pt x="11514378" y="2492"/>
                </a:lnTo>
                <a:lnTo>
                  <a:pt x="11649842" y="0"/>
                </a:lnTo>
                <a:lnTo>
                  <a:pt x="11785305" y="541"/>
                </a:lnTo>
                <a:lnTo>
                  <a:pt x="11920768" y="4298"/>
                </a:lnTo>
                <a:lnTo>
                  <a:pt x="12056231" y="11307"/>
                </a:lnTo>
                <a:lnTo>
                  <a:pt x="12191695" y="21447"/>
                </a:lnTo>
              </a:path>
            </a:pathLst>
          </a:custGeom>
          <a:noFill/>
          <a:ln w="7620">
            <a:solidFill>
              <a:srgbClr val="E5F2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0" y="6600998"/>
            <a:ext cx="12191695" cy="238322"/>
          </a:xfrm>
          <a:custGeom>
            <a:avLst/>
            <a:gdLst/>
            <a:ahLst/>
            <a:cxnLst/>
            <a:rect l="l" t="t" r="r" b="b"/>
            <a:pathLst>
              <a:path w="12191695" h="238322">
                <a:moveTo>
                  <a:pt x="0" y="190722"/>
                </a:moveTo>
                <a:lnTo>
                  <a:pt x="135463" y="204821"/>
                </a:lnTo>
                <a:lnTo>
                  <a:pt x="270926" y="217096"/>
                </a:lnTo>
                <a:lnTo>
                  <a:pt x="406389" y="226989"/>
                </a:lnTo>
                <a:lnTo>
                  <a:pt x="541853" y="234032"/>
                </a:lnTo>
                <a:lnTo>
                  <a:pt x="677316" y="237878"/>
                </a:lnTo>
                <a:lnTo>
                  <a:pt x="812779" y="238322"/>
                </a:lnTo>
                <a:lnTo>
                  <a:pt x="948242" y="235314"/>
                </a:lnTo>
                <a:lnTo>
                  <a:pt x="1083706" y="228966"/>
                </a:lnTo>
                <a:lnTo>
                  <a:pt x="1219169" y="219541"/>
                </a:lnTo>
                <a:lnTo>
                  <a:pt x="1354632" y="207444"/>
                </a:lnTo>
                <a:lnTo>
                  <a:pt x="1490096" y="193188"/>
                </a:lnTo>
                <a:lnTo>
                  <a:pt x="1625559" y="177371"/>
                </a:lnTo>
                <a:lnTo>
                  <a:pt x="1761022" y="160636"/>
                </a:lnTo>
                <a:lnTo>
                  <a:pt x="1896485" y="143634"/>
                </a:lnTo>
                <a:lnTo>
                  <a:pt x="2031949" y="126985"/>
                </a:lnTo>
                <a:lnTo>
                  <a:pt x="2167412" y="111244"/>
                </a:lnTo>
                <a:lnTo>
                  <a:pt x="2302875" y="96871"/>
                </a:lnTo>
                <a:lnTo>
                  <a:pt x="2438339" y="84207"/>
                </a:lnTo>
                <a:lnTo>
                  <a:pt x="2573802" y="73462"/>
                </a:lnTo>
                <a:lnTo>
                  <a:pt x="2709265" y="64709"/>
                </a:lnTo>
                <a:lnTo>
                  <a:pt x="2844728" y="57891"/>
                </a:lnTo>
                <a:lnTo>
                  <a:pt x="2980192" y="52834"/>
                </a:lnTo>
                <a:lnTo>
                  <a:pt x="3115655" y="49267"/>
                </a:lnTo>
                <a:lnTo>
                  <a:pt x="3251118" y="46856"/>
                </a:lnTo>
                <a:lnTo>
                  <a:pt x="3386582" y="45231"/>
                </a:lnTo>
                <a:lnTo>
                  <a:pt x="3522045" y="44024"/>
                </a:lnTo>
                <a:lnTo>
                  <a:pt x="3657508" y="42902"/>
                </a:lnTo>
                <a:lnTo>
                  <a:pt x="3792971" y="41593"/>
                </a:lnTo>
                <a:lnTo>
                  <a:pt x="3928435" y="39916"/>
                </a:lnTo>
                <a:lnTo>
                  <a:pt x="4063898" y="37794"/>
                </a:lnTo>
                <a:lnTo>
                  <a:pt x="4199361" y="35264"/>
                </a:lnTo>
                <a:lnTo>
                  <a:pt x="4334824" y="32476"/>
                </a:lnTo>
                <a:lnTo>
                  <a:pt x="4470288" y="29683"/>
                </a:lnTo>
                <a:lnTo>
                  <a:pt x="4605751" y="27220"/>
                </a:lnTo>
                <a:lnTo>
                  <a:pt x="4741214" y="25484"/>
                </a:lnTo>
                <a:lnTo>
                  <a:pt x="4876678" y="24895"/>
                </a:lnTo>
                <a:lnTo>
                  <a:pt x="5012141" y="25867"/>
                </a:lnTo>
                <a:lnTo>
                  <a:pt x="5147604" y="28771"/>
                </a:lnTo>
                <a:lnTo>
                  <a:pt x="5283067" y="33905"/>
                </a:lnTo>
                <a:lnTo>
                  <a:pt x="5418531" y="41460"/>
                </a:lnTo>
                <a:lnTo>
                  <a:pt x="5553994" y="51504"/>
                </a:lnTo>
                <a:lnTo>
                  <a:pt x="5689457" y="63964"/>
                </a:lnTo>
                <a:lnTo>
                  <a:pt x="5824921" y="78622"/>
                </a:lnTo>
                <a:lnTo>
                  <a:pt x="5960384" y="95124"/>
                </a:lnTo>
                <a:lnTo>
                  <a:pt x="6095847" y="112989"/>
                </a:lnTo>
                <a:lnTo>
                  <a:pt x="6231310" y="131639"/>
                </a:lnTo>
                <a:lnTo>
                  <a:pt x="6366774" y="150423"/>
                </a:lnTo>
                <a:lnTo>
                  <a:pt x="6502237" y="168658"/>
                </a:lnTo>
                <a:lnTo>
                  <a:pt x="6637700" y="185665"/>
                </a:lnTo>
                <a:lnTo>
                  <a:pt x="6773164" y="200809"/>
                </a:lnTo>
                <a:lnTo>
                  <a:pt x="6908627" y="213535"/>
                </a:lnTo>
                <a:lnTo>
                  <a:pt x="7044090" y="223398"/>
                </a:lnTo>
                <a:lnTo>
                  <a:pt x="7179553" y="230090"/>
                </a:lnTo>
                <a:lnTo>
                  <a:pt x="7315017" y="233454"/>
                </a:lnTo>
                <a:lnTo>
                  <a:pt x="7450480" y="233492"/>
                </a:lnTo>
                <a:lnTo>
                  <a:pt x="7585943" y="230359"/>
                </a:lnTo>
                <a:lnTo>
                  <a:pt x="7721406" y="224353"/>
                </a:lnTo>
                <a:lnTo>
                  <a:pt x="7856870" y="215888"/>
                </a:lnTo>
                <a:lnTo>
                  <a:pt x="7992333" y="205470"/>
                </a:lnTo>
                <a:lnTo>
                  <a:pt x="8127796" y="193658"/>
                </a:lnTo>
                <a:lnTo>
                  <a:pt x="8263260" y="181033"/>
                </a:lnTo>
                <a:lnTo>
                  <a:pt x="8398723" y="168153"/>
                </a:lnTo>
                <a:lnTo>
                  <a:pt x="8534186" y="155526"/>
                </a:lnTo>
                <a:lnTo>
                  <a:pt x="8669649" y="143575"/>
                </a:lnTo>
                <a:lnTo>
                  <a:pt x="8805113" y="132618"/>
                </a:lnTo>
                <a:lnTo>
                  <a:pt x="8940576" y="122852"/>
                </a:lnTo>
                <a:lnTo>
                  <a:pt x="9076039" y="114351"/>
                </a:lnTo>
                <a:lnTo>
                  <a:pt x="9211503" y="107063"/>
                </a:lnTo>
                <a:lnTo>
                  <a:pt x="9346966" y="100832"/>
                </a:lnTo>
                <a:lnTo>
                  <a:pt x="9482429" y="95413"/>
                </a:lnTo>
                <a:lnTo>
                  <a:pt x="9617892" y="90502"/>
                </a:lnTo>
                <a:lnTo>
                  <a:pt x="9753356" y="85770"/>
                </a:lnTo>
                <a:lnTo>
                  <a:pt x="9888819" y="80892"/>
                </a:lnTo>
                <a:lnTo>
                  <a:pt x="10024282" y="75582"/>
                </a:lnTo>
                <a:lnTo>
                  <a:pt x="10159746" y="69623"/>
                </a:lnTo>
                <a:lnTo>
                  <a:pt x="10295209" y="62893"/>
                </a:lnTo>
                <a:lnTo>
                  <a:pt x="10430672" y="55378"/>
                </a:lnTo>
                <a:lnTo>
                  <a:pt x="10566135" y="47183"/>
                </a:lnTo>
                <a:lnTo>
                  <a:pt x="10701599" y="38531"/>
                </a:lnTo>
                <a:lnTo>
                  <a:pt x="10837062" y="29751"/>
                </a:lnTo>
                <a:lnTo>
                  <a:pt x="10972525" y="21260"/>
                </a:lnTo>
                <a:lnTo>
                  <a:pt x="11107988" y="13537"/>
                </a:lnTo>
                <a:lnTo>
                  <a:pt x="11243452" y="7091"/>
                </a:lnTo>
                <a:lnTo>
                  <a:pt x="11378915" y="2425"/>
                </a:lnTo>
                <a:lnTo>
                  <a:pt x="11514378" y="0"/>
                </a:lnTo>
                <a:lnTo>
                  <a:pt x="11649842" y="198"/>
                </a:lnTo>
                <a:lnTo>
                  <a:pt x="11785305" y="3299"/>
                </a:lnTo>
                <a:lnTo>
                  <a:pt x="11920768" y="9446"/>
                </a:lnTo>
                <a:lnTo>
                  <a:pt x="12056231" y="18641"/>
                </a:lnTo>
                <a:lnTo>
                  <a:pt x="12191695" y="30728"/>
                </a:lnTo>
              </a:path>
            </a:pathLst>
          </a:custGeom>
          <a:noFill/>
          <a:ln w="7620">
            <a:solidFill>
              <a:srgbClr val="DDED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0624" y="146304"/>
            <a:ext cx="11283696" cy="44805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公开来源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722376"/>
            <a:ext cx="585216" cy="41148"/>
          </a:xfrm>
          <a:prstGeom prst="rect">
            <a:avLst/>
          </a:prstGeom>
          <a:solidFill>
            <a:srgbClr val="EE8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649224"/>
            <a:ext cx="10469880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2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案例经验与架构理念均可追溯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8208" y="292608"/>
            <a:ext cx="896112" cy="20116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116FE8"/>
                </a:solidFill>
                <a:latin typeface="Noto Sans CJK SC"/>
                <a:ea typeface="Noto Sans CJK SC"/>
              </a:defRPr>
            </a:pPr>
            <a:r>
              <a:t>HiAgent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6647688"/>
            <a:ext cx="10241280" cy="12801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73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t>企业数据智能体建设规划  /  规划视图  /  2026.10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629400"/>
            <a:ext cx="585216" cy="173736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t>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996696"/>
            <a:ext cx="603504" cy="493776"/>
          </a:xfrm>
          <a:prstGeom prst="roundRect">
            <a:avLst>
              <a:gd name="adj" fmla="val 3500"/>
            </a:avLst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028700"/>
            <a:ext cx="420624" cy="42976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C1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996696"/>
            <a:ext cx="10323576" cy="32004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rPr u="none">
                <a:solidFill>
                  <a:srgbClr val="082850"/>
                </a:solidFill>
                <a:hlinkClick r:id="rId2"/>
              </a:rPr>
              <a:t>麦当劳中国指标中台实践｜客户负责人演讲整理，Aloudata，2025-03-24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1380744"/>
            <a:ext cx="10323576" cy="23774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rPr u="none">
                <a:solidFill>
                  <a:srgbClr val="546D89"/>
                </a:solidFill>
                <a:hlinkClick r:id="rId2"/>
              </a:rPr>
              <a:t>https://aloudata.com/blogs/mcdonalds-china-metrics-platform-case-study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1783080"/>
            <a:ext cx="603504" cy="493776"/>
          </a:xfrm>
          <a:prstGeom prst="roundRect">
            <a:avLst>
              <a:gd name="adj" fmla="val 3500"/>
            </a:avLst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1815084"/>
            <a:ext cx="420624" cy="42976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C2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1783080"/>
            <a:ext cx="10323576" cy="32004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rPr u="none">
                <a:solidFill>
                  <a:srgbClr val="082850"/>
                </a:solidFill>
                <a:hlinkClick r:id="rId3"/>
              </a:rPr>
              <a:t>菜鸟SuperETL｜客户技术专家署名、阿里云大数据AI账号发布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2167128"/>
            <a:ext cx="10323576" cy="23774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rPr u="none">
                <a:solidFill>
                  <a:srgbClr val="546D89"/>
                </a:solidFill>
                <a:hlinkClick r:id="rId3"/>
              </a:rPr>
              <a:t>https://segmentfault.com/a/1190000047811149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2569464"/>
            <a:ext cx="603504" cy="493776"/>
          </a:xfrm>
          <a:prstGeom prst="roundRect">
            <a:avLst>
              <a:gd name="adj" fmla="val 3500"/>
            </a:avLst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601468"/>
            <a:ext cx="420624" cy="42976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C3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2569464"/>
            <a:ext cx="10323576" cy="32004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rPr u="none">
                <a:solidFill>
                  <a:srgbClr val="082850"/>
                </a:solidFill>
                <a:hlinkClick r:id="rId4"/>
              </a:rPr>
              <a:t>DataLeap智能助手管理｜火山引擎官方文档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2953512"/>
            <a:ext cx="10323576" cy="23774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rPr u="none">
                <a:solidFill>
                  <a:srgbClr val="546D89"/>
                </a:solidFill>
                <a:hlinkClick r:id="rId4"/>
              </a:rPr>
              <a:t>https://docs.volcengine.com/docs/big-data-research-and-development-governance-suite/intelligent-assist-ant-management?lang=zh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3355848"/>
            <a:ext cx="603504" cy="493776"/>
          </a:xfrm>
          <a:prstGeom prst="roundRect">
            <a:avLst>
              <a:gd name="adj" fmla="val 3500"/>
            </a:avLst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387852"/>
            <a:ext cx="420624" cy="42976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C4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3355848"/>
            <a:ext cx="10323576" cy="32004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rPr u="none">
                <a:solidFill>
                  <a:srgbClr val="082850"/>
                </a:solidFill>
                <a:hlinkClick r:id="rId5"/>
              </a:rPr>
              <a:t>DataWorks Data Agent｜阿里云官方文档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3739896"/>
            <a:ext cx="10323576" cy="23774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rPr u="none">
                <a:solidFill>
                  <a:srgbClr val="546D89"/>
                </a:solidFill>
                <a:hlinkClick r:id="rId5"/>
              </a:rPr>
              <a:t>https://help.aliyun.com/en/dataworks/user-guide/new-data-agent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4142232"/>
            <a:ext cx="603504" cy="493776"/>
          </a:xfrm>
          <a:prstGeom prst="roundRect">
            <a:avLst>
              <a:gd name="adj" fmla="val 3500"/>
            </a:avLst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174236"/>
            <a:ext cx="420624" cy="42976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R1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4142232"/>
            <a:ext cx="10323576" cy="32004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rPr u="none">
                <a:solidFill>
                  <a:srgbClr val="082850"/>
                </a:solidFill>
                <a:hlinkClick r:id="rId6"/>
              </a:rPr>
              <a:t>Agent Skills｜Anthropic公开技能约定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4526280"/>
            <a:ext cx="10323576" cy="23774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rPr u="none">
                <a:solidFill>
                  <a:srgbClr val="546D89"/>
                </a:solidFill>
                <a:hlinkClick r:id="rId6"/>
              </a:rPr>
              <a:t>https://github.com/anthropics/skills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4928616"/>
            <a:ext cx="603504" cy="493776"/>
          </a:xfrm>
          <a:prstGeom prst="roundRect">
            <a:avLst>
              <a:gd name="adj" fmla="val 3500"/>
            </a:avLst>
          </a:prstGeom>
          <a:solidFill>
            <a:srgbClr val="11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960620"/>
            <a:ext cx="420624" cy="42976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Noto Sans CJK SC"/>
                <a:ea typeface="Noto Sans CJK SC"/>
              </a:defRPr>
            </a:pPr>
            <a:r>
              <a:t>R2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4928616"/>
            <a:ext cx="10323576" cy="320040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350" b="1">
                <a:solidFill>
                  <a:srgbClr val="082850"/>
                </a:solidFill>
                <a:latin typeface="Noto Sans CJK SC"/>
                <a:ea typeface="Noto Sans CJK SC"/>
              </a:defRPr>
            </a:pPr>
            <a:r>
              <a:rPr u="none">
                <a:solidFill>
                  <a:srgbClr val="082850"/>
                </a:solidFill>
                <a:hlinkClick r:id="rId7"/>
              </a:rPr>
              <a:t>上下文工程｜Anthropic工程说明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5312664"/>
            <a:ext cx="10323576" cy="237744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900" b="0">
                <a:solidFill>
                  <a:srgbClr val="546D89"/>
                </a:solidFill>
                <a:latin typeface="Noto Sans CJK SC"/>
                <a:ea typeface="Noto Sans CJK SC"/>
              </a:defRPr>
            </a:pPr>
            <a:r>
              <a:rPr u="none">
                <a:solidFill>
                  <a:srgbClr val="546D89"/>
                </a:solidFill>
                <a:hlinkClick r:id="rId7"/>
              </a:rPr>
              <a:t>https://www.anthropic.com/engineering/effective-context-engineering-for-ai-agents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1772" y="6112764"/>
            <a:ext cx="11247120" cy="338328"/>
          </a:xfrm>
          <a:prstGeom prst="roundRect">
            <a:avLst>
              <a:gd name="adj" fmla="val 6000"/>
            </a:avLst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38912" y="6080760"/>
            <a:ext cx="11247120" cy="338328"/>
          </a:xfrm>
          <a:prstGeom prst="roundRect">
            <a:avLst>
              <a:gd name="adj" fmla="val 5500"/>
            </a:avLst>
          </a:prstGeom>
          <a:solidFill>
            <a:srgbClr val="EEF7FF"/>
          </a:solidFill>
          <a:ln w="8255">
            <a:solidFill>
              <a:srgbClr val="D4E7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6" y="6117336"/>
            <a:ext cx="10954512" cy="246888"/>
          </a:xfrm>
          <a:prstGeom prst="rect">
            <a:avLst/>
          </a:prstGeom>
          <a:noFill/>
        </p:spPr>
        <p:txBody>
          <a:bodyPr wrap="square" tIns="0" bIns="0" lIns="0" r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defRPr sz="1050" b="0">
                <a:solidFill>
                  <a:srgbClr val="173556"/>
                </a:solidFill>
                <a:latin typeface="Noto Sans CJK SC"/>
                <a:ea typeface="Noto Sans CJK SC"/>
              </a:defRPr>
            </a:pPr>
            <a:r>
              <a:t>公开材料核验于2026年10月28日；方法按本项目适配，案例披露不直接转化为本项目承诺。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HiAgent企业数据智能体建设规划｜架构视觉版V7</dc:title>
  <dc:subject>赋能场景与收益、能力地图、系统架构、数据流、数据模型、集成与逻辑部署</dc:subject>
  <dc:creator>项目规划组</dc:creator>
  <cp:keywords>HiAgent,企业数据智能体,上下文工程,Agent Skills,MCP,AgentOps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