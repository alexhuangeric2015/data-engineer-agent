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功能全景回答建什么，不表达服务器部署。专业服务层中资产Agent为具体服务主体，表字段、字典码值为其内部能力；其余Agent与资产Agent同级，避免把当前单Agent功能等同所有平台功能。</a:t>
            </a:r>
          </a:p>
          <a:p/>
          <a:p>
            <a:r>
              <a:t>架构口径：当前仅建设数据资产智能体；其他为目标规划。专业Agent内部规划并按需引用其他Agent。SKILL提供方法，由Agent实际调用资源。实际血缘经数据资产平台获取。图中逻辑模块不等于新增独立系统或已部署组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54864"/>
            <a:ext cx="76809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0E2A47"/>
                </a:solidFill>
                <a:latin typeface="Noto Sans CJK SC"/>
                <a:ea typeface="Noto Sans CJK SC"/>
                <a:cs typeface="Noto Sans CJK SC"/>
              </a:rPr>
              <a:t>功能全景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02336" y="457200"/>
            <a:ext cx="658368" cy="45720"/>
          </a:xfrm>
          <a:prstGeom prst="roundRect">
            <a:avLst>
              <a:gd name="adj" fmla="val 50000"/>
            </a:avLst>
          </a:prstGeom>
          <a:solidFill>
            <a:srgbClr val="F08C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548640"/>
            <a:ext cx="95097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6324A"/>
                </a:solidFill>
                <a:latin typeface="Noto Sans CJK SC"/>
                <a:ea typeface="Noto Sans CJK SC"/>
                <a:cs typeface="Noto Sans CJK SC"/>
              </a:rPr>
              <a:t>服务、内容、连接与运营形成完整建设范围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109728"/>
            <a:ext cx="157276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6FDB"/>
                </a:solidFill>
                <a:latin typeface="Noto Sans CJK SC"/>
                <a:ea typeface="Noto Sans CJK SC"/>
                <a:cs typeface="Noto Sans CJK SC"/>
              </a:rPr>
              <a:t>HiAgent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914400"/>
            <a:ext cx="11494008" cy="4389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5E4F2"/>
            </a:solidFill>
          </a:ln>
          <a:effectLst>
            <a:outerShdw blurRad="63500" dist="25400" dir="2700000" algn="tl" rotWithShape="0">
              <a:srgbClr val="8FB0D0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75488" y="996696"/>
            <a:ext cx="1078992" cy="274320"/>
          </a:xfrm>
          <a:prstGeom prst="roundRect">
            <a:avLst>
              <a:gd name="adj" fmla="val 50000"/>
            </a:avLst>
          </a:prstGeom>
          <a:solidFill>
            <a:srgbClr val="1A6F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996696"/>
            <a:ext cx="107899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业务入口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700784" y="996696"/>
            <a:ext cx="1154684" cy="274320"/>
          </a:xfrm>
          <a:prstGeom prst="roundRect">
            <a:avLst>
              <a:gd name="adj" fmla="val 50000"/>
            </a:avLst>
          </a:prstGeom>
          <a:solidFill>
            <a:srgbClr val="E8F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700784" y="996696"/>
            <a:ext cx="115468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A6FDB"/>
                </a:solidFill>
                <a:latin typeface="Noto Sans CJK SC"/>
                <a:ea typeface="Noto Sans CJK SC"/>
                <a:cs typeface="Noto Sans CJK SC"/>
              </a:rPr>
              <a:t>对话工作台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65196" y="996696"/>
            <a:ext cx="1319784" cy="274320"/>
          </a:xfrm>
          <a:prstGeom prst="roundRect">
            <a:avLst>
              <a:gd name="adj" fmla="val 50000"/>
            </a:avLst>
          </a:prstGeom>
          <a:solidFill>
            <a:srgbClr val="E8F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65196" y="996696"/>
            <a:ext cx="131978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A6FDB"/>
                </a:solidFill>
                <a:latin typeface="Noto Sans CJK SC"/>
                <a:ea typeface="Noto Sans CJK SC"/>
                <a:cs typeface="Noto Sans CJK SC"/>
              </a:rPr>
              <a:t>数据平台入口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94708" y="996696"/>
            <a:ext cx="1154684" cy="274320"/>
          </a:xfrm>
          <a:prstGeom prst="roundRect">
            <a:avLst>
              <a:gd name="adj" fmla="val 50000"/>
            </a:avLst>
          </a:prstGeom>
          <a:solidFill>
            <a:srgbClr val="E8F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94708" y="996696"/>
            <a:ext cx="115468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A6FDB"/>
                </a:solidFill>
                <a:latin typeface="Noto Sans CJK SC"/>
                <a:ea typeface="Noto Sans CJK SC"/>
                <a:cs typeface="Noto Sans CJK SC"/>
              </a:rPr>
              <a:t>按场景嵌入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8120" y="914400"/>
            <a:ext cx="3858768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C738C"/>
                </a:solidFill>
                <a:latin typeface="Noto Sans CJK SC"/>
                <a:ea typeface="Noto Sans CJK SC"/>
                <a:cs typeface="Noto Sans CJK SC"/>
              </a:rPr>
              <a:t>回答建什么，不表达服务器部署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7472" y="1444752"/>
            <a:ext cx="4315968" cy="387705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5E4F2"/>
            </a:solidFill>
          </a:ln>
          <a:effectLst>
            <a:outerShdw blurRad="63500" dist="25400" dir="2700000" algn="tl" rotWithShape="0">
              <a:srgbClr val="8FB0D0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3776" y="1536192"/>
            <a:ext cx="402335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E2A47"/>
                </a:solidFill>
                <a:latin typeface="Noto Sans CJK SC"/>
                <a:ea typeface="Noto Sans CJK SC"/>
                <a:cs typeface="Noto Sans CJK SC"/>
              </a:rPr>
              <a:t>专业服务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6" y="1847088"/>
            <a:ext cx="4023359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6FDB"/>
                </a:solidFill>
                <a:latin typeface="Noto Sans CJK SC"/>
                <a:ea typeface="Noto Sans CJK SC"/>
                <a:cs typeface="Noto Sans CJK SC"/>
              </a:rPr>
              <a:t>资产Agent为具体服务主体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93776" y="2176272"/>
            <a:ext cx="4023360" cy="0"/>
          </a:xfrm>
          <a:prstGeom prst="line">
            <a:avLst/>
          </a:prstGeom>
          <a:ln w="9525">
            <a:solidFill>
              <a:srgbClr val="D5E4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93776" y="2286000"/>
            <a:ext cx="4023359" cy="1280160"/>
          </a:xfrm>
          <a:prstGeom prst="roundRect">
            <a:avLst>
              <a:gd name="adj" fmla="val 10000"/>
            </a:avLst>
          </a:prstGeom>
          <a:solidFill>
            <a:srgbClr val="EAF3FF"/>
          </a:solidFill>
          <a:ln w="9525">
            <a:solidFill>
              <a:srgbClr val="C5D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21792" y="2414016"/>
            <a:ext cx="365760" cy="365760"/>
          </a:xfrm>
          <a:prstGeom prst="ellipse">
            <a:avLst/>
          </a:prstGeom>
          <a:solidFill>
            <a:srgbClr val="E8F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an 21"/>
          <p:cNvSpPr/>
          <p:nvPr/>
        </p:nvSpPr>
        <p:spPr>
          <a:xfrm>
            <a:off x="702259" y="2494483"/>
            <a:ext cx="204825" cy="204825"/>
          </a:xfrm>
          <a:prstGeom prst="can">
            <a:avLst/>
          </a:prstGeom>
          <a:solidFill>
            <a:srgbClr val="1A6F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2377440"/>
            <a:ext cx="19659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E2A47"/>
                </a:solidFill>
                <a:latin typeface="Noto Sans CJK SC"/>
                <a:ea typeface="Noto Sans CJK SC"/>
                <a:cs typeface="Noto Sans CJK SC"/>
              </a:rPr>
              <a:t>数据资产Agent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730752" y="2395728"/>
            <a:ext cx="640080" cy="256032"/>
          </a:xfrm>
          <a:prstGeom prst="roundRect">
            <a:avLst>
              <a:gd name="adj" fmla="val 50000"/>
            </a:avLst>
          </a:prstGeom>
          <a:solidFill>
            <a:srgbClr val="1A6F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30752" y="2395728"/>
            <a:ext cx="6400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当前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" y="2670048"/>
            <a:ext cx="32004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C738C"/>
                </a:solidFill>
                <a:latin typeface="Noto Sans CJK SC"/>
                <a:ea typeface="Noto Sans CJK SC"/>
                <a:cs typeface="Noto Sans CJK SC"/>
              </a:rPr>
              <a:t>表字段、字典码值为内部能力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" y="3054096"/>
            <a:ext cx="1828799" cy="3840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C5D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2560320" y="3054096"/>
            <a:ext cx="1828799" cy="3840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C5D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1792" y="3054096"/>
            <a:ext cx="1828799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2A47"/>
                </a:solidFill>
                <a:latin typeface="Noto Sans CJK SC"/>
                <a:ea typeface="Noto Sans CJK SC"/>
                <a:cs typeface="Noto Sans CJK SC"/>
              </a:rPr>
              <a:t>表字段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560320" y="3054096"/>
            <a:ext cx="1828799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2A47"/>
                </a:solidFill>
                <a:latin typeface="Noto Sans CJK SC"/>
                <a:ea typeface="Noto Sans CJK SC"/>
                <a:cs typeface="Noto Sans CJK SC"/>
              </a:rPr>
              <a:t>字典码值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3776" y="3675887"/>
            <a:ext cx="4023359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C738C"/>
                </a:solidFill>
                <a:latin typeface="Noto Sans CJK SC"/>
                <a:ea typeface="Noto Sans CJK SC"/>
                <a:cs typeface="Noto Sans CJK SC"/>
              </a:rPr>
              <a:t>与资产Agent同级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93776" y="3950207"/>
            <a:ext cx="4023359" cy="365760"/>
          </a:xfrm>
          <a:prstGeom prst="roundRect">
            <a:avLst>
              <a:gd name="adj" fmla="val 10000"/>
            </a:avLst>
          </a:prstGeom>
          <a:solidFill>
            <a:srgbClr val="F5F9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1792" y="3950207"/>
            <a:ext cx="1051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2A47"/>
                </a:solidFill>
                <a:latin typeface="Noto Sans CJK SC"/>
                <a:ea typeface="Noto Sans CJK SC"/>
                <a:cs typeface="Noto Sans CJK SC"/>
              </a:rPr>
              <a:t>生产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673352" y="3950207"/>
            <a:ext cx="19659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324A"/>
                </a:solidFill>
                <a:latin typeface="Noto Sans CJK SC"/>
                <a:ea typeface="Noto Sans CJK SC"/>
                <a:cs typeface="Noto Sans CJK SC"/>
              </a:rPr>
              <a:t>需求 / 设计 / 开发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822191" y="4014215"/>
            <a:ext cx="566928" cy="256032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822191" y="4014215"/>
            <a:ext cx="566928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C738C"/>
                </a:solidFill>
                <a:latin typeface="Noto Sans CJK SC"/>
                <a:ea typeface="Noto Sans CJK SC"/>
                <a:cs typeface="Noto Sans CJK SC"/>
              </a:rPr>
              <a:t>规划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93776" y="4389120"/>
            <a:ext cx="4023359" cy="365760"/>
          </a:xfrm>
          <a:prstGeom prst="roundRect">
            <a:avLst>
              <a:gd name="adj" fmla="val 10000"/>
            </a:avLst>
          </a:prstGeom>
          <a:solidFill>
            <a:srgbClr val="F5F9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1792" y="4389120"/>
            <a:ext cx="1051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2A47"/>
                </a:solidFill>
                <a:latin typeface="Noto Sans CJK SC"/>
                <a:ea typeface="Noto Sans CJK SC"/>
                <a:cs typeface="Noto Sans CJK SC"/>
              </a:rPr>
              <a:t>交付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673352" y="4389120"/>
            <a:ext cx="19659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324A"/>
                </a:solidFill>
                <a:latin typeface="Noto Sans CJK SC"/>
                <a:ea typeface="Noto Sans CJK SC"/>
                <a:cs typeface="Noto Sans CJK SC"/>
              </a:rPr>
              <a:t>测试 / 评审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822191" y="4453128"/>
            <a:ext cx="566928" cy="256032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822191" y="4453128"/>
            <a:ext cx="566928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C738C"/>
                </a:solidFill>
                <a:latin typeface="Noto Sans CJK SC"/>
                <a:ea typeface="Noto Sans CJK SC"/>
                <a:cs typeface="Noto Sans CJK SC"/>
              </a:rPr>
              <a:t>规划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93776" y="4828032"/>
            <a:ext cx="4023359" cy="365760"/>
          </a:xfrm>
          <a:prstGeom prst="roundRect">
            <a:avLst>
              <a:gd name="adj" fmla="val 10000"/>
            </a:avLst>
          </a:prstGeom>
          <a:solidFill>
            <a:srgbClr val="F5F9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1792" y="4828032"/>
            <a:ext cx="1051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2A47"/>
                </a:solidFill>
                <a:latin typeface="Noto Sans CJK SC"/>
                <a:ea typeface="Noto Sans CJK SC"/>
                <a:cs typeface="Noto Sans CJK SC"/>
              </a:rPr>
              <a:t>运营分析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673352" y="4828032"/>
            <a:ext cx="19659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324A"/>
                </a:solidFill>
                <a:latin typeface="Noto Sans CJK SC"/>
                <a:ea typeface="Noto Sans CJK SC"/>
                <a:cs typeface="Noto Sans CJK SC"/>
              </a:rPr>
              <a:t>治理 / 运维 / 分析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822191" y="4892040"/>
            <a:ext cx="566928" cy="256032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822191" y="4892040"/>
            <a:ext cx="566928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C738C"/>
                </a:solidFill>
                <a:latin typeface="Noto Sans CJK SC"/>
                <a:ea typeface="Noto Sans CJK SC"/>
                <a:cs typeface="Noto Sans CJK SC"/>
              </a:rPr>
              <a:t>规划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791456" y="1444752"/>
            <a:ext cx="3611880" cy="387705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5E4F2"/>
            </a:solidFill>
          </a:ln>
          <a:effectLst>
            <a:outerShdw blurRad="63500" dist="25400" dir="2700000" algn="tl" rotWithShape="0">
              <a:srgbClr val="8FB0D0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937760" y="1536192"/>
            <a:ext cx="331927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E2A47"/>
                </a:solidFill>
                <a:latin typeface="Noto Sans CJK SC"/>
                <a:ea typeface="Noto Sans CJK SC"/>
                <a:cs typeface="Noto Sans CJK SC"/>
              </a:rPr>
              <a:t>内容与方法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937760" y="1847088"/>
            <a:ext cx="331927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6FDB"/>
                </a:solidFill>
                <a:latin typeface="Noto Sans CJK SC"/>
                <a:ea typeface="Noto Sans CJK SC"/>
                <a:cs typeface="Noto Sans CJK SC"/>
              </a:rPr>
              <a:t>SKILL提供方法，由Agent实际调用资源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4937760" y="2176272"/>
            <a:ext cx="3319272" cy="0"/>
          </a:xfrm>
          <a:prstGeom prst="line">
            <a:avLst/>
          </a:prstGeom>
          <a:ln w="9525">
            <a:solidFill>
              <a:srgbClr val="D5E4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ounded Rectangle 50"/>
          <p:cNvSpPr/>
          <p:nvPr/>
        </p:nvSpPr>
        <p:spPr>
          <a:xfrm>
            <a:off x="4937760" y="2286000"/>
            <a:ext cx="3319272" cy="653796"/>
          </a:xfrm>
          <a:prstGeom prst="roundRect">
            <a:avLst>
              <a:gd name="adj" fmla="val 10000"/>
            </a:avLst>
          </a:prstGeom>
          <a:solidFill>
            <a:srgbClr val="F5F9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5047488" y="2448306"/>
            <a:ext cx="329184" cy="329184"/>
          </a:xfrm>
          <a:prstGeom prst="ellipse">
            <a:avLst/>
          </a:prstGeom>
          <a:solidFill>
            <a:srgbClr val="E8F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5142029" y="2520726"/>
            <a:ext cx="140100" cy="18434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1A6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5171524" y="2579716"/>
            <a:ext cx="81111" cy="0"/>
          </a:xfrm>
          <a:prstGeom prst="line">
            <a:avLst/>
          </a:prstGeom>
          <a:ln w="9525">
            <a:solidFill>
              <a:srgbClr val="1A6F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5171524" y="2622115"/>
            <a:ext cx="81111" cy="0"/>
          </a:xfrm>
          <a:prstGeom prst="line">
            <a:avLst/>
          </a:prstGeom>
          <a:ln w="9525">
            <a:solidFill>
              <a:srgbClr val="1A6F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5468112" y="2286000"/>
            <a:ext cx="2679192" cy="6537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6324A"/>
                </a:solidFill>
                <a:latin typeface="Noto Sans CJK SC"/>
                <a:ea typeface="Noto Sans CJK SC"/>
                <a:cs typeface="Noto Sans CJK SC"/>
              </a:rPr>
              <a:t>术语 / 指标 / 模型语义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937760" y="3031236"/>
            <a:ext cx="3319272" cy="653796"/>
          </a:xfrm>
          <a:prstGeom prst="roundRect">
            <a:avLst>
              <a:gd name="adj" fmla="val 10000"/>
            </a:avLst>
          </a:prstGeom>
          <a:solidFill>
            <a:srgbClr val="F5F9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5047488" y="3193542"/>
            <a:ext cx="329184" cy="329184"/>
          </a:xfrm>
          <a:prstGeom prst="ellipse">
            <a:avLst/>
          </a:prstGeom>
          <a:solidFill>
            <a:srgbClr val="E8F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5119908" y="3265962"/>
            <a:ext cx="184343" cy="18434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1A6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5212080" y="3265962"/>
            <a:ext cx="0" cy="184343"/>
          </a:xfrm>
          <a:prstGeom prst="line">
            <a:avLst/>
          </a:prstGeom>
          <a:ln w="9525">
            <a:solidFill>
              <a:srgbClr val="1A6F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5468112" y="3031236"/>
            <a:ext cx="2679192" cy="6537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6324A"/>
                </a:solidFill>
                <a:latin typeface="Noto Sans CJK SC"/>
                <a:ea typeface="Noto Sans CJK SC"/>
                <a:cs typeface="Noto Sans CJK SC"/>
              </a:rPr>
              <a:t>规则 / 模板 / SKILL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937760" y="3776472"/>
            <a:ext cx="3319272" cy="653796"/>
          </a:xfrm>
          <a:prstGeom prst="roundRect">
            <a:avLst>
              <a:gd name="adj" fmla="val 10000"/>
            </a:avLst>
          </a:prstGeom>
          <a:solidFill>
            <a:srgbClr val="F5F9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5047488" y="3938778"/>
            <a:ext cx="329184" cy="329184"/>
          </a:xfrm>
          <a:prstGeom prst="ellipse">
            <a:avLst/>
          </a:prstGeom>
          <a:solidFill>
            <a:srgbClr val="E8F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5142029" y="4011198"/>
            <a:ext cx="140100" cy="18434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1A6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5" name="Connector 64"/>
          <p:cNvCxnSpPr/>
          <p:nvPr/>
        </p:nvCxnSpPr>
        <p:spPr>
          <a:xfrm>
            <a:off x="5171524" y="4070188"/>
            <a:ext cx="81111" cy="0"/>
          </a:xfrm>
          <a:prstGeom prst="line">
            <a:avLst/>
          </a:prstGeom>
          <a:ln w="9525">
            <a:solidFill>
              <a:srgbClr val="1A6F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5171524" y="4112587"/>
            <a:ext cx="81111" cy="0"/>
          </a:xfrm>
          <a:prstGeom prst="line">
            <a:avLst/>
          </a:prstGeom>
          <a:ln w="9525">
            <a:solidFill>
              <a:srgbClr val="1A6F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5468112" y="3776472"/>
            <a:ext cx="2679192" cy="6537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6324A"/>
                </a:solidFill>
                <a:latin typeface="Noto Sans CJK SC"/>
                <a:ea typeface="Noto Sans CJK SC"/>
                <a:cs typeface="Noto Sans CJK SC"/>
              </a:rPr>
              <a:t>知识文件 / 检索索引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4937760" y="4521708"/>
            <a:ext cx="3319272" cy="653796"/>
          </a:xfrm>
          <a:prstGeom prst="roundRect">
            <a:avLst>
              <a:gd name="adj" fmla="val 10000"/>
            </a:avLst>
          </a:prstGeom>
          <a:solidFill>
            <a:srgbClr val="F5F9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5047488" y="4684014"/>
            <a:ext cx="329184" cy="329184"/>
          </a:xfrm>
          <a:prstGeom prst="ellipse">
            <a:avLst/>
          </a:prstGeom>
          <a:solidFill>
            <a:srgbClr val="E8F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Can 69"/>
          <p:cNvSpPr/>
          <p:nvPr/>
        </p:nvSpPr>
        <p:spPr>
          <a:xfrm>
            <a:off x="5119908" y="4756434"/>
            <a:ext cx="184343" cy="184343"/>
          </a:xfrm>
          <a:prstGeom prst="can">
            <a:avLst/>
          </a:prstGeom>
          <a:solidFill>
            <a:srgbClr val="1A6F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468112" y="4521708"/>
            <a:ext cx="2679192" cy="6537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6324A"/>
                </a:solidFill>
                <a:latin typeface="Noto Sans CJK SC"/>
                <a:ea typeface="Noto Sans CJK SC"/>
                <a:cs typeface="Noto Sans CJK SC"/>
              </a:rPr>
              <a:t>事实查询数据 / 来源版本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8531352" y="1444752"/>
            <a:ext cx="3310128" cy="387705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5E4F2"/>
            </a:solidFill>
          </a:ln>
          <a:effectLst>
            <a:outerShdw blurRad="63500" dist="25400" dir="2700000" algn="tl" rotWithShape="0">
              <a:srgbClr val="8FB0D0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677656" y="1536192"/>
            <a:ext cx="301752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E2A47"/>
                </a:solidFill>
                <a:latin typeface="Noto Sans CJK SC"/>
                <a:ea typeface="Noto Sans CJK SC"/>
                <a:cs typeface="Noto Sans CJK SC"/>
              </a:rPr>
              <a:t>平台连接与运营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677656" y="184708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6FDB"/>
                </a:solidFill>
                <a:latin typeface="Noto Sans CJK SC"/>
                <a:ea typeface="Noto Sans CJK SC"/>
                <a:cs typeface="Noto Sans CJK SC"/>
              </a:rPr>
              <a:t>模块可复用现有系统承载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8677656" y="2176272"/>
            <a:ext cx="3017520" cy="0"/>
          </a:xfrm>
          <a:prstGeom prst="line">
            <a:avLst/>
          </a:prstGeom>
          <a:ln w="9525">
            <a:solidFill>
              <a:srgbClr val="D5E4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Rounded Rectangle 75"/>
          <p:cNvSpPr/>
          <p:nvPr/>
        </p:nvSpPr>
        <p:spPr>
          <a:xfrm>
            <a:off x="8677656" y="2286000"/>
            <a:ext cx="3017520" cy="653796"/>
          </a:xfrm>
          <a:prstGeom prst="roundRect">
            <a:avLst>
              <a:gd name="adj" fmla="val 10000"/>
            </a:avLst>
          </a:prstGeom>
          <a:solidFill>
            <a:srgbClr val="F5F9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8787384" y="2448306"/>
            <a:ext cx="329184" cy="329184"/>
          </a:xfrm>
          <a:prstGeom prst="ellipse">
            <a:avLst/>
          </a:prstGeom>
          <a:solidFill>
            <a:srgbClr val="E8F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8859804" y="2585246"/>
            <a:ext cx="55302" cy="55302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6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8988844" y="2585246"/>
            <a:ext cx="55302" cy="55302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6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8898516" y="2605524"/>
            <a:ext cx="106918" cy="14747"/>
          </a:xfrm>
          <a:prstGeom prst="roundRect">
            <a:avLst>
              <a:gd name="adj" fmla="val 50000"/>
            </a:avLst>
          </a:prstGeom>
          <a:solidFill>
            <a:srgbClr val="1A6F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208008" y="2286000"/>
            <a:ext cx="2377440" cy="6537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6324A"/>
                </a:solidFill>
                <a:latin typeface="Noto Sans CJK SC"/>
                <a:ea typeface="Noto Sans CJK SC"/>
                <a:cs typeface="Noto Sans CJK SC"/>
              </a:rPr>
              <a:t>目录 / 指标 / 血缘接口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8677656" y="3031236"/>
            <a:ext cx="3017520" cy="653796"/>
          </a:xfrm>
          <a:prstGeom prst="roundRect">
            <a:avLst>
              <a:gd name="adj" fmla="val 10000"/>
            </a:avLst>
          </a:prstGeom>
          <a:solidFill>
            <a:srgbClr val="F5F9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8787384" y="3193542"/>
            <a:ext cx="329184" cy="329184"/>
          </a:xfrm>
          <a:prstGeom prst="ellipse">
            <a:avLst/>
          </a:prstGeom>
          <a:solidFill>
            <a:srgbClr val="E8F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ight Arrow 83"/>
          <p:cNvSpPr/>
          <p:nvPr/>
        </p:nvSpPr>
        <p:spPr>
          <a:xfrm>
            <a:off x="8859804" y="3317578"/>
            <a:ext cx="184343" cy="81110"/>
          </a:xfrm>
          <a:prstGeom prst="rightArrow">
            <a:avLst/>
          </a:prstGeom>
          <a:solidFill>
            <a:srgbClr val="1A6F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208008" y="3031236"/>
            <a:ext cx="2377440" cy="6537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6324A"/>
                </a:solidFill>
                <a:latin typeface="Noto Sans CJK SC"/>
                <a:ea typeface="Noto Sans CJK SC"/>
                <a:cs typeface="Noto Sans CJK SC"/>
              </a:rPr>
              <a:t>开发 / 调度 / 质量接入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8677656" y="3776472"/>
            <a:ext cx="3017520" cy="653796"/>
          </a:xfrm>
          <a:prstGeom prst="roundRect">
            <a:avLst>
              <a:gd name="adj" fmla="val 10000"/>
            </a:avLst>
          </a:prstGeom>
          <a:solidFill>
            <a:srgbClr val="F5F9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8787384" y="3938778"/>
            <a:ext cx="329184" cy="329184"/>
          </a:xfrm>
          <a:prstGeom prst="ellipse">
            <a:avLst/>
          </a:prstGeom>
          <a:solidFill>
            <a:srgbClr val="E8F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ounded Rectangle 87"/>
          <p:cNvSpPr/>
          <p:nvPr/>
        </p:nvSpPr>
        <p:spPr>
          <a:xfrm>
            <a:off x="8859804" y="4011198"/>
            <a:ext cx="184343" cy="184343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1A6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9" name="Connector 88"/>
          <p:cNvCxnSpPr/>
          <p:nvPr/>
        </p:nvCxnSpPr>
        <p:spPr>
          <a:xfrm>
            <a:off x="8904046" y="4107056"/>
            <a:ext cx="36869" cy="36869"/>
          </a:xfrm>
          <a:prstGeom prst="line">
            <a:avLst/>
          </a:prstGeom>
          <a:ln w="9525">
            <a:solidFill>
              <a:srgbClr val="1A6F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V="1">
            <a:off x="8940915" y="4062814"/>
            <a:ext cx="62677" cy="81111"/>
          </a:xfrm>
          <a:prstGeom prst="line">
            <a:avLst/>
          </a:prstGeom>
          <a:ln w="9525">
            <a:solidFill>
              <a:srgbClr val="1A6F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/>
          <p:cNvSpPr txBox="1"/>
          <p:nvPr/>
        </p:nvSpPr>
        <p:spPr>
          <a:xfrm>
            <a:off x="9208008" y="3776472"/>
            <a:ext cx="2377440" cy="6537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6324A"/>
                </a:solidFill>
                <a:latin typeface="Noto Sans CJK SC"/>
                <a:ea typeface="Noto Sans CJK SC"/>
                <a:cs typeface="Noto Sans CJK SC"/>
              </a:rPr>
              <a:t>身份 / 权限 / 操作确认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8677656" y="4521708"/>
            <a:ext cx="3017520" cy="653796"/>
          </a:xfrm>
          <a:prstGeom prst="roundRect">
            <a:avLst>
              <a:gd name="adj" fmla="val 10000"/>
            </a:avLst>
          </a:prstGeom>
          <a:solidFill>
            <a:srgbClr val="F5F9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8787384" y="4684014"/>
            <a:ext cx="329184" cy="329184"/>
          </a:xfrm>
          <a:prstGeom prst="ellipse">
            <a:avLst/>
          </a:prstGeom>
          <a:solidFill>
            <a:srgbClr val="E8F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ounded Rectangle 93"/>
          <p:cNvSpPr/>
          <p:nvPr/>
        </p:nvSpPr>
        <p:spPr>
          <a:xfrm>
            <a:off x="8859804" y="4756434"/>
            <a:ext cx="184343" cy="18434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1A6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5" name="Connector 94"/>
          <p:cNvCxnSpPr/>
          <p:nvPr/>
        </p:nvCxnSpPr>
        <p:spPr>
          <a:xfrm>
            <a:off x="8859804" y="4826484"/>
            <a:ext cx="184343" cy="0"/>
          </a:xfrm>
          <a:prstGeom prst="line">
            <a:avLst/>
          </a:prstGeom>
          <a:ln w="9525">
            <a:solidFill>
              <a:srgbClr val="1A6F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8859804" y="4881787"/>
            <a:ext cx="184343" cy="0"/>
          </a:xfrm>
          <a:prstGeom prst="line">
            <a:avLst/>
          </a:prstGeom>
          <a:ln w="9525">
            <a:solidFill>
              <a:srgbClr val="1A6F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TextBox 96"/>
          <p:cNvSpPr txBox="1"/>
          <p:nvPr/>
        </p:nvSpPr>
        <p:spPr>
          <a:xfrm>
            <a:off x="9208008" y="4521708"/>
            <a:ext cx="2377440" cy="6537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6324A"/>
                </a:solidFill>
                <a:latin typeface="Noto Sans CJK SC"/>
                <a:ea typeface="Noto Sans CJK SC"/>
                <a:cs typeface="Noto Sans CJK SC"/>
              </a:rPr>
              <a:t>评测 / 反馈 / 内容更新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347472" y="5449824"/>
            <a:ext cx="11494008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5E4F2"/>
            </a:solidFill>
          </a:ln>
          <a:effectLst>
            <a:outerShdw blurRad="63500" dist="25400" dir="2700000" algn="tl" rotWithShape="0">
              <a:srgbClr val="8FB0D0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93776" y="5559552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E2A47"/>
                </a:solidFill>
                <a:latin typeface="Noto Sans CJK SC"/>
                <a:ea typeface="Noto Sans CJK SC"/>
                <a:cs typeface="Noto Sans CJK SC"/>
              </a:rPr>
              <a:t>功能建设分别落实到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2743200" y="5596128"/>
            <a:ext cx="2011680" cy="329184"/>
          </a:xfrm>
          <a:prstGeom prst="roundRect">
            <a:avLst>
              <a:gd name="adj" fmla="val 14000"/>
            </a:avLst>
          </a:prstGeom>
          <a:solidFill>
            <a:srgbClr val="E8F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743200" y="5596128"/>
            <a:ext cx="20116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A6FDB"/>
                </a:solidFill>
                <a:latin typeface="Noto Sans CJK SC"/>
                <a:ea typeface="Noto Sans CJK SC"/>
                <a:cs typeface="Noto Sans CJK SC"/>
              </a:rPr>
              <a:t>Agent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4901183" y="5596128"/>
            <a:ext cx="2011680" cy="329184"/>
          </a:xfrm>
          <a:prstGeom prst="roundRect">
            <a:avLst>
              <a:gd name="adj" fmla="val 14000"/>
            </a:avLst>
          </a:prstGeom>
          <a:solidFill>
            <a:srgbClr val="E8F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4901183" y="5596128"/>
            <a:ext cx="20116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A6FDB"/>
                </a:solidFill>
                <a:latin typeface="Noto Sans CJK SC"/>
                <a:ea typeface="Noto Sans CJK SC"/>
                <a:cs typeface="Noto Sans CJK SC"/>
              </a:rPr>
              <a:t>内容维护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7059167" y="5596128"/>
            <a:ext cx="2011680" cy="329184"/>
          </a:xfrm>
          <a:prstGeom prst="roundRect">
            <a:avLst>
              <a:gd name="adj" fmla="val 14000"/>
            </a:avLst>
          </a:prstGeom>
          <a:solidFill>
            <a:srgbClr val="E8F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7059167" y="5596128"/>
            <a:ext cx="20116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A6FDB"/>
                </a:solidFill>
                <a:latin typeface="Noto Sans CJK SC"/>
                <a:ea typeface="Noto Sans CJK SC"/>
                <a:cs typeface="Noto Sans CJK SC"/>
              </a:rPr>
              <a:t>平台适配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9217151" y="5596128"/>
            <a:ext cx="2011680" cy="329184"/>
          </a:xfrm>
          <a:prstGeom prst="roundRect">
            <a:avLst>
              <a:gd name="adj" fmla="val 14000"/>
            </a:avLst>
          </a:prstGeom>
          <a:solidFill>
            <a:srgbClr val="E8F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9217151" y="5596128"/>
            <a:ext cx="20116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A6FDB"/>
                </a:solidFill>
                <a:latin typeface="Noto Sans CJK SC"/>
                <a:ea typeface="Noto Sans CJK SC"/>
                <a:cs typeface="Noto Sans CJK SC"/>
              </a:rPr>
              <a:t>持续运营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93776" y="5998464"/>
            <a:ext cx="111556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C738C"/>
                </a:solidFill>
                <a:latin typeface="Noto Sans CJK SC"/>
                <a:ea typeface="Noto Sans CJK SC"/>
                <a:cs typeface="Noto Sans CJK SC"/>
              </a:rPr>
              <a:t>逻辑模块不等于新增独立系统或已部署组件。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384048" y="6528816"/>
            <a:ext cx="786384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C738C"/>
                </a:solidFill>
                <a:latin typeface="Noto Sans CJK SC"/>
                <a:ea typeface="Noto Sans CJK SC"/>
                <a:cs typeface="Noto Sans CJK SC"/>
              </a:rPr>
              <a:t>企业数据智能体建设规划  /  规划视图  /  2026.10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424160" y="6528816"/>
            <a:ext cx="1389888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E2A47"/>
                </a:solidFill>
                <a:latin typeface="Noto Sans CJK SC"/>
                <a:ea typeface="Noto Sans CJK SC"/>
                <a:cs typeface="Noto Sans CJK SC"/>
              </a:rPr>
              <a:t>07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功能全景｜服务、内容、连接与运营形成完整建设范围</dc:title>
  <dc:subject>第07页技能样稿，不替换架构视觉版V7正稿</dc:subject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