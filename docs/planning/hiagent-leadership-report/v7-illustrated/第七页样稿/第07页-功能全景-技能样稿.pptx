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功能全景回答建什么，不表达服务器部署。专业服务层中资产Agent为具体服务主体，表字段、字典码值为其内部能力；其余Agent与资产Agent同级，避免把当前单Agent功能等同所有平台功能。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54864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功能全景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" y="457200"/>
            <a:ext cx="658368" cy="45720"/>
          </a:xfrm>
          <a:prstGeom prst="roundRect">
            <a:avLst>
              <a:gd name="adj" fmla="val 50000"/>
            </a:avLst>
          </a:prstGeom>
          <a:solidFill>
            <a:srgbClr val="F0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服务、内容、连接与运营形成完整建设范围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0972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HiAgent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914400"/>
            <a:ext cx="11494008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4F2"/>
            </a:solidFill>
          </a:ln>
          <a:effectLst>
            <a:outerShdw blurRad="63500" dist="25400" dir="2700000" algn="tl" rotWithShape="0">
              <a:srgbClr val="8FB0D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996696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96696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0784" y="996696"/>
            <a:ext cx="1154684" cy="274320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0784" y="996696"/>
            <a:ext cx="11546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对话工作台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5196" y="996696"/>
            <a:ext cx="1319784" cy="274320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5196" y="996696"/>
            <a:ext cx="1319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数据平台入口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4708" y="996696"/>
            <a:ext cx="1154684" cy="274320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4708" y="996696"/>
            <a:ext cx="11546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按场景嵌入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914400"/>
            <a:ext cx="3858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回答建什么，不表达服务器部署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" y="1463040"/>
            <a:ext cx="6912864" cy="3877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F2"/>
            </a:solidFill>
          </a:ln>
          <a:effectLst>
            <a:outerShdw blurRad="63500" dist="25400" dir="2700000" algn="tl" rotWithShape="0">
              <a:srgbClr val="8FB0D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536192"/>
            <a:ext cx="6620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专业服务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810512"/>
            <a:ext cx="662025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资产Agent为具体服务主体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2066544"/>
            <a:ext cx="6620255" cy="0"/>
          </a:xfrm>
          <a:prstGeom prst="line">
            <a:avLst/>
          </a:prstGeom>
          <a:ln w="9525">
            <a:solidFill>
              <a:srgbClr val="D5E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2157984"/>
            <a:ext cx="6620255" cy="1444752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9525">
            <a:solidFill>
              <a:srgbClr val="C5D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2304288"/>
            <a:ext cx="384048" cy="384048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687994" y="2388778"/>
            <a:ext cx="215066" cy="215066"/>
          </a:xfrm>
          <a:prstGeom prst="can">
            <a:avLst/>
          </a:prstGeom>
          <a:solidFill>
            <a:srgbClr val="1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28600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资产Agent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2322576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1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263347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表字段、字典码值为内部能力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3035808"/>
            <a:ext cx="309981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31335" y="3035808"/>
            <a:ext cx="309981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035808"/>
            <a:ext cx="30998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表字段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31335" y="3035808"/>
            <a:ext cx="30998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字典码值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94176"/>
            <a:ext cx="66202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与资产Agent同级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68496"/>
            <a:ext cx="2133599" cy="1225295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059935"/>
            <a:ext cx="134721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生产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14143" y="407822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14143" y="40782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407408"/>
            <a:ext cx="1914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需求 / 设计 / 开发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0528" y="3968496"/>
            <a:ext cx="2133599" cy="1225295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10256" y="4059935"/>
            <a:ext cx="134721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57471" y="407822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57471" y="40782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规划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0256" y="4407408"/>
            <a:ext cx="1914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测试 / 评审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43856" y="3968496"/>
            <a:ext cx="2133599" cy="1225295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3584" y="4059935"/>
            <a:ext cx="134721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运营分析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799" y="407822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799" y="407822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规划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53584" y="4407408"/>
            <a:ext cx="1914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治理 / 运维 / 分析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51775" y="1463040"/>
            <a:ext cx="4517136" cy="1792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F2"/>
            </a:solidFill>
          </a:ln>
          <a:effectLst>
            <a:outerShdw blurRad="63500" dist="25400" dir="2700000" algn="tl" rotWithShape="0">
              <a:srgbClr val="8FB0D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79" y="1536192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内容与方法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1810512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SKILL提供方法，由Agent实际调用资源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98079" y="2066544"/>
            <a:ext cx="4224529" cy="0"/>
          </a:xfrm>
          <a:prstGeom prst="line">
            <a:avLst/>
          </a:prstGeom>
          <a:ln w="9525">
            <a:solidFill>
              <a:srgbClr val="D5E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498079" y="2157984"/>
            <a:ext cx="2066544" cy="438911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71231" y="2157984"/>
            <a:ext cx="1920240" cy="438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术语 / 指标 / 模型语义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56063" y="2157984"/>
            <a:ext cx="2066544" cy="438911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29215" y="2157984"/>
            <a:ext cx="1920240" cy="438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规则 / 模板 / SKILL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8079" y="2688336"/>
            <a:ext cx="2066544" cy="438911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71231" y="2688336"/>
            <a:ext cx="1920240" cy="438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知识文件 / 检索索引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56063" y="2688336"/>
            <a:ext cx="2066544" cy="438911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9215" y="2688336"/>
            <a:ext cx="1920240" cy="438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事实查询数据 / 来源版本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51775" y="3364992"/>
            <a:ext cx="4517136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F2"/>
            </a:solidFill>
          </a:ln>
          <a:effectLst>
            <a:outerShdw blurRad="63500" dist="25400" dir="2700000" algn="tl" rotWithShape="0">
              <a:srgbClr val="8FB0D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3438144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平台连接与运营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371246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模块可复用现有系统承载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498079" y="3968496"/>
            <a:ext cx="4224529" cy="0"/>
          </a:xfrm>
          <a:prstGeom prst="line">
            <a:avLst/>
          </a:prstGeom>
          <a:ln w="9525">
            <a:solidFill>
              <a:srgbClr val="D5E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498079" y="405993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连接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98079" y="4352544"/>
            <a:ext cx="2057400" cy="365759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1231" y="4352544"/>
            <a:ext cx="1911095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目录 / 指标 / 血缘接口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98079" y="4828032"/>
            <a:ext cx="2057400" cy="365759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4828032"/>
            <a:ext cx="1911095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开发 / 调度 / 质量接入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5208" y="405993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运营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65208" y="4352544"/>
            <a:ext cx="2057400" cy="365759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38360" y="4352544"/>
            <a:ext cx="1911095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身份 / 权限 / 操作确认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65208" y="4828032"/>
            <a:ext cx="2057400" cy="365759"/>
          </a:xfrm>
          <a:prstGeom prst="roundRect">
            <a:avLst>
              <a:gd name="adj" fmla="val 10000"/>
            </a:avLst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38360" y="4828032"/>
            <a:ext cx="1911095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324A"/>
                </a:solidFill>
                <a:latin typeface="Noto Sans CJK SC"/>
                <a:ea typeface="Noto Sans CJK SC"/>
                <a:cs typeface="Noto Sans CJK SC"/>
              </a:rPr>
              <a:t>评测 / 反馈 / 内容更新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7472" y="5449824"/>
            <a:ext cx="1149400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F2"/>
            </a:solidFill>
          </a:ln>
          <a:effectLst>
            <a:outerShdw blurRad="63500" dist="25400" dir="2700000" algn="tl" rotWithShape="0">
              <a:srgbClr val="8FB0D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" y="55595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功能建设分别落实到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0" y="5596128"/>
            <a:ext cx="2011680" cy="329184"/>
          </a:xfrm>
          <a:prstGeom prst="roundRect">
            <a:avLst>
              <a:gd name="adj" fmla="val 14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0" y="55961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Agent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01183" y="5596128"/>
            <a:ext cx="2011680" cy="329184"/>
          </a:xfrm>
          <a:prstGeom prst="roundRect">
            <a:avLst>
              <a:gd name="adj" fmla="val 14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01183" y="55961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内容维护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59167" y="5596128"/>
            <a:ext cx="2011680" cy="329184"/>
          </a:xfrm>
          <a:prstGeom prst="roundRect">
            <a:avLst>
              <a:gd name="adj" fmla="val 14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59167" y="55961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平台适配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217151" y="5596128"/>
            <a:ext cx="2011680" cy="329184"/>
          </a:xfrm>
          <a:prstGeom prst="roundRect">
            <a:avLst>
              <a:gd name="adj" fmla="val 14000"/>
            </a:avLst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17151" y="55961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FDB"/>
                </a:solidFill>
                <a:latin typeface="Noto Sans CJK SC"/>
                <a:ea typeface="Noto Sans CJK SC"/>
                <a:cs typeface="Noto Sans CJK SC"/>
              </a:rPr>
              <a:t>持续运营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" y="5998464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逻辑模块不等于新增独立系统或已部署组件。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4048" y="6528816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738C"/>
                </a:solidFill>
                <a:latin typeface="Noto Sans CJK SC"/>
                <a:ea typeface="Noto Sans CJK SC"/>
                <a:cs typeface="Noto Sans CJK SC"/>
              </a:rPr>
              <a:t>企业数据智能体建设规划  /  规划视图  /  2026.10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24160" y="6528816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功能全景｜服务、内容、连接与运营形成完整建设范围</dc:title>
  <dc:subject>第07页技能样稿，不替换架构视觉版V7正稿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